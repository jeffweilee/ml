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oleObject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39"/>
  </p:notesMasterIdLst>
  <p:handoutMasterIdLst>
    <p:handoutMasterId r:id="rId140"/>
  </p:handoutMasterIdLst>
  <p:sldIdLst>
    <p:sldId id="1244" r:id="rId2"/>
    <p:sldId id="1111" r:id="rId3"/>
    <p:sldId id="1004" r:id="rId4"/>
    <p:sldId id="1005" r:id="rId5"/>
    <p:sldId id="1001" r:id="rId6"/>
    <p:sldId id="1203" r:id="rId7"/>
    <p:sldId id="1002" r:id="rId8"/>
    <p:sldId id="1192" r:id="rId9"/>
    <p:sldId id="1007" r:id="rId10"/>
    <p:sldId id="1009" r:id="rId11"/>
    <p:sldId id="1010" r:id="rId12"/>
    <p:sldId id="1011" r:id="rId13"/>
    <p:sldId id="1012" r:id="rId14"/>
    <p:sldId id="1339" r:id="rId15"/>
    <p:sldId id="1013" r:id="rId16"/>
    <p:sldId id="1014" r:id="rId17"/>
    <p:sldId id="1015" r:id="rId18"/>
    <p:sldId id="1016" r:id="rId19"/>
    <p:sldId id="1017" r:id="rId20"/>
    <p:sldId id="1018" r:id="rId21"/>
    <p:sldId id="1202" r:id="rId22"/>
    <p:sldId id="1206" r:id="rId23"/>
    <p:sldId id="1193" r:id="rId24"/>
    <p:sldId id="1020" r:id="rId25"/>
    <p:sldId id="1204" r:id="rId26"/>
    <p:sldId id="1205" r:id="rId27"/>
    <p:sldId id="1194" r:id="rId28"/>
    <p:sldId id="1187" r:id="rId29"/>
    <p:sldId id="1023" r:id="rId30"/>
    <p:sldId id="1134" r:id="rId31"/>
    <p:sldId id="1025" r:id="rId32"/>
    <p:sldId id="1026" r:id="rId33"/>
    <p:sldId id="1173" r:id="rId34"/>
    <p:sldId id="1027" r:id="rId35"/>
    <p:sldId id="1138" r:id="rId36"/>
    <p:sldId id="1270" r:id="rId37"/>
    <p:sldId id="1271" r:id="rId38"/>
    <p:sldId id="1272" r:id="rId39"/>
    <p:sldId id="1273" r:id="rId40"/>
    <p:sldId id="1274" r:id="rId41"/>
    <p:sldId id="1195" r:id="rId42"/>
    <p:sldId id="1035" r:id="rId43"/>
    <p:sldId id="1036" r:id="rId44"/>
    <p:sldId id="1037" r:id="rId45"/>
    <p:sldId id="1038" r:id="rId46"/>
    <p:sldId id="1051" r:id="rId47"/>
    <p:sldId id="1052" r:id="rId48"/>
    <p:sldId id="1191" r:id="rId49"/>
    <p:sldId id="1196" r:id="rId50"/>
    <p:sldId id="1053" r:id="rId51"/>
    <p:sldId id="1056" r:id="rId52"/>
    <p:sldId id="1057" r:id="rId53"/>
    <p:sldId id="1054" r:id="rId54"/>
    <p:sldId id="1059" r:id="rId55"/>
    <p:sldId id="1189" r:id="rId56"/>
    <p:sldId id="1197" r:id="rId57"/>
    <p:sldId id="1068" r:id="rId58"/>
    <p:sldId id="1074" r:id="rId59"/>
    <p:sldId id="1171" r:id="rId60"/>
    <p:sldId id="1076" r:id="rId61"/>
    <p:sldId id="1078" r:id="rId62"/>
    <p:sldId id="1198" r:id="rId63"/>
    <p:sldId id="1275" r:id="rId64"/>
    <p:sldId id="1276" r:id="rId65"/>
    <p:sldId id="1277" r:id="rId66"/>
    <p:sldId id="1278" r:id="rId67"/>
    <p:sldId id="1279" r:id="rId68"/>
    <p:sldId id="1280" r:id="rId69"/>
    <p:sldId id="1281" r:id="rId70"/>
    <p:sldId id="1282" r:id="rId71"/>
    <p:sldId id="1283" r:id="rId72"/>
    <p:sldId id="1284" r:id="rId73"/>
    <p:sldId id="1285" r:id="rId74"/>
    <p:sldId id="1286" r:id="rId75"/>
    <p:sldId id="1287" r:id="rId76"/>
    <p:sldId id="1288" r:id="rId77"/>
    <p:sldId id="1289" r:id="rId78"/>
    <p:sldId id="1290" r:id="rId79"/>
    <p:sldId id="1291" r:id="rId80"/>
    <p:sldId id="1292" r:id="rId81"/>
    <p:sldId id="1293" r:id="rId82"/>
    <p:sldId id="1294" r:id="rId83"/>
    <p:sldId id="1295" r:id="rId84"/>
    <p:sldId id="1296" r:id="rId85"/>
    <p:sldId id="1297" r:id="rId86"/>
    <p:sldId id="1298" r:id="rId87"/>
    <p:sldId id="1299" r:id="rId88"/>
    <p:sldId id="1300" r:id="rId89"/>
    <p:sldId id="1301" r:id="rId90"/>
    <p:sldId id="1302" r:id="rId91"/>
    <p:sldId id="1314" r:id="rId92"/>
    <p:sldId id="1303" r:id="rId93"/>
    <p:sldId id="1304" r:id="rId94"/>
    <p:sldId id="1305" r:id="rId95"/>
    <p:sldId id="1334" r:id="rId96"/>
    <p:sldId id="1336" r:id="rId97"/>
    <p:sldId id="1338" r:id="rId98"/>
    <p:sldId id="1316" r:id="rId99"/>
    <p:sldId id="1335" r:id="rId100"/>
    <p:sldId id="1337" r:id="rId101"/>
    <p:sldId id="1315" r:id="rId102"/>
    <p:sldId id="1324" r:id="rId103"/>
    <p:sldId id="1325" r:id="rId104"/>
    <p:sldId id="1326" r:id="rId105"/>
    <p:sldId id="1327" r:id="rId106"/>
    <p:sldId id="1245" r:id="rId107"/>
    <p:sldId id="1246" r:id="rId108"/>
    <p:sldId id="1247" r:id="rId109"/>
    <p:sldId id="1248" r:id="rId110"/>
    <p:sldId id="1249" r:id="rId111"/>
    <p:sldId id="1252" r:id="rId112"/>
    <p:sldId id="1253" r:id="rId113"/>
    <p:sldId id="1254" r:id="rId114"/>
    <p:sldId id="1255" r:id="rId115"/>
    <p:sldId id="1256" r:id="rId116"/>
    <p:sldId id="1257" r:id="rId117"/>
    <p:sldId id="1258" r:id="rId118"/>
    <p:sldId id="1268" r:id="rId119"/>
    <p:sldId id="1269" r:id="rId120"/>
    <p:sldId id="1262" r:id="rId121"/>
    <p:sldId id="1263" r:id="rId122"/>
    <p:sldId id="1264" r:id="rId123"/>
    <p:sldId id="1201" r:id="rId124"/>
    <p:sldId id="1238" r:id="rId125"/>
    <p:sldId id="1239" r:id="rId126"/>
    <p:sldId id="1240" r:id="rId127"/>
    <p:sldId id="1223" r:id="rId128"/>
    <p:sldId id="1224" r:id="rId129"/>
    <p:sldId id="1227" r:id="rId130"/>
    <p:sldId id="1228" r:id="rId131"/>
    <p:sldId id="1214" r:id="rId132"/>
    <p:sldId id="1093" r:id="rId133"/>
    <p:sldId id="1094" r:id="rId134"/>
    <p:sldId id="1126" r:id="rId135"/>
    <p:sldId id="1232" r:id="rId136"/>
    <p:sldId id="993" r:id="rId137"/>
    <p:sldId id="1097" r:id="rId138"/>
  </p:sldIdLst>
  <p:sldSz cx="9144000" cy="6858000" type="screen4x3"/>
  <p:notesSz cx="6831013" cy="9117013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EA"/>
    <a:srgbClr val="FAE2F6"/>
    <a:srgbClr val="170981"/>
    <a:srgbClr val="121328"/>
    <a:srgbClr val="D7FDF9"/>
    <a:srgbClr val="003366"/>
    <a:srgbClr val="006699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49" autoAdjust="0"/>
    <p:restoredTop sz="75549" autoAdjust="0"/>
  </p:normalViewPr>
  <p:slideViewPr>
    <p:cSldViewPr>
      <p:cViewPr varScale="1">
        <p:scale>
          <a:sx n="81" d="100"/>
          <a:sy n="81" d="100"/>
        </p:scale>
        <p:origin x="172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00" Type="http://schemas.openxmlformats.org/officeDocument/2006/relationships/slide" Target="slides/slide99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140" Type="http://schemas.openxmlformats.org/officeDocument/2006/relationships/handoutMaster" Target="handoutMasters/handoutMaster1.xml"/><Relationship Id="rId141" Type="http://schemas.openxmlformats.org/officeDocument/2006/relationships/presProps" Target="presProps.xml"/><Relationship Id="rId142" Type="http://schemas.openxmlformats.org/officeDocument/2006/relationships/viewProps" Target="viewProps.xml"/><Relationship Id="rId143" Type="http://schemas.openxmlformats.org/officeDocument/2006/relationships/theme" Target="theme/theme1.xml"/><Relationship Id="rId14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4" Type="http://schemas.openxmlformats.org/officeDocument/2006/relationships/image" Target="../media/image12.wmf"/><Relationship Id="rId1" Type="http://schemas.openxmlformats.org/officeDocument/2006/relationships/image" Target="../media/image9.wmf"/><Relationship Id="rId2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Relationship Id="rId2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Relationship Id="rId2" Type="http://schemas.openxmlformats.org/officeDocument/2006/relationships/image" Target="../media/image21.wmf"/><Relationship Id="rId3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Relationship Id="rId2" Type="http://schemas.openxmlformats.org/officeDocument/2006/relationships/image" Target="../media/image25.emf"/><Relationship Id="rId3" Type="http://schemas.openxmlformats.org/officeDocument/2006/relationships/image" Target="../media/image2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4" Type="http://schemas.openxmlformats.org/officeDocument/2006/relationships/image" Target="../media/image31.wmf"/><Relationship Id="rId5" Type="http://schemas.openxmlformats.org/officeDocument/2006/relationships/image" Target="../media/image32.wmf"/><Relationship Id="rId1" Type="http://schemas.openxmlformats.org/officeDocument/2006/relationships/image" Target="../media/image28.wmf"/><Relationship Id="rId2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Relationship Id="rId2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Relationship Id="rId2" Type="http://schemas.openxmlformats.org/officeDocument/2006/relationships/image" Target="../media/image7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Relationship Id="rId2" Type="http://schemas.openxmlformats.org/officeDocument/2006/relationships/image" Target="../media/image7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Relationship Id="rId2" Type="http://schemas.openxmlformats.org/officeDocument/2006/relationships/image" Target="../media/image105.wmf"/><Relationship Id="rId3" Type="http://schemas.openxmlformats.org/officeDocument/2006/relationships/image" Target="../media/image106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9.wmf"/><Relationship Id="rId2" Type="http://schemas.openxmlformats.org/officeDocument/2006/relationships/image" Target="../media/image1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l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l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AB60436-2D70-4E41-97D0-F9F507F7509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4965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l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5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l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182AF76E-C136-48C7-A61B-3EAE0AE5870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73563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E7A7140-D0D5-4C05-BB32-DA16EBB6B7DA}" type="slidenum">
              <a:rPr lang="zh-TW" altLang="en-US" sz="1200" smtClean="0">
                <a:latin typeface="Times New Roman" pitchFamily="18" charset="0"/>
              </a:rPr>
              <a:pPr/>
              <a:t>2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05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B0A8863B-A598-4FB0-83F3-995175DBD097}" type="slidenum">
              <a:rPr lang="zh-TW" altLang="en-US" sz="1200" smtClean="0">
                <a:latin typeface="Times New Roman" pitchFamily="18" charset="0"/>
              </a:rPr>
              <a:pPr/>
              <a:t>3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36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67040DE0-D0E7-48F3-A874-35478C1DA62B}" type="slidenum">
              <a:rPr lang="zh-TW" altLang="en-US" sz="1200" smtClean="0">
                <a:latin typeface="Times New Roman" pitchFamily="18" charset="0"/>
              </a:rPr>
              <a:pPr/>
              <a:t>4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035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7E2C00FD-0E2D-4AC6-BEB5-43247CCFA39C}" type="slidenum">
              <a:rPr lang="zh-TW" altLang="en-US" sz="1200" smtClean="0">
                <a:latin typeface="Times New Roman" pitchFamily="18" charset="0"/>
              </a:rPr>
              <a:pPr/>
              <a:t>5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447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0ADAE46E-F897-4BD9-AECC-3C0F9D83A7FF}" type="slidenum">
              <a:rPr lang="zh-TW" altLang="en-US" sz="1200" smtClean="0">
                <a:latin typeface="Times New Roman" pitchFamily="18" charset="0"/>
              </a:rPr>
              <a:pPr/>
              <a:t>6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41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30EBE28-2D7E-4A2C-AD45-FE6F45EC6F0B}" type="slidenum">
              <a:rPr lang="zh-TW" altLang="en-US" sz="1200" smtClean="0">
                <a:latin typeface="Times New Roman" pitchFamily="18" charset="0"/>
              </a:rPr>
              <a:pPr/>
              <a:t>7</a:t>
            </a:fld>
            <a:endParaRPr lang="en-US" altLang="zh-TW" sz="1200" smtClean="0">
              <a:latin typeface="Times New Roman" pitchFamily="18" charset="0"/>
            </a:endParaRPr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67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C2B0E1C-85C6-4855-9FCE-42633BA6944E}" type="slidenum">
              <a:rPr lang="zh-TW" altLang="en-US" sz="1200" smtClean="0">
                <a:latin typeface="Times New Roman" pitchFamily="18" charset="0"/>
              </a:rPr>
              <a:pPr/>
              <a:t>10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860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直線距離 </a:t>
            </a:r>
            <a:r>
              <a:rPr lang="en-US" altLang="zh-TW" dirty="0" smtClean="0"/>
              <a:t>d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when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q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=1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&gt;</a:t>
            </a:r>
            <a:r>
              <a:rPr lang="zh-TW" altLang="en-US" baseline="0" dirty="0" smtClean="0"/>
              <a:t>  </a:t>
            </a:r>
            <a:r>
              <a:rPr lang="en-US" altLang="zh-TW" dirty="0" smtClean="0"/>
              <a:t>d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when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q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=2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&gt;</a:t>
            </a:r>
            <a:r>
              <a:rPr lang="zh-TW" altLang="en-US" baseline="0" dirty="0" smtClean="0"/>
              <a:t> </a:t>
            </a:r>
            <a:r>
              <a:rPr lang="en-US" altLang="zh-TW" dirty="0" smtClean="0"/>
              <a:t>d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when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q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=</a:t>
            </a:r>
            <a:r>
              <a:rPr lang="zh-TW" altLang="en-US" baseline="0" dirty="0" smtClean="0"/>
              <a:t> </a:t>
            </a:r>
            <a:r>
              <a:rPr lang="en-US" altLang="zh-TW" baseline="0" dirty="0" smtClean="0"/>
              <a:t>infinity</a:t>
            </a:r>
          </a:p>
          <a:p>
            <a:r>
              <a:rPr lang="zh-TW" altLang="en-US" baseline="0" smtClean="0"/>
              <a:t>周圍距離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2AF76E-C136-48C7-A61B-3EAE0AE58704}" type="slidenum">
              <a:rPr lang="zh-TW" altLang="en-US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899550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EDD99B4-8A1A-42D8-B2E8-032814630B39}" type="slidenum">
              <a:rPr lang="zh-TW" altLang="en-US" sz="1200" smtClean="0">
                <a:latin typeface="Times New Roman" pitchFamily="18" charset="0"/>
              </a:rPr>
              <a:pPr/>
              <a:t>22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783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34845D96-B2BC-4C2D-85EB-9E3A3A4BEB18}" type="slidenum">
              <a:rPr lang="zh-TW" altLang="en-US" sz="1200" smtClean="0">
                <a:latin typeface="Times New Roman" pitchFamily="18" charset="0"/>
              </a:rPr>
              <a:pPr/>
              <a:t>24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486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9097336-4DD0-460E-8AFA-FD47C0E7CEBC}" type="slidenum">
              <a:rPr lang="zh-TW" altLang="en-US" sz="1200" smtClean="0">
                <a:latin typeface="Times New Roman" pitchFamily="18" charset="0"/>
              </a:rPr>
              <a:pPr/>
              <a:t>25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104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C01AF3E4-E90D-4567-B53C-0145527D3604}" type="slidenum">
              <a:rPr lang="zh-TW" altLang="en-US" sz="1200" smtClean="0">
                <a:latin typeface="Times New Roman" pitchFamily="18" charset="0"/>
              </a:rPr>
              <a:pPr/>
              <a:t>26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93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D09F8EF3-DD30-451B-B4C6-651989E29F6E}" type="slidenum">
              <a:rPr lang="zh-TW" altLang="en-US" sz="1200" smtClean="0">
                <a:latin typeface="Times New Roman" pitchFamily="18" charset="0"/>
              </a:rPr>
              <a:pPr/>
              <a:t>28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278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479F460A-8891-473C-BD54-E3672682A4FB}" type="slidenum">
              <a:rPr lang="en-US" altLang="zh-TW" sz="1200" smtClean="0">
                <a:latin typeface="Times New Roman" pitchFamily="18" charset="0"/>
              </a:rPr>
              <a:pPr/>
              <a:t>39</a:t>
            </a:fld>
            <a:endParaRPr lang="en-US" altLang="zh-TW" sz="1200" smtClean="0">
              <a:latin typeface="Times New Roman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zh-TW" smtClean="0"/>
              <a:t>1-norm (X) = max(sum(abs(X))) (the largest column sum of X)</a:t>
            </a:r>
          </a:p>
        </p:txBody>
      </p:sp>
    </p:spTree>
    <p:extLst>
      <p:ext uri="{BB962C8B-B14F-4D97-AF65-F5344CB8AC3E}">
        <p14:creationId xmlns:p14="http://schemas.microsoft.com/office/powerpoint/2010/main" val="2339034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1ED99E3-DC05-4D45-9C60-442C54087903}" type="slidenum">
              <a:rPr lang="zh-TW" altLang="en-US" sz="1200" smtClean="0">
                <a:latin typeface="Times New Roman" pitchFamily="18" charset="0"/>
              </a:rPr>
              <a:pPr/>
              <a:t>46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340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9E8034F6-626F-46AA-AC17-43B407B3CD04}" type="slidenum">
              <a:rPr lang="zh-TW" altLang="en-US" sz="1200" smtClean="0">
                <a:latin typeface="Times New Roman" pitchFamily="18" charset="0"/>
              </a:rPr>
              <a:pPr/>
              <a:t>48</a:t>
            </a:fld>
            <a:endParaRPr lang="en-US" altLang="zh-TW" sz="120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2697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A8E2511A-B97E-4325-A9F2-DFF71314A81F}" type="slidenum">
              <a:rPr lang="zh-TW" altLang="en-US" sz="1200" smtClean="0">
                <a:latin typeface="Times New Roman" pitchFamily="18" charset="0"/>
              </a:rPr>
              <a:pPr/>
              <a:t>58</a:t>
            </a:fld>
            <a:endParaRPr lang="en-US" altLang="zh-TW" sz="1200" smtClean="0">
              <a:latin typeface="Times New Roman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2625"/>
            <a:ext cx="4559300" cy="3419475"/>
          </a:xfrm>
          <a:solidFill>
            <a:srgbClr val="FFFFFF"/>
          </a:solidFill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225" y="4330700"/>
            <a:ext cx="5008563" cy="41036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119" tIns="45560" rIns="91119" bIns="45560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466527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defTabSz="911225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defTabSz="91122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E8C397FF-E083-4269-BD8C-FD4BA29188F3}" type="slidenum">
              <a:rPr lang="zh-TW" altLang="en-US" sz="1200" smtClean="0">
                <a:latin typeface="Times New Roman" pitchFamily="18" charset="0"/>
              </a:rPr>
              <a:pPr/>
              <a:t>60</a:t>
            </a:fld>
            <a:endParaRPr lang="en-US" altLang="zh-TW" sz="1200" smtClean="0">
              <a:latin typeface="Times New Roman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2625"/>
            <a:ext cx="4559300" cy="3419475"/>
          </a:xfrm>
          <a:solidFill>
            <a:srgbClr val="FFFFFF"/>
          </a:solidFill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225" y="4330700"/>
            <a:ext cx="5008563" cy="410368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119" tIns="45560" rIns="91119" bIns="45560"/>
          <a:lstStyle/>
          <a:p>
            <a:endParaRPr lang="zh-TW" altLang="en-US" smtClean="0"/>
          </a:p>
        </p:txBody>
      </p:sp>
    </p:spTree>
    <p:extLst>
      <p:ext uri="{BB962C8B-B14F-4D97-AF65-F5344CB8AC3E}">
        <p14:creationId xmlns:p14="http://schemas.microsoft.com/office/powerpoint/2010/main" val="17707846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F3DFCF-B7AF-416C-9EB0-97CEA499CBF5}" type="slidenum">
              <a:rPr lang="en-US" altLang="zh-CN"/>
              <a:pPr/>
              <a:t>66</a:t>
            </a:fld>
            <a:endParaRPr lang="en-US" altLang="zh-CN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5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494383-26A1-400D-A019-716581498A23}" type="slidenum">
              <a:rPr lang="en-US" altLang="zh-CN"/>
              <a:pPr/>
              <a:t>67</a:t>
            </a:fld>
            <a:endParaRPr lang="en-US" altLang="zh-CN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83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7D19E8-4B1D-40B2-96D4-EB084F6A8DBD}" type="slidenum">
              <a:rPr lang="en-US" altLang="zh-CN"/>
              <a:pPr/>
              <a:t>68</a:t>
            </a:fld>
            <a:endParaRPr lang="en-US" altLang="zh-CN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402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9298FB-828F-47B8-A4B1-39962B77EB66}" type="slidenum">
              <a:rPr lang="en-US" altLang="zh-CN"/>
              <a:pPr/>
              <a:t>69</a:t>
            </a:fld>
            <a:endParaRPr lang="en-US" altLang="zh-CN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84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9298FB-828F-47B8-A4B1-39962B77EB66}" type="slidenum">
              <a:rPr lang="en-US" altLang="zh-CN"/>
              <a:pPr/>
              <a:t>70</a:t>
            </a:fld>
            <a:endParaRPr lang="en-US" altLang="zh-CN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392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FBE14-FA23-4C87-A993-DD762B284BCE}" type="slidenum">
              <a:rPr lang="en-US" altLang="zh-CN"/>
              <a:pPr/>
              <a:t>71</a:t>
            </a:fld>
            <a:endParaRPr lang="en-US" altLang="zh-CN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994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2D73E0-73B6-4A0D-8D74-1ED0B4DF23AE}" type="slidenum">
              <a:rPr lang="en-US" altLang="zh-CN"/>
              <a:pPr/>
              <a:t>72</a:t>
            </a:fld>
            <a:endParaRPr lang="en-US" altLang="zh-CN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377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CCA364-CBAD-45DC-9DC3-2BF22EB1B57D}" type="slidenum">
              <a:rPr lang="en-US" altLang="zh-CN"/>
              <a:pPr/>
              <a:t>73</a:t>
            </a:fld>
            <a:endParaRPr lang="en-US" altLang="zh-CN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60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B82F-38B7-486C-B5AB-14F001851D23}" type="slidenum">
              <a:rPr lang="en-US" altLang="zh-CN"/>
              <a:pPr/>
              <a:t>74</a:t>
            </a:fld>
            <a:endParaRPr lang="en-US" altLang="zh-CN"/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8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BBF27C-65BB-4E8B-9E3B-9E8CA35505E4}" type="slidenum">
              <a:rPr lang="en-US" altLang="zh-CN"/>
              <a:pPr/>
              <a:t>75</a:t>
            </a:fld>
            <a:endParaRPr lang="en-US" altLang="zh-CN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576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647506-ABCB-4026-B0FD-6084AA751780}" type="slidenum">
              <a:rPr lang="en-US" altLang="zh-CN"/>
              <a:pPr/>
              <a:t>76</a:t>
            </a:fld>
            <a:endParaRPr lang="en-US" altLang="zh-CN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218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EFD814-D431-4D5B-A1BF-48A7C124E9E7}" type="slidenum">
              <a:rPr lang="en-US" altLang="zh-CN"/>
              <a:pPr/>
              <a:t>77</a:t>
            </a:fld>
            <a:endParaRPr lang="en-US" altLang="zh-CN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08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904754-8E12-4E4E-B227-BBF01B73EBAC}" type="slidenum">
              <a:rPr lang="en-US" altLang="zh-CN"/>
              <a:pPr/>
              <a:t>78</a:t>
            </a:fld>
            <a:endParaRPr lang="en-US" altLang="zh-CN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2486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D513C5-B5B5-4196-8FAA-CABE57A181A4}" type="slidenum">
              <a:rPr lang="en-US" altLang="zh-CN"/>
              <a:pPr/>
              <a:t>79</a:t>
            </a:fld>
            <a:endParaRPr lang="en-US" altLang="zh-CN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028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CFE9EA-731E-4B82-9922-1DEBCDD4F258}" type="slidenum">
              <a:rPr lang="en-US" altLang="zh-CN"/>
              <a:pPr/>
              <a:t>80</a:t>
            </a:fld>
            <a:endParaRPr lang="en-US" altLang="zh-CN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285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72D849-2E1D-470D-9048-161643D740E5}" type="slidenum">
              <a:rPr lang="en-US" altLang="zh-CN"/>
              <a:pPr/>
              <a:t>81</a:t>
            </a:fld>
            <a:endParaRPr lang="en-US" altLang="zh-CN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672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9368FD-FD5D-481A-83D1-2960245603FD}" type="slidenum">
              <a:rPr lang="en-US" altLang="zh-CN"/>
              <a:pPr/>
              <a:t>82</a:t>
            </a:fld>
            <a:endParaRPr lang="en-US" altLang="zh-CN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294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70C5C0-1418-4D17-AE37-84BC661D40D6}" type="slidenum">
              <a:rPr lang="en-US" altLang="zh-CN"/>
              <a:pPr/>
              <a:t>83</a:t>
            </a:fld>
            <a:endParaRPr lang="en-US" altLang="zh-CN"/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428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BC3093-8E32-4F91-9C9C-AFA0DC0C6B29}" type="slidenum">
              <a:rPr lang="en-US" altLang="zh-CN"/>
              <a:pPr/>
              <a:t>84</a:t>
            </a:fld>
            <a:endParaRPr lang="en-US" altLang="zh-CN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36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FECF35-AB83-4EFF-8516-8FF6B0B215AE}" type="slidenum">
              <a:rPr lang="en-US" altLang="zh-CN"/>
              <a:pPr/>
              <a:t>85</a:t>
            </a:fld>
            <a:endParaRPr lang="en-US" altLang="zh-CN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34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C6221C-45E6-4AF9-8D46-93A98BB3957B}" type="slidenum">
              <a:rPr lang="en-US" altLang="zh-CN"/>
              <a:pPr/>
              <a:t>86</a:t>
            </a:fld>
            <a:endParaRPr lang="en-US" altLang="zh-CN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058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F5C0C9-1CD7-4DB6-8F1F-6A283ED33D49}" type="slidenum">
              <a:rPr lang="en-US" altLang="zh-CN"/>
              <a:pPr/>
              <a:t>87</a:t>
            </a:fld>
            <a:endParaRPr lang="en-US" altLang="zh-CN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968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AFE4DF-44DC-4A3B-9CD8-102C18175361}" type="slidenum">
              <a:rPr lang="en-US" altLang="zh-CN"/>
              <a:pPr/>
              <a:t>88</a:t>
            </a:fld>
            <a:endParaRPr lang="en-US" altLang="zh-CN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949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9FC791-2F4B-4498-90C2-D46DF93FC2AC}" type="slidenum">
              <a:rPr lang="en-US" altLang="zh-CN"/>
              <a:pPr/>
              <a:t>89</a:t>
            </a:fld>
            <a:endParaRPr lang="en-US" altLang="zh-CN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97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ADEF7E-8B2B-4870-A344-080C8598D4AF}" type="slidenum">
              <a:rPr lang="en-US" altLang="zh-CN"/>
              <a:pPr/>
              <a:t>90</a:t>
            </a:fld>
            <a:endParaRPr lang="en-US" altLang="zh-CN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7885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095FF9-D3E2-407E-A4B1-EAF8E88F2508}" type="slidenum">
              <a:rPr lang="he-IL" altLang="zh-TW"/>
              <a:pPr/>
              <a:t>91</a:t>
            </a:fld>
            <a:endParaRPr lang="zh-TW" altLang="zh-TW"/>
          </a:p>
        </p:txBody>
      </p:sp>
      <p:sp>
        <p:nvSpPr>
          <p:cNvPr id="208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K topics, N words, M documents, V</a:t>
            </a:r>
            <a:r>
              <a:rPr lang="en-US" altLang="zh-TW" baseline="0" dirty="0" smtClean="0"/>
              <a:t> vocabularies</a:t>
            </a:r>
          </a:p>
          <a:p>
            <a:r>
              <a:rPr lang="en-US" altLang="zh-TW" baseline="0" dirty="0" smtClean="0"/>
              <a:t>X1+x2+…+</a:t>
            </a:r>
            <a:r>
              <a:rPr lang="en-US" altLang="zh-TW" baseline="0" dirty="0" err="1" smtClean="0"/>
              <a:t>xk</a:t>
            </a:r>
            <a:r>
              <a:rPr lang="en-US" altLang="zh-TW" baseline="0" dirty="0" smtClean="0"/>
              <a:t>=1</a:t>
            </a:r>
          </a:p>
          <a:p>
            <a:r>
              <a:rPr lang="en-US" altLang="zh-TW" baseline="0" dirty="0" smtClean="0"/>
              <a:t>Alpha I is called concentration parameters</a:t>
            </a:r>
          </a:p>
          <a:p>
            <a:r>
              <a:rPr lang="en-US" altLang="zh-TW" sz="1200" b="1" i="0" kern="1200" dirty="0" err="1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Pólya's</a:t>
            </a:r>
            <a:r>
              <a:rPr lang="en-US" altLang="zh-TW" sz="1200" b="1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urn</a:t>
            </a: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Consider an urn containing balls of 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K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different colors. Initially, the urn contains 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α</a:t>
            </a:r>
            <a:r>
              <a:rPr lang="en-US" altLang="zh-TW" sz="1200" b="0" i="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balls of color 1, 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α</a:t>
            </a:r>
            <a:r>
              <a:rPr lang="en-US" altLang="zh-TW" sz="1200" b="0" i="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2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balls of color 2, and so on. Now perform 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draws from the urn, where after each draw, the ball is placed back into the urn with an additional ball of the same color. In the limit as 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N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approaches infinity, the proportions of different colored balls in the urn will be distributed as Dir(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α</a:t>
            </a:r>
            <a:r>
              <a:rPr lang="en-US" altLang="zh-TW" sz="1200" b="0" i="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1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,...,</a:t>
            </a:r>
            <a:r>
              <a:rPr lang="en-US" altLang="zh-TW" sz="1200" b="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α</a:t>
            </a:r>
            <a:r>
              <a:rPr lang="en-US" altLang="zh-TW" sz="1200" b="0" i="1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K</a:t>
            </a:r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).</a:t>
            </a:r>
          </a:p>
          <a:p>
            <a:endParaRPr lang="en-US" altLang="zh-TW" baseline="0" dirty="0" smtClean="0"/>
          </a:p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1114665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i="0" dirty="0" smtClean="0">
                <a:latin typeface="Symbol" panose="05050102010706020507" pitchFamily="18" charset="2"/>
                <a:cs typeface="Arial" panose="020B0604020202020204" pitchFamily="34" charset="0"/>
              </a:rPr>
              <a:t>theta (topic distribution)</a:t>
            </a:r>
            <a:r>
              <a:rPr lang="en-US" altLang="zh-TW" dirty="0" smtClean="0">
                <a:effectLst/>
              </a:rPr>
              <a:t> and</a:t>
            </a:r>
            <a:r>
              <a:rPr lang="en-US" altLang="zh-TW" baseline="0" dirty="0" smtClean="0">
                <a:effectLst/>
              </a:rPr>
              <a:t> fi(word distribution) will be integrated out by using </a:t>
            </a:r>
            <a:r>
              <a:rPr lang="en-US" altLang="zh-TW" dirty="0" smtClean="0">
                <a:effectLst/>
              </a:rPr>
              <a:t>the derivation of the equations for collapsed Gibbs sampling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82AF76E-C136-48C7-A61B-3EAE0AE58704}" type="slidenum">
              <a:rPr lang="zh-TW" altLang="en-US" smtClean="0"/>
              <a:pPr>
                <a:defRPr/>
              </a:pPr>
              <a:t>94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77945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TW" dirty="0" smtClean="0"/>
              <a:t>D</a:t>
            </a:r>
            <a:r>
              <a:rPr lang="zh-TW" altLang="en-US" dirty="0" smtClean="0"/>
              <a:t>對</a:t>
            </a:r>
            <a:r>
              <a:rPr lang="en-US" altLang="zh-TW" dirty="0" smtClean="0"/>
              <a:t>k</a:t>
            </a:r>
            <a:r>
              <a:rPr lang="zh-TW" altLang="en-US" dirty="0" smtClean="0"/>
              <a:t>分配 </a:t>
            </a:r>
            <a:r>
              <a:rPr lang="en-US" altLang="zh-TW" dirty="0" smtClean="0"/>
              <a:t>k</a:t>
            </a:r>
            <a:r>
              <a:rPr lang="zh-TW" altLang="en-US" dirty="0" smtClean="0"/>
              <a:t>對</a:t>
            </a:r>
            <a:r>
              <a:rPr lang="en-US" altLang="zh-TW" dirty="0" smtClean="0"/>
              <a:t>w</a:t>
            </a:r>
            <a:r>
              <a:rPr lang="zh-TW" altLang="en-US" dirty="0" smtClean="0"/>
              <a:t>分配</a:t>
            </a:r>
            <a:endParaRPr lang="en-US" altLang="zh-TW" dirty="0" smtClean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 smtClean="0"/>
              <a:t>將有類似的</a:t>
            </a:r>
            <a:r>
              <a:rPr lang="en-US" altLang="zh-TW" dirty="0" smtClean="0"/>
              <a:t>game</a:t>
            </a:r>
            <a:r>
              <a:rPr lang="zh-TW" altLang="en-US" dirty="0" smtClean="0"/>
              <a:t> </a:t>
            </a:r>
            <a:r>
              <a:rPr lang="en-US" altLang="zh-TW" dirty="0" smtClean="0"/>
              <a:t>term</a:t>
            </a:r>
            <a:r>
              <a:rPr lang="zh-TW" altLang="en-US" dirty="0" smtClean="0"/>
              <a:t>分布的</a:t>
            </a:r>
            <a:r>
              <a:rPr lang="en-US" altLang="zh-TW" dirty="0" smtClean="0"/>
              <a:t>thread</a:t>
            </a:r>
            <a:r>
              <a:rPr lang="zh-TW" altLang="en-US" dirty="0" smtClean="0"/>
              <a:t> </a:t>
            </a:r>
            <a:r>
              <a:rPr lang="en-US" altLang="zh-TW" dirty="0" smtClean="0"/>
              <a:t>cluster</a:t>
            </a:r>
            <a:r>
              <a:rPr lang="zh-TW" altLang="en-US" dirty="0" smtClean="0"/>
              <a:t>在一起</a:t>
            </a:r>
            <a:endParaRPr lang="en-US" altLang="zh-TW" dirty="0" smtClean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 smtClean="0"/>
              <a:t>在原本的</a:t>
            </a:r>
            <a:r>
              <a:rPr lang="en-US" altLang="zh-TW" dirty="0" smtClean="0"/>
              <a:t>LDA</a:t>
            </a:r>
            <a:r>
              <a:rPr lang="zh-TW" altLang="en-US" dirty="0" smtClean="0"/>
              <a:t>字分配公式後加權</a:t>
            </a:r>
            <a:r>
              <a:rPr lang="zh-TW" altLang="en-US" dirty="0" smtClean="0"/>
              <a:t>重</a:t>
            </a:r>
            <a:endParaRPr lang="en-US" altLang="zh-TW" dirty="0" smtClean="0"/>
          </a:p>
          <a:p>
            <a:pPr marL="228600" indent="-228600">
              <a:buFont typeface="+mj-lt"/>
              <a:buAutoNum type="arabicPeriod"/>
            </a:pPr>
            <a:r>
              <a:rPr lang="en-US" altLang="zh-TW" dirty="0" smtClean="0"/>
              <a:t>P(z|T1)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(2+1</a:t>
            </a:r>
            <a:r>
              <a:rPr lang="en-US" altLang="zh-TW" dirty="0" smtClean="0"/>
              <a:t>)/(2+0+0+0+0+5</a:t>
            </a:r>
            <a:r>
              <a:rPr lang="zh-TW" altLang="en-US" dirty="0" smtClean="0"/>
              <a:t>*</a:t>
            </a:r>
            <a:r>
              <a:rPr lang="en-US" altLang="zh-TW" dirty="0" smtClean="0"/>
              <a:t>1)</a:t>
            </a:r>
            <a:r>
              <a:rPr lang="zh-TW" altLang="en-US" dirty="0" smtClean="0"/>
              <a:t>   </a:t>
            </a:r>
            <a:r>
              <a:rPr lang="zh-TW" altLang="en-US" dirty="0" smtClean="0"/>
              <a:t>*  </a:t>
            </a:r>
            <a:r>
              <a:rPr lang="en-US" altLang="zh-TW" dirty="0" smtClean="0"/>
              <a:t>((</a:t>
            </a:r>
            <a:r>
              <a:rPr lang="en-US" altLang="zh-TW" dirty="0" smtClean="0"/>
              <a:t>10-1)+1</a:t>
            </a:r>
            <a:r>
              <a:rPr lang="en-US" altLang="zh-TW" dirty="0" smtClean="0"/>
              <a:t>)</a:t>
            </a:r>
            <a:r>
              <a:rPr lang="zh-TW" altLang="en-US" dirty="0" smtClean="0"/>
              <a:t> </a:t>
            </a:r>
            <a:r>
              <a:rPr lang="en-US" altLang="zh-TW" dirty="0" smtClean="0"/>
              <a:t>/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en-US" altLang="zh-TW" dirty="0" smtClean="0"/>
              <a:t>9+5+1+0+1+100</a:t>
            </a:r>
            <a:r>
              <a:rPr lang="zh-TW" altLang="en-US" dirty="0" smtClean="0"/>
              <a:t>*</a:t>
            </a:r>
            <a:r>
              <a:rPr lang="en-US" altLang="zh-TW" dirty="0" smtClean="0"/>
              <a:t>1)</a:t>
            </a:r>
            <a:r>
              <a:rPr lang="zh-TW" altLang="en-US" dirty="0" smtClean="0"/>
              <a:t>   </a:t>
            </a:r>
            <a:r>
              <a:rPr lang="en-US" altLang="zh-TW" dirty="0" smtClean="0"/>
              <a:t>=</a:t>
            </a:r>
            <a:r>
              <a:rPr lang="zh-TW" altLang="en-US" dirty="0" smtClean="0"/>
              <a:t>   </a:t>
            </a:r>
            <a:r>
              <a:rPr lang="en-US" altLang="zh-TW" dirty="0" smtClean="0"/>
              <a:t>3/7</a:t>
            </a:r>
            <a:r>
              <a:rPr lang="zh-TW" altLang="en-US" dirty="0" smtClean="0"/>
              <a:t> * </a:t>
            </a:r>
            <a:r>
              <a:rPr lang="en-US" altLang="zh-TW" dirty="0" smtClean="0"/>
              <a:t>10/116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zh-TW" dirty="0" smtClean="0"/>
              <a:t>P(z|T1):P(z|T2):P(z|T3):P(z|T1):P(z|T1)</a:t>
            </a:r>
            <a:r>
              <a:rPr lang="zh-TW" altLang="en-US" dirty="0" smtClean="0"/>
              <a:t>   </a:t>
            </a:r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altLang="zh-TW" smtClean="0"/>
              <a:pPr/>
              <a:t>95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4624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70258A-5980-43C0-87C9-D59C08AC9CEF}" type="slidenum">
              <a:rPr lang="he-IL" altLang="zh-TW"/>
              <a:pPr/>
              <a:t>96</a:t>
            </a:fld>
            <a:endParaRPr lang="zh-TW" altLang="zh-TW"/>
          </a:p>
        </p:txBody>
      </p:sp>
      <p:sp>
        <p:nvSpPr>
          <p:cNvPr id="196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collapsed Gibbs sampling, </a:t>
            </a:r>
            <a:r>
              <a:rPr lang="en-US" altLang="zh-TW" sz="1200" kern="1200" dirty="0" err="1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wij</a:t>
            </a:r>
            <a:r>
              <a:rPr lang="en-US" altLang="zh-TW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is</a:t>
            </a:r>
            <a:r>
              <a:rPr lang="en-US" altLang="zh-TW" sz="1200" kern="1200" baseline="0" dirty="0" smtClean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 observed variable and the others are latent variables.</a:t>
            </a:r>
            <a:endParaRPr lang="el-GR" altLang="zh-TW" dirty="0"/>
          </a:p>
        </p:txBody>
      </p:sp>
    </p:spTree>
    <p:extLst>
      <p:ext uri="{BB962C8B-B14F-4D97-AF65-F5344CB8AC3E}">
        <p14:creationId xmlns:p14="http://schemas.microsoft.com/office/powerpoint/2010/main" val="4912919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3DC3DE-205B-4420-BBA9-BC35089FA0BC}" type="slidenum">
              <a:rPr lang="he-IL" altLang="zh-TW"/>
              <a:pPr/>
              <a:t>98</a:t>
            </a:fld>
            <a:endParaRPr lang="zh-TW" altLang="zh-TW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337665636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B2DEEF8-7176-4FB0-B148-C22DF4A87F23}" type="slidenum">
              <a:rPr lang="he-IL" altLang="zh-TW"/>
              <a:pPr/>
              <a:t>99</a:t>
            </a:fld>
            <a:endParaRPr lang="zh-TW" altLang="zh-TW"/>
          </a:p>
        </p:txBody>
      </p:sp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59431308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C621E6-91BF-46FC-B6C1-401EB0F364E5}" type="slidenum">
              <a:rPr lang="he-IL" altLang="zh-TW"/>
              <a:pPr/>
              <a:t>100</a:t>
            </a:fld>
            <a:endParaRPr lang="zh-TW" altLang="zh-TW"/>
          </a:p>
        </p:txBody>
      </p:sp>
      <p:sp>
        <p:nvSpPr>
          <p:cNvPr id="204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8175601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AA1D25-734A-42F6-B3E3-141C59827DCB}" type="slidenum">
              <a:rPr lang="he-IL" altLang="zh-TW"/>
              <a:pPr/>
              <a:t>101</a:t>
            </a:fld>
            <a:endParaRPr lang="zh-TW" altLang="zh-TW"/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30949620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183223-EA55-47F8-BEE2-09C6796C3095}" type="slidenum">
              <a:rPr lang="he-IL" altLang="zh-TW"/>
              <a:pPr/>
              <a:t>102</a:t>
            </a:fld>
            <a:endParaRPr lang="zh-TW" altLang="zh-TW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401961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5D441E-F552-448D-94B6-E23D4313A280}" type="slidenum">
              <a:rPr lang="he-IL" altLang="zh-TW"/>
              <a:pPr/>
              <a:t>103</a:t>
            </a:fld>
            <a:endParaRPr lang="zh-TW" altLang="zh-TW"/>
          </a:p>
        </p:txBody>
      </p:sp>
      <p:sp>
        <p:nvSpPr>
          <p:cNvPr id="184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70026005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1C2BCA-E847-4784-90ED-511824D0A1DB}" type="slidenum">
              <a:rPr lang="he-IL" altLang="zh-TW"/>
              <a:pPr/>
              <a:t>104</a:t>
            </a:fld>
            <a:endParaRPr lang="zh-TW" altLang="zh-TW"/>
          </a:p>
        </p:txBody>
      </p:sp>
      <p:sp>
        <p:nvSpPr>
          <p:cNvPr id="1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26508432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D9BCFE-05D9-45B4-8D88-154007FBFABC}" type="slidenum">
              <a:rPr lang="he-IL" altLang="zh-TW"/>
              <a:pPr/>
              <a:t>105</a:t>
            </a:fld>
            <a:endParaRPr lang="zh-TW" altLang="zh-TW"/>
          </a:p>
        </p:txBody>
      </p:sp>
      <p:sp>
        <p:nvSpPr>
          <p:cNvPr id="186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1399238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>
                  <a:ea typeface="新細明體" pitchFamily="18" charset="-12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TW" altLang="en-US">
                  <a:ea typeface="新細明體" pitchFamily="18" charset="-12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altLang="zh-TW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150B26F-3212-47BA-8F16-0781A32B06EB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E051FA7-4D9C-4BEC-A732-37979CE750C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9093929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51483B-FD16-40DD-B694-44EA0D46ACC8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A574F-A985-45F3-91D6-B5AC36275DF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79618489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85747E-3754-4FBB-B48E-8621785A18FB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CCD632-362D-4D4D-8DCC-38F7CA99501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1173730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6C58E-782F-41C1-9CDA-E0CE9F18144D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05DDE3-EF95-4605-9E23-97BFCACE31C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9948916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01FDD-93E4-45A0-A765-D58F744F098E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8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9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E0158-FBF6-4A52-A7E0-7E6A515779F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7717967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3E1FC6-25B3-47BB-9022-41F82FAC19C1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4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98551-F22F-44F9-BC14-EABD15395C1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5843531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296C84-BAA9-4E70-B243-5E80BF332DA8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3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4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A59B1-3CB4-4FE3-A32C-0C24802897B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818556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FF023A-2642-4E7C-9F56-E8892D751857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4A848C-DDA5-471E-9FC7-6B357459F9A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04874827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E2652-E181-4A32-A678-0C52B1E61279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3E07A-382E-4033-84D8-9579BE4D58D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02088989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FEDAA-B02A-4B0E-95D8-FD877D84F60D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5FDC5-881F-4C0D-9BCB-370DD46531F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0963118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7500" y="381000"/>
            <a:ext cx="2095500" cy="6096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134100" cy="6096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49060-48D1-446B-B3AD-C769B34D38B1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37E74-233B-4EF6-9176-4D015A07E139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7867311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114800" cy="5105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3AAF8-70F2-41EA-B799-95EF30F44558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9893D-C2E7-40A3-B3AA-A7B4898E512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4020281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標題，文字及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793038" cy="6096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371600"/>
            <a:ext cx="4114800" cy="51054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2"/>
          </p:nvPr>
        </p:nvSpPr>
        <p:spPr>
          <a:xfrm>
            <a:off x="4648200" y="1371600"/>
            <a:ext cx="4114800" cy="24765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114800" cy="247650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Rectangle 205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FCB57-C4F2-44FC-A118-2AAC7497CEF0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7" name="Rectangle 206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8" name="Rectangle 206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5B266-25E6-4478-865A-151E33F3E69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9856125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標題及圖表或組織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SmartArt 版面配置區 2"/>
          <p:cNvSpPr>
            <a:spLocks noGrp="1"/>
          </p:cNvSpPr>
          <p:nvPr>
            <p:ph type="dgm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207624E-624B-4B89-A3CE-5FBF108F2D9C}" type="slidenum">
              <a:rPr lang="he-IL" altLang="zh-TW"/>
              <a:pPr/>
              <a:t>‹#›</a:t>
            </a:fld>
            <a:endParaRPr lang="zh-TW" altLang="zh-TW"/>
          </a:p>
        </p:txBody>
      </p:sp>
      <p:sp>
        <p:nvSpPr>
          <p:cNvPr id="6" name="日期版面配置區 5"/>
          <p:cNvSpPr>
            <a:spLocks noGrp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607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6" name="Rectangle 2056"/>
          <p:cNvSpPr>
            <a:spLocks noChangeArrowheads="1"/>
          </p:cNvSpPr>
          <p:nvPr/>
        </p:nvSpPr>
        <p:spPr bwMode="gray">
          <a:xfrm>
            <a:off x="304800" y="1219200"/>
            <a:ext cx="8410575" cy="46038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kumimoji="1" lang="zh-TW" altLang="en-US">
              <a:ea typeface="新細明體" pitchFamily="18" charset="-120"/>
            </a:endParaRPr>
          </a:p>
        </p:txBody>
      </p:sp>
      <p:sp>
        <p:nvSpPr>
          <p:cNvPr id="27651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7930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27652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38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928779" name="Rectangle 205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965EA2CB-5D0C-462F-A796-905514636B72}" type="datetime4">
              <a:rPr lang="zh-TW" altLang="en-US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928780" name="Rectangle 206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r>
              <a:rPr lang="zh-TW" altLang="en-US"/>
              <a:t>Data Mining: Concepts and Techniques</a:t>
            </a:r>
            <a:endParaRPr lang="en-US" altLang="zh-TW"/>
          </a:p>
        </p:txBody>
      </p:sp>
      <p:sp>
        <p:nvSpPr>
          <p:cNvPr id="928781" name="Rectangle 206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新細明體" pitchFamily="18" charset="-120"/>
              </a:defRPr>
            </a:lvl1pPr>
          </a:lstStyle>
          <a:p>
            <a:pPr>
              <a:defRPr/>
            </a:pPr>
            <a:fld id="{AEE0E8C2-CB8D-4B63-B1DE-CF2ACF5019D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7" r:id="rId14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oleObject" Target="../embeddings/oleObject2.bin"/><Relationship Id="rId6" Type="http://schemas.openxmlformats.org/officeDocument/2006/relationships/image" Target="../media/image2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5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7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6" Type="http://schemas.openxmlformats.org/officeDocument/2006/relationships/oleObject" Target="../embeddings/oleObject7.bin"/><Relationship Id="rId7" Type="http://schemas.openxmlformats.org/officeDocument/2006/relationships/image" Target="../media/image7.w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4" Type="http://schemas.openxmlformats.org/officeDocument/2006/relationships/image" Target="../media/image8.w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4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6" Type="http://schemas.openxmlformats.org/officeDocument/2006/relationships/image" Target="../media/image10.wmf"/><Relationship Id="rId7" Type="http://schemas.openxmlformats.org/officeDocument/2006/relationships/oleObject" Target="../embeddings/oleObject11.bin"/><Relationship Id="rId8" Type="http://schemas.openxmlformats.org/officeDocument/2006/relationships/image" Target="../media/image11.wmf"/><Relationship Id="rId9" Type="http://schemas.openxmlformats.org/officeDocument/2006/relationships/oleObject" Target="../embeddings/oleObject12.bin"/><Relationship Id="rId10" Type="http://schemas.openxmlformats.org/officeDocument/2006/relationships/image" Target="../media/image12.wmf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6" Type="http://schemas.openxmlformats.org/officeDocument/2006/relationships/image" Target="../media/image14.wmf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4" Type="http://schemas.openxmlformats.org/officeDocument/2006/relationships/image" Target="../media/image15.wmf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4" Type="http://schemas.openxmlformats.org/officeDocument/2006/relationships/image" Target="../media/image18.wmf"/><Relationship Id="rId5" Type="http://schemas.openxmlformats.org/officeDocument/2006/relationships/oleObject" Target="../embeddings/oleObject19.bin"/><Relationship Id="rId6" Type="http://schemas.openxmlformats.org/officeDocument/2006/relationships/image" Target="../media/image19.wmf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oleObject" Target="../embeddings/oleObject20.bin"/><Relationship Id="rId5" Type="http://schemas.openxmlformats.org/officeDocument/2006/relationships/image" Target="../media/image20.wmf"/><Relationship Id="rId6" Type="http://schemas.openxmlformats.org/officeDocument/2006/relationships/oleObject" Target="../embeddings/oleObject21.bin"/><Relationship Id="rId7" Type="http://schemas.openxmlformats.org/officeDocument/2006/relationships/image" Target="../media/image21.wmf"/><Relationship Id="rId8" Type="http://schemas.openxmlformats.org/officeDocument/2006/relationships/oleObject" Target="../embeddings/oleObject22.bin"/><Relationship Id="rId9" Type="http://schemas.openxmlformats.org/officeDocument/2006/relationships/image" Target="../media/image22.wmf"/><Relationship Id="rId1" Type="http://schemas.openxmlformats.org/officeDocument/2006/relationships/vmlDrawing" Target="../drawings/vmlDrawing10.vml"/><Relationship Id="rId2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4" Type="http://schemas.openxmlformats.org/officeDocument/2006/relationships/oleObject" Target="../embeddings/oleObject23.bin"/><Relationship Id="rId5" Type="http://schemas.openxmlformats.org/officeDocument/2006/relationships/image" Target="../media/image23.wmf"/><Relationship Id="rId1" Type="http://schemas.openxmlformats.org/officeDocument/2006/relationships/vmlDrawing" Target="../drawings/vmlDrawing11.vml"/><Relationship Id="rId2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4" Type="http://schemas.openxmlformats.org/officeDocument/2006/relationships/image" Target="../media/image24.emf"/><Relationship Id="rId5" Type="http://schemas.openxmlformats.org/officeDocument/2006/relationships/oleObject" Target="../embeddings/oleObject25.bin"/><Relationship Id="rId6" Type="http://schemas.openxmlformats.org/officeDocument/2006/relationships/image" Target="../media/image25.emf"/><Relationship Id="rId7" Type="http://schemas.openxmlformats.org/officeDocument/2006/relationships/oleObject" Target="../embeddings/oleObject26.bin"/><Relationship Id="rId8" Type="http://schemas.openxmlformats.org/officeDocument/2006/relationships/image" Target="../media/image26.emf"/><Relationship Id="rId1" Type="http://schemas.openxmlformats.org/officeDocument/2006/relationships/vmlDrawing" Target="../drawings/vmlDrawing12.vml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4" Type="http://schemas.openxmlformats.org/officeDocument/2006/relationships/image" Target="../media/image27.emf"/><Relationship Id="rId5" Type="http://schemas.openxmlformats.org/officeDocument/2006/relationships/oleObject" Target="../embeddings/oleObject28.bin"/><Relationship Id="rId1" Type="http://schemas.openxmlformats.org/officeDocument/2006/relationships/vmlDrawing" Target="../drawings/vmlDrawing13.vml"/><Relationship Id="rId2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1" Type="http://schemas.openxmlformats.org/officeDocument/2006/relationships/oleObject" Target="../embeddings/oleObject33.bin"/><Relationship Id="rId12" Type="http://schemas.openxmlformats.org/officeDocument/2006/relationships/image" Target="../media/image32.wmf"/><Relationship Id="rId1" Type="http://schemas.openxmlformats.org/officeDocument/2006/relationships/vmlDrawing" Target="../drawings/vmlDrawing14.vml"/><Relationship Id="rId2" Type="http://schemas.openxmlformats.org/officeDocument/2006/relationships/slideLayout" Target="../slideLayouts/slideLayout12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28.wmf"/><Relationship Id="rId5" Type="http://schemas.openxmlformats.org/officeDocument/2006/relationships/oleObject" Target="../embeddings/oleObject30.bin"/><Relationship Id="rId6" Type="http://schemas.openxmlformats.org/officeDocument/2006/relationships/image" Target="../media/image29.wmf"/><Relationship Id="rId7" Type="http://schemas.openxmlformats.org/officeDocument/2006/relationships/oleObject" Target="../embeddings/oleObject31.bin"/><Relationship Id="rId8" Type="http://schemas.openxmlformats.org/officeDocument/2006/relationships/image" Target="../media/image30.wmf"/><Relationship Id="rId9" Type="http://schemas.openxmlformats.org/officeDocument/2006/relationships/oleObject" Target="../embeddings/oleObject32.bin"/><Relationship Id="rId10" Type="http://schemas.openxmlformats.org/officeDocument/2006/relationships/image" Target="../media/image3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5" Type="http://schemas.openxmlformats.org/officeDocument/2006/relationships/oleObject" Target="../embeddings/oleObject35.bin"/><Relationship Id="rId6" Type="http://schemas.openxmlformats.org/officeDocument/2006/relationships/image" Target="../media/image34.wmf"/><Relationship Id="rId1" Type="http://schemas.openxmlformats.org/officeDocument/2006/relationships/vmlDrawing" Target="../drawings/vmlDrawing15.vml"/><Relationship Id="rId2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36.bin"/><Relationship Id="rId5" Type="http://schemas.openxmlformats.org/officeDocument/2006/relationships/image" Target="../media/image35.wmf"/><Relationship Id="rId1" Type="http://schemas.openxmlformats.org/officeDocument/2006/relationships/vmlDrawing" Target="../drawings/vmlDrawing16.vml"/><Relationship Id="rId2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4" Type="http://schemas.openxmlformats.org/officeDocument/2006/relationships/image" Target="../media/image36.emf"/><Relationship Id="rId5" Type="http://schemas.openxmlformats.org/officeDocument/2006/relationships/oleObject" Target="../embeddings/oleObject38.bin"/><Relationship Id="rId6" Type="http://schemas.openxmlformats.org/officeDocument/2006/relationships/oleObject" Target="../embeddings/oleObject39.bin"/><Relationship Id="rId1" Type="http://schemas.openxmlformats.org/officeDocument/2006/relationships/vmlDrawing" Target="../drawings/vmlDrawing17.vml"/><Relationship Id="rId2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4" Type="http://schemas.openxmlformats.org/officeDocument/2006/relationships/image" Target="../media/image36.emf"/><Relationship Id="rId5" Type="http://schemas.openxmlformats.org/officeDocument/2006/relationships/oleObject" Target="../embeddings/oleObject41.bin"/><Relationship Id="rId6" Type="http://schemas.openxmlformats.org/officeDocument/2006/relationships/oleObject" Target="../embeddings/oleObject42.bin"/><Relationship Id="rId1" Type="http://schemas.openxmlformats.org/officeDocument/2006/relationships/vmlDrawing" Target="../drawings/vmlDrawing18.vml"/><Relationship Id="rId2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4" Type="http://schemas.openxmlformats.org/officeDocument/2006/relationships/image" Target="../media/image54.wmf"/><Relationship Id="rId5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4" Type="http://schemas.openxmlformats.org/officeDocument/2006/relationships/image" Target="../media/image57.wmf"/><Relationship Id="rId5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9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2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3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7.wmf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9.wmf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0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1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3.wmf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4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5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4" Type="http://schemas.openxmlformats.org/officeDocument/2006/relationships/oleObject" Target="../embeddings/oleObject43.bin"/><Relationship Id="rId5" Type="http://schemas.openxmlformats.org/officeDocument/2006/relationships/image" Target="../media/image75.wmf"/><Relationship Id="rId6" Type="http://schemas.openxmlformats.org/officeDocument/2006/relationships/oleObject" Target="../embeddings/oleObject44.bin"/><Relationship Id="rId7" Type="http://schemas.openxmlformats.org/officeDocument/2006/relationships/image" Target="../media/image76.wmf"/><Relationship Id="rId1" Type="http://schemas.openxmlformats.org/officeDocument/2006/relationships/vmlDrawing" Target="../drawings/vmlDrawing19.vml"/><Relationship Id="rId2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4" Type="http://schemas.openxmlformats.org/officeDocument/2006/relationships/oleObject" Target="../embeddings/oleObject45.bin"/><Relationship Id="rId5" Type="http://schemas.openxmlformats.org/officeDocument/2006/relationships/image" Target="../media/image77.wmf"/><Relationship Id="rId6" Type="http://schemas.openxmlformats.org/officeDocument/2006/relationships/oleObject" Target="../embeddings/oleObject46.bin"/><Relationship Id="rId7" Type="http://schemas.openxmlformats.org/officeDocument/2006/relationships/image" Target="../media/image78.wmf"/><Relationship Id="rId1" Type="http://schemas.openxmlformats.org/officeDocument/2006/relationships/vmlDrawing" Target="../drawings/vmlDrawing20.vml"/><Relationship Id="rId2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4" Type="http://schemas.openxmlformats.org/officeDocument/2006/relationships/oleObject" Target="../embeddings/oleObject47.bin"/><Relationship Id="rId5" Type="http://schemas.openxmlformats.org/officeDocument/2006/relationships/image" Target="../media/image79.wmf"/><Relationship Id="rId1" Type="http://schemas.openxmlformats.org/officeDocument/2006/relationships/vmlDrawing" Target="../drawings/vmlDrawing21.vml"/><Relationship Id="rId2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4" Type="http://schemas.openxmlformats.org/officeDocument/2006/relationships/image" Target="../media/image81.wmf"/><Relationship Id="rId1" Type="http://schemas.openxmlformats.org/officeDocument/2006/relationships/vmlDrawing" Target="../drawings/vmlDrawing22.vml"/><Relationship Id="rId2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4" Type="http://schemas.openxmlformats.org/officeDocument/2006/relationships/image" Target="../media/image82.wmf"/><Relationship Id="rId1" Type="http://schemas.openxmlformats.org/officeDocument/2006/relationships/vmlDrawing" Target="../drawings/vmlDrawing23.vml"/><Relationship Id="rId2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4" Type="http://schemas.openxmlformats.org/officeDocument/2006/relationships/image" Target="../media/image83.wmf"/><Relationship Id="rId1" Type="http://schemas.openxmlformats.org/officeDocument/2006/relationships/vmlDrawing" Target="../drawings/vmlDrawing24.vml"/><Relationship Id="rId2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wmf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4" Type="http://schemas.openxmlformats.org/officeDocument/2006/relationships/image" Target="../media/image86.wmf"/><Relationship Id="rId1" Type="http://schemas.openxmlformats.org/officeDocument/2006/relationships/vmlDrawing" Target="../drawings/vmlDrawing25.vml"/><Relationship Id="rId2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7.pn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jpe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1" Type="http://schemas.openxmlformats.org/officeDocument/2006/relationships/slideLayout" Target="../slideLayouts/slideLayout12.xml"/><Relationship Id="rId2" Type="http://schemas.openxmlformats.org/officeDocument/2006/relationships/hyperlink" Target="http://www.eudaptics.com/" TargetMode="Externa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4" Type="http://schemas.openxmlformats.org/officeDocument/2006/relationships/oleObject" Target="../embeddings/oleObject52.bin"/><Relationship Id="rId5" Type="http://schemas.openxmlformats.org/officeDocument/2006/relationships/image" Target="../media/image104.wmf"/><Relationship Id="rId6" Type="http://schemas.openxmlformats.org/officeDocument/2006/relationships/image" Target="../media/image108.png"/><Relationship Id="rId7" Type="http://schemas.openxmlformats.org/officeDocument/2006/relationships/oleObject" Target="../embeddings/oleObject53.bin"/><Relationship Id="rId8" Type="http://schemas.openxmlformats.org/officeDocument/2006/relationships/image" Target="../media/image105.wmf"/><Relationship Id="rId9" Type="http://schemas.openxmlformats.org/officeDocument/2006/relationships/oleObject" Target="../embeddings/oleObject54.bin"/><Relationship Id="rId10" Type="http://schemas.openxmlformats.org/officeDocument/2006/relationships/image" Target="../media/image106.wmf"/><Relationship Id="rId1" Type="http://schemas.openxmlformats.org/officeDocument/2006/relationships/vmlDrawing" Target="../drawings/vmlDrawing26.vml"/><Relationship Id="rId2" Type="http://schemas.openxmlformats.org/officeDocument/2006/relationships/slideLayout" Target="../slideLayouts/slideLayout13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4" Type="http://schemas.openxmlformats.org/officeDocument/2006/relationships/image" Target="../media/image107.png"/><Relationship Id="rId5" Type="http://schemas.openxmlformats.org/officeDocument/2006/relationships/oleObject" Target="../embeddings/oleObject55.bin"/><Relationship Id="rId6" Type="http://schemas.openxmlformats.org/officeDocument/2006/relationships/image" Target="../media/image109.wmf"/><Relationship Id="rId7" Type="http://schemas.openxmlformats.org/officeDocument/2006/relationships/oleObject" Target="../embeddings/oleObject56.bin"/><Relationship Id="rId8" Type="http://schemas.openxmlformats.org/officeDocument/2006/relationships/image" Target="../media/image110.wmf"/><Relationship Id="rId1" Type="http://schemas.openxmlformats.org/officeDocument/2006/relationships/vmlDrawing" Target="../drawings/vmlDrawing27.vml"/><Relationship Id="rId2" Type="http://schemas.openxmlformats.org/officeDocument/2006/relationships/slideLayout" Target="../slideLayouts/slideLayout13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32A2F8B-8541-49E1-BAD4-089211DEAD2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96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97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03EFA85-F40F-488A-BE29-765112661309}" type="slidenum">
              <a:rPr lang="zh-TW" altLang="en-US" sz="1200" smtClean="0"/>
              <a:pPr eaLnBrk="1" hangingPunct="1"/>
              <a:t>1</a:t>
            </a:fld>
            <a:endParaRPr lang="en-US" altLang="zh-TW" sz="12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solidFill>
                  <a:schemeClr val="hlink"/>
                </a:solidFill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  <a:endParaRPr lang="en-US" altLang="zh-TW" sz="2000" dirty="0" smtClean="0">
              <a:ea typeface="新細明體" pitchFamily="18" charset="-120"/>
            </a:endParaRP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dirty="0" smtClean="0">
                <a:ea typeface="新細明體" pitchFamily="18" charset="-120"/>
              </a:rPr>
              <a:t>Summary </a:t>
            </a:r>
          </a:p>
        </p:txBody>
      </p:sp>
      <p:sp>
        <p:nvSpPr>
          <p:cNvPr id="29703" name="AutoShape 4"/>
          <p:cNvSpPr>
            <a:spLocks noChangeArrowheads="1"/>
          </p:cNvSpPr>
          <p:nvPr/>
        </p:nvSpPr>
        <p:spPr bwMode="auto">
          <a:xfrm>
            <a:off x="4724400" y="15240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E4D0B6A-94E0-483F-AE74-DE92DA7EFCB6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07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07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140D318-2E51-486D-B1B9-C54C2699515E}" type="slidenum">
              <a:rPr lang="zh-TW" altLang="en-US" sz="1200" smtClean="0"/>
              <a:pPr eaLnBrk="1" hangingPunct="1"/>
              <a:t>2</a:t>
            </a:fld>
            <a:endParaRPr lang="en-US" altLang="zh-TW" sz="1200" smtClean="0"/>
          </a:p>
        </p:txBody>
      </p:sp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297738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What is Cluster Analysis?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Cluster: a collection of data objects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Similar to one another within the same cluster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Dissimilar to the objects in other clusters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Cluster analysis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Finding similarities between data according to the characteristics found in the data and grouping similar data objects into clusters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Unsupervised learning</a:t>
            </a:r>
            <a:r>
              <a:rPr lang="en-US" altLang="zh-TW" sz="2400" smtClean="0">
                <a:ea typeface="新細明體" pitchFamily="18" charset="-120"/>
              </a:rPr>
              <a:t>: no predefined classes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Typical applications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As a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stand-alone tool</a:t>
            </a:r>
            <a:r>
              <a:rPr lang="en-US" altLang="zh-TW" sz="2400" smtClean="0">
                <a:ea typeface="新細明體" pitchFamily="18" charset="-120"/>
              </a:rPr>
              <a:t> to get insight into data distribution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As a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preprocessing step</a:t>
            </a:r>
            <a:r>
              <a:rPr lang="en-US" altLang="zh-TW" sz="2400" smtClean="0">
                <a:ea typeface="新細明體" pitchFamily="18" charset="-120"/>
              </a:rPr>
              <a:t> for other algorithms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D31E5E4-A4B9-4960-A2D2-70C5966841B4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17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17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67D231A-EAC4-4BC2-A22D-0C76D728F512}" type="slidenum">
              <a:rPr lang="zh-TW" altLang="en-US" sz="1200" smtClean="0"/>
              <a:pPr eaLnBrk="1" hangingPunct="1"/>
              <a:t>3</a:t>
            </a:fld>
            <a:endParaRPr lang="en-US" altLang="zh-TW" sz="12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297738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Clustering: Rich Applications and Multidisciplinary Efforts</a:t>
            </a:r>
            <a:r>
              <a:rPr lang="en-US" altLang="zh-TW" sz="2800" smtClean="0">
                <a:ea typeface="新細明體" pitchFamily="18" charset="-120"/>
              </a:rPr>
              <a:t> </a:t>
            </a:r>
          </a:p>
        </p:txBody>
      </p:sp>
      <p:sp>
        <p:nvSpPr>
          <p:cNvPr id="317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Pattern Recognition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Spatial Data Analysis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Create thematic maps in GIS by clustering feature spaces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Detect spatial clusters or for other spatial mining tasks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Image Processing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Economic Science (especially market research)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WWW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Document classification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Cluster Weblog data to discover groups of similar access patterns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21CD98F-FFD3-4FF7-83F6-7EC7056C5BD3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27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27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5DFD5AD-65AA-42D5-9334-DE3FD9FC61C7}" type="slidenum">
              <a:rPr lang="zh-TW" altLang="en-US" sz="1200" smtClean="0"/>
              <a:pPr eaLnBrk="1" hangingPunct="1"/>
              <a:t>4</a:t>
            </a:fld>
            <a:endParaRPr lang="en-US" altLang="zh-TW" sz="12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367587" cy="498475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Examples of Clustering Applications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Marketing:</a:t>
            </a:r>
            <a:r>
              <a:rPr lang="en-US" altLang="zh-TW" sz="2000" dirty="0" smtClean="0">
                <a:ea typeface="新細明體" pitchFamily="18" charset="-120"/>
              </a:rPr>
              <a:t> Help marketers discover distinct groups in their customer bases, and then use this knowledge to develop targeted marketing programs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Land use:</a:t>
            </a:r>
            <a:r>
              <a:rPr lang="en-US" altLang="zh-TW" sz="2000" dirty="0" smtClean="0">
                <a:ea typeface="新細明體" pitchFamily="18" charset="-120"/>
              </a:rPr>
              <a:t> Identification of areas of similar land use in an earth observation database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Insurance:</a:t>
            </a:r>
            <a:r>
              <a:rPr lang="en-US" altLang="zh-TW" sz="2000" dirty="0" smtClean="0">
                <a:ea typeface="新細明體" pitchFamily="18" charset="-120"/>
              </a:rPr>
              <a:t> Identifying groups of motor insurance policy holders with a high average claim cost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City-planning:</a:t>
            </a:r>
            <a:r>
              <a:rPr lang="en-US" altLang="zh-TW" sz="2000" dirty="0" smtClean="0">
                <a:ea typeface="新細明體" pitchFamily="18" charset="-120"/>
              </a:rPr>
              <a:t> Identifying groups of houses according to their house type, value, and geographical location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Earth-quake studies:</a:t>
            </a:r>
            <a:r>
              <a:rPr lang="en-US" altLang="zh-TW" sz="2000" dirty="0" smtClean="0">
                <a:ea typeface="新細明體" pitchFamily="18" charset="-120"/>
              </a:rPr>
              <a:t> Observed earth quake epicenters should be clustered along continent faults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F1A1E0A-CB50-45C7-94D2-0D066059220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37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37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CB4D851-CDD1-4A0D-8381-B305D8741D61}" type="slidenum">
              <a:rPr lang="zh-TW" altLang="en-US" sz="1200" smtClean="0"/>
              <a:pPr eaLnBrk="1" hangingPunct="1"/>
              <a:t>5</a:t>
            </a:fld>
            <a:endParaRPr lang="en-US" altLang="zh-TW" sz="12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296150" cy="5334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Quality: What Is Good Clustering?</a:t>
            </a:r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A </a:t>
            </a:r>
            <a:r>
              <a:rPr lang="en-US" altLang="zh-TW" sz="2400" u="sng" smtClean="0">
                <a:ea typeface="新細明體" pitchFamily="18" charset="-120"/>
              </a:rPr>
              <a:t>good clustering</a:t>
            </a:r>
            <a:r>
              <a:rPr lang="en-US" altLang="zh-TW" sz="2400" smtClean="0">
                <a:ea typeface="新細明體" pitchFamily="18" charset="-120"/>
              </a:rPr>
              <a:t> method will produce high quality clusters with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high </a:t>
            </a:r>
            <a:r>
              <a:rPr lang="en-US" altLang="zh-TW" sz="2400" u="sng" smtClean="0">
                <a:ea typeface="新細明體" pitchFamily="18" charset="-120"/>
              </a:rPr>
              <a:t>intra-class</a:t>
            </a:r>
            <a:r>
              <a:rPr lang="en-US" altLang="zh-TW" sz="2400" smtClean="0">
                <a:ea typeface="新細明體" pitchFamily="18" charset="-120"/>
              </a:rPr>
              <a:t> similarity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low </a:t>
            </a:r>
            <a:r>
              <a:rPr lang="en-US" altLang="zh-TW" sz="2400" u="sng" smtClean="0">
                <a:ea typeface="新細明體" pitchFamily="18" charset="-120"/>
              </a:rPr>
              <a:t>inter-class</a:t>
            </a:r>
            <a:r>
              <a:rPr lang="en-US" altLang="zh-TW" sz="2400" smtClean="0">
                <a:ea typeface="新細明體" pitchFamily="18" charset="-120"/>
              </a:rPr>
              <a:t> similarity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The </a:t>
            </a:r>
            <a:r>
              <a:rPr lang="en-US" altLang="zh-TW" sz="2400" u="sng" smtClean="0">
                <a:ea typeface="新細明體" pitchFamily="18" charset="-120"/>
              </a:rPr>
              <a:t>quality</a:t>
            </a:r>
            <a:r>
              <a:rPr lang="en-US" altLang="zh-TW" sz="2400" smtClean="0">
                <a:ea typeface="新細明體" pitchFamily="18" charset="-120"/>
              </a:rPr>
              <a:t> of a clustering result depends on both the similarity measure used by the method and its implementation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The </a:t>
            </a:r>
            <a:r>
              <a:rPr lang="en-US" altLang="zh-TW" sz="2400" u="sng" smtClean="0">
                <a:ea typeface="新細明體" pitchFamily="18" charset="-120"/>
              </a:rPr>
              <a:t>quality</a:t>
            </a:r>
            <a:r>
              <a:rPr lang="en-US" altLang="zh-TW" sz="2400" smtClean="0">
                <a:ea typeface="新細明體" pitchFamily="18" charset="-120"/>
              </a:rPr>
              <a:t> of a clustering method is also measured by its ability to discover some or all of the </a:t>
            </a:r>
            <a:r>
              <a:rPr lang="en-US" altLang="zh-TW" sz="2400" u="sng" smtClean="0">
                <a:ea typeface="新細明體" pitchFamily="18" charset="-120"/>
              </a:rPr>
              <a:t>hidden</a:t>
            </a:r>
            <a:r>
              <a:rPr lang="en-US" altLang="zh-TW" sz="2400" smtClean="0">
                <a:ea typeface="新細明體" pitchFamily="18" charset="-120"/>
              </a:rPr>
              <a:t> patterns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1521B70-BC6A-42CF-ABFC-B465F6E2C24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48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48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3C931BD-5CCF-432C-87D2-D4325F3F4D4E}" type="slidenum">
              <a:rPr lang="zh-TW" altLang="en-US" sz="1200" smtClean="0"/>
              <a:pPr eaLnBrk="1" hangingPunct="1"/>
              <a:t>6</a:t>
            </a:fld>
            <a:endParaRPr lang="en-US" altLang="zh-TW" sz="1200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228600"/>
            <a:ext cx="67056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Measure the Quality of Clustering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029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Dissimilarity/Similarity metric</a:t>
            </a:r>
            <a:r>
              <a:rPr lang="en-US" altLang="zh-TW" sz="2400" smtClean="0">
                <a:ea typeface="新細明體" pitchFamily="18" charset="-120"/>
              </a:rPr>
              <a:t>: Similarity is expressed in terms of a distance function, typically metric: </a:t>
            </a:r>
            <a:r>
              <a:rPr lang="en-US" altLang="zh-TW" sz="2400" i="1" smtClean="0">
                <a:ea typeface="新細明體" pitchFamily="18" charset="-120"/>
              </a:rPr>
              <a:t>d</a:t>
            </a:r>
            <a:r>
              <a:rPr lang="en-US" altLang="zh-TW" sz="2400" smtClean="0">
                <a:ea typeface="新細明體" pitchFamily="18" charset="-120"/>
              </a:rPr>
              <a:t>(</a:t>
            </a:r>
            <a:r>
              <a:rPr lang="en-US" altLang="zh-TW" sz="2400" i="1" smtClean="0">
                <a:ea typeface="新細明體" pitchFamily="18" charset="-120"/>
              </a:rPr>
              <a:t>i, j</a:t>
            </a:r>
            <a:r>
              <a:rPr lang="en-US" altLang="zh-TW" sz="2400" smtClean="0">
                <a:ea typeface="新細明體" pitchFamily="18" charset="-12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There is a separate “quality” function that measures the “goodness” of a cluster.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The definitions of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distance functions</a:t>
            </a:r>
            <a:r>
              <a:rPr lang="en-US" altLang="zh-TW" sz="2400" smtClean="0">
                <a:ea typeface="新細明體" pitchFamily="18" charset="-120"/>
              </a:rPr>
              <a:t> are usually very different for interval-scaled, boolean, categorical, ordinal ratio, and vector variables.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Weights should be associated with different variables based on applications and data semantics.</a:t>
            </a:r>
            <a:endParaRPr lang="en-US" altLang="zh-TW" sz="2400" smtClean="0">
              <a:ea typeface="新細明體" pitchFamily="18" charset="-12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  <a:sym typeface="Symbol" pitchFamily="18" charset="2"/>
              </a:rPr>
              <a:t>It is hard to define “similar enough” or “good enough”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  <a:sym typeface="Symbol" pitchFamily="18" charset="2"/>
              </a:rPr>
              <a:t> the answer is typically highly subjective.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D10B517-64A6-4F6C-A184-9BDD60E74FB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58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58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FAE2960-9E29-4B4D-9513-87F9F6A47610}" type="slidenum">
              <a:rPr lang="zh-TW" altLang="en-US" sz="1200" smtClean="0"/>
              <a:pPr eaLnBrk="1" hangingPunct="1"/>
              <a:t>7</a:t>
            </a:fld>
            <a:endParaRPr lang="en-US" altLang="zh-TW" sz="1200" smtClean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50238" cy="5540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Requirements of Clustering in Data Mining 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325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Scalability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Ability to deal with different types of attributes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Ability to handle dynamic data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Discovery of clusters with arbitrary shape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Minimal requirements for domain knowledge to determine input parameters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Able to deal with noises and outliers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Insensitive to order of input records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High dimensionality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Incorporation of user-specified constraints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dirty="0" smtClean="0">
                <a:ea typeface="新細明體" pitchFamily="18" charset="-120"/>
              </a:rPr>
              <a:t>Interpretability and usability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1A592C1-1B81-43FB-B9BA-440864F544A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68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68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DE9309B-0392-4023-BF35-9D4F3B583791}" type="slidenum">
              <a:rPr lang="zh-TW" altLang="en-US" sz="1200" smtClean="0"/>
              <a:pPr eaLnBrk="1" hangingPunct="1"/>
              <a:t>8</a:t>
            </a:fld>
            <a:endParaRPr lang="en-US" altLang="zh-TW" sz="12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524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36871" name="AutoShape 4"/>
          <p:cNvSpPr>
            <a:spLocks noChangeArrowheads="1"/>
          </p:cNvSpPr>
          <p:nvPr/>
        </p:nvSpPr>
        <p:spPr bwMode="auto">
          <a:xfrm rot="-1466637">
            <a:off x="4876800" y="17526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7782CBB-F839-4571-8E93-5DE683B2702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2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3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01E3F8C-DB78-4DA2-A4D1-ED134098251A}" type="slidenum">
              <a:rPr lang="zh-TW" altLang="en-US" sz="1200" smtClean="0"/>
              <a:pPr eaLnBrk="1" hangingPunct="1"/>
              <a:t>9</a:t>
            </a:fld>
            <a:endParaRPr lang="en-US" altLang="zh-TW" sz="1200" smtClean="0"/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457200"/>
            <a:ext cx="5126037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Data Structures</a:t>
            </a:r>
          </a:p>
        </p:txBody>
      </p:sp>
      <p:sp>
        <p:nvSpPr>
          <p:cNvPr id="10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Data matrix</a:t>
            </a:r>
          </a:p>
          <a:p>
            <a:pPr lvl="1" eaLnBrk="1" hangingPunct="1"/>
            <a:r>
              <a:rPr lang="en-US" altLang="zh-TW" smtClean="0">
                <a:ea typeface="新細明體" pitchFamily="18" charset="-120"/>
              </a:rPr>
              <a:t>(two modes)</a:t>
            </a:r>
          </a:p>
          <a:p>
            <a:pPr eaLnBrk="1" hangingPunct="1"/>
            <a:endParaRPr lang="en-US" altLang="zh-TW" smtClean="0">
              <a:ea typeface="新細明體" pitchFamily="18" charset="-120"/>
            </a:endParaRPr>
          </a:p>
          <a:p>
            <a:pPr eaLnBrk="1" hangingPunct="1"/>
            <a:endParaRPr lang="en-US" altLang="zh-TW" smtClean="0">
              <a:ea typeface="新細明體" pitchFamily="18" charset="-120"/>
            </a:endParaRPr>
          </a:p>
          <a:p>
            <a:pPr eaLnBrk="1" hangingPunct="1"/>
            <a:endParaRPr lang="en-US" altLang="zh-TW" smtClean="0">
              <a:ea typeface="新細明體" pitchFamily="18" charset="-120"/>
            </a:endParaRPr>
          </a:p>
          <a:p>
            <a:pPr eaLnBrk="1" hangingPunct="1"/>
            <a:r>
              <a:rPr lang="en-US" altLang="zh-TW" smtClean="0">
                <a:ea typeface="新細明體" pitchFamily="18" charset="-120"/>
              </a:rPr>
              <a:t>Dissimilarity matrix</a:t>
            </a:r>
          </a:p>
          <a:p>
            <a:pPr lvl="1" eaLnBrk="1" hangingPunct="1"/>
            <a:r>
              <a:rPr lang="en-US" altLang="zh-TW" smtClean="0">
                <a:ea typeface="新細明體" pitchFamily="18" charset="-120"/>
              </a:rPr>
              <a:t>(one mode)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419600" y="1752600"/>
          <a:ext cx="3124200" cy="205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" name="Equation" r:id="rId3" imgW="1777680" imgH="1244520" progId="Equation.3">
                  <p:embed/>
                </p:oleObj>
              </mc:Choice>
              <mc:Fallback>
                <p:oleObj name="Equation" r:id="rId3" imgW="1777680" imgH="1244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752600"/>
                        <a:ext cx="3124200" cy="205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"/>
          <p:cNvGraphicFramePr>
            <a:graphicFrameLocks noChangeAspect="1"/>
          </p:cNvGraphicFramePr>
          <p:nvPr/>
        </p:nvGraphicFramePr>
        <p:xfrm>
          <a:off x="4419600" y="4191000"/>
          <a:ext cx="3429000" cy="197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7" name="Equation" r:id="rId5" imgW="1828800" imgH="1143000" progId="Equation.3">
                  <p:embed/>
                </p:oleObj>
              </mc:Choice>
              <mc:Fallback>
                <p:oleObj name="Equation" r:id="rId5" imgW="1828800" imgH="1143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4191000"/>
                        <a:ext cx="3429000" cy="197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3402743-22B9-40C0-B0F5-13E89D02E2B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78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78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673739A-E024-4680-AA5C-4219C8ECC4EC}" type="slidenum">
              <a:rPr lang="zh-TW" altLang="en-US" sz="1200" smtClean="0"/>
              <a:pPr eaLnBrk="1" hangingPunct="1"/>
              <a:t>10</a:t>
            </a:fld>
            <a:endParaRPr lang="en-US" altLang="zh-TW" sz="12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92125"/>
            <a:ext cx="7297737" cy="442913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Type of data in clustering analysis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0375" y="1600200"/>
            <a:ext cx="822325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zh-TW" sz="2400" u="sng" smtClean="0">
                <a:ea typeface="新細明體" pitchFamily="18" charset="-120"/>
              </a:rPr>
              <a:t>Interval-scaled variables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400" u="sng" smtClean="0">
                <a:ea typeface="新細明體" pitchFamily="18" charset="-120"/>
              </a:rPr>
              <a:t>Binary variables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400" u="sng" smtClean="0">
                <a:ea typeface="新細明體" pitchFamily="18" charset="-120"/>
              </a:rPr>
              <a:t>Nominal, ordinal, and ratio variables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400" u="sng" smtClean="0">
                <a:ea typeface="新細明體" pitchFamily="18" charset="-120"/>
              </a:rPr>
              <a:t>Variables of mixed types</a:t>
            </a:r>
            <a:endParaRPr lang="en-US" altLang="zh-TW" sz="2400" smtClean="0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E501A1A-C7A0-4E6C-813C-A955259F5E7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054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05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75BC320-F370-4591-903D-A73CA303B95D}" type="slidenum">
              <a:rPr lang="zh-TW" altLang="en-US" sz="1200" smtClean="0"/>
              <a:pPr eaLnBrk="1" hangingPunct="1"/>
              <a:t>11</a:t>
            </a:fld>
            <a:endParaRPr lang="en-US" altLang="zh-TW" sz="1200" smtClean="0"/>
          </a:p>
        </p:txBody>
      </p:sp>
      <p:sp>
        <p:nvSpPr>
          <p:cNvPr id="2056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92125"/>
            <a:ext cx="7297737" cy="442913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Interval-valued variables</a:t>
            </a:r>
          </a:p>
        </p:txBody>
      </p:sp>
      <p:sp>
        <p:nvSpPr>
          <p:cNvPr id="20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058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40000"/>
              </a:lnSpc>
            </a:pPr>
            <a:r>
              <a:rPr lang="en-US" altLang="zh-TW" sz="2400" dirty="0" smtClean="0">
                <a:ea typeface="新細明體" pitchFamily="18" charset="-120"/>
              </a:rPr>
              <a:t>Standardize data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TW" sz="2400" dirty="0" smtClean="0">
                <a:ea typeface="新細明體" pitchFamily="18" charset="-120"/>
              </a:rPr>
              <a:t>Calculate the mean absolute deviation:</a:t>
            </a:r>
          </a:p>
          <a:p>
            <a:pPr eaLnBrk="1" hangingPunct="1">
              <a:lnSpc>
                <a:spcPct val="140000"/>
              </a:lnSpc>
            </a:pPr>
            <a:endParaRPr lang="en-US" altLang="zh-TW" sz="2400" dirty="0" smtClean="0">
              <a:ea typeface="新細明體" pitchFamily="18" charset="-120"/>
            </a:endParaRPr>
          </a:p>
          <a:p>
            <a:pPr lvl="1" eaLnBrk="1" hangingPunct="1">
              <a:lnSpc>
                <a:spcPct val="140000"/>
              </a:lnSpc>
              <a:buFont typeface="Wingdings" pitchFamily="2" charset="2"/>
              <a:buNone/>
            </a:pPr>
            <a:r>
              <a:rPr lang="en-US" altLang="zh-TW" sz="2400" dirty="0" smtClean="0">
                <a:ea typeface="新細明體" pitchFamily="18" charset="-120"/>
              </a:rPr>
              <a:t>where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TW" sz="2400" dirty="0" smtClean="0">
                <a:ea typeface="新細明體" pitchFamily="18" charset="-120"/>
              </a:rPr>
              <a:t>Calculate the standardized measurement (</a:t>
            </a:r>
            <a:r>
              <a:rPr lang="en-US" altLang="zh-TW" sz="2400" i="1" dirty="0" smtClean="0">
                <a:ea typeface="新細明體" pitchFamily="18" charset="-120"/>
              </a:rPr>
              <a:t>z-score</a:t>
            </a:r>
            <a:r>
              <a:rPr lang="en-US" altLang="zh-TW" sz="2400" dirty="0" smtClean="0">
                <a:ea typeface="新細明體" pitchFamily="18" charset="-120"/>
              </a:rPr>
              <a:t>)</a:t>
            </a:r>
          </a:p>
          <a:p>
            <a:pPr eaLnBrk="1" hangingPunct="1">
              <a:lnSpc>
                <a:spcPct val="140000"/>
              </a:lnSpc>
            </a:pPr>
            <a:endParaRPr lang="en-US" altLang="zh-TW" sz="2400" dirty="0" smtClean="0">
              <a:ea typeface="新細明體" pitchFamily="18" charset="-120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TW" sz="2400" dirty="0" smtClean="0">
                <a:ea typeface="新細明體" pitchFamily="18" charset="-120"/>
              </a:rPr>
              <a:t>Using mean absolute deviation is more robust than using standard deviation </a:t>
            </a:r>
          </a:p>
          <a:p>
            <a:pPr eaLnBrk="1" hangingPunct="1">
              <a:lnSpc>
                <a:spcPct val="140000"/>
              </a:lnSpc>
              <a:buFont typeface="Wingdings" pitchFamily="2" charset="2"/>
              <a:buNone/>
            </a:pPr>
            <a:endParaRPr lang="zh-TW" altLang="en-US" sz="2400" dirty="0" smtClean="0">
              <a:ea typeface="新細明體" pitchFamily="18" charset="-120"/>
            </a:endParaRP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903560"/>
              </p:ext>
            </p:extLst>
          </p:nvPr>
        </p:nvGraphicFramePr>
        <p:xfrm>
          <a:off x="2457450" y="3511550"/>
          <a:ext cx="24130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5" name="方程式" r:id="rId3" imgW="2412720" imgH="419040" progId="Equation.3">
                  <p:embed/>
                </p:oleObj>
              </mc:Choice>
              <mc:Fallback>
                <p:oleObj name="方程式" r:id="rId3" imgW="241272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3511550"/>
                        <a:ext cx="24130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5"/>
          <p:cNvGraphicFramePr>
            <a:graphicFrameLocks noChangeAspect="1"/>
          </p:cNvGraphicFramePr>
          <p:nvPr/>
        </p:nvGraphicFramePr>
        <p:xfrm>
          <a:off x="2057400" y="2743200"/>
          <a:ext cx="43434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6" name="Equation" r:id="rId5" imgW="4343400" imgH="406080" progId="Equation.3">
                  <p:embed/>
                </p:oleObj>
              </mc:Choice>
              <mc:Fallback>
                <p:oleObj name="Equation" r:id="rId5" imgW="4343400" imgH="4060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743200"/>
                        <a:ext cx="43434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6"/>
          <p:cNvGraphicFramePr>
            <a:graphicFrameLocks noChangeAspect="1"/>
          </p:cNvGraphicFramePr>
          <p:nvPr/>
        </p:nvGraphicFramePr>
        <p:xfrm>
          <a:off x="3429000" y="4572000"/>
          <a:ext cx="14097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7" name="方程式" r:id="rId7" imgW="1409400" imgH="660240" progId="Equation.3">
                  <p:embed/>
                </p:oleObj>
              </mc:Choice>
              <mc:Fallback>
                <p:oleObj name="方程式" r:id="rId7" imgW="1409400" imgH="6602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4572000"/>
                        <a:ext cx="14097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57D8D97-BEF5-4352-AE94-178594F0D32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07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07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F80BD85-41F9-4F08-B5D2-6762508A4967}" type="slidenum">
              <a:rPr lang="zh-TW" altLang="en-US" sz="1200" smtClean="0"/>
              <a:pPr eaLnBrk="1" hangingPunct="1"/>
              <a:t>12</a:t>
            </a:fld>
            <a:endParaRPr lang="en-US" altLang="zh-TW" sz="1200" smtClean="0"/>
          </a:p>
        </p:txBody>
      </p:sp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152400"/>
            <a:ext cx="7315200" cy="10668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Similarity and Dissimilarity Between Objects</a:t>
            </a:r>
            <a:endParaRPr lang="en-US" altLang="zh-TW" smtClean="0">
              <a:ea typeface="新細明體" pitchFamily="18" charset="-120"/>
            </a:endParaRPr>
          </a:p>
        </p:txBody>
      </p:sp>
      <p:sp>
        <p:nvSpPr>
          <p:cNvPr id="30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229600" cy="5257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400" u="sng" dirty="0" smtClean="0">
                <a:ea typeface="新細明體" pitchFamily="18" charset="-120"/>
              </a:rPr>
              <a:t>Distances</a:t>
            </a:r>
            <a:r>
              <a:rPr lang="en-US" altLang="zh-TW" sz="2400" dirty="0" smtClean="0">
                <a:ea typeface="新細明體" pitchFamily="18" charset="-120"/>
              </a:rPr>
              <a:t> are normally used to measure the </a:t>
            </a:r>
            <a:r>
              <a:rPr lang="en-US" altLang="zh-TW" sz="2400" u="sng" dirty="0" smtClean="0">
                <a:ea typeface="新細明體" pitchFamily="18" charset="-120"/>
              </a:rPr>
              <a:t>similarity</a:t>
            </a:r>
            <a:r>
              <a:rPr lang="en-US" altLang="zh-TW" sz="2400" dirty="0" smtClean="0">
                <a:ea typeface="新細明體" pitchFamily="18" charset="-120"/>
              </a:rPr>
              <a:t> or </a:t>
            </a:r>
            <a:r>
              <a:rPr lang="en-US" altLang="zh-TW" sz="2400" u="sng" dirty="0" smtClean="0">
                <a:ea typeface="新細明體" pitchFamily="18" charset="-120"/>
              </a:rPr>
              <a:t>dissimilarity</a:t>
            </a:r>
            <a:r>
              <a:rPr lang="en-US" altLang="zh-TW" sz="2400" dirty="0" smtClean="0">
                <a:ea typeface="新細明體" pitchFamily="18" charset="-120"/>
              </a:rPr>
              <a:t> between two data objects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dirty="0" smtClean="0">
                <a:ea typeface="新細明體" pitchFamily="18" charset="-120"/>
              </a:rPr>
              <a:t>Some popular ones include: </a:t>
            </a:r>
            <a:r>
              <a:rPr lang="en-US" altLang="zh-TW" sz="2400" i="1" dirty="0" err="1" smtClean="0">
                <a:ea typeface="新細明體" pitchFamily="18" charset="-120"/>
              </a:rPr>
              <a:t>Minkowski</a:t>
            </a:r>
            <a:r>
              <a:rPr lang="en-US" altLang="zh-TW" sz="2400" i="1" dirty="0" smtClean="0">
                <a:ea typeface="新細明體" pitchFamily="18" charset="-120"/>
              </a:rPr>
              <a:t> distance</a:t>
            </a:r>
            <a:r>
              <a:rPr lang="en-US" altLang="zh-TW" sz="2400" dirty="0" smtClean="0">
                <a:ea typeface="新細明體" pitchFamily="18" charset="-12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endParaRPr lang="en-US" altLang="zh-TW" sz="2400" dirty="0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TW" sz="2400" dirty="0" smtClean="0">
                <a:ea typeface="新細明體" pitchFamily="18" charset="-120"/>
              </a:rPr>
              <a:t>where  </a:t>
            </a:r>
            <a:r>
              <a:rPr lang="en-US" altLang="zh-TW" sz="2400" i="1" dirty="0" err="1" smtClean="0">
                <a:ea typeface="新細明體" pitchFamily="18" charset="-120"/>
              </a:rPr>
              <a:t>i</a:t>
            </a:r>
            <a:r>
              <a:rPr lang="en-US" altLang="zh-TW" sz="2400" dirty="0" smtClean="0">
                <a:ea typeface="新細明體" pitchFamily="18" charset="-120"/>
              </a:rPr>
              <a:t> = (</a:t>
            </a:r>
            <a:r>
              <a:rPr lang="en-US" altLang="zh-TW" sz="2400" i="1" dirty="0" smtClean="0">
                <a:ea typeface="新細明體" pitchFamily="18" charset="-120"/>
              </a:rPr>
              <a:t>x</a:t>
            </a:r>
            <a:r>
              <a:rPr lang="en-US" altLang="zh-TW" sz="2400" baseline="-25000" dirty="0" smtClean="0">
                <a:ea typeface="新細明體" pitchFamily="18" charset="-120"/>
              </a:rPr>
              <a:t>i1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i="1" dirty="0" smtClean="0">
                <a:ea typeface="新細明體" pitchFamily="18" charset="-120"/>
              </a:rPr>
              <a:t>x</a:t>
            </a:r>
            <a:r>
              <a:rPr lang="en-US" altLang="zh-TW" sz="2400" baseline="-25000" dirty="0" smtClean="0">
                <a:ea typeface="新細明體" pitchFamily="18" charset="-120"/>
              </a:rPr>
              <a:t>i2</a:t>
            </a:r>
            <a:r>
              <a:rPr lang="en-US" altLang="zh-TW" sz="2400" dirty="0" smtClean="0">
                <a:ea typeface="新細明體" pitchFamily="18" charset="-120"/>
              </a:rPr>
              <a:t>, …, </a:t>
            </a:r>
            <a:r>
              <a:rPr lang="en-US" altLang="zh-TW" sz="2400" i="1" dirty="0" err="1" smtClean="0">
                <a:ea typeface="新細明體" pitchFamily="18" charset="-120"/>
              </a:rPr>
              <a:t>x</a:t>
            </a:r>
            <a:r>
              <a:rPr lang="en-US" altLang="zh-TW" sz="2400" baseline="-25000" dirty="0" err="1" smtClean="0">
                <a:ea typeface="新細明體" pitchFamily="18" charset="-120"/>
              </a:rPr>
              <a:t>ip</a:t>
            </a:r>
            <a:r>
              <a:rPr lang="en-US" altLang="zh-TW" sz="2400" dirty="0" smtClean="0">
                <a:ea typeface="新細明體" pitchFamily="18" charset="-120"/>
              </a:rPr>
              <a:t>) and</a:t>
            </a:r>
            <a:r>
              <a:rPr lang="en-US" altLang="zh-TW" sz="2400" i="1" dirty="0" smtClean="0">
                <a:ea typeface="新細明體" pitchFamily="18" charset="-120"/>
              </a:rPr>
              <a:t> j</a:t>
            </a:r>
            <a:r>
              <a:rPr lang="en-US" altLang="zh-TW" sz="2400" dirty="0" smtClean="0">
                <a:ea typeface="新細明體" pitchFamily="18" charset="-120"/>
              </a:rPr>
              <a:t> = (</a:t>
            </a:r>
            <a:r>
              <a:rPr lang="en-US" altLang="zh-TW" sz="2400" i="1" dirty="0" smtClean="0">
                <a:ea typeface="新細明體" pitchFamily="18" charset="-120"/>
              </a:rPr>
              <a:t>x</a:t>
            </a:r>
            <a:r>
              <a:rPr lang="en-US" altLang="zh-TW" sz="2400" baseline="-25000" dirty="0" smtClean="0">
                <a:ea typeface="新細明體" pitchFamily="18" charset="-120"/>
              </a:rPr>
              <a:t>j1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i="1" dirty="0" smtClean="0">
                <a:ea typeface="新細明體" pitchFamily="18" charset="-120"/>
              </a:rPr>
              <a:t>x</a:t>
            </a:r>
            <a:r>
              <a:rPr lang="en-US" altLang="zh-TW" sz="2400" baseline="-25000" dirty="0" smtClean="0">
                <a:ea typeface="新細明體" pitchFamily="18" charset="-120"/>
              </a:rPr>
              <a:t>j2</a:t>
            </a:r>
            <a:r>
              <a:rPr lang="en-US" altLang="zh-TW" sz="2400" dirty="0" smtClean="0">
                <a:ea typeface="新細明體" pitchFamily="18" charset="-120"/>
              </a:rPr>
              <a:t>, …, </a:t>
            </a:r>
            <a:r>
              <a:rPr lang="en-US" altLang="zh-TW" sz="2400" i="1" dirty="0" err="1" smtClean="0">
                <a:ea typeface="新細明體" pitchFamily="18" charset="-120"/>
              </a:rPr>
              <a:t>x</a:t>
            </a:r>
            <a:r>
              <a:rPr lang="en-US" altLang="zh-TW" sz="2400" baseline="-25000" dirty="0" err="1" smtClean="0">
                <a:ea typeface="新細明體" pitchFamily="18" charset="-120"/>
              </a:rPr>
              <a:t>jp</a:t>
            </a:r>
            <a:r>
              <a:rPr lang="en-US" altLang="zh-TW" sz="2400" dirty="0" smtClean="0">
                <a:ea typeface="新細明體" pitchFamily="18" charset="-120"/>
              </a:rPr>
              <a:t>) are two </a:t>
            </a:r>
            <a:r>
              <a:rPr lang="en-US" altLang="zh-TW" sz="2400" i="1" dirty="0" smtClean="0">
                <a:ea typeface="新細明體" pitchFamily="18" charset="-120"/>
              </a:rPr>
              <a:t>p</a:t>
            </a:r>
            <a:r>
              <a:rPr lang="en-US" altLang="zh-TW" sz="2400" dirty="0" smtClean="0">
                <a:ea typeface="新細明體" pitchFamily="18" charset="-120"/>
              </a:rPr>
              <a:t>-dimensional data objects, and </a:t>
            </a:r>
            <a:r>
              <a:rPr lang="en-US" altLang="zh-TW" sz="2400" i="1" dirty="0" smtClean="0">
                <a:ea typeface="新細明體" pitchFamily="18" charset="-120"/>
              </a:rPr>
              <a:t>q</a:t>
            </a:r>
            <a:r>
              <a:rPr lang="en-US" altLang="zh-TW" sz="2400" dirty="0" smtClean="0">
                <a:ea typeface="新細明體" pitchFamily="18" charset="-120"/>
              </a:rPr>
              <a:t> is a positive integer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dirty="0" smtClean="0">
                <a:ea typeface="新細明體" pitchFamily="18" charset="-120"/>
              </a:rPr>
              <a:t>If </a:t>
            </a:r>
            <a:r>
              <a:rPr lang="en-US" altLang="zh-TW" sz="2400" i="1" dirty="0" smtClean="0">
                <a:ea typeface="新細明體" pitchFamily="18" charset="-120"/>
              </a:rPr>
              <a:t>q</a:t>
            </a:r>
            <a:r>
              <a:rPr lang="en-US" altLang="zh-TW" sz="2400" dirty="0" smtClean="0">
                <a:ea typeface="新細明體" pitchFamily="18" charset="-120"/>
              </a:rPr>
              <a:t> = </a:t>
            </a:r>
            <a:r>
              <a:rPr lang="en-US" altLang="zh-TW" sz="2400" i="1" dirty="0" smtClean="0">
                <a:ea typeface="新細明體" pitchFamily="18" charset="-120"/>
              </a:rPr>
              <a:t>1</a:t>
            </a:r>
            <a:r>
              <a:rPr lang="en-US" altLang="zh-TW" sz="2400" dirty="0" smtClean="0">
                <a:ea typeface="新細明體" pitchFamily="18" charset="-120"/>
              </a:rPr>
              <a:t>, </a:t>
            </a:r>
            <a:r>
              <a:rPr lang="en-US" altLang="zh-TW" sz="2400" i="1" dirty="0" smtClean="0">
                <a:ea typeface="新細明體" pitchFamily="18" charset="-120"/>
              </a:rPr>
              <a:t>d</a:t>
            </a:r>
            <a:r>
              <a:rPr lang="en-US" altLang="zh-TW" sz="2400" dirty="0" smtClean="0">
                <a:ea typeface="新細明體" pitchFamily="18" charset="-120"/>
              </a:rPr>
              <a:t> is Manhattan distance</a:t>
            </a:r>
            <a:endParaRPr lang="en-US" altLang="zh-TW" sz="2400" i="1" dirty="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endParaRPr lang="en-US" altLang="zh-TW" sz="2400" i="1" dirty="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sz="1800" dirty="0" smtClean="0">
                <a:ea typeface="新細明體" pitchFamily="18" charset="-120"/>
              </a:rPr>
              <a:t>If </a:t>
            </a:r>
            <a:r>
              <a:rPr lang="en-US" altLang="zh-TW" sz="1800" i="1" dirty="0">
                <a:ea typeface="新細明體" pitchFamily="18" charset="-120"/>
              </a:rPr>
              <a:t>q</a:t>
            </a:r>
            <a:r>
              <a:rPr lang="en-US" altLang="zh-TW" sz="1800" dirty="0">
                <a:ea typeface="新細明體" pitchFamily="18" charset="-120"/>
              </a:rPr>
              <a:t> = </a:t>
            </a:r>
            <a:r>
              <a:rPr lang="en-US" altLang="zh-TW" sz="1800" dirty="0" smtClean="0">
                <a:ea typeface="新細明體" pitchFamily="18" charset="-120"/>
              </a:rPr>
              <a:t>infinity,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d(</a:t>
            </a:r>
            <a:r>
              <a:rPr lang="en-US" altLang="zh-TW" sz="1800" dirty="0" err="1">
                <a:ea typeface="新細明體" pitchFamily="18" charset="-120"/>
              </a:rPr>
              <a:t>i</a:t>
            </a:r>
            <a:r>
              <a:rPr lang="en-US" altLang="zh-TW" sz="1800" dirty="0" err="1" smtClean="0">
                <a:ea typeface="新細明體" pitchFamily="18" charset="-120"/>
              </a:rPr>
              <a:t>,j</a:t>
            </a:r>
            <a:r>
              <a:rPr lang="en-US" altLang="zh-TW" sz="1800" dirty="0" smtClean="0">
                <a:ea typeface="新細明體" pitchFamily="18" charset="-120"/>
              </a:rPr>
              <a:t>)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=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max{xi1-xj1}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=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max</a:t>
            </a:r>
            <a:r>
              <a:rPr lang="zh-TW" altLang="en-US" sz="1800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{</a:t>
            </a:r>
            <a:r>
              <a:rPr lang="zh-TW" altLang="en-US" sz="1800" dirty="0">
                <a:ea typeface="新細明體" pitchFamily="18" charset="-120"/>
              </a:rPr>
              <a:t>直的</a:t>
            </a:r>
            <a:r>
              <a:rPr lang="zh-TW" altLang="en-US" sz="1800" dirty="0" smtClean="0">
                <a:ea typeface="新細明體" pitchFamily="18" charset="-120"/>
              </a:rPr>
              <a:t>虛線</a:t>
            </a:r>
            <a:r>
              <a:rPr lang="en-US" altLang="zh-TW" sz="1800" dirty="0" smtClean="0">
                <a:ea typeface="新細明體" pitchFamily="18" charset="-120"/>
              </a:rPr>
              <a:t>,</a:t>
            </a:r>
            <a:r>
              <a:rPr lang="zh-TW" altLang="en-US" sz="1800" dirty="0" smtClean="0">
                <a:ea typeface="新細明體" pitchFamily="18" charset="-120"/>
              </a:rPr>
              <a:t> 橫的虛線</a:t>
            </a:r>
            <a:r>
              <a:rPr lang="en-US" altLang="zh-TW" sz="1800" dirty="0" smtClean="0">
                <a:ea typeface="新細明體" pitchFamily="18" charset="-120"/>
              </a:rPr>
              <a:t>}</a:t>
            </a:r>
            <a:endParaRPr lang="zh-TW" altLang="en-US" sz="1800" dirty="0" smtClean="0">
              <a:ea typeface="新細明體" pitchFamily="18" charset="-120"/>
            </a:endParaRP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1905000" y="3124200"/>
          <a:ext cx="518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4" name="Equation" r:id="rId4" imgW="5181480" imgH="596880" progId="Equation.3">
                  <p:embed/>
                </p:oleObj>
              </mc:Choice>
              <mc:Fallback>
                <p:oleObj name="Equation" r:id="rId4" imgW="5181480" imgH="59688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124200"/>
                        <a:ext cx="5181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1025"/>
          <p:cNvGraphicFramePr>
            <a:graphicFrameLocks noChangeAspect="1"/>
          </p:cNvGraphicFramePr>
          <p:nvPr/>
        </p:nvGraphicFramePr>
        <p:xfrm>
          <a:off x="2514600" y="5562600"/>
          <a:ext cx="4521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Equation" r:id="rId6" imgW="4292280" imgH="431640" progId="Equation.3">
                  <p:embed/>
                </p:oleObj>
              </mc:Choice>
              <mc:Fallback>
                <p:oleObj name="Equation" r:id="rId6" imgW="4292280" imgH="43164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5562600"/>
                        <a:ext cx="4521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Connector 2"/>
          <p:cNvCxnSpPr/>
          <p:nvPr/>
        </p:nvCxnSpPr>
        <p:spPr bwMode="auto">
          <a:xfrm>
            <a:off x="7620000" y="5257800"/>
            <a:ext cx="0" cy="1066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7620000" y="5257800"/>
            <a:ext cx="60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/>
          <p:cNvCxnSpPr/>
          <p:nvPr/>
        </p:nvCxnSpPr>
        <p:spPr bwMode="auto">
          <a:xfrm flipH="1">
            <a:off x="7620000" y="5257800"/>
            <a:ext cx="609600" cy="10668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6"/>
          <p:cNvSpPr/>
          <p:nvPr/>
        </p:nvSpPr>
        <p:spPr>
          <a:xfrm>
            <a:off x="6029959" y="4617873"/>
            <a:ext cx="22236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800" dirty="0" smtClean="0">
                <a:ea typeface="新細明體" pitchFamily="18" charset="-120"/>
              </a:rPr>
              <a:t>虛線距離轉彎</a:t>
            </a:r>
            <a:r>
              <a:rPr lang="en-US" altLang="zh-TW" sz="1800" dirty="0" smtClean="0">
                <a:ea typeface="新細明體" pitchFamily="18" charset="-120"/>
              </a:rPr>
              <a:t>q=1</a:t>
            </a:r>
          </a:p>
          <a:p>
            <a:r>
              <a:rPr lang="en-US" altLang="zh-TW" sz="1800" dirty="0">
                <a:ea typeface="新細明體" pitchFamily="18" charset="-120"/>
              </a:rPr>
              <a:t>Manhattan distance</a:t>
            </a:r>
            <a:endParaRPr lang="en-US" sz="1800" dirty="0"/>
          </a:p>
        </p:txBody>
      </p:sp>
      <p:sp>
        <p:nvSpPr>
          <p:cNvPr id="8" name="Rectangle 7"/>
          <p:cNvSpPr/>
          <p:nvPr/>
        </p:nvSpPr>
        <p:spPr>
          <a:xfrm>
            <a:off x="7845007" y="5663569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800" dirty="0" smtClean="0">
                <a:ea typeface="新細明體" pitchFamily="18" charset="-120"/>
              </a:rPr>
              <a:t>實線距離</a:t>
            </a:r>
            <a:r>
              <a:rPr lang="en-US" altLang="zh-TW" sz="1800" dirty="0" smtClean="0">
                <a:ea typeface="新細明體" pitchFamily="18" charset="-120"/>
              </a:rPr>
              <a:t>q=2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DEAFCCD-F8C6-426E-8769-91BFFD4A5C4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100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101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6C2EEA0-6F93-4306-A08E-6230167C82E7}" type="slidenum">
              <a:rPr lang="zh-TW" altLang="en-US" sz="1200" smtClean="0"/>
              <a:pPr eaLnBrk="1" hangingPunct="1"/>
              <a:t>13</a:t>
            </a:fld>
            <a:endParaRPr lang="en-US" altLang="zh-TW" sz="1200" smtClean="0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228600"/>
            <a:ext cx="7391400" cy="9906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Similarity and Dissimilarity Between Objects (Cont.)</a:t>
            </a:r>
            <a:endParaRPr lang="en-US" altLang="zh-TW" smtClean="0">
              <a:ea typeface="新細明體" pitchFamily="18" charset="-120"/>
            </a:endParaRPr>
          </a:p>
        </p:txBody>
      </p:sp>
      <p:sp>
        <p:nvSpPr>
          <p:cNvPr id="41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010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i="1" smtClean="0">
                <a:ea typeface="新細明體" pitchFamily="18" charset="-120"/>
              </a:rPr>
              <a:t>If q</a:t>
            </a:r>
            <a:r>
              <a:rPr lang="en-US" altLang="zh-TW" sz="2400" smtClean="0">
                <a:ea typeface="新細明體" pitchFamily="18" charset="-120"/>
              </a:rPr>
              <a:t> = </a:t>
            </a:r>
            <a:r>
              <a:rPr lang="en-US" altLang="zh-TW" sz="2400" i="1" smtClean="0">
                <a:ea typeface="新細明體" pitchFamily="18" charset="-120"/>
              </a:rPr>
              <a:t>2</a:t>
            </a:r>
            <a:r>
              <a:rPr lang="en-US" altLang="zh-TW" sz="2400" smtClean="0">
                <a:ea typeface="新細明體" pitchFamily="18" charset="-120"/>
              </a:rPr>
              <a:t>,</a:t>
            </a:r>
            <a:r>
              <a:rPr lang="en-US" altLang="zh-TW" sz="2400" i="1" smtClean="0">
                <a:ea typeface="新細明體" pitchFamily="18" charset="-120"/>
              </a:rPr>
              <a:t> d </a:t>
            </a:r>
            <a:r>
              <a:rPr lang="en-US" altLang="zh-TW" sz="2400" smtClean="0">
                <a:ea typeface="新細明體" pitchFamily="18" charset="-120"/>
              </a:rPr>
              <a:t>is Euclidean distance:</a:t>
            </a:r>
          </a:p>
          <a:p>
            <a:pPr eaLnBrk="1" hangingPunct="1">
              <a:lnSpc>
                <a:spcPct val="11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Properties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TW" i="1" smtClean="0">
                <a:ea typeface="新細明體" pitchFamily="18" charset="-120"/>
              </a:rPr>
              <a:t>d(i,j)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mtClean="0">
                <a:ea typeface="新細明體" pitchFamily="18" charset="-120"/>
                <a:sym typeface="Symbol" pitchFamily="18" charset="2"/>
              </a:rPr>
              <a:t> 0</a:t>
            </a:r>
            <a:endParaRPr lang="en-US" altLang="zh-TW" smtClean="0">
              <a:ea typeface="新細明體" pitchFamily="18" charset="-120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i="1" smtClean="0">
                <a:ea typeface="新細明體" pitchFamily="18" charset="-120"/>
              </a:rPr>
              <a:t>d(i,i)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mtClean="0">
                <a:ea typeface="新細明體" pitchFamily="18" charset="-120"/>
                <a:sym typeface="Symbol" pitchFamily="18" charset="2"/>
              </a:rPr>
              <a:t>= 0</a:t>
            </a:r>
            <a:endParaRPr lang="en-US" altLang="zh-TW" smtClean="0">
              <a:ea typeface="新細明體" pitchFamily="18" charset="-120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i="1" smtClean="0">
                <a:ea typeface="新細明體" pitchFamily="18" charset="-120"/>
              </a:rPr>
              <a:t>d(i,j)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mtClean="0">
                <a:ea typeface="新細明體" pitchFamily="18" charset="-120"/>
                <a:sym typeface="Symbol" pitchFamily="18" charset="2"/>
              </a:rPr>
              <a:t>= </a:t>
            </a:r>
            <a:r>
              <a:rPr lang="en-US" altLang="zh-TW" i="1" smtClean="0">
                <a:ea typeface="新細明體" pitchFamily="18" charset="-120"/>
              </a:rPr>
              <a:t>d(j,i)</a:t>
            </a:r>
            <a:endParaRPr lang="en-US" altLang="zh-TW" smtClean="0">
              <a:ea typeface="新細明體" pitchFamily="18" charset="-120"/>
            </a:endParaRPr>
          </a:p>
          <a:p>
            <a:pPr lvl="2" eaLnBrk="1" hangingPunct="1">
              <a:lnSpc>
                <a:spcPct val="110000"/>
              </a:lnSpc>
            </a:pPr>
            <a:r>
              <a:rPr lang="en-US" altLang="zh-TW" i="1" smtClean="0">
                <a:ea typeface="新細明體" pitchFamily="18" charset="-120"/>
              </a:rPr>
              <a:t>d(i,j)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mtClean="0">
                <a:ea typeface="新細明體" pitchFamily="18" charset="-120"/>
                <a:sym typeface="Symbol" pitchFamily="18" charset="2"/>
              </a:rPr>
              <a:t> </a:t>
            </a:r>
            <a:r>
              <a:rPr lang="en-US" altLang="zh-TW" i="1" smtClean="0">
                <a:ea typeface="新細明體" pitchFamily="18" charset="-120"/>
              </a:rPr>
              <a:t>d(i,k)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mtClean="0">
                <a:ea typeface="新細明體" pitchFamily="18" charset="-120"/>
                <a:sym typeface="Symbol" pitchFamily="18" charset="2"/>
              </a:rPr>
              <a:t>+ </a:t>
            </a:r>
            <a:r>
              <a:rPr lang="en-US" altLang="zh-TW" i="1" smtClean="0">
                <a:ea typeface="新細明體" pitchFamily="18" charset="-120"/>
              </a:rPr>
              <a:t>d(k,j)</a:t>
            </a:r>
            <a:endParaRPr lang="en-US" altLang="zh-TW" smtClean="0">
              <a:ea typeface="新細明體" pitchFamily="18" charset="-120"/>
              <a:sym typeface="Symbol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Also, one can use weighted distance, parametric Pearson product moment correlation, or other disimilarity measures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981200" y="2133600"/>
          <a:ext cx="517048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Equation" r:id="rId3" imgW="5168880" imgH="583920" progId="Equation.3">
                  <p:embed/>
                </p:oleObj>
              </mc:Choice>
              <mc:Fallback>
                <p:oleObj name="Equation" r:id="rId3" imgW="5168880" imgH="5839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133600"/>
                        <a:ext cx="517048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周遭距離＝圓</a:t>
            </a:r>
            <a:endParaRPr lang="en-US" altLang="zh-TW" dirty="0" smtClean="0"/>
          </a:p>
          <a:p>
            <a:r>
              <a:rPr lang="en-US" altLang="zh-TW" dirty="0" smtClean="0"/>
              <a:t>If</a:t>
            </a:r>
            <a:r>
              <a:rPr lang="zh-TW" altLang="en-US" dirty="0" smtClean="0"/>
              <a:t> </a:t>
            </a:r>
            <a:r>
              <a:rPr lang="en-US" altLang="zh-TW" dirty="0" smtClean="0"/>
              <a:t>q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1,</a:t>
            </a:r>
            <a:r>
              <a:rPr lang="zh-TW" altLang="en-US" dirty="0" smtClean="0"/>
              <a:t> </a:t>
            </a:r>
            <a:r>
              <a:rPr lang="en-US" altLang="zh-TW" dirty="0"/>
              <a:t>d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符合的點 </a:t>
            </a:r>
            <a:r>
              <a:rPr lang="en-US" altLang="zh-TW" dirty="0" smtClean="0"/>
              <a:t>=</a:t>
            </a:r>
            <a:r>
              <a:rPr lang="zh-TW" altLang="en-US" dirty="0" smtClean="0"/>
              <a:t> 正方形 </a:t>
            </a:r>
            <a:endParaRPr lang="en-US" altLang="zh-TW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51483B-FD16-40DD-B694-44EA0D46ACC8}" type="datetime4">
              <a:rPr lang="zh-TW" altLang="en-US" smtClean="0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 smtClean="0"/>
              <a:t>Data Mining: Concepts and Techniques</a:t>
            </a: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A574F-A985-45F3-91D6-B5AC36275DF4}" type="slidenum">
              <a:rPr lang="zh-TW" altLang="en-US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7" name="Oval 6"/>
          <p:cNvSpPr/>
          <p:nvPr/>
        </p:nvSpPr>
        <p:spPr bwMode="auto">
          <a:xfrm>
            <a:off x="5448300" y="2552700"/>
            <a:ext cx="1600200" cy="13716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5448300" y="2552700"/>
            <a:ext cx="1600200" cy="1371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730339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日期版面配置區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93F30E4-8E97-4038-8005-884AD07E6231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127" name="頁尾版面配置區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128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BC78864-87ED-46F7-96D1-9F8E32AF53E3}" type="slidenum">
              <a:rPr lang="zh-TW" altLang="en-US" sz="1200" smtClean="0"/>
              <a:pPr eaLnBrk="1" hangingPunct="1"/>
              <a:t>15</a:t>
            </a:fld>
            <a:endParaRPr lang="en-US" altLang="zh-TW" sz="1200" smtClean="0"/>
          </a:p>
        </p:txBody>
      </p:sp>
      <p:sp>
        <p:nvSpPr>
          <p:cNvPr id="512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Binary Variables</a:t>
            </a:r>
          </a:p>
        </p:txBody>
      </p:sp>
      <p:sp>
        <p:nvSpPr>
          <p:cNvPr id="513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45720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A contingency table for binary data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Distance measure for symmetric binary variables: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Distance measure for asymmetric binary variables: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smtClean="0">
                <a:ea typeface="新細明體" pitchFamily="18" charset="-120"/>
              </a:rPr>
              <a:t>Jaccard coefficient (</a:t>
            </a:r>
            <a:r>
              <a:rPr lang="en-US" altLang="zh-TW" sz="2400" i="1" smtClean="0">
                <a:solidFill>
                  <a:schemeClr val="hlink"/>
                </a:solidFill>
                <a:ea typeface="新細明體" pitchFamily="18" charset="-120"/>
              </a:rPr>
              <a:t>similarity</a:t>
            </a:r>
            <a:r>
              <a:rPr lang="en-US" altLang="zh-TW" sz="2400" smtClean="0">
                <a:ea typeface="新細明體" pitchFamily="18" charset="-120"/>
              </a:rPr>
              <a:t> measure for </a:t>
            </a:r>
            <a:r>
              <a:rPr lang="en-US" altLang="zh-TW" sz="2400" i="1" smtClean="0">
                <a:ea typeface="新細明體" pitchFamily="18" charset="-120"/>
              </a:rPr>
              <a:t>asymmetric </a:t>
            </a:r>
            <a:r>
              <a:rPr lang="en-US" altLang="zh-TW" sz="2400" smtClean="0">
                <a:ea typeface="新細明體" pitchFamily="18" charset="-120"/>
              </a:rPr>
              <a:t>binary variables): </a:t>
            </a: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/>
        </p:nvGraphicFramePr>
        <p:xfrm>
          <a:off x="4953000" y="3200400"/>
          <a:ext cx="3810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8" name="Equation" r:id="rId3" imgW="2044440" imgH="482400" progId="Equation.3">
                  <p:embed/>
                </p:oleObj>
              </mc:Choice>
              <mc:Fallback>
                <p:oleObj name="Equation" r:id="rId3" imgW="2044440" imgH="482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00400"/>
                        <a:ext cx="381000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>
            <a:graphicFrameLocks noChangeAspect="1"/>
          </p:cNvGraphicFramePr>
          <p:nvPr/>
        </p:nvGraphicFramePr>
        <p:xfrm>
          <a:off x="5029200" y="4191000"/>
          <a:ext cx="35052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9" name="Equation" r:id="rId5" imgW="1701720" imgH="482400" progId="Equation.3">
                  <p:embed/>
                </p:oleObj>
              </mc:Choice>
              <mc:Fallback>
                <p:oleObj name="Equation" r:id="rId5" imgW="170172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191000"/>
                        <a:ext cx="3505200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31" name="Group 12"/>
          <p:cNvGrpSpPr>
            <a:grpSpLocks/>
          </p:cNvGrpSpPr>
          <p:nvPr/>
        </p:nvGrpSpPr>
        <p:grpSpPr bwMode="auto">
          <a:xfrm>
            <a:off x="4572000" y="852488"/>
            <a:ext cx="4876800" cy="2195512"/>
            <a:chOff x="1200" y="1209"/>
            <a:chExt cx="3072" cy="1383"/>
          </a:xfrm>
        </p:grpSpPr>
        <p:sp>
          <p:nvSpPr>
            <p:cNvPr id="5132" name="Line 7"/>
            <p:cNvSpPr>
              <a:spLocks noChangeShapeType="1"/>
            </p:cNvSpPr>
            <p:nvPr/>
          </p:nvSpPr>
          <p:spPr bwMode="auto">
            <a:xfrm>
              <a:off x="1200" y="1632"/>
              <a:ext cx="30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5133" name="Group 11"/>
            <p:cNvGrpSpPr>
              <a:grpSpLocks/>
            </p:cNvGrpSpPr>
            <p:nvPr/>
          </p:nvGrpSpPr>
          <p:grpSpPr bwMode="auto">
            <a:xfrm>
              <a:off x="1248" y="1209"/>
              <a:ext cx="2400" cy="1383"/>
              <a:chOff x="1248" y="1209"/>
              <a:chExt cx="2400" cy="1383"/>
            </a:xfrm>
          </p:grpSpPr>
          <p:graphicFrame>
            <p:nvGraphicFramePr>
              <p:cNvPr id="5125" name="Object 5"/>
              <p:cNvGraphicFramePr>
                <a:graphicFrameLocks noChangeAspect="1"/>
              </p:cNvGraphicFramePr>
              <p:nvPr/>
            </p:nvGraphicFramePr>
            <p:xfrm>
              <a:off x="1824" y="1440"/>
              <a:ext cx="1824" cy="10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600" name="Equation" r:id="rId7" imgW="2539800" imgH="1447560" progId="Equation.3">
                      <p:embed/>
                    </p:oleObj>
                  </mc:Choice>
                  <mc:Fallback>
                    <p:oleObj name="Equation" r:id="rId7" imgW="2539800" imgH="1447560" progId="Equation.3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4" y="1440"/>
                            <a:ext cx="1824" cy="10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34" name="Line 8"/>
              <p:cNvSpPr>
                <a:spLocks noChangeShapeType="1"/>
              </p:cNvSpPr>
              <p:nvPr/>
            </p:nvSpPr>
            <p:spPr bwMode="auto">
              <a:xfrm>
                <a:off x="2160" y="1344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135" name="Text Box 9"/>
              <p:cNvSpPr txBox="1">
                <a:spLocks noChangeArrowheads="1"/>
              </p:cNvSpPr>
              <p:nvPr/>
            </p:nvSpPr>
            <p:spPr bwMode="auto">
              <a:xfrm>
                <a:off x="1248" y="1833"/>
                <a:ext cx="67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TW" sz="1800" b="1">
                    <a:latin typeface="Times New Roman" pitchFamily="18" charset="0"/>
                    <a:ea typeface="新細明體" pitchFamily="18" charset="-120"/>
                  </a:rPr>
                  <a:t>Object </a:t>
                </a:r>
                <a:r>
                  <a:rPr lang="en-US" altLang="zh-TW" sz="1800" b="1" i="1">
                    <a:latin typeface="Times New Roman" pitchFamily="18" charset="0"/>
                    <a:ea typeface="新細明體" pitchFamily="18" charset="-120"/>
                  </a:rPr>
                  <a:t>i</a:t>
                </a:r>
                <a:endParaRPr lang="en-US" altLang="zh-TW" sz="1800" b="1">
                  <a:latin typeface="Times New Roman" pitchFamily="18" charset="0"/>
                  <a:ea typeface="新細明體" pitchFamily="18" charset="-120"/>
                </a:endParaRPr>
              </a:p>
            </p:txBody>
          </p:sp>
          <p:sp>
            <p:nvSpPr>
              <p:cNvPr id="5136" name="Text Box 10"/>
              <p:cNvSpPr txBox="1">
                <a:spLocks noChangeArrowheads="1"/>
              </p:cNvSpPr>
              <p:nvPr/>
            </p:nvSpPr>
            <p:spPr bwMode="auto">
              <a:xfrm>
                <a:off x="2400" y="1209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TW" sz="1800" b="1">
                    <a:latin typeface="Times New Roman" pitchFamily="18" charset="0"/>
                    <a:ea typeface="新細明體" pitchFamily="18" charset="-120"/>
                  </a:rPr>
                  <a:t>Object  </a:t>
                </a:r>
                <a:r>
                  <a:rPr lang="en-US" altLang="zh-TW" sz="1800" b="1" i="1">
                    <a:latin typeface="Times New Roman" pitchFamily="18" charset="0"/>
                    <a:ea typeface="新細明體" pitchFamily="18" charset="-120"/>
                  </a:rPr>
                  <a:t>j</a:t>
                </a:r>
              </a:p>
            </p:txBody>
          </p:sp>
        </p:grpSp>
      </p:grpSp>
      <p:graphicFrame>
        <p:nvGraphicFramePr>
          <p:cNvPr id="5124" name="Object 13"/>
          <p:cNvGraphicFramePr>
            <a:graphicFrameLocks noGrp="1" noChangeAspect="1"/>
          </p:cNvGraphicFramePr>
          <p:nvPr>
            <p:ph sz="half" idx="2"/>
          </p:nvPr>
        </p:nvGraphicFramePr>
        <p:xfrm>
          <a:off x="4953000" y="5505450"/>
          <a:ext cx="3962400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01" name="Equation" r:id="rId9" imgW="2387520" imgH="419040" progId="Equation.3">
                  <p:embed/>
                </p:oleObj>
              </mc:Choice>
              <mc:Fallback>
                <p:oleObj name="Equation" r:id="rId9" imgW="2387520" imgH="41904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505450"/>
                        <a:ext cx="3962400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EE16921-BBDC-4919-9607-1682C61C747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14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15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35D0AF6-36C9-407B-9E67-0809FBF783F0}" type="slidenum">
              <a:rPr lang="zh-TW" altLang="en-US" sz="1200" smtClean="0"/>
              <a:pPr eaLnBrk="1" hangingPunct="1"/>
              <a:t>16</a:t>
            </a:fld>
            <a:endParaRPr lang="en-US" altLang="zh-TW" sz="1200" smtClean="0"/>
          </a:p>
        </p:txBody>
      </p:sp>
      <p:sp>
        <p:nvSpPr>
          <p:cNvPr id="615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31238" cy="8382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Dissimilarity between Binary Variables</a:t>
            </a:r>
          </a:p>
        </p:txBody>
      </p:sp>
      <p:sp>
        <p:nvSpPr>
          <p:cNvPr id="61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00200"/>
            <a:ext cx="8382000" cy="48768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Example</a:t>
            </a:r>
          </a:p>
          <a:p>
            <a:pPr eaLnBrk="1" hangingPunct="1"/>
            <a:endParaRPr lang="en-US" altLang="zh-TW" sz="2400" smtClean="0">
              <a:ea typeface="新細明體" pitchFamily="18" charset="-120"/>
            </a:endParaRPr>
          </a:p>
          <a:p>
            <a:pPr eaLnBrk="1" hangingPunct="1"/>
            <a:endParaRPr lang="en-US" altLang="zh-TW" sz="2400" smtClean="0">
              <a:ea typeface="新細明體" pitchFamily="18" charset="-120"/>
            </a:endParaRPr>
          </a:p>
          <a:p>
            <a:pPr lvl="1" eaLnBrk="1" hangingPunct="1"/>
            <a:endParaRPr lang="en-US" altLang="zh-TW" sz="2400" smtClean="0">
              <a:ea typeface="新細明體" pitchFamily="18" charset="-120"/>
            </a:endParaRPr>
          </a:p>
          <a:p>
            <a:pPr lvl="1" eaLnBrk="1" hangingPunct="1"/>
            <a:endParaRPr lang="en-US" altLang="zh-TW" sz="2000" smtClean="0">
              <a:ea typeface="新細明體" pitchFamily="18" charset="-120"/>
            </a:endParaRP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gender is a symmetric attribute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the remaining attributes are asymmetric binary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let the values Y and P be set to 1, and the value N be set to 0</a:t>
            </a: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143000" y="2133600"/>
          <a:ext cx="693261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" name="Document" r:id="rId3" imgW="6819840" imgH="1474560" progId="Word.Document.8">
                  <p:embed/>
                </p:oleObj>
              </mc:Choice>
              <mc:Fallback>
                <p:oleObj name="Document" r:id="rId3" imgW="6819840" imgH="147456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133600"/>
                        <a:ext cx="693261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5"/>
          <p:cNvGraphicFramePr>
            <a:graphicFrameLocks noChangeAspect="1"/>
          </p:cNvGraphicFramePr>
          <p:nvPr/>
        </p:nvGraphicFramePr>
        <p:xfrm>
          <a:off x="1828800" y="4800600"/>
          <a:ext cx="4191000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7" name="Equation" r:id="rId5" imgW="2019240" imgH="1218960" progId="Equation.3">
                  <p:embed/>
                </p:oleObj>
              </mc:Choice>
              <mc:Fallback>
                <p:oleObj name="Equation" r:id="rId5" imgW="2019240" imgH="12189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800600"/>
                        <a:ext cx="4191000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D70E045-69F6-4034-9646-29B9FB091AD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172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17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9E2174F-8399-40E4-B87D-90F3EED3E85E}" type="slidenum">
              <a:rPr lang="zh-TW" altLang="en-US" sz="1200" smtClean="0"/>
              <a:pPr eaLnBrk="1" hangingPunct="1"/>
              <a:t>17</a:t>
            </a:fld>
            <a:endParaRPr lang="en-US" altLang="zh-TW" sz="1200" smtClean="0"/>
          </a:p>
        </p:txBody>
      </p:sp>
      <p:sp>
        <p:nvSpPr>
          <p:cNvPr id="717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7297738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Nominal Variables</a:t>
            </a:r>
          </a:p>
        </p:txBody>
      </p:sp>
      <p:sp>
        <p:nvSpPr>
          <p:cNvPr id="71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458200" cy="4419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A generalization of the binary variable in that it can take more than 2 states, e.g., red, yellow, blue, green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Method 1: Simple matching</a:t>
            </a:r>
            <a:endParaRPr lang="en-US" altLang="zh-TW" sz="2400" i="1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i="1" smtClean="0">
                <a:ea typeface="新細明體" pitchFamily="18" charset="-120"/>
              </a:rPr>
              <a:t>m</a:t>
            </a:r>
            <a:r>
              <a:rPr lang="en-US" altLang="zh-TW" sz="2400" smtClean="0">
                <a:ea typeface="新細明體" pitchFamily="18" charset="-120"/>
              </a:rPr>
              <a:t>: # of matches,</a:t>
            </a:r>
            <a:r>
              <a:rPr lang="en-US" altLang="zh-TW" sz="2400" i="1" smtClean="0">
                <a:ea typeface="新細明體" pitchFamily="18" charset="-120"/>
              </a:rPr>
              <a:t> p</a:t>
            </a:r>
            <a:r>
              <a:rPr lang="en-US" altLang="zh-TW" sz="2400" smtClean="0">
                <a:ea typeface="新細明體" pitchFamily="18" charset="-120"/>
              </a:rPr>
              <a:t>: total # of variables</a:t>
            </a:r>
          </a:p>
          <a:p>
            <a:pPr eaLnBrk="1" hangingPunct="1">
              <a:lnSpc>
                <a:spcPct val="12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Method 2: use a large number of binary variables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creating a new binary variable for each of the </a:t>
            </a:r>
            <a:r>
              <a:rPr lang="en-US" altLang="zh-TW" sz="2400" i="1" smtClean="0">
                <a:ea typeface="新細明體" pitchFamily="18" charset="-120"/>
              </a:rPr>
              <a:t>M</a:t>
            </a:r>
            <a:r>
              <a:rPr lang="en-US" altLang="zh-TW" sz="2400" smtClean="0">
                <a:ea typeface="新細明體" pitchFamily="18" charset="-120"/>
              </a:rPr>
              <a:t> nominal states</a:t>
            </a:r>
          </a:p>
        </p:txBody>
      </p:sp>
      <p:graphicFrame>
        <p:nvGraphicFramePr>
          <p:cNvPr id="7170" name="Object 0"/>
          <p:cNvGraphicFramePr>
            <a:graphicFrameLocks noChangeAspect="1"/>
          </p:cNvGraphicFramePr>
          <p:nvPr/>
        </p:nvGraphicFramePr>
        <p:xfrm>
          <a:off x="3124200" y="3810000"/>
          <a:ext cx="2133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5" name="Equation" r:id="rId3" imgW="1384200" imgH="469800" progId="Equation.3">
                  <p:embed/>
                </p:oleObj>
              </mc:Choice>
              <mc:Fallback>
                <p:oleObj name="Equation" r:id="rId3" imgW="1384200" imgH="4698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133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77D17ED-878B-470F-8E85-3D5BCE66508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19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19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22DACF3-D176-4874-8845-970F3EFA1002}" type="slidenum">
              <a:rPr lang="zh-TW" altLang="en-US" sz="1200" smtClean="0"/>
              <a:pPr eaLnBrk="1" hangingPunct="1"/>
              <a:t>18</a:t>
            </a:fld>
            <a:endParaRPr lang="en-US" altLang="zh-TW" sz="1200" smtClean="0"/>
          </a:p>
        </p:txBody>
      </p:sp>
      <p:sp>
        <p:nvSpPr>
          <p:cNvPr id="81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57200"/>
            <a:ext cx="6553200" cy="6302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Ordinal Variables</a:t>
            </a:r>
          </a:p>
        </p:txBody>
      </p:sp>
      <p:sp>
        <p:nvSpPr>
          <p:cNvPr id="82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458200" cy="46482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An ordinal variable can be discrete or continuous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Order is important, e.g., rank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Can be treated like interval-scaled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replace </a:t>
            </a:r>
            <a:r>
              <a:rPr lang="en-US" altLang="zh-TW" sz="2400" i="1" smtClean="0">
                <a:ea typeface="新細明體" pitchFamily="18" charset="-120"/>
              </a:rPr>
              <a:t>x</a:t>
            </a:r>
            <a:r>
              <a:rPr lang="en-US" altLang="zh-TW" sz="2400" i="1" baseline="-25000" smtClean="0">
                <a:ea typeface="新細明體" pitchFamily="18" charset="-120"/>
              </a:rPr>
              <a:t>if</a:t>
            </a:r>
            <a:r>
              <a:rPr lang="en-US" altLang="zh-TW" sz="2400" baseline="-25000" smtClean="0">
                <a:ea typeface="新細明體" pitchFamily="18" charset="-120"/>
              </a:rPr>
              <a:t> </a:t>
            </a:r>
            <a:r>
              <a:rPr lang="en-US" altLang="zh-TW" sz="2400" smtClean="0">
                <a:ea typeface="新細明體" pitchFamily="18" charset="-120"/>
              </a:rPr>
              <a:t> by their rank 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map the range of each variable onto [0, 1] by replacing</a:t>
            </a:r>
            <a:r>
              <a:rPr lang="en-US" altLang="zh-TW" sz="2400" i="1" smtClean="0">
                <a:ea typeface="新細明體" pitchFamily="18" charset="-120"/>
              </a:rPr>
              <a:t> i</a:t>
            </a:r>
            <a:r>
              <a:rPr lang="en-US" altLang="zh-TW" sz="2400" smtClean="0">
                <a:ea typeface="新細明體" pitchFamily="18" charset="-120"/>
              </a:rPr>
              <a:t>-th object in the </a:t>
            </a:r>
            <a:r>
              <a:rPr lang="en-US" altLang="zh-TW" sz="2400" i="1" smtClean="0">
                <a:ea typeface="新細明體" pitchFamily="18" charset="-120"/>
              </a:rPr>
              <a:t>f</a:t>
            </a:r>
            <a:r>
              <a:rPr lang="en-US" altLang="zh-TW" sz="2400" smtClean="0">
                <a:ea typeface="新細明體" pitchFamily="18" charset="-120"/>
              </a:rPr>
              <a:t>-th variable by</a:t>
            </a:r>
          </a:p>
          <a:p>
            <a:pPr lvl="1" eaLnBrk="1" hangingPunct="1">
              <a:lnSpc>
                <a:spcPct val="11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compute the dissimilarity using methods for interval-scaled variables</a:t>
            </a:r>
          </a:p>
        </p:txBody>
      </p:sp>
      <p:graphicFrame>
        <p:nvGraphicFramePr>
          <p:cNvPr id="8194" name="Object 1024"/>
          <p:cNvGraphicFramePr>
            <a:graphicFrameLocks noChangeAspect="1"/>
          </p:cNvGraphicFramePr>
          <p:nvPr/>
        </p:nvGraphicFramePr>
        <p:xfrm>
          <a:off x="3352800" y="4572000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4" name="Equation" r:id="rId3" imgW="1168200" imgH="711000" progId="Equation.3">
                  <p:embed/>
                </p:oleObj>
              </mc:Choice>
              <mc:Fallback>
                <p:oleObj name="Equation" r:id="rId3" imgW="1168200" imgH="7110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572000"/>
                        <a:ext cx="2438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025"/>
          <p:cNvGraphicFramePr>
            <a:graphicFrameLocks noChangeAspect="1"/>
          </p:cNvGraphicFramePr>
          <p:nvPr/>
        </p:nvGraphicFramePr>
        <p:xfrm>
          <a:off x="5486400" y="3048000"/>
          <a:ext cx="2209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35" name="Equation" r:id="rId5" imgW="1396800" imgH="368280" progId="Equation.3">
                  <p:embed/>
                </p:oleObj>
              </mc:Choice>
              <mc:Fallback>
                <p:oleObj name="Equation" r:id="rId5" imgW="1396800" imgH="36828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048000"/>
                        <a:ext cx="2209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B7E0364-06AD-4CF9-B230-F7A0BC3A5C3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89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89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27DF5E1-40BF-411E-B50E-3DC4002DA761}" type="slidenum">
              <a:rPr lang="zh-TW" altLang="en-US" sz="1200" smtClean="0"/>
              <a:pPr eaLnBrk="1" hangingPunct="1"/>
              <a:t>19</a:t>
            </a:fld>
            <a:endParaRPr lang="en-US" altLang="zh-TW" sz="12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6792913" cy="7826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Ratio-Scaled Variables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724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zh-TW" sz="2400" u="sng" smtClean="0">
                <a:ea typeface="新細明體" pitchFamily="18" charset="-120"/>
              </a:rPr>
              <a:t>Ratio-scaled variable</a:t>
            </a:r>
            <a:r>
              <a:rPr lang="en-US" altLang="zh-TW" sz="2400" smtClean="0">
                <a:ea typeface="新細明體" pitchFamily="18" charset="-120"/>
              </a:rPr>
              <a:t>: a positive measurement on a nonlinear scale, approximately at exponential scale, 		such as </a:t>
            </a:r>
            <a:r>
              <a:rPr lang="en-US" altLang="zh-TW" sz="2400" i="1" smtClean="0">
                <a:ea typeface="新細明體" pitchFamily="18" charset="-120"/>
              </a:rPr>
              <a:t>Ae</a:t>
            </a:r>
            <a:r>
              <a:rPr lang="en-US" altLang="zh-TW" sz="2400" i="1" baseline="30000" smtClean="0">
                <a:ea typeface="新細明體" pitchFamily="18" charset="-120"/>
              </a:rPr>
              <a:t>Bt</a:t>
            </a:r>
            <a:r>
              <a:rPr lang="en-US" altLang="zh-TW" sz="2400" smtClean="0">
                <a:ea typeface="新細明體" pitchFamily="18" charset="-120"/>
              </a:rPr>
              <a:t> or </a:t>
            </a:r>
            <a:r>
              <a:rPr lang="en-US" altLang="zh-TW" sz="2400" i="1" smtClean="0">
                <a:ea typeface="新細明體" pitchFamily="18" charset="-120"/>
              </a:rPr>
              <a:t>Ae</a:t>
            </a:r>
            <a:r>
              <a:rPr lang="en-US" altLang="zh-TW" sz="2400" i="1" baseline="30000" smtClean="0">
                <a:ea typeface="新細明體" pitchFamily="18" charset="-120"/>
              </a:rPr>
              <a:t>-Bt</a:t>
            </a:r>
            <a:r>
              <a:rPr lang="en-US" altLang="zh-TW" sz="2400" smtClean="0">
                <a:ea typeface="新細明體" pitchFamily="18" charset="-12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Methods: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treat them like interval-scaled variables—</a:t>
            </a:r>
            <a:r>
              <a:rPr lang="en-US" altLang="zh-TW" sz="2400" i="1" smtClean="0">
                <a:solidFill>
                  <a:schemeClr val="hlink"/>
                </a:solidFill>
                <a:ea typeface="新細明體" pitchFamily="18" charset="-120"/>
              </a:rPr>
              <a:t>not a good choice! </a:t>
            </a:r>
            <a:r>
              <a:rPr lang="en-US" altLang="zh-TW" sz="2400" smtClean="0">
                <a:ea typeface="新細明體" pitchFamily="18" charset="-120"/>
              </a:rPr>
              <a:t>(why?—the scale can be distorted)</a:t>
            </a:r>
            <a:endParaRPr lang="en-US" altLang="zh-TW" sz="2400" smtClean="0">
              <a:solidFill>
                <a:schemeClr val="hlink"/>
              </a:solidFill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apply logarithmic transformation</a:t>
            </a:r>
          </a:p>
          <a:p>
            <a:pPr algn="ctr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TW" sz="2400" i="1" smtClean="0">
                <a:ea typeface="新細明體" pitchFamily="18" charset="-120"/>
              </a:rPr>
              <a:t>y</a:t>
            </a:r>
            <a:r>
              <a:rPr lang="en-US" altLang="zh-TW" sz="2400" i="1" baseline="-25000" smtClean="0">
                <a:ea typeface="新細明體" pitchFamily="18" charset="-120"/>
              </a:rPr>
              <a:t>if </a:t>
            </a:r>
            <a:r>
              <a:rPr lang="en-US" altLang="zh-TW" sz="2400" smtClean="0">
                <a:ea typeface="新細明體" pitchFamily="18" charset="-120"/>
              </a:rPr>
              <a:t>=</a:t>
            </a:r>
            <a:r>
              <a:rPr lang="en-US" altLang="zh-TW" sz="2400" i="1" smtClean="0">
                <a:ea typeface="新細明體" pitchFamily="18" charset="-120"/>
              </a:rPr>
              <a:t> log(x</a:t>
            </a:r>
            <a:r>
              <a:rPr lang="en-US" altLang="zh-TW" sz="2400" i="1" baseline="-25000" smtClean="0">
                <a:ea typeface="新細明體" pitchFamily="18" charset="-120"/>
              </a:rPr>
              <a:t>if</a:t>
            </a:r>
            <a:r>
              <a:rPr lang="en-US" altLang="zh-TW" sz="2400" i="1" smtClean="0">
                <a:ea typeface="新細明體" pitchFamily="18" charset="-120"/>
              </a:rPr>
              <a:t>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treat them as continuous ordinal data treat their rank as interval-scaled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ADF6395-CE56-4D35-8100-A22946953527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8EBABBC-753E-44A2-AACC-20E5584A7072}" type="slidenum">
              <a:rPr lang="zh-TW" altLang="en-US" sz="1200" smtClean="0"/>
              <a:pPr eaLnBrk="1" hangingPunct="1"/>
              <a:t>20</a:t>
            </a:fld>
            <a:endParaRPr lang="en-US" altLang="zh-TW" sz="1200" smtClean="0"/>
          </a:p>
        </p:txBody>
      </p:sp>
      <p:sp>
        <p:nvSpPr>
          <p:cNvPr id="9223" name="Rectangle 2"/>
          <p:cNvSpPr>
            <a:spLocks noGrp="1" noChangeArrowheads="1"/>
          </p:cNvSpPr>
          <p:nvPr>
            <p:ph type="title"/>
          </p:nvPr>
        </p:nvSpPr>
        <p:spPr>
          <a:xfrm>
            <a:off x="1284288" y="381000"/>
            <a:ext cx="6945312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Variables of Mixed Types</a:t>
            </a:r>
          </a:p>
        </p:txBody>
      </p:sp>
      <p:sp>
        <p:nvSpPr>
          <p:cNvPr id="92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00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A database may contain all the six types of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symmetric binary, asymmetric binary, nominal, ordinal, interval and ratio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One may use a weighted formula to combine their effects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 smtClean="0">
              <a:ea typeface="新細明體" pitchFamily="18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>
                <a:ea typeface="新細明體" pitchFamily="18" charset="-120"/>
              </a:rPr>
              <a:t>f</a:t>
            </a:r>
            <a:r>
              <a:rPr lang="en-US" altLang="zh-TW" sz="2400" smtClean="0">
                <a:ea typeface="新細明體" pitchFamily="18" charset="-120"/>
              </a:rPr>
              <a:t>  is binary or nominal:</a:t>
            </a:r>
          </a:p>
          <a:p>
            <a:pPr lvl="2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mtClean="0">
                <a:ea typeface="新細明體" pitchFamily="18" charset="-120"/>
                <a:cs typeface="Tahoma" pitchFamily="34" charset="0"/>
              </a:rPr>
              <a:t>d</a:t>
            </a:r>
            <a:r>
              <a:rPr lang="en-US" altLang="zh-TW" baseline="-25000" smtClean="0">
                <a:ea typeface="新細明體" pitchFamily="18" charset="-120"/>
              </a:rPr>
              <a:t>ij</a:t>
            </a:r>
            <a:r>
              <a:rPr lang="en-US" altLang="zh-TW" baseline="30000" smtClean="0">
                <a:ea typeface="新細明體" pitchFamily="18" charset="-120"/>
              </a:rPr>
              <a:t>(f)</a:t>
            </a:r>
            <a:r>
              <a:rPr lang="en-US" altLang="zh-TW" smtClean="0">
                <a:ea typeface="新細明體" pitchFamily="18" charset="-120"/>
              </a:rPr>
              <a:t> = 0  if x</a:t>
            </a:r>
            <a:r>
              <a:rPr lang="en-US" altLang="zh-TW" baseline="-25000" smtClean="0">
                <a:ea typeface="新細明體" pitchFamily="18" charset="-120"/>
              </a:rPr>
              <a:t>if </a:t>
            </a:r>
            <a:r>
              <a:rPr lang="en-US" altLang="zh-TW" smtClean="0">
                <a:ea typeface="新細明體" pitchFamily="18" charset="-120"/>
              </a:rPr>
              <a:t>= x</a:t>
            </a:r>
            <a:r>
              <a:rPr lang="en-US" altLang="zh-TW" baseline="-25000" smtClean="0">
                <a:ea typeface="新細明體" pitchFamily="18" charset="-120"/>
              </a:rPr>
              <a:t>jf</a:t>
            </a:r>
            <a:r>
              <a:rPr lang="en-US" altLang="zh-TW" smtClean="0">
                <a:ea typeface="新細明體" pitchFamily="18" charset="-120"/>
              </a:rPr>
              <a:t> , or d</a:t>
            </a:r>
            <a:r>
              <a:rPr lang="en-US" altLang="zh-TW" baseline="-25000" smtClean="0">
                <a:ea typeface="新細明體" pitchFamily="18" charset="-120"/>
              </a:rPr>
              <a:t>ij</a:t>
            </a:r>
            <a:r>
              <a:rPr lang="en-US" altLang="zh-TW" baseline="30000" smtClean="0">
                <a:ea typeface="新細明體" pitchFamily="18" charset="-120"/>
              </a:rPr>
              <a:t>(f)</a:t>
            </a:r>
            <a:r>
              <a:rPr lang="en-US" altLang="zh-TW" smtClean="0">
                <a:ea typeface="新細明體" pitchFamily="18" charset="-120"/>
              </a:rPr>
              <a:t> = 1 otherwise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>
                <a:ea typeface="新細明體" pitchFamily="18" charset="-120"/>
              </a:rPr>
              <a:t>f</a:t>
            </a:r>
            <a:r>
              <a:rPr lang="en-US" altLang="zh-TW" sz="2400" smtClean="0">
                <a:ea typeface="新細明體" pitchFamily="18" charset="-120"/>
              </a:rPr>
              <a:t>  is interval-based: use the normalized distance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>
                <a:ea typeface="新細明體" pitchFamily="18" charset="-120"/>
              </a:rPr>
              <a:t>f</a:t>
            </a:r>
            <a:r>
              <a:rPr lang="en-US" altLang="zh-TW" sz="2400" smtClean="0">
                <a:ea typeface="新細明體" pitchFamily="18" charset="-120"/>
              </a:rPr>
              <a:t>  is ordinal or ratio-scaled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>
                <a:ea typeface="新細明體" pitchFamily="18" charset="-120"/>
              </a:rPr>
              <a:t>compute ranks r</a:t>
            </a:r>
            <a:r>
              <a:rPr lang="en-US" altLang="zh-TW" baseline="-25000" smtClean="0">
                <a:ea typeface="新細明體" pitchFamily="18" charset="-120"/>
              </a:rPr>
              <a:t>if</a:t>
            </a:r>
            <a:r>
              <a:rPr lang="en-US" altLang="zh-TW" smtClean="0">
                <a:ea typeface="新細明體" pitchFamily="18" charset="-120"/>
              </a:rPr>
              <a:t> and 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mtClean="0">
                <a:ea typeface="新細明體" pitchFamily="18" charset="-120"/>
              </a:rPr>
              <a:t>and treat z</a:t>
            </a:r>
            <a:r>
              <a:rPr lang="en-US" altLang="zh-TW" baseline="-25000" smtClean="0">
                <a:ea typeface="新細明體" pitchFamily="18" charset="-120"/>
              </a:rPr>
              <a:t>if</a:t>
            </a:r>
            <a:r>
              <a:rPr lang="en-US" altLang="zh-TW" smtClean="0">
                <a:ea typeface="新細明體" pitchFamily="18" charset="-120"/>
              </a:rPr>
              <a:t> as interval-scaled</a:t>
            </a: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2438400" y="3124200"/>
          <a:ext cx="41751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8" name="Equation" r:id="rId3" imgW="2108160" imgH="736560" progId="Equation.3">
                  <p:embed/>
                </p:oleObj>
              </mc:Choice>
              <mc:Fallback>
                <p:oleObj name="Equation" r:id="rId3" imgW="2108160" imgH="736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124200"/>
                        <a:ext cx="41751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6"/>
          <p:cNvGraphicFramePr>
            <a:graphicFrameLocks noChangeAspect="1"/>
          </p:cNvGraphicFramePr>
          <p:nvPr/>
        </p:nvGraphicFramePr>
        <p:xfrm>
          <a:off x="6096000" y="5715000"/>
          <a:ext cx="1622425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59" name="Equation" r:id="rId5" imgW="1002960" imgH="533160" progId="Equation.3">
                  <p:embed/>
                </p:oleObj>
              </mc:Choice>
              <mc:Fallback>
                <p:oleObj name="Equation" r:id="rId5" imgW="1002960" imgH="533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715000"/>
                        <a:ext cx="1622425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E52C349-195D-4A6F-9278-7F1CB5A330F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399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399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8FF5DA4-C76C-4800-B6BD-19F314EC6EA8}" type="slidenum">
              <a:rPr lang="zh-TW" altLang="en-US" sz="1200" smtClean="0"/>
              <a:pPr eaLnBrk="1" hangingPunct="1"/>
              <a:t>21</a:t>
            </a:fld>
            <a:endParaRPr lang="en-US" altLang="zh-TW" sz="12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381000"/>
            <a:ext cx="6781800" cy="630238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dirty="0" smtClean="0">
                <a:ea typeface="新細明體" pitchFamily="18" charset="-120"/>
              </a:rPr>
              <a:t>Vector Objects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942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458200" cy="4953000"/>
              </a:xfrm>
              <a:noFill/>
            </p:spPr>
            <p:txBody>
              <a:bodyPr lIns="92075" tIns="46038" rIns="92075" bIns="46038"/>
              <a:lstStyle/>
              <a:p>
                <a:pPr eaLnBrk="1" hangingPunct="1">
                  <a:lnSpc>
                    <a:spcPct val="110000"/>
                  </a:lnSpc>
                </a:pPr>
                <a:r>
                  <a:rPr lang="en-US" altLang="zh-TW" dirty="0" smtClean="0">
                    <a:ea typeface="新細明體" pitchFamily="18" charset="-120"/>
                  </a:rPr>
                  <a:t>Vector objects: keywords in documents, gene features in micro-arrays, etc.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TW" dirty="0" smtClean="0">
                    <a:ea typeface="新細明體" pitchFamily="18" charset="-120"/>
                  </a:rPr>
                  <a:t>Broad applications: information retrieval, biologic taxonomy, etc.</a:t>
                </a: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TW" dirty="0" smtClean="0">
                    <a:ea typeface="新細明體" pitchFamily="18" charset="-120"/>
                  </a:rPr>
                  <a:t>Cosine measure </a:t>
                </a:r>
                <a:endParaRPr lang="en-US" altLang="zh-TW" b="0" i="1" dirty="0" smtClean="0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0" indent="0" eaLnBrk="1" hangingPunct="1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新細明體" pitchFamily="18" charset="-120"/>
                        </a:rPr>
                        <m:t>𝑠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charset="0"/>
                              <a:ea typeface="新細明體" pitchFamily="18" charset="-12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charset="0"/>
                              <a:ea typeface="新細明體" pitchFamily="18" charset="-12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b="0" i="1" smtClean="0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𝑡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b="0" i="1" smtClean="0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altLang="zh-TW" dirty="0" smtClean="0">
                  <a:ea typeface="新細明體" pitchFamily="18" charset="-120"/>
                </a:endParaRPr>
              </a:p>
              <a:p>
                <a:pPr eaLnBrk="1" hangingPunct="1">
                  <a:lnSpc>
                    <a:spcPct val="110000"/>
                  </a:lnSpc>
                </a:pPr>
                <a:r>
                  <a:rPr lang="en-US" altLang="zh-TW" dirty="0" smtClean="0">
                    <a:ea typeface="新細明體" pitchFamily="18" charset="-120"/>
                  </a:rPr>
                  <a:t>A variant: </a:t>
                </a:r>
                <a:r>
                  <a:rPr lang="en-US" altLang="zh-TW" dirty="0" err="1" smtClean="0">
                    <a:ea typeface="新細明體" pitchFamily="18" charset="-120"/>
                  </a:rPr>
                  <a:t>Tanimoto</a:t>
                </a:r>
                <a:r>
                  <a:rPr lang="en-US" altLang="zh-TW" dirty="0" smtClean="0">
                    <a:ea typeface="新細明體" pitchFamily="18" charset="-120"/>
                  </a:rPr>
                  <a:t> coefficient</a:t>
                </a:r>
              </a:p>
              <a:p>
                <a:pPr marL="0" indent="0" eaLnBrk="1" hangingPunct="1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𝑠</m:t>
                      </m:r>
                      <m:d>
                        <m:dPr>
                          <m:ctrlPr>
                            <a:rPr lang="en-US" altLang="zh-TW" sz="2400" i="1">
                              <a:latin typeface="Cambria Math" charset="0"/>
                              <a:ea typeface="新細明體" pitchFamily="18" charset="-12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>
                              <a:latin typeface="Cambria Math" charset="0"/>
                              <a:ea typeface="新細明體" pitchFamily="18" charset="-12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𝑡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𝑡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𝑌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𝑡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𝑡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TW" sz="2400" i="1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𝑌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altLang="zh-TW" dirty="0" smtClean="0">
                  <a:ea typeface="新細明體" pitchFamily="18" charset="-120"/>
                </a:endParaRPr>
              </a:p>
              <a:p>
                <a:pPr eaLnBrk="1" hangingPunct="1">
                  <a:lnSpc>
                    <a:spcPct val="110000"/>
                  </a:lnSpc>
                </a:pPr>
                <a:endParaRPr lang="zh-TW" altLang="en-US" dirty="0" smtClean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994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458200" cy="4953000"/>
              </a:xfrm>
              <a:blipFill rotWithShape="0">
                <a:blip r:embed="rId2"/>
                <a:stretch>
                  <a:fillRect l="-288" t="-1230" b="-22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AF90998-A052-45D6-BF5F-C2996A71612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09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09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F693A34-69A4-4F0E-AF86-91A9C3E97874}" type="slidenum">
              <a:rPr lang="zh-TW" altLang="en-US" sz="1200" smtClean="0"/>
              <a:pPr eaLnBrk="1" hangingPunct="1"/>
              <a:t>22</a:t>
            </a:fld>
            <a:endParaRPr lang="en-US" altLang="zh-TW" sz="1200" smtClean="0"/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868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Typical Alternatives to Calculate the Distance between Clusters</a:t>
            </a:r>
            <a:endParaRPr lang="en-US" altLang="zh-TW" sz="2800" smtClean="0">
              <a:ea typeface="新細明體" pitchFamily="18" charset="-120"/>
              <a:cs typeface="Tahoma" pitchFamily="34" charset="0"/>
            </a:endParaRP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1816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24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Single link:  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smallest distance between an element in one cluster and an element in the other, i.e.,  dis(K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 = min(t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Complete link: 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largest distance between an element in one cluster and an element in the other, i.e.,  dis(K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 = max(t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Average: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avg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 distance between an element in one cluster and an element in the other, i.e.,  dis(K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 =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avg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(t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ip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t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jq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Centroid: 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distance between the centroids of two clusters, i.e.,  dis(K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 = dis(C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C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4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Medoid</a:t>
            </a:r>
            <a:r>
              <a:rPr lang="en-US" altLang="zh-TW" sz="24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: 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distance between the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medoids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 of two clusters, i.e.,  dis(K</a:t>
            </a:r>
            <a:r>
              <a:rPr lang="en-US" altLang="zh-TW" sz="2000" baseline="-25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K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 = dis(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M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i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, </a:t>
            </a: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M</a:t>
            </a:r>
            <a:r>
              <a:rPr lang="en-US" altLang="zh-TW" sz="2000" baseline="-25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j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000" dirty="0" err="1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Medoid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: one chosen, centrally located object in the cluster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9D77BE1-56DB-4917-879D-723B60DEF41C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19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19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9E600FC-683A-4032-9242-3559009DC855}" type="slidenum">
              <a:rPr lang="zh-TW" altLang="en-US" sz="1200" smtClean="0"/>
              <a:pPr eaLnBrk="1" hangingPunct="1"/>
              <a:t>23</a:t>
            </a:fld>
            <a:endParaRPr lang="en-US" altLang="zh-TW" sz="1200" smtClean="0"/>
          </a:p>
        </p:txBody>
      </p:sp>
      <p:sp>
        <p:nvSpPr>
          <p:cNvPr id="4198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41991" name="AutoShape 4"/>
          <p:cNvSpPr>
            <a:spLocks noChangeArrowheads="1"/>
          </p:cNvSpPr>
          <p:nvPr/>
        </p:nvSpPr>
        <p:spPr bwMode="auto">
          <a:xfrm rot="-1466637">
            <a:off x="6248400" y="22098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283EAB2-4A5B-405E-8350-5A9D059635BF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30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30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F4525B1-D84E-42FE-83C9-D832D0DA2A09}" type="slidenum">
              <a:rPr lang="zh-TW" altLang="en-US" sz="1200" smtClean="0"/>
              <a:pPr eaLnBrk="1" hangingPunct="1"/>
              <a:t>24</a:t>
            </a:fld>
            <a:endParaRPr lang="en-US" altLang="zh-TW" sz="1200" smtClean="0"/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Major Clustering Approaches (I)</a:t>
            </a:r>
            <a:endParaRPr lang="en-US" altLang="zh-TW" smtClean="0">
              <a:ea typeface="新細明體" pitchFamily="18" charset="-120"/>
            </a:endParaRP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876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1800" u="sng" smtClean="0">
                <a:ea typeface="新細明體" pitchFamily="18" charset="-120"/>
              </a:rPr>
              <a:t>Partitioning approach</a:t>
            </a:r>
            <a:r>
              <a:rPr lang="en-US" altLang="zh-TW" sz="180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Construct various partitions and then evaluate them by some criterion, e.g., minimizing the sum of square errors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Typical methods: k-means, k-medoids, CLARANS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1800" u="sng" smtClean="0">
                <a:ea typeface="新細明體" pitchFamily="18" charset="-120"/>
              </a:rPr>
              <a:t>Hierarchical approach</a:t>
            </a:r>
            <a:r>
              <a:rPr lang="en-US" altLang="zh-TW" sz="180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Create a hierarchical decomposition of the set of data (or objects) using some criterion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Typical methods: Diana, Agnes, BIRCH, ROCK, CAMELEON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1800" u="sng" smtClean="0">
                <a:ea typeface="新細明體" pitchFamily="18" charset="-120"/>
              </a:rPr>
              <a:t>Density-based approach</a:t>
            </a:r>
            <a:r>
              <a:rPr lang="en-US" altLang="zh-TW" sz="180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Based on connectivity and density functions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smtClean="0">
                <a:ea typeface="新細明體" pitchFamily="18" charset="-120"/>
              </a:rPr>
              <a:t>Typical methods: DBSACN, OPTICS, DenClue</a:t>
            </a:r>
          </a:p>
          <a:p>
            <a:pPr lvl="1" eaLnBrk="1" hangingPunct="1">
              <a:lnSpc>
                <a:spcPct val="130000"/>
              </a:lnSpc>
            </a:pPr>
            <a:endParaRPr lang="en-US" altLang="zh-TW" sz="1800" smtClean="0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27ED432-D008-4968-8E2D-90F0B58E9D6F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40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40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8E9B8BF-CEB2-4AB7-A467-048120DBA9FF}" type="slidenum">
              <a:rPr lang="zh-TW" altLang="en-US" sz="1200" smtClean="0"/>
              <a:pPr eaLnBrk="1" hangingPunct="1"/>
              <a:t>25</a:t>
            </a:fld>
            <a:endParaRPr lang="en-US" altLang="zh-TW" sz="1200" smtClean="0"/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3246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Major Clustering Approaches (II)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534400" cy="5257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1800" u="sng" dirty="0" smtClean="0">
                <a:ea typeface="新細明體" pitchFamily="18" charset="-120"/>
              </a:rPr>
              <a:t>Grid-based approach</a:t>
            </a:r>
            <a:r>
              <a:rPr lang="en-US" altLang="zh-TW" sz="1800" dirty="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based on a multiple-level granularity structure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Typical methods: STING, </a:t>
            </a:r>
            <a:r>
              <a:rPr lang="en-US" altLang="zh-TW" sz="1800" dirty="0" err="1" smtClean="0">
                <a:ea typeface="新細明體" pitchFamily="18" charset="-120"/>
              </a:rPr>
              <a:t>WaveCluster</a:t>
            </a:r>
            <a:r>
              <a:rPr lang="en-US" altLang="zh-TW" sz="1800" dirty="0" smtClean="0">
                <a:ea typeface="新細明體" pitchFamily="18" charset="-120"/>
              </a:rPr>
              <a:t>, CLIQUE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1800" u="sng" dirty="0" smtClean="0">
                <a:ea typeface="新細明體" pitchFamily="18" charset="-120"/>
              </a:rPr>
              <a:t>Model-based</a:t>
            </a:r>
            <a:r>
              <a:rPr lang="en-US" altLang="zh-TW" sz="1800" dirty="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A model is hypothesized for each of the clusters and tries to find the best fit of that model to each other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Typical methods:</a:t>
            </a:r>
            <a:r>
              <a:rPr lang="en-US" altLang="zh-TW" sz="1800" b="1" dirty="0" smtClean="0">
                <a:ea typeface="新細明體" pitchFamily="18" charset="-120"/>
              </a:rPr>
              <a:t> </a:t>
            </a:r>
            <a:r>
              <a:rPr lang="en-US" altLang="zh-TW" sz="1800" dirty="0" smtClean="0">
                <a:ea typeface="新細明體" pitchFamily="18" charset="-120"/>
              </a:rPr>
              <a:t>EM, SOM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1800" u="sng" dirty="0" smtClean="0">
                <a:ea typeface="新細明體" pitchFamily="18" charset="-120"/>
              </a:rPr>
              <a:t>Frequent pattern-based: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Based on the analysis of frequent patterns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Typical methods: </a:t>
            </a:r>
            <a:r>
              <a:rPr lang="en-US" altLang="zh-TW" sz="1800" dirty="0" err="1" smtClean="0">
                <a:ea typeface="新細明體" pitchFamily="18" charset="-120"/>
              </a:rPr>
              <a:t>pCluster</a:t>
            </a:r>
            <a:endParaRPr lang="en-US" altLang="zh-TW" sz="1800" dirty="0" smtClean="0">
              <a:ea typeface="新細明體" pitchFamily="18" charset="-120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TW" sz="1800" u="sng" dirty="0" smtClean="0">
                <a:ea typeface="新細明體" pitchFamily="18" charset="-120"/>
              </a:rPr>
              <a:t>User-guided or constraint-based</a:t>
            </a:r>
            <a:r>
              <a:rPr lang="en-US" altLang="zh-TW" sz="1800" dirty="0" smtClean="0">
                <a:ea typeface="新細明體" pitchFamily="18" charset="-120"/>
              </a:rPr>
              <a:t>: 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Clustering by considering user-specified or application-specific constraints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1800" dirty="0" smtClean="0">
                <a:ea typeface="新細明體" pitchFamily="18" charset="-120"/>
              </a:rPr>
              <a:t>Typical methods: COD (obstacles), constrained clustering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日期版面配置區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6527D59-D9BD-4F24-A220-C7BD85D4A2E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246" name="頁尾版面配置區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247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054ED07-F34A-4802-A77B-41E3BB14F2A2}" type="slidenum">
              <a:rPr lang="zh-TW" altLang="en-US" sz="1200" smtClean="0"/>
              <a:pPr eaLnBrk="1" hangingPunct="1"/>
              <a:t>26</a:t>
            </a:fld>
            <a:endParaRPr lang="en-US" altLang="zh-TW" sz="1200" smtClean="0"/>
          </a:p>
        </p:txBody>
      </p:sp>
      <p:sp>
        <p:nvSpPr>
          <p:cNvPr id="1024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Centroid, Radius and Diameter of a </a:t>
            </a:r>
            <a:r>
              <a:rPr lang="en-US" altLang="zh-TW" sz="3200" smtClean="0">
                <a:ea typeface="新細明體" pitchFamily="18" charset="-120"/>
                <a:cs typeface="Tahoma" pitchFamily="34" charset="0"/>
              </a:rPr>
              <a:t>Cluster (for numerical data sets)</a:t>
            </a:r>
          </a:p>
        </p:txBody>
      </p:sp>
      <p:sp>
        <p:nvSpPr>
          <p:cNvPr id="1024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371600"/>
            <a:ext cx="8153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30000"/>
              </a:lnSpc>
            </a:pPr>
            <a:r>
              <a:rPr lang="en-US" altLang="zh-TW" sz="200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Centroid:  the “middle” of a cluster</a:t>
            </a:r>
          </a:p>
          <a:p>
            <a:pPr eaLnBrk="1" hangingPunct="1">
              <a:lnSpc>
                <a:spcPct val="130000"/>
              </a:lnSpc>
            </a:pPr>
            <a:endParaRPr lang="en-US" altLang="zh-TW" sz="2000" smtClean="0">
              <a:ea typeface="新細明體" pitchFamily="18" charset="-120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TW" sz="200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Radius: square root of average distance from any point of the cluster to its centroid</a:t>
            </a:r>
          </a:p>
          <a:p>
            <a:pPr eaLnBrk="1" hangingPunct="1">
              <a:lnSpc>
                <a:spcPct val="130000"/>
              </a:lnSpc>
            </a:pPr>
            <a:endParaRPr lang="en-US" altLang="zh-TW" sz="2000" smtClean="0">
              <a:ea typeface="新細明體" pitchFamily="18" charset="-120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endParaRPr lang="en-US" altLang="zh-TW" sz="2000" smtClean="0">
              <a:ea typeface="新細明體" pitchFamily="18" charset="-120"/>
              <a:cs typeface="Tahoma" pitchFamily="34" charset="0"/>
              <a:sym typeface="Symbol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TW" sz="2000" smtClean="0">
                <a:ea typeface="新細明體" pitchFamily="18" charset="-120"/>
                <a:cs typeface="Tahoma" pitchFamily="34" charset="0"/>
                <a:sym typeface="Symbol" pitchFamily="18" charset="2"/>
              </a:rPr>
              <a:t>Diameter: square root of average mean squared distance between all pairs of points in the cluster</a:t>
            </a:r>
          </a:p>
        </p:txBody>
      </p:sp>
      <p:graphicFrame>
        <p:nvGraphicFramePr>
          <p:cNvPr id="10242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257800" y="1371600"/>
          <a:ext cx="236537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7" name="Equation" r:id="rId4" imgW="1269720" imgH="520560" progId="Equation.3">
                  <p:embed/>
                </p:oleObj>
              </mc:Choice>
              <mc:Fallback>
                <p:oleObj name="Equation" r:id="rId4" imgW="1269720" imgH="520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371600"/>
                        <a:ext cx="236537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5"/>
          <p:cNvGraphicFramePr>
            <a:graphicFrameLocks noChangeAspect="1"/>
          </p:cNvGraphicFramePr>
          <p:nvPr/>
        </p:nvGraphicFramePr>
        <p:xfrm>
          <a:off x="3657600" y="2895600"/>
          <a:ext cx="313372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" name="Equation" r:id="rId6" imgW="2450880" imgH="927000" progId="Equation.3">
                  <p:embed/>
                </p:oleObj>
              </mc:Choice>
              <mc:Fallback>
                <p:oleObj name="Equation" r:id="rId6" imgW="2450880" imgH="927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895600"/>
                        <a:ext cx="313372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86200" y="5029200"/>
          <a:ext cx="30480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9" name="Equation" r:id="rId8" imgW="2958840" imgH="977760" progId="Equation.3">
                  <p:embed/>
                </p:oleObj>
              </mc:Choice>
              <mc:Fallback>
                <p:oleObj name="Equation" r:id="rId8" imgW="2958840" imgH="9777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029200"/>
                        <a:ext cx="30480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E4A8A39-2B63-45F8-9F4A-EFA8EDA563A1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505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506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256CE9F-7E07-4540-AE03-BAEDCFD272DE}" type="slidenum">
              <a:rPr lang="zh-TW" altLang="en-US" sz="1200" smtClean="0"/>
              <a:pPr eaLnBrk="1" hangingPunct="1"/>
              <a:t>27</a:t>
            </a:fld>
            <a:endParaRPr lang="en-US" altLang="zh-TW" sz="1200" smtClean="0"/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45063" name="AutoShape 4"/>
          <p:cNvSpPr>
            <a:spLocks noChangeArrowheads="1"/>
          </p:cNvSpPr>
          <p:nvPr/>
        </p:nvSpPr>
        <p:spPr bwMode="auto">
          <a:xfrm rot="830772">
            <a:off x="3429000" y="29718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日期版面配置區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2E00330-56B1-4203-AB5E-C28EF5F7002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268" name="頁尾版面配置區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269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5931E38-B1F0-445E-BA3C-7D607D63E39F}" type="slidenum">
              <a:rPr lang="zh-TW" altLang="en-US" sz="1200" smtClean="0"/>
              <a:pPr eaLnBrk="1" hangingPunct="1"/>
              <a:t>28</a:t>
            </a:fld>
            <a:endParaRPr lang="en-US" altLang="zh-TW" sz="1200" smtClean="0"/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Partitioning Algorithms: Basic Concept</a:t>
            </a:r>
            <a:endParaRPr lang="en-US" altLang="zh-TW" sz="2800" b="1" smtClean="0">
              <a:ea typeface="新細明體" pitchFamily="18" charset="-120"/>
            </a:endParaRPr>
          </a:p>
        </p:txBody>
      </p:sp>
      <p:sp>
        <p:nvSpPr>
          <p:cNvPr id="112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71600"/>
            <a:ext cx="8534400" cy="51054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Partitioning method:</a:t>
            </a:r>
            <a:r>
              <a:rPr lang="en-US" altLang="zh-TW" sz="2000" dirty="0" smtClean="0">
                <a:ea typeface="新細明體" pitchFamily="18" charset="-120"/>
              </a:rPr>
              <a:t> Construct a partition of a database </a:t>
            </a:r>
            <a:r>
              <a:rPr lang="en-US" altLang="zh-TW" sz="2000" b="1" i="1" dirty="0" smtClean="0">
                <a:ea typeface="新細明體" pitchFamily="18" charset="-120"/>
              </a:rPr>
              <a:t>D</a:t>
            </a:r>
            <a:r>
              <a:rPr lang="en-US" altLang="zh-TW" sz="2000" dirty="0" smtClean="0">
                <a:ea typeface="新細明體" pitchFamily="18" charset="-120"/>
              </a:rPr>
              <a:t> of </a:t>
            </a:r>
            <a:r>
              <a:rPr lang="en-US" altLang="zh-TW" sz="2000" b="1" i="1" dirty="0" smtClean="0">
                <a:ea typeface="新細明體" pitchFamily="18" charset="-120"/>
              </a:rPr>
              <a:t>n</a:t>
            </a:r>
            <a:r>
              <a:rPr lang="en-US" altLang="zh-TW" sz="2000" dirty="0" smtClean="0">
                <a:ea typeface="新細明體" pitchFamily="18" charset="-120"/>
              </a:rPr>
              <a:t> objects into a set of </a:t>
            </a:r>
            <a:r>
              <a:rPr lang="en-US" altLang="zh-TW" sz="2000" b="1" i="1" dirty="0" smtClean="0">
                <a:ea typeface="新細明體" pitchFamily="18" charset="-120"/>
              </a:rPr>
              <a:t>k</a:t>
            </a:r>
            <a:r>
              <a:rPr lang="en-US" altLang="zh-TW" sz="2000" dirty="0" smtClean="0">
                <a:ea typeface="新細明體" pitchFamily="18" charset="-120"/>
              </a:rPr>
              <a:t> clusters, </a:t>
            </a:r>
            <a:r>
              <a:rPr lang="en-US" altLang="zh-TW" sz="2000" dirty="0" err="1" smtClean="0">
                <a:ea typeface="新細明體" pitchFamily="18" charset="-120"/>
              </a:rPr>
              <a:t>s.t.</a:t>
            </a:r>
            <a:r>
              <a:rPr lang="en-US" altLang="zh-TW" sz="2000" dirty="0" smtClean="0">
                <a:ea typeface="新細明體" pitchFamily="18" charset="-120"/>
              </a:rPr>
              <a:t>, min sum of squared distance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dirty="0" smtClean="0"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dirty="0" smtClean="0">
              <a:ea typeface="新細明體" pitchFamily="18" charset="-12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Given a </a:t>
            </a:r>
            <a:r>
              <a:rPr lang="en-US" altLang="zh-TW" sz="2000" i="1" dirty="0" smtClean="0">
                <a:ea typeface="新細明體" pitchFamily="18" charset="-120"/>
              </a:rPr>
              <a:t>k</a:t>
            </a:r>
            <a:r>
              <a:rPr lang="en-US" altLang="zh-TW" sz="2000" dirty="0" smtClean="0">
                <a:ea typeface="新細明體" pitchFamily="18" charset="-120"/>
              </a:rPr>
              <a:t>, find a partition of </a:t>
            </a:r>
            <a:r>
              <a:rPr lang="en-US" altLang="zh-TW" sz="2000" i="1" dirty="0" smtClean="0">
                <a:ea typeface="新細明體" pitchFamily="18" charset="-120"/>
              </a:rPr>
              <a:t>k clusters </a:t>
            </a:r>
            <a:r>
              <a:rPr lang="en-US" altLang="zh-TW" sz="2000" dirty="0" smtClean="0">
                <a:ea typeface="新細明體" pitchFamily="18" charset="-120"/>
              </a:rPr>
              <a:t>that optimizes the chosen partitioning criterion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Global optimal: exhaustively enumerate all partitions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Heuristic methods: </a:t>
            </a:r>
            <a:r>
              <a:rPr lang="en-US" altLang="zh-TW" sz="2000" i="1" dirty="0" smtClean="0">
                <a:ea typeface="新細明體" pitchFamily="18" charset="-120"/>
              </a:rPr>
              <a:t>k-means</a:t>
            </a:r>
            <a:r>
              <a:rPr lang="en-US" altLang="zh-TW" sz="2000" dirty="0" smtClean="0">
                <a:ea typeface="新細明體" pitchFamily="18" charset="-120"/>
              </a:rPr>
              <a:t> and </a:t>
            </a:r>
            <a:r>
              <a:rPr lang="en-US" altLang="zh-TW" sz="2000" i="1" dirty="0" smtClean="0">
                <a:ea typeface="新細明體" pitchFamily="18" charset="-120"/>
              </a:rPr>
              <a:t>k-</a:t>
            </a:r>
            <a:r>
              <a:rPr lang="en-US" altLang="zh-TW" sz="2000" i="1" dirty="0" err="1" smtClean="0">
                <a:ea typeface="新細明體" pitchFamily="18" charset="-120"/>
              </a:rPr>
              <a:t>medoids</a:t>
            </a:r>
            <a:r>
              <a:rPr lang="en-US" altLang="zh-TW" sz="2000" dirty="0" smtClean="0">
                <a:ea typeface="新細明體" pitchFamily="18" charset="-120"/>
              </a:rPr>
              <a:t> algorithms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i="1" u="sng" dirty="0" smtClean="0">
                <a:ea typeface="新細明體" pitchFamily="18" charset="-120"/>
              </a:rPr>
              <a:t>k-means</a:t>
            </a:r>
            <a:r>
              <a:rPr lang="en-US" altLang="zh-TW" sz="2000" dirty="0" smtClean="0">
                <a:ea typeface="新細明體" pitchFamily="18" charset="-120"/>
              </a:rPr>
              <a:t> (MacQueen’67): Each cluster is represented by the center of the cluster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i="1" u="sng" dirty="0" smtClean="0">
                <a:ea typeface="新細明體" pitchFamily="18" charset="-120"/>
              </a:rPr>
              <a:t>k-</a:t>
            </a:r>
            <a:r>
              <a:rPr lang="en-US" altLang="zh-TW" sz="2000" i="1" u="sng" dirty="0" err="1" smtClean="0">
                <a:ea typeface="新細明體" pitchFamily="18" charset="-120"/>
              </a:rPr>
              <a:t>medoids</a:t>
            </a:r>
            <a:r>
              <a:rPr lang="en-US" altLang="zh-TW" sz="2000" dirty="0" smtClean="0">
                <a:ea typeface="新細明體" pitchFamily="18" charset="-120"/>
              </a:rPr>
              <a:t> or PAM (Partition around </a:t>
            </a:r>
            <a:r>
              <a:rPr lang="en-US" altLang="zh-TW" sz="2000" dirty="0" err="1" smtClean="0">
                <a:ea typeface="新細明體" pitchFamily="18" charset="-120"/>
              </a:rPr>
              <a:t>medoids</a:t>
            </a:r>
            <a:r>
              <a:rPr lang="en-US" altLang="zh-TW" sz="2000" dirty="0" smtClean="0">
                <a:ea typeface="新細明體" pitchFamily="18" charset="-120"/>
              </a:rPr>
              <a:t>) (Kaufman &amp; Rousseeuw’87): Each cluster is represented by one of the objects in the cluster  </a:t>
            </a:r>
          </a:p>
        </p:txBody>
      </p:sp>
      <p:graphicFrame>
        <p:nvGraphicFramePr>
          <p:cNvPr id="1126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92930969"/>
              </p:ext>
            </p:extLst>
          </p:nvPr>
        </p:nvGraphicFramePr>
        <p:xfrm>
          <a:off x="2924175" y="2211388"/>
          <a:ext cx="29019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1" name="方程式" r:id="rId4" imgW="1282680" imgH="253800" progId="Equation.3">
                  <p:embed/>
                </p:oleObj>
              </mc:Choice>
              <mc:Fallback>
                <p:oleObj name="方程式" r:id="rId4" imgW="128268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2211388"/>
                        <a:ext cx="290195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9E2D12F-76D2-4C51-8C57-4446DE99529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608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608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7BC7384-50F9-4EE7-BD57-13DB42695097}" type="slidenum">
              <a:rPr lang="zh-TW" altLang="en-US" sz="1200" smtClean="0"/>
              <a:pPr eaLnBrk="1" hangingPunct="1"/>
              <a:t>29</a:t>
            </a:fld>
            <a:endParaRPr lang="en-US" altLang="zh-TW" sz="1200" smtClean="0"/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492125"/>
            <a:ext cx="7296150" cy="498475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The </a:t>
            </a:r>
            <a:r>
              <a:rPr lang="en-US" altLang="zh-TW" sz="3200" i="1" smtClean="0">
                <a:ea typeface="新細明體" pitchFamily="18" charset="-120"/>
              </a:rPr>
              <a:t>K-Means</a:t>
            </a:r>
            <a:r>
              <a:rPr lang="en-US" altLang="zh-TW" sz="3200" smtClean="0">
                <a:ea typeface="新細明體" pitchFamily="18" charset="-120"/>
              </a:rPr>
              <a:t> Clustering Method</a:t>
            </a:r>
            <a:r>
              <a:rPr lang="en-US" altLang="zh-TW" sz="2400" b="1" smtClean="0">
                <a:ea typeface="新細明體" pitchFamily="18" charset="-120"/>
              </a:rPr>
              <a:t> </a:t>
            </a:r>
            <a:endParaRPr lang="en-US" altLang="zh-TW" sz="2800" smtClean="0">
              <a:ea typeface="新細明體" pitchFamily="18" charset="-120"/>
            </a:endParaRPr>
          </a:p>
        </p:txBody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7851775" cy="4800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Given </a:t>
            </a:r>
            <a:r>
              <a:rPr lang="en-US" altLang="zh-TW" sz="2400" i="1" smtClean="0">
                <a:ea typeface="新細明體" pitchFamily="18" charset="-120"/>
              </a:rPr>
              <a:t>k</a:t>
            </a:r>
            <a:r>
              <a:rPr lang="en-US" altLang="zh-TW" sz="2400" smtClean="0">
                <a:ea typeface="新細明體" pitchFamily="18" charset="-120"/>
              </a:rPr>
              <a:t>, the </a:t>
            </a:r>
            <a:r>
              <a:rPr lang="en-US" altLang="zh-TW" sz="2400" i="1" smtClean="0">
                <a:ea typeface="新細明體" pitchFamily="18" charset="-120"/>
              </a:rPr>
              <a:t>k-means</a:t>
            </a:r>
            <a:r>
              <a:rPr lang="en-US" altLang="zh-TW" sz="2400" smtClean="0">
                <a:ea typeface="新細明體" pitchFamily="18" charset="-120"/>
              </a:rPr>
              <a:t> algorithm is implemented in four steps: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Partition objects into </a:t>
            </a:r>
            <a:r>
              <a:rPr lang="en-US" altLang="zh-TW" sz="2400" i="1" smtClean="0">
                <a:solidFill>
                  <a:srgbClr val="000000"/>
                </a:solidFill>
                <a:ea typeface="新細明體" pitchFamily="18" charset="-120"/>
              </a:rPr>
              <a:t>k</a:t>
            </a: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 nonempty subsets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Compute seed points as the centroids of the clusters of the current partition (the centroid is the center, i.e., </a:t>
            </a:r>
            <a:r>
              <a:rPr lang="en-US" altLang="zh-TW" sz="2400" i="1" smtClean="0">
                <a:solidFill>
                  <a:schemeClr val="hlink"/>
                </a:solidFill>
                <a:ea typeface="新細明體" pitchFamily="18" charset="-120"/>
              </a:rPr>
              <a:t>mean point</a:t>
            </a: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, of the cluster)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Assign each object to the cluster with the nearest seed point 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400" smtClean="0">
                <a:solidFill>
                  <a:srgbClr val="000000"/>
                </a:solidFill>
                <a:ea typeface="新細明體" pitchFamily="18" charset="-120"/>
              </a:rPr>
              <a:t>Go back to Step 2, stop when no more new assignment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4C94399-C80C-443D-8F70-1C2D8E1FABB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2294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229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33325EF-00CF-4AEB-8A4F-2ADEF643A4DA}" type="slidenum">
              <a:rPr lang="zh-TW" altLang="en-US" sz="1200" smtClean="0"/>
              <a:pPr eaLnBrk="1" hangingPunct="1"/>
              <a:t>30</a:t>
            </a:fld>
            <a:endParaRPr lang="en-US" altLang="zh-TW" sz="1200" smtClean="0"/>
          </a:p>
        </p:txBody>
      </p:sp>
      <p:sp>
        <p:nvSpPr>
          <p:cNvPr id="12296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492125"/>
            <a:ext cx="7296150" cy="498475"/>
          </a:xfrm>
        </p:spPr>
        <p:txBody>
          <a:bodyPr/>
          <a:lstStyle/>
          <a:p>
            <a:pPr eaLnBrk="1" hangingPunct="1"/>
            <a:r>
              <a:rPr lang="en-US" altLang="ko-KR" sz="3200" smtClean="0">
                <a:ea typeface="굴림" pitchFamily="34" charset="-127"/>
              </a:rPr>
              <a:t>The </a:t>
            </a:r>
            <a:r>
              <a:rPr lang="en-US" altLang="ko-KR" sz="3200" i="1" smtClean="0">
                <a:ea typeface="굴림" pitchFamily="34" charset="-127"/>
              </a:rPr>
              <a:t>K-Means</a:t>
            </a:r>
            <a:r>
              <a:rPr lang="en-US" altLang="ko-KR" sz="3200" smtClean="0">
                <a:ea typeface="굴림" pitchFamily="34" charset="-127"/>
              </a:rPr>
              <a:t> Clustering Method</a:t>
            </a:r>
            <a:r>
              <a:rPr lang="en-US" altLang="ko-KR" sz="2400" b="1" smtClean="0">
                <a:ea typeface="굴림" pitchFamily="34" charset="-127"/>
              </a:rPr>
              <a:t> </a:t>
            </a:r>
            <a:endParaRPr lang="en-US" altLang="ko-KR" sz="2800" smtClean="0">
              <a:ea typeface="굴림" pitchFamily="34" charset="-127"/>
            </a:endParaRPr>
          </a:p>
        </p:txBody>
      </p:sp>
      <p:sp>
        <p:nvSpPr>
          <p:cNvPr id="122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153400" cy="51816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000000"/>
                </a:solidFill>
                <a:ea typeface="굴림" pitchFamily="34" charset="-127"/>
              </a:rPr>
              <a:t>Example</a:t>
            </a:r>
          </a:p>
        </p:txBody>
      </p:sp>
      <p:grpSp>
        <p:nvGrpSpPr>
          <p:cNvPr id="12298" name="Group 4"/>
          <p:cNvGrpSpPr>
            <a:grpSpLocks/>
          </p:cNvGrpSpPr>
          <p:nvPr/>
        </p:nvGrpSpPr>
        <p:grpSpPr bwMode="auto">
          <a:xfrm>
            <a:off x="3200400" y="1981200"/>
            <a:ext cx="2286000" cy="2057400"/>
            <a:chOff x="528" y="240"/>
            <a:chExt cx="2142" cy="1872"/>
          </a:xfrm>
        </p:grpSpPr>
        <p:graphicFrame>
          <p:nvGraphicFramePr>
            <p:cNvPr id="12292" name="Object 2"/>
            <p:cNvGraphicFramePr>
              <a:graphicFrameLocks noChangeAspect="1"/>
            </p:cNvGraphicFramePr>
            <p:nvPr/>
          </p:nvGraphicFramePr>
          <p:xfrm>
            <a:off x="528" y="240"/>
            <a:ext cx="214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32" name="Worksheet" r:id="rId3" imgW="3400654" imgH="2915107" progId="Excel.Sheet.8">
                    <p:embed/>
                  </p:oleObj>
                </mc:Choice>
                <mc:Fallback>
                  <p:oleObj name="Worksheet" r:id="rId3" imgW="3400654" imgH="2915107" progId="Excel.Sheet.8">
                    <p:embed/>
                    <p:pic>
                      <p:nvPicPr>
                        <p:cNvPr id="0" name="Object 2"/>
                        <p:cNvPicPr>
                          <a:picLocks noRot="1"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"/>
                          <a:ext cx="214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83" name="Freeform 6"/>
            <p:cNvSpPr>
              <a:spLocks/>
            </p:cNvSpPr>
            <p:nvPr/>
          </p:nvSpPr>
          <p:spPr bwMode="auto">
            <a:xfrm>
              <a:off x="1008" y="557"/>
              <a:ext cx="852" cy="1260"/>
            </a:xfrm>
            <a:custGeom>
              <a:avLst/>
              <a:gdLst>
                <a:gd name="T0" fmla="*/ 518 w 852"/>
                <a:gd name="T1" fmla="*/ 280 h 1260"/>
                <a:gd name="T2" fmla="*/ 392 w 852"/>
                <a:gd name="T3" fmla="*/ 36 h 1260"/>
                <a:gd name="T4" fmla="*/ 237 w 852"/>
                <a:gd name="T5" fmla="*/ 21 h 1260"/>
                <a:gd name="T6" fmla="*/ 133 w 852"/>
                <a:gd name="T7" fmla="*/ 73 h 1260"/>
                <a:gd name="T8" fmla="*/ 0 w 852"/>
                <a:gd name="T9" fmla="*/ 369 h 1260"/>
                <a:gd name="T10" fmla="*/ 44 w 852"/>
                <a:gd name="T11" fmla="*/ 688 h 1260"/>
                <a:gd name="T12" fmla="*/ 362 w 852"/>
                <a:gd name="T13" fmla="*/ 1117 h 1260"/>
                <a:gd name="T14" fmla="*/ 429 w 852"/>
                <a:gd name="T15" fmla="*/ 1139 h 1260"/>
                <a:gd name="T16" fmla="*/ 451 w 852"/>
                <a:gd name="T17" fmla="*/ 1154 h 1260"/>
                <a:gd name="T18" fmla="*/ 525 w 852"/>
                <a:gd name="T19" fmla="*/ 1176 h 1260"/>
                <a:gd name="T20" fmla="*/ 622 w 852"/>
                <a:gd name="T21" fmla="*/ 1228 h 1260"/>
                <a:gd name="T22" fmla="*/ 792 w 852"/>
                <a:gd name="T23" fmla="*/ 1243 h 1260"/>
                <a:gd name="T24" fmla="*/ 785 w 852"/>
                <a:gd name="T25" fmla="*/ 1021 h 1260"/>
                <a:gd name="T26" fmla="*/ 748 w 852"/>
                <a:gd name="T27" fmla="*/ 954 h 1260"/>
                <a:gd name="T28" fmla="*/ 688 w 852"/>
                <a:gd name="T29" fmla="*/ 858 h 1260"/>
                <a:gd name="T30" fmla="*/ 622 w 852"/>
                <a:gd name="T31" fmla="*/ 762 h 1260"/>
                <a:gd name="T32" fmla="*/ 607 w 852"/>
                <a:gd name="T33" fmla="*/ 732 h 1260"/>
                <a:gd name="T34" fmla="*/ 592 w 852"/>
                <a:gd name="T35" fmla="*/ 710 h 1260"/>
                <a:gd name="T36" fmla="*/ 555 w 852"/>
                <a:gd name="T37" fmla="*/ 643 h 1260"/>
                <a:gd name="T38" fmla="*/ 540 w 852"/>
                <a:gd name="T39" fmla="*/ 621 h 1260"/>
                <a:gd name="T40" fmla="*/ 518 w 852"/>
                <a:gd name="T41" fmla="*/ 280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2"/>
                <a:gd name="T64" fmla="*/ 0 h 1260"/>
                <a:gd name="T65" fmla="*/ 852 w 852"/>
                <a:gd name="T66" fmla="*/ 1260 h 12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84" name="Freeform 7"/>
            <p:cNvSpPr>
              <a:spLocks/>
            </p:cNvSpPr>
            <p:nvPr/>
          </p:nvSpPr>
          <p:spPr bwMode="auto">
            <a:xfrm>
              <a:off x="1587" y="889"/>
              <a:ext cx="768" cy="630"/>
            </a:xfrm>
            <a:custGeom>
              <a:avLst/>
              <a:gdLst>
                <a:gd name="T0" fmla="*/ 183 w 768"/>
                <a:gd name="T1" fmla="*/ 67 h 630"/>
                <a:gd name="T2" fmla="*/ 72 w 768"/>
                <a:gd name="T3" fmla="*/ 74 h 630"/>
                <a:gd name="T4" fmla="*/ 5 w 768"/>
                <a:gd name="T5" fmla="*/ 170 h 630"/>
                <a:gd name="T6" fmla="*/ 13 w 768"/>
                <a:gd name="T7" fmla="*/ 311 h 630"/>
                <a:gd name="T8" fmla="*/ 57 w 768"/>
                <a:gd name="T9" fmla="*/ 356 h 630"/>
                <a:gd name="T10" fmla="*/ 109 w 768"/>
                <a:gd name="T11" fmla="*/ 415 h 630"/>
                <a:gd name="T12" fmla="*/ 235 w 768"/>
                <a:gd name="T13" fmla="*/ 548 h 630"/>
                <a:gd name="T14" fmla="*/ 257 w 768"/>
                <a:gd name="T15" fmla="*/ 570 h 630"/>
                <a:gd name="T16" fmla="*/ 331 w 768"/>
                <a:gd name="T17" fmla="*/ 593 h 630"/>
                <a:gd name="T18" fmla="*/ 450 w 768"/>
                <a:gd name="T19" fmla="*/ 630 h 630"/>
                <a:gd name="T20" fmla="*/ 598 w 768"/>
                <a:gd name="T21" fmla="*/ 607 h 630"/>
                <a:gd name="T22" fmla="*/ 657 w 768"/>
                <a:gd name="T23" fmla="*/ 585 h 630"/>
                <a:gd name="T24" fmla="*/ 687 w 768"/>
                <a:gd name="T25" fmla="*/ 533 h 630"/>
                <a:gd name="T26" fmla="*/ 717 w 768"/>
                <a:gd name="T27" fmla="*/ 474 h 630"/>
                <a:gd name="T28" fmla="*/ 724 w 768"/>
                <a:gd name="T29" fmla="*/ 437 h 630"/>
                <a:gd name="T30" fmla="*/ 739 w 768"/>
                <a:gd name="T31" fmla="*/ 415 h 630"/>
                <a:gd name="T32" fmla="*/ 768 w 768"/>
                <a:gd name="T33" fmla="*/ 296 h 630"/>
                <a:gd name="T34" fmla="*/ 761 w 768"/>
                <a:gd name="T35" fmla="*/ 178 h 630"/>
                <a:gd name="T36" fmla="*/ 724 w 768"/>
                <a:gd name="T37" fmla="*/ 111 h 630"/>
                <a:gd name="T38" fmla="*/ 465 w 768"/>
                <a:gd name="T39" fmla="*/ 0 h 630"/>
                <a:gd name="T40" fmla="*/ 205 w 768"/>
                <a:gd name="T41" fmla="*/ 30 h 630"/>
                <a:gd name="T42" fmla="*/ 183 w 768"/>
                <a:gd name="T43" fmla="*/ 67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68"/>
                <a:gd name="T67" fmla="*/ 0 h 630"/>
                <a:gd name="T68" fmla="*/ 768 w 768"/>
                <a:gd name="T69" fmla="*/ 630 h 63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grpSp>
        <p:nvGrpSpPr>
          <p:cNvPr id="12299" name="Group 8"/>
          <p:cNvGrpSpPr>
            <a:grpSpLocks/>
          </p:cNvGrpSpPr>
          <p:nvPr/>
        </p:nvGrpSpPr>
        <p:grpSpPr bwMode="auto">
          <a:xfrm>
            <a:off x="6578600" y="2008188"/>
            <a:ext cx="2222500" cy="1990725"/>
            <a:chOff x="4144" y="1265"/>
            <a:chExt cx="1400" cy="1254"/>
          </a:xfrm>
        </p:grpSpPr>
        <p:sp>
          <p:nvSpPr>
            <p:cNvPr id="12399" name="Rectangle 9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00" name="Rectangle 10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01" name="Line 11"/>
            <p:cNvSpPr>
              <a:spLocks noChangeShapeType="1"/>
            </p:cNvSpPr>
            <p:nvPr/>
          </p:nvSpPr>
          <p:spPr bwMode="auto">
            <a:xfrm>
              <a:off x="4278" y="226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2" name="Line 12"/>
            <p:cNvSpPr>
              <a:spLocks noChangeShapeType="1"/>
            </p:cNvSpPr>
            <p:nvPr/>
          </p:nvSpPr>
          <p:spPr bwMode="auto">
            <a:xfrm>
              <a:off x="4278" y="2163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3" name="Line 13"/>
            <p:cNvSpPr>
              <a:spLocks noChangeShapeType="1"/>
            </p:cNvSpPr>
            <p:nvPr/>
          </p:nvSpPr>
          <p:spPr bwMode="auto">
            <a:xfrm>
              <a:off x="4278" y="2061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4" name="Line 14"/>
            <p:cNvSpPr>
              <a:spLocks noChangeShapeType="1"/>
            </p:cNvSpPr>
            <p:nvPr/>
          </p:nvSpPr>
          <p:spPr bwMode="auto">
            <a:xfrm>
              <a:off x="4278" y="19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5" name="Line 15"/>
            <p:cNvSpPr>
              <a:spLocks noChangeShapeType="1"/>
            </p:cNvSpPr>
            <p:nvPr/>
          </p:nvSpPr>
          <p:spPr bwMode="auto">
            <a:xfrm>
              <a:off x="4278" y="1858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6" name="Line 16"/>
            <p:cNvSpPr>
              <a:spLocks noChangeShapeType="1"/>
            </p:cNvSpPr>
            <p:nvPr/>
          </p:nvSpPr>
          <p:spPr bwMode="auto">
            <a:xfrm>
              <a:off x="4278" y="17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7" name="Line 17"/>
            <p:cNvSpPr>
              <a:spLocks noChangeShapeType="1"/>
            </p:cNvSpPr>
            <p:nvPr/>
          </p:nvSpPr>
          <p:spPr bwMode="auto">
            <a:xfrm>
              <a:off x="4278" y="1659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8" name="Line 18"/>
            <p:cNvSpPr>
              <a:spLocks noChangeShapeType="1"/>
            </p:cNvSpPr>
            <p:nvPr/>
          </p:nvSpPr>
          <p:spPr bwMode="auto">
            <a:xfrm>
              <a:off x="4278" y="1557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09" name="Line 19"/>
            <p:cNvSpPr>
              <a:spLocks noChangeShapeType="1"/>
            </p:cNvSpPr>
            <p:nvPr/>
          </p:nvSpPr>
          <p:spPr bwMode="auto">
            <a:xfrm>
              <a:off x="4278" y="145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0" name="Line 20"/>
            <p:cNvSpPr>
              <a:spLocks noChangeShapeType="1"/>
            </p:cNvSpPr>
            <p:nvPr/>
          </p:nvSpPr>
          <p:spPr bwMode="auto">
            <a:xfrm>
              <a:off x="4278" y="135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1" name="Line 21"/>
            <p:cNvSpPr>
              <a:spLocks noChangeShapeType="1"/>
            </p:cNvSpPr>
            <p:nvPr/>
          </p:nvSpPr>
          <p:spPr bwMode="auto">
            <a:xfrm>
              <a:off x="439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2" name="Line 22"/>
            <p:cNvSpPr>
              <a:spLocks noChangeShapeType="1"/>
            </p:cNvSpPr>
            <p:nvPr/>
          </p:nvSpPr>
          <p:spPr bwMode="auto">
            <a:xfrm>
              <a:off x="4516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3" name="Line 23"/>
            <p:cNvSpPr>
              <a:spLocks noChangeShapeType="1"/>
            </p:cNvSpPr>
            <p:nvPr/>
          </p:nvSpPr>
          <p:spPr bwMode="auto">
            <a:xfrm>
              <a:off x="463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4" name="Line 24"/>
            <p:cNvSpPr>
              <a:spLocks noChangeShapeType="1"/>
            </p:cNvSpPr>
            <p:nvPr/>
          </p:nvSpPr>
          <p:spPr bwMode="auto">
            <a:xfrm>
              <a:off x="475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5" name="Line 25"/>
            <p:cNvSpPr>
              <a:spLocks noChangeShapeType="1"/>
            </p:cNvSpPr>
            <p:nvPr/>
          </p:nvSpPr>
          <p:spPr bwMode="auto">
            <a:xfrm>
              <a:off x="488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6" name="Line 26"/>
            <p:cNvSpPr>
              <a:spLocks noChangeShapeType="1"/>
            </p:cNvSpPr>
            <p:nvPr/>
          </p:nvSpPr>
          <p:spPr bwMode="auto">
            <a:xfrm>
              <a:off x="499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7" name="Line 27"/>
            <p:cNvSpPr>
              <a:spLocks noChangeShapeType="1"/>
            </p:cNvSpPr>
            <p:nvPr/>
          </p:nvSpPr>
          <p:spPr bwMode="auto">
            <a:xfrm>
              <a:off x="511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8" name="Line 28"/>
            <p:cNvSpPr>
              <a:spLocks noChangeShapeType="1"/>
            </p:cNvSpPr>
            <p:nvPr/>
          </p:nvSpPr>
          <p:spPr bwMode="auto">
            <a:xfrm>
              <a:off x="524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19" name="Line 29"/>
            <p:cNvSpPr>
              <a:spLocks noChangeShapeType="1"/>
            </p:cNvSpPr>
            <p:nvPr/>
          </p:nvSpPr>
          <p:spPr bwMode="auto">
            <a:xfrm>
              <a:off x="535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0" name="Line 30"/>
            <p:cNvSpPr>
              <a:spLocks noChangeShapeType="1"/>
            </p:cNvSpPr>
            <p:nvPr/>
          </p:nvSpPr>
          <p:spPr bwMode="auto">
            <a:xfrm>
              <a:off x="547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1" name="Rectangle 31"/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22" name="Line 32"/>
            <p:cNvSpPr>
              <a:spLocks noChangeShapeType="1"/>
            </p:cNvSpPr>
            <p:nvPr/>
          </p:nvSpPr>
          <p:spPr bwMode="auto">
            <a:xfrm>
              <a:off x="427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3" name="Line 33"/>
            <p:cNvSpPr>
              <a:spLocks noChangeShapeType="1"/>
            </p:cNvSpPr>
            <p:nvPr/>
          </p:nvSpPr>
          <p:spPr bwMode="auto">
            <a:xfrm>
              <a:off x="4266" y="236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4" name="Line 34"/>
            <p:cNvSpPr>
              <a:spLocks noChangeShapeType="1"/>
            </p:cNvSpPr>
            <p:nvPr/>
          </p:nvSpPr>
          <p:spPr bwMode="auto">
            <a:xfrm>
              <a:off x="4266" y="226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5" name="Line 35"/>
            <p:cNvSpPr>
              <a:spLocks noChangeShapeType="1"/>
            </p:cNvSpPr>
            <p:nvPr/>
          </p:nvSpPr>
          <p:spPr bwMode="auto">
            <a:xfrm>
              <a:off x="4266" y="216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6" name="Line 36"/>
            <p:cNvSpPr>
              <a:spLocks noChangeShapeType="1"/>
            </p:cNvSpPr>
            <p:nvPr/>
          </p:nvSpPr>
          <p:spPr bwMode="auto">
            <a:xfrm>
              <a:off x="4266" y="206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7" name="Line 37"/>
            <p:cNvSpPr>
              <a:spLocks noChangeShapeType="1"/>
            </p:cNvSpPr>
            <p:nvPr/>
          </p:nvSpPr>
          <p:spPr bwMode="auto">
            <a:xfrm>
              <a:off x="4266" y="19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8" name="Line 38"/>
            <p:cNvSpPr>
              <a:spLocks noChangeShapeType="1"/>
            </p:cNvSpPr>
            <p:nvPr/>
          </p:nvSpPr>
          <p:spPr bwMode="auto">
            <a:xfrm>
              <a:off x="4266" y="185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29" name="Line 39"/>
            <p:cNvSpPr>
              <a:spLocks noChangeShapeType="1"/>
            </p:cNvSpPr>
            <p:nvPr/>
          </p:nvSpPr>
          <p:spPr bwMode="auto">
            <a:xfrm>
              <a:off x="4266" y="17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0" name="Line 40"/>
            <p:cNvSpPr>
              <a:spLocks noChangeShapeType="1"/>
            </p:cNvSpPr>
            <p:nvPr/>
          </p:nvSpPr>
          <p:spPr bwMode="auto">
            <a:xfrm>
              <a:off x="4266" y="165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1" name="Line 41"/>
            <p:cNvSpPr>
              <a:spLocks noChangeShapeType="1"/>
            </p:cNvSpPr>
            <p:nvPr/>
          </p:nvSpPr>
          <p:spPr bwMode="auto">
            <a:xfrm>
              <a:off x="4266" y="155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2" name="Line 42"/>
            <p:cNvSpPr>
              <a:spLocks noChangeShapeType="1"/>
            </p:cNvSpPr>
            <p:nvPr/>
          </p:nvSpPr>
          <p:spPr bwMode="auto">
            <a:xfrm>
              <a:off x="4266" y="14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3" name="Line 43"/>
            <p:cNvSpPr>
              <a:spLocks noChangeShapeType="1"/>
            </p:cNvSpPr>
            <p:nvPr/>
          </p:nvSpPr>
          <p:spPr bwMode="auto">
            <a:xfrm>
              <a:off x="4266" y="135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4" name="Line 44"/>
            <p:cNvSpPr>
              <a:spLocks noChangeShapeType="1"/>
            </p:cNvSpPr>
            <p:nvPr/>
          </p:nvSpPr>
          <p:spPr bwMode="auto">
            <a:xfrm>
              <a:off x="4278" y="236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5" name="Line 45"/>
            <p:cNvSpPr>
              <a:spLocks noChangeShapeType="1"/>
            </p:cNvSpPr>
            <p:nvPr/>
          </p:nvSpPr>
          <p:spPr bwMode="auto">
            <a:xfrm flipV="1">
              <a:off x="427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6" name="Line 46"/>
            <p:cNvSpPr>
              <a:spLocks noChangeShapeType="1"/>
            </p:cNvSpPr>
            <p:nvPr/>
          </p:nvSpPr>
          <p:spPr bwMode="auto">
            <a:xfrm flipV="1">
              <a:off x="439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7" name="Line 47"/>
            <p:cNvSpPr>
              <a:spLocks noChangeShapeType="1"/>
            </p:cNvSpPr>
            <p:nvPr/>
          </p:nvSpPr>
          <p:spPr bwMode="auto">
            <a:xfrm flipV="1">
              <a:off x="4516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8" name="Line 48"/>
            <p:cNvSpPr>
              <a:spLocks noChangeShapeType="1"/>
            </p:cNvSpPr>
            <p:nvPr/>
          </p:nvSpPr>
          <p:spPr bwMode="auto">
            <a:xfrm flipV="1">
              <a:off x="463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39" name="Line 49"/>
            <p:cNvSpPr>
              <a:spLocks noChangeShapeType="1"/>
            </p:cNvSpPr>
            <p:nvPr/>
          </p:nvSpPr>
          <p:spPr bwMode="auto">
            <a:xfrm flipV="1">
              <a:off x="475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0" name="Line 50"/>
            <p:cNvSpPr>
              <a:spLocks noChangeShapeType="1"/>
            </p:cNvSpPr>
            <p:nvPr/>
          </p:nvSpPr>
          <p:spPr bwMode="auto">
            <a:xfrm flipV="1">
              <a:off x="488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1" name="Line 51"/>
            <p:cNvSpPr>
              <a:spLocks noChangeShapeType="1"/>
            </p:cNvSpPr>
            <p:nvPr/>
          </p:nvSpPr>
          <p:spPr bwMode="auto">
            <a:xfrm flipV="1">
              <a:off x="499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2" name="Line 52"/>
            <p:cNvSpPr>
              <a:spLocks noChangeShapeType="1"/>
            </p:cNvSpPr>
            <p:nvPr/>
          </p:nvSpPr>
          <p:spPr bwMode="auto">
            <a:xfrm flipV="1">
              <a:off x="511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3" name="Line 53"/>
            <p:cNvSpPr>
              <a:spLocks noChangeShapeType="1"/>
            </p:cNvSpPr>
            <p:nvPr/>
          </p:nvSpPr>
          <p:spPr bwMode="auto">
            <a:xfrm flipV="1">
              <a:off x="524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4" name="Line 54"/>
            <p:cNvSpPr>
              <a:spLocks noChangeShapeType="1"/>
            </p:cNvSpPr>
            <p:nvPr/>
          </p:nvSpPr>
          <p:spPr bwMode="auto">
            <a:xfrm flipV="1">
              <a:off x="535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5" name="Line 55"/>
            <p:cNvSpPr>
              <a:spLocks noChangeShapeType="1"/>
            </p:cNvSpPr>
            <p:nvPr/>
          </p:nvSpPr>
          <p:spPr bwMode="auto">
            <a:xfrm flipV="1">
              <a:off x="547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446" name="Freeform 56"/>
            <p:cNvSpPr>
              <a:spLocks/>
            </p:cNvSpPr>
            <p:nvPr/>
          </p:nvSpPr>
          <p:spPr bwMode="auto">
            <a:xfrm>
              <a:off x="4609" y="1930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30 h 59"/>
                <a:gd name="T4" fmla="*/ 29 w 57"/>
                <a:gd name="T5" fmla="*/ 59 h 59"/>
                <a:gd name="T6" fmla="*/ 0 w 57"/>
                <a:gd name="T7" fmla="*/ 30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30"/>
                  </a:lnTo>
                  <a:lnTo>
                    <a:pt x="29" y="59"/>
                  </a:lnTo>
                  <a:lnTo>
                    <a:pt x="0" y="3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47" name="Freeform 57"/>
            <p:cNvSpPr>
              <a:spLocks/>
            </p:cNvSpPr>
            <p:nvPr/>
          </p:nvSpPr>
          <p:spPr bwMode="auto">
            <a:xfrm>
              <a:off x="4609" y="1731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48" name="Freeform 58"/>
            <p:cNvSpPr>
              <a:spLocks/>
            </p:cNvSpPr>
            <p:nvPr/>
          </p:nvSpPr>
          <p:spPr bwMode="auto">
            <a:xfrm>
              <a:off x="5091" y="2032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29 h 59"/>
                <a:gd name="T4" fmla="*/ 28 w 56"/>
                <a:gd name="T5" fmla="*/ 59 h 59"/>
                <a:gd name="T6" fmla="*/ 0 w 56"/>
                <a:gd name="T7" fmla="*/ 29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49" name="Freeform 59"/>
            <p:cNvSpPr>
              <a:spLocks/>
            </p:cNvSpPr>
            <p:nvPr/>
          </p:nvSpPr>
          <p:spPr bwMode="auto">
            <a:xfrm>
              <a:off x="4731" y="1629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0" name="Freeform 60"/>
            <p:cNvSpPr>
              <a:spLocks/>
            </p:cNvSpPr>
            <p:nvPr/>
          </p:nvSpPr>
          <p:spPr bwMode="auto">
            <a:xfrm>
              <a:off x="4609" y="1528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1" name="Freeform 61"/>
            <p:cNvSpPr>
              <a:spLocks/>
            </p:cNvSpPr>
            <p:nvPr/>
          </p:nvSpPr>
          <p:spPr bwMode="auto">
            <a:xfrm>
              <a:off x="521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60"/>
                <a:gd name="T17" fmla="*/ 57 w 57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2" name="Freeform 62"/>
            <p:cNvSpPr>
              <a:spLocks/>
            </p:cNvSpPr>
            <p:nvPr/>
          </p:nvSpPr>
          <p:spPr bwMode="auto">
            <a:xfrm>
              <a:off x="4731" y="1832"/>
              <a:ext cx="56" cy="60"/>
            </a:xfrm>
            <a:custGeom>
              <a:avLst/>
              <a:gdLst>
                <a:gd name="T0" fmla="*/ 28 w 56"/>
                <a:gd name="T1" fmla="*/ 0 h 60"/>
                <a:gd name="T2" fmla="*/ 56 w 56"/>
                <a:gd name="T3" fmla="*/ 30 h 60"/>
                <a:gd name="T4" fmla="*/ 28 w 56"/>
                <a:gd name="T5" fmla="*/ 60 h 60"/>
                <a:gd name="T6" fmla="*/ 0 w 56"/>
                <a:gd name="T7" fmla="*/ 30 h 60"/>
                <a:gd name="T8" fmla="*/ 28 w 56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60"/>
                <a:gd name="T17" fmla="*/ 56 w 56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60">
                  <a:moveTo>
                    <a:pt x="28" y="0"/>
                  </a:moveTo>
                  <a:lnTo>
                    <a:pt x="56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3" name="Freeform 63"/>
            <p:cNvSpPr>
              <a:spLocks/>
            </p:cNvSpPr>
            <p:nvPr/>
          </p:nvSpPr>
          <p:spPr bwMode="auto">
            <a:xfrm>
              <a:off x="4852" y="2235"/>
              <a:ext cx="57" cy="59"/>
            </a:xfrm>
            <a:custGeom>
              <a:avLst/>
              <a:gdLst>
                <a:gd name="T0" fmla="*/ 28 w 57"/>
                <a:gd name="T1" fmla="*/ 0 h 59"/>
                <a:gd name="T2" fmla="*/ 57 w 57"/>
                <a:gd name="T3" fmla="*/ 29 h 59"/>
                <a:gd name="T4" fmla="*/ 28 w 57"/>
                <a:gd name="T5" fmla="*/ 59 h 59"/>
                <a:gd name="T6" fmla="*/ 0 w 57"/>
                <a:gd name="T7" fmla="*/ 29 h 59"/>
                <a:gd name="T8" fmla="*/ 28 w 57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59"/>
                <a:gd name="T17" fmla="*/ 57 w 57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59">
                  <a:moveTo>
                    <a:pt x="28" y="0"/>
                  </a:moveTo>
                  <a:lnTo>
                    <a:pt x="57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4" name="Freeform 64"/>
            <p:cNvSpPr>
              <a:spLocks/>
            </p:cNvSpPr>
            <p:nvPr/>
          </p:nvSpPr>
          <p:spPr bwMode="auto">
            <a:xfrm>
              <a:off x="5091" y="1930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59"/>
                <a:gd name="T17" fmla="*/ 56 w 56"/>
                <a:gd name="T18" fmla="*/ 59 h 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5" name="Freeform 65"/>
            <p:cNvSpPr>
              <a:spLocks/>
            </p:cNvSpPr>
            <p:nvPr/>
          </p:nvSpPr>
          <p:spPr bwMode="auto">
            <a:xfrm>
              <a:off x="485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"/>
                <a:gd name="T16" fmla="*/ 0 h 60"/>
                <a:gd name="T17" fmla="*/ 57 w 57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6" name="Oval 66"/>
            <p:cNvSpPr>
              <a:spLocks noChangeArrowheads="1"/>
            </p:cNvSpPr>
            <p:nvPr/>
          </p:nvSpPr>
          <p:spPr bwMode="auto">
            <a:xfrm>
              <a:off x="4686" y="1811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7" name="Oval 67"/>
            <p:cNvSpPr>
              <a:spLocks noChangeArrowheads="1"/>
            </p:cNvSpPr>
            <p:nvPr/>
          </p:nvSpPr>
          <p:spPr bwMode="auto">
            <a:xfrm>
              <a:off x="5054" y="1900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58" name="Rectangle 68"/>
            <p:cNvSpPr>
              <a:spLocks noChangeArrowheads="1"/>
            </p:cNvSpPr>
            <p:nvPr/>
          </p:nvSpPr>
          <p:spPr bwMode="auto">
            <a:xfrm>
              <a:off x="4221" y="2336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59" name="Rectangle 69"/>
            <p:cNvSpPr>
              <a:spLocks noChangeArrowheads="1"/>
            </p:cNvSpPr>
            <p:nvPr/>
          </p:nvSpPr>
          <p:spPr bwMode="auto">
            <a:xfrm>
              <a:off x="4221" y="2235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0" name="Rectangle 70"/>
            <p:cNvSpPr>
              <a:spLocks noChangeArrowheads="1"/>
            </p:cNvSpPr>
            <p:nvPr/>
          </p:nvSpPr>
          <p:spPr bwMode="auto">
            <a:xfrm>
              <a:off x="4221" y="2133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1" name="Rectangle 71"/>
            <p:cNvSpPr>
              <a:spLocks noChangeArrowheads="1"/>
            </p:cNvSpPr>
            <p:nvPr/>
          </p:nvSpPr>
          <p:spPr bwMode="auto">
            <a:xfrm>
              <a:off x="4221" y="2032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2" name="Rectangle 72"/>
            <p:cNvSpPr>
              <a:spLocks noChangeArrowheads="1"/>
            </p:cNvSpPr>
            <p:nvPr/>
          </p:nvSpPr>
          <p:spPr bwMode="auto">
            <a:xfrm>
              <a:off x="4221" y="1930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3" name="Rectangle 73"/>
            <p:cNvSpPr>
              <a:spLocks noChangeArrowheads="1"/>
            </p:cNvSpPr>
            <p:nvPr/>
          </p:nvSpPr>
          <p:spPr bwMode="auto">
            <a:xfrm>
              <a:off x="4221" y="1828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4" name="Rectangle 74"/>
            <p:cNvSpPr>
              <a:spLocks noChangeArrowheads="1"/>
            </p:cNvSpPr>
            <p:nvPr/>
          </p:nvSpPr>
          <p:spPr bwMode="auto">
            <a:xfrm>
              <a:off x="4221" y="1731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5" name="Rectangle 75"/>
            <p:cNvSpPr>
              <a:spLocks noChangeArrowheads="1"/>
            </p:cNvSpPr>
            <p:nvPr/>
          </p:nvSpPr>
          <p:spPr bwMode="auto">
            <a:xfrm>
              <a:off x="4221" y="1629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6" name="Rectangle 76"/>
            <p:cNvSpPr>
              <a:spLocks noChangeArrowheads="1"/>
            </p:cNvSpPr>
            <p:nvPr/>
          </p:nvSpPr>
          <p:spPr bwMode="auto">
            <a:xfrm>
              <a:off x="4221" y="1528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7" name="Rectangle 77"/>
            <p:cNvSpPr>
              <a:spLocks noChangeArrowheads="1"/>
            </p:cNvSpPr>
            <p:nvPr/>
          </p:nvSpPr>
          <p:spPr bwMode="auto">
            <a:xfrm>
              <a:off x="4221" y="1426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8" name="Rectangle 78"/>
            <p:cNvSpPr>
              <a:spLocks noChangeArrowheads="1"/>
            </p:cNvSpPr>
            <p:nvPr/>
          </p:nvSpPr>
          <p:spPr bwMode="auto">
            <a:xfrm>
              <a:off x="4197" y="1324"/>
              <a:ext cx="7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69" name="Rectangle 79"/>
            <p:cNvSpPr>
              <a:spLocks noChangeArrowheads="1"/>
            </p:cNvSpPr>
            <p:nvPr/>
          </p:nvSpPr>
          <p:spPr bwMode="auto">
            <a:xfrm>
              <a:off x="4266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0" name="Rectangle 80"/>
            <p:cNvSpPr>
              <a:spLocks noChangeArrowheads="1"/>
            </p:cNvSpPr>
            <p:nvPr/>
          </p:nvSpPr>
          <p:spPr bwMode="auto">
            <a:xfrm>
              <a:off x="4387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1" name="Rectangle 81"/>
            <p:cNvSpPr>
              <a:spLocks noChangeArrowheads="1"/>
            </p:cNvSpPr>
            <p:nvPr/>
          </p:nvSpPr>
          <p:spPr bwMode="auto">
            <a:xfrm>
              <a:off x="4504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2" name="Rectangle 82"/>
            <p:cNvSpPr>
              <a:spLocks noChangeArrowheads="1"/>
            </p:cNvSpPr>
            <p:nvPr/>
          </p:nvSpPr>
          <p:spPr bwMode="auto">
            <a:xfrm>
              <a:off x="4626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3" name="Rectangle 83"/>
            <p:cNvSpPr>
              <a:spLocks noChangeArrowheads="1"/>
            </p:cNvSpPr>
            <p:nvPr/>
          </p:nvSpPr>
          <p:spPr bwMode="auto">
            <a:xfrm>
              <a:off x="4747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4" name="Rectangle 84"/>
            <p:cNvSpPr>
              <a:spLocks noChangeArrowheads="1"/>
            </p:cNvSpPr>
            <p:nvPr/>
          </p:nvSpPr>
          <p:spPr bwMode="auto">
            <a:xfrm>
              <a:off x="4868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5" name="Rectangle 85"/>
            <p:cNvSpPr>
              <a:spLocks noChangeArrowheads="1"/>
            </p:cNvSpPr>
            <p:nvPr/>
          </p:nvSpPr>
          <p:spPr bwMode="auto">
            <a:xfrm>
              <a:off x="4986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6" name="Rectangle 86"/>
            <p:cNvSpPr>
              <a:spLocks noChangeArrowheads="1"/>
            </p:cNvSpPr>
            <p:nvPr/>
          </p:nvSpPr>
          <p:spPr bwMode="auto">
            <a:xfrm>
              <a:off x="5107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7" name="Rectangle 87"/>
            <p:cNvSpPr>
              <a:spLocks noChangeArrowheads="1"/>
            </p:cNvSpPr>
            <p:nvPr/>
          </p:nvSpPr>
          <p:spPr bwMode="auto">
            <a:xfrm>
              <a:off x="5228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8" name="Rectangle 88"/>
            <p:cNvSpPr>
              <a:spLocks noChangeArrowheads="1"/>
            </p:cNvSpPr>
            <p:nvPr/>
          </p:nvSpPr>
          <p:spPr bwMode="auto">
            <a:xfrm>
              <a:off x="5346" y="2404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79" name="Rectangle 89"/>
            <p:cNvSpPr>
              <a:spLocks noChangeArrowheads="1"/>
            </p:cNvSpPr>
            <p:nvPr/>
          </p:nvSpPr>
          <p:spPr bwMode="auto">
            <a:xfrm>
              <a:off x="5455" y="2404"/>
              <a:ext cx="7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600">
                  <a:solidFill>
                    <a:srgbClr val="000000"/>
                  </a:solidFill>
                  <a:latin typeface="Arial" pitchFamily="34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2480" name="Rectangle 90"/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81" name="Freeform 91"/>
            <p:cNvSpPr>
              <a:spLocks/>
            </p:cNvSpPr>
            <p:nvPr/>
          </p:nvSpPr>
          <p:spPr bwMode="auto">
            <a:xfrm>
              <a:off x="4426" y="1447"/>
              <a:ext cx="573" cy="873"/>
            </a:xfrm>
            <a:custGeom>
              <a:avLst/>
              <a:gdLst>
                <a:gd name="T0" fmla="*/ 71 w 852"/>
                <a:gd name="T1" fmla="*/ 44 h 1260"/>
                <a:gd name="T2" fmla="*/ 54 w 852"/>
                <a:gd name="T3" fmla="*/ 6 h 1260"/>
                <a:gd name="T4" fmla="*/ 32 w 852"/>
                <a:gd name="T5" fmla="*/ 3 h 1260"/>
                <a:gd name="T6" fmla="*/ 18 w 852"/>
                <a:gd name="T7" fmla="*/ 12 h 1260"/>
                <a:gd name="T8" fmla="*/ 0 w 852"/>
                <a:gd name="T9" fmla="*/ 59 h 1260"/>
                <a:gd name="T10" fmla="*/ 6 w 852"/>
                <a:gd name="T11" fmla="*/ 110 h 1260"/>
                <a:gd name="T12" fmla="*/ 50 w 852"/>
                <a:gd name="T13" fmla="*/ 178 h 1260"/>
                <a:gd name="T14" fmla="*/ 59 w 852"/>
                <a:gd name="T15" fmla="*/ 182 h 1260"/>
                <a:gd name="T16" fmla="*/ 62 w 852"/>
                <a:gd name="T17" fmla="*/ 184 h 1260"/>
                <a:gd name="T18" fmla="*/ 72 w 852"/>
                <a:gd name="T19" fmla="*/ 188 h 1260"/>
                <a:gd name="T20" fmla="*/ 85 w 852"/>
                <a:gd name="T21" fmla="*/ 196 h 1260"/>
                <a:gd name="T22" fmla="*/ 109 w 852"/>
                <a:gd name="T23" fmla="*/ 199 h 1260"/>
                <a:gd name="T24" fmla="*/ 108 w 852"/>
                <a:gd name="T25" fmla="*/ 163 h 1260"/>
                <a:gd name="T26" fmla="*/ 103 w 852"/>
                <a:gd name="T27" fmla="*/ 152 h 1260"/>
                <a:gd name="T28" fmla="*/ 95 w 852"/>
                <a:gd name="T29" fmla="*/ 136 h 1260"/>
                <a:gd name="T30" fmla="*/ 85 w 852"/>
                <a:gd name="T31" fmla="*/ 122 h 1260"/>
                <a:gd name="T32" fmla="*/ 83 w 852"/>
                <a:gd name="T33" fmla="*/ 116 h 1260"/>
                <a:gd name="T34" fmla="*/ 81 w 852"/>
                <a:gd name="T35" fmla="*/ 114 h 1260"/>
                <a:gd name="T36" fmla="*/ 77 w 852"/>
                <a:gd name="T37" fmla="*/ 103 h 1260"/>
                <a:gd name="T38" fmla="*/ 74 w 852"/>
                <a:gd name="T39" fmla="*/ 99 h 1260"/>
                <a:gd name="T40" fmla="*/ 71 w 852"/>
                <a:gd name="T41" fmla="*/ 44 h 126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852"/>
                <a:gd name="T64" fmla="*/ 0 h 1260"/>
                <a:gd name="T65" fmla="*/ 852 w 852"/>
                <a:gd name="T66" fmla="*/ 1260 h 126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2482" name="Freeform 92"/>
            <p:cNvSpPr>
              <a:spLocks/>
            </p:cNvSpPr>
            <p:nvPr/>
          </p:nvSpPr>
          <p:spPr bwMode="auto">
            <a:xfrm>
              <a:off x="4846" y="1713"/>
              <a:ext cx="516" cy="436"/>
            </a:xfrm>
            <a:custGeom>
              <a:avLst/>
              <a:gdLst>
                <a:gd name="T0" fmla="*/ 26 w 768"/>
                <a:gd name="T1" fmla="*/ 10 h 630"/>
                <a:gd name="T2" fmla="*/ 10 w 768"/>
                <a:gd name="T3" fmla="*/ 12 h 630"/>
                <a:gd name="T4" fmla="*/ 1 w 768"/>
                <a:gd name="T5" fmla="*/ 27 h 630"/>
                <a:gd name="T6" fmla="*/ 2 w 768"/>
                <a:gd name="T7" fmla="*/ 49 h 630"/>
                <a:gd name="T8" fmla="*/ 7 w 768"/>
                <a:gd name="T9" fmla="*/ 57 h 630"/>
                <a:gd name="T10" fmla="*/ 15 w 768"/>
                <a:gd name="T11" fmla="*/ 66 h 630"/>
                <a:gd name="T12" fmla="*/ 32 w 768"/>
                <a:gd name="T13" fmla="*/ 87 h 630"/>
                <a:gd name="T14" fmla="*/ 35 w 768"/>
                <a:gd name="T15" fmla="*/ 91 h 630"/>
                <a:gd name="T16" fmla="*/ 45 w 768"/>
                <a:gd name="T17" fmla="*/ 94 h 630"/>
                <a:gd name="T18" fmla="*/ 61 w 768"/>
                <a:gd name="T19" fmla="*/ 100 h 630"/>
                <a:gd name="T20" fmla="*/ 82 w 768"/>
                <a:gd name="T21" fmla="*/ 96 h 630"/>
                <a:gd name="T22" fmla="*/ 90 w 768"/>
                <a:gd name="T23" fmla="*/ 93 h 630"/>
                <a:gd name="T24" fmla="*/ 94 w 768"/>
                <a:gd name="T25" fmla="*/ 84 h 630"/>
                <a:gd name="T26" fmla="*/ 98 w 768"/>
                <a:gd name="T27" fmla="*/ 75 h 630"/>
                <a:gd name="T28" fmla="*/ 99 w 768"/>
                <a:gd name="T29" fmla="*/ 69 h 630"/>
                <a:gd name="T30" fmla="*/ 101 w 768"/>
                <a:gd name="T31" fmla="*/ 66 h 630"/>
                <a:gd name="T32" fmla="*/ 105 w 768"/>
                <a:gd name="T33" fmla="*/ 47 h 630"/>
                <a:gd name="T34" fmla="*/ 104 w 768"/>
                <a:gd name="T35" fmla="*/ 28 h 630"/>
                <a:gd name="T36" fmla="*/ 99 w 768"/>
                <a:gd name="T37" fmla="*/ 18 h 630"/>
                <a:gd name="T38" fmla="*/ 64 w 768"/>
                <a:gd name="T39" fmla="*/ 0 h 630"/>
                <a:gd name="T40" fmla="*/ 28 w 768"/>
                <a:gd name="T41" fmla="*/ 5 h 630"/>
                <a:gd name="T42" fmla="*/ 26 w 768"/>
                <a:gd name="T43" fmla="*/ 10 h 63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68"/>
                <a:gd name="T67" fmla="*/ 0 h 630"/>
                <a:gd name="T68" fmla="*/ 768 w 768"/>
                <a:gd name="T69" fmla="*/ 630 h 630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2300" name="Line 93"/>
          <p:cNvSpPr>
            <a:spLocks noChangeShapeType="1"/>
          </p:cNvSpPr>
          <p:nvPr/>
        </p:nvSpPr>
        <p:spPr bwMode="auto">
          <a:xfrm>
            <a:off x="56388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12301" name="Group 94"/>
          <p:cNvGrpSpPr>
            <a:grpSpLocks/>
          </p:cNvGrpSpPr>
          <p:nvPr/>
        </p:nvGrpSpPr>
        <p:grpSpPr bwMode="auto">
          <a:xfrm>
            <a:off x="6629400" y="4114800"/>
            <a:ext cx="2286000" cy="2286000"/>
            <a:chOff x="3312" y="2640"/>
            <a:chExt cx="1440" cy="1440"/>
          </a:xfrm>
        </p:grpSpPr>
        <p:graphicFrame>
          <p:nvGraphicFramePr>
            <p:cNvPr id="12291" name="Object 1"/>
            <p:cNvGraphicFramePr>
              <a:graphicFrameLocks noChangeAspect="1"/>
            </p:cNvGraphicFramePr>
            <p:nvPr/>
          </p:nvGraphicFramePr>
          <p:xfrm>
            <a:off x="3312" y="2832"/>
            <a:ext cx="144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33" name="Worksheet" r:id="rId5" imgW="3419856" imgH="2934005" progId="Excel.Sheet.8">
                    <p:embed/>
                  </p:oleObj>
                </mc:Choice>
                <mc:Fallback>
                  <p:oleObj name="Worksheet" r:id="rId5" imgW="3419856" imgH="2934005" progId="Excel.Sheet.8">
                    <p:embed/>
                    <p:pic>
                      <p:nvPicPr>
                        <p:cNvPr id="0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832"/>
                          <a:ext cx="144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8" name="Line 96"/>
            <p:cNvSpPr>
              <a:spLocks noChangeShapeType="1"/>
            </p:cNvSpPr>
            <p:nvPr/>
          </p:nvSpPr>
          <p:spPr bwMode="auto">
            <a:xfrm>
              <a:off x="3984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grpSp>
        <p:nvGrpSpPr>
          <p:cNvPr id="12302" name="Group 97"/>
          <p:cNvGrpSpPr>
            <a:grpSpLocks/>
          </p:cNvGrpSpPr>
          <p:nvPr/>
        </p:nvGrpSpPr>
        <p:grpSpPr bwMode="auto">
          <a:xfrm>
            <a:off x="3276600" y="4419600"/>
            <a:ext cx="3200400" cy="1981200"/>
            <a:chOff x="1200" y="2832"/>
            <a:chExt cx="2016" cy="1248"/>
          </a:xfrm>
        </p:grpSpPr>
        <p:grpSp>
          <p:nvGrpSpPr>
            <p:cNvPr id="12394" name="Group 98"/>
            <p:cNvGrpSpPr>
              <a:grpSpLocks/>
            </p:cNvGrpSpPr>
            <p:nvPr/>
          </p:nvGrpSpPr>
          <p:grpSpPr bwMode="auto">
            <a:xfrm>
              <a:off x="1200" y="2832"/>
              <a:ext cx="1440" cy="1248"/>
              <a:chOff x="3108" y="2256"/>
              <a:chExt cx="2148" cy="1872"/>
            </a:xfrm>
          </p:grpSpPr>
          <p:graphicFrame>
            <p:nvGraphicFramePr>
              <p:cNvPr id="12290" name="Object 0"/>
              <p:cNvGraphicFramePr>
                <a:graphicFrameLocks noChangeAspect="1"/>
              </p:cNvGraphicFramePr>
              <p:nvPr/>
            </p:nvGraphicFramePr>
            <p:xfrm>
              <a:off x="3108" y="2256"/>
              <a:ext cx="2148" cy="18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834" name="Worksheet" r:id="rId7" imgW="3410407" imgH="2924556" progId="Excel.Sheet.8">
                      <p:embed/>
                    </p:oleObj>
                  </mc:Choice>
                  <mc:Fallback>
                    <p:oleObj name="Worksheet" r:id="rId7" imgW="3410407" imgH="2924556" progId="Excel.Sheet.8">
                      <p:embed/>
                      <p:pic>
                        <p:nvPicPr>
                          <p:cNvPr id="0" name="Object 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8" y="2256"/>
                            <a:ext cx="2148" cy="18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396" name="Freeform 100"/>
              <p:cNvSpPr>
                <a:spLocks/>
              </p:cNvSpPr>
              <p:nvPr/>
            </p:nvSpPr>
            <p:spPr bwMode="auto">
              <a:xfrm>
                <a:off x="3638" y="2571"/>
                <a:ext cx="728" cy="896"/>
              </a:xfrm>
              <a:custGeom>
                <a:avLst/>
                <a:gdLst>
                  <a:gd name="T0" fmla="*/ 199 w 728"/>
                  <a:gd name="T1" fmla="*/ 7 h 896"/>
                  <a:gd name="T2" fmla="*/ 110 w 728"/>
                  <a:gd name="T3" fmla="*/ 96 h 896"/>
                  <a:gd name="T4" fmla="*/ 80 w 728"/>
                  <a:gd name="T5" fmla="*/ 140 h 896"/>
                  <a:gd name="T6" fmla="*/ 65 w 728"/>
                  <a:gd name="T7" fmla="*/ 162 h 896"/>
                  <a:gd name="T8" fmla="*/ 21 w 728"/>
                  <a:gd name="T9" fmla="*/ 303 h 896"/>
                  <a:gd name="T10" fmla="*/ 65 w 728"/>
                  <a:gd name="T11" fmla="*/ 703 h 896"/>
                  <a:gd name="T12" fmla="*/ 110 w 728"/>
                  <a:gd name="T13" fmla="*/ 763 h 896"/>
                  <a:gd name="T14" fmla="*/ 332 w 728"/>
                  <a:gd name="T15" fmla="*/ 896 h 896"/>
                  <a:gd name="T16" fmla="*/ 495 w 728"/>
                  <a:gd name="T17" fmla="*/ 851 h 896"/>
                  <a:gd name="T18" fmla="*/ 636 w 728"/>
                  <a:gd name="T19" fmla="*/ 711 h 896"/>
                  <a:gd name="T20" fmla="*/ 688 w 728"/>
                  <a:gd name="T21" fmla="*/ 607 h 896"/>
                  <a:gd name="T22" fmla="*/ 702 w 728"/>
                  <a:gd name="T23" fmla="*/ 563 h 896"/>
                  <a:gd name="T24" fmla="*/ 710 w 728"/>
                  <a:gd name="T25" fmla="*/ 540 h 896"/>
                  <a:gd name="T26" fmla="*/ 680 w 728"/>
                  <a:gd name="T27" fmla="*/ 296 h 896"/>
                  <a:gd name="T28" fmla="*/ 569 w 728"/>
                  <a:gd name="T29" fmla="*/ 133 h 896"/>
                  <a:gd name="T30" fmla="*/ 510 w 728"/>
                  <a:gd name="T31" fmla="*/ 88 h 896"/>
                  <a:gd name="T32" fmla="*/ 465 w 728"/>
                  <a:gd name="T33" fmla="*/ 59 h 896"/>
                  <a:gd name="T34" fmla="*/ 295 w 728"/>
                  <a:gd name="T35" fmla="*/ 0 h 896"/>
                  <a:gd name="T36" fmla="*/ 206 w 728"/>
                  <a:gd name="T37" fmla="*/ 7 h 896"/>
                  <a:gd name="T38" fmla="*/ 184 w 728"/>
                  <a:gd name="T39" fmla="*/ 14 h 896"/>
                  <a:gd name="T40" fmla="*/ 199 w 728"/>
                  <a:gd name="T41" fmla="*/ 7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28"/>
                  <a:gd name="T64" fmla="*/ 0 h 896"/>
                  <a:gd name="T65" fmla="*/ 728 w 728"/>
                  <a:gd name="T66" fmla="*/ 896 h 89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12397" name="Freeform 101"/>
              <p:cNvSpPr>
                <a:spLocks/>
              </p:cNvSpPr>
              <p:nvPr/>
            </p:nvSpPr>
            <p:spPr bwMode="auto">
              <a:xfrm>
                <a:off x="4090" y="2934"/>
                <a:ext cx="802" cy="889"/>
              </a:xfrm>
              <a:custGeom>
                <a:avLst/>
                <a:gdLst>
                  <a:gd name="T0" fmla="*/ 510 w 802"/>
                  <a:gd name="T1" fmla="*/ 44 h 889"/>
                  <a:gd name="T2" fmla="*/ 376 w 802"/>
                  <a:gd name="T3" fmla="*/ 177 h 889"/>
                  <a:gd name="T4" fmla="*/ 236 w 802"/>
                  <a:gd name="T5" fmla="*/ 296 h 889"/>
                  <a:gd name="T6" fmla="*/ 221 w 802"/>
                  <a:gd name="T7" fmla="*/ 318 h 889"/>
                  <a:gd name="T8" fmla="*/ 199 w 802"/>
                  <a:gd name="T9" fmla="*/ 333 h 889"/>
                  <a:gd name="T10" fmla="*/ 191 w 802"/>
                  <a:gd name="T11" fmla="*/ 355 h 889"/>
                  <a:gd name="T12" fmla="*/ 169 w 802"/>
                  <a:gd name="T13" fmla="*/ 385 h 889"/>
                  <a:gd name="T14" fmla="*/ 132 w 802"/>
                  <a:gd name="T15" fmla="*/ 496 h 889"/>
                  <a:gd name="T16" fmla="*/ 110 w 802"/>
                  <a:gd name="T17" fmla="*/ 518 h 889"/>
                  <a:gd name="T18" fmla="*/ 80 w 802"/>
                  <a:gd name="T19" fmla="*/ 562 h 889"/>
                  <a:gd name="T20" fmla="*/ 43 w 802"/>
                  <a:gd name="T21" fmla="*/ 629 h 889"/>
                  <a:gd name="T22" fmla="*/ 13 w 802"/>
                  <a:gd name="T23" fmla="*/ 703 h 889"/>
                  <a:gd name="T24" fmla="*/ 36 w 802"/>
                  <a:gd name="T25" fmla="*/ 844 h 889"/>
                  <a:gd name="T26" fmla="*/ 80 w 802"/>
                  <a:gd name="T27" fmla="*/ 874 h 889"/>
                  <a:gd name="T28" fmla="*/ 124 w 802"/>
                  <a:gd name="T29" fmla="*/ 888 h 889"/>
                  <a:gd name="T30" fmla="*/ 354 w 802"/>
                  <a:gd name="T31" fmla="*/ 874 h 889"/>
                  <a:gd name="T32" fmla="*/ 517 w 802"/>
                  <a:gd name="T33" fmla="*/ 822 h 889"/>
                  <a:gd name="T34" fmla="*/ 569 w 802"/>
                  <a:gd name="T35" fmla="*/ 792 h 889"/>
                  <a:gd name="T36" fmla="*/ 673 w 802"/>
                  <a:gd name="T37" fmla="*/ 651 h 889"/>
                  <a:gd name="T38" fmla="*/ 695 w 802"/>
                  <a:gd name="T39" fmla="*/ 600 h 889"/>
                  <a:gd name="T40" fmla="*/ 747 w 802"/>
                  <a:gd name="T41" fmla="*/ 533 h 889"/>
                  <a:gd name="T42" fmla="*/ 784 w 802"/>
                  <a:gd name="T43" fmla="*/ 451 h 889"/>
                  <a:gd name="T44" fmla="*/ 798 w 802"/>
                  <a:gd name="T45" fmla="*/ 385 h 889"/>
                  <a:gd name="T46" fmla="*/ 650 w 802"/>
                  <a:gd name="T47" fmla="*/ 0 h 889"/>
                  <a:gd name="T48" fmla="*/ 532 w 802"/>
                  <a:gd name="T49" fmla="*/ 22 h 889"/>
                  <a:gd name="T50" fmla="*/ 510 w 802"/>
                  <a:gd name="T51" fmla="*/ 44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02"/>
                  <a:gd name="T79" fmla="*/ 0 h 889"/>
                  <a:gd name="T80" fmla="*/ 802 w 802"/>
                  <a:gd name="T81" fmla="*/ 889 h 8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</p:grpSp>
        <p:sp>
          <p:nvSpPr>
            <p:cNvPr id="12395" name="Line 102"/>
            <p:cNvSpPr>
              <a:spLocks noChangeShapeType="1"/>
            </p:cNvSpPr>
            <p:nvPr/>
          </p:nvSpPr>
          <p:spPr bwMode="auto">
            <a:xfrm flipH="1">
              <a:off x="2784" y="32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2303" name="Rectangle 103"/>
          <p:cNvSpPr>
            <a:spLocks noChangeArrowheads="1"/>
          </p:cNvSpPr>
          <p:nvPr/>
        </p:nvSpPr>
        <p:spPr bwMode="auto">
          <a:xfrm>
            <a:off x="101600" y="2084388"/>
            <a:ext cx="2222500" cy="19907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04" name="Rectangle 104"/>
          <p:cNvSpPr>
            <a:spLocks noChangeArrowheads="1"/>
          </p:cNvSpPr>
          <p:nvPr/>
        </p:nvSpPr>
        <p:spPr bwMode="auto">
          <a:xfrm>
            <a:off x="314325" y="2225675"/>
            <a:ext cx="1906588" cy="1606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05" name="Line 105"/>
          <p:cNvSpPr>
            <a:spLocks noChangeShapeType="1"/>
          </p:cNvSpPr>
          <p:nvPr/>
        </p:nvSpPr>
        <p:spPr bwMode="auto">
          <a:xfrm>
            <a:off x="314325" y="36703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06" name="Line 106"/>
          <p:cNvSpPr>
            <a:spLocks noChangeShapeType="1"/>
          </p:cNvSpPr>
          <p:nvPr/>
        </p:nvSpPr>
        <p:spPr bwMode="auto">
          <a:xfrm>
            <a:off x="314325" y="3509963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07" name="Line 107"/>
          <p:cNvSpPr>
            <a:spLocks noChangeShapeType="1"/>
          </p:cNvSpPr>
          <p:nvPr/>
        </p:nvSpPr>
        <p:spPr bwMode="auto">
          <a:xfrm>
            <a:off x="314325" y="3348038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08" name="Line 108"/>
          <p:cNvSpPr>
            <a:spLocks noChangeShapeType="1"/>
          </p:cNvSpPr>
          <p:nvPr/>
        </p:nvSpPr>
        <p:spPr bwMode="auto">
          <a:xfrm>
            <a:off x="314325" y="31877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09" name="Line 109"/>
          <p:cNvSpPr>
            <a:spLocks noChangeShapeType="1"/>
          </p:cNvSpPr>
          <p:nvPr/>
        </p:nvSpPr>
        <p:spPr bwMode="auto">
          <a:xfrm>
            <a:off x="314325" y="30257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0" name="Line 110"/>
          <p:cNvSpPr>
            <a:spLocks noChangeShapeType="1"/>
          </p:cNvSpPr>
          <p:nvPr/>
        </p:nvSpPr>
        <p:spPr bwMode="auto">
          <a:xfrm>
            <a:off x="314325" y="28702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1" name="Line 111"/>
          <p:cNvSpPr>
            <a:spLocks noChangeShapeType="1"/>
          </p:cNvSpPr>
          <p:nvPr/>
        </p:nvSpPr>
        <p:spPr bwMode="auto">
          <a:xfrm>
            <a:off x="314325" y="2709863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2" name="Line 112"/>
          <p:cNvSpPr>
            <a:spLocks noChangeShapeType="1"/>
          </p:cNvSpPr>
          <p:nvPr/>
        </p:nvSpPr>
        <p:spPr bwMode="auto">
          <a:xfrm>
            <a:off x="314325" y="2547938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3" name="Line 113"/>
          <p:cNvSpPr>
            <a:spLocks noChangeShapeType="1"/>
          </p:cNvSpPr>
          <p:nvPr/>
        </p:nvSpPr>
        <p:spPr bwMode="auto">
          <a:xfrm>
            <a:off x="314325" y="23876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4" name="Line 114"/>
          <p:cNvSpPr>
            <a:spLocks noChangeShapeType="1"/>
          </p:cNvSpPr>
          <p:nvPr/>
        </p:nvSpPr>
        <p:spPr bwMode="auto">
          <a:xfrm>
            <a:off x="314325" y="22256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5" name="Line 115"/>
          <p:cNvSpPr>
            <a:spLocks noChangeShapeType="1"/>
          </p:cNvSpPr>
          <p:nvPr/>
        </p:nvSpPr>
        <p:spPr bwMode="auto">
          <a:xfrm>
            <a:off x="506413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6" name="Line 116"/>
          <p:cNvSpPr>
            <a:spLocks noChangeShapeType="1"/>
          </p:cNvSpPr>
          <p:nvPr/>
        </p:nvSpPr>
        <p:spPr bwMode="auto">
          <a:xfrm>
            <a:off x="69215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7" name="Line 117"/>
          <p:cNvSpPr>
            <a:spLocks noChangeShapeType="1"/>
          </p:cNvSpPr>
          <p:nvPr/>
        </p:nvSpPr>
        <p:spPr bwMode="auto">
          <a:xfrm>
            <a:off x="8858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8" name="Line 118"/>
          <p:cNvSpPr>
            <a:spLocks noChangeShapeType="1"/>
          </p:cNvSpPr>
          <p:nvPr/>
        </p:nvSpPr>
        <p:spPr bwMode="auto">
          <a:xfrm>
            <a:off x="1077913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19" name="Line 119"/>
          <p:cNvSpPr>
            <a:spLocks noChangeShapeType="1"/>
          </p:cNvSpPr>
          <p:nvPr/>
        </p:nvSpPr>
        <p:spPr bwMode="auto">
          <a:xfrm>
            <a:off x="127000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0" name="Line 120"/>
          <p:cNvSpPr>
            <a:spLocks noChangeShapeType="1"/>
          </p:cNvSpPr>
          <p:nvPr/>
        </p:nvSpPr>
        <p:spPr bwMode="auto">
          <a:xfrm>
            <a:off x="14573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1" name="Line 121"/>
          <p:cNvSpPr>
            <a:spLocks noChangeShapeType="1"/>
          </p:cNvSpPr>
          <p:nvPr/>
        </p:nvSpPr>
        <p:spPr bwMode="auto">
          <a:xfrm>
            <a:off x="1649413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2" name="Line 122"/>
          <p:cNvSpPr>
            <a:spLocks noChangeShapeType="1"/>
          </p:cNvSpPr>
          <p:nvPr/>
        </p:nvSpPr>
        <p:spPr bwMode="auto">
          <a:xfrm>
            <a:off x="184150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3" name="Line 123"/>
          <p:cNvSpPr>
            <a:spLocks noChangeShapeType="1"/>
          </p:cNvSpPr>
          <p:nvPr/>
        </p:nvSpPr>
        <p:spPr bwMode="auto">
          <a:xfrm>
            <a:off x="20288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4" name="Line 124"/>
          <p:cNvSpPr>
            <a:spLocks noChangeShapeType="1"/>
          </p:cNvSpPr>
          <p:nvPr/>
        </p:nvSpPr>
        <p:spPr bwMode="auto">
          <a:xfrm>
            <a:off x="2220913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5" name="Rectangle 125"/>
          <p:cNvSpPr>
            <a:spLocks noChangeArrowheads="1"/>
          </p:cNvSpPr>
          <p:nvPr/>
        </p:nvSpPr>
        <p:spPr bwMode="auto">
          <a:xfrm>
            <a:off x="314325" y="2225675"/>
            <a:ext cx="1906588" cy="160655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26" name="Line 126"/>
          <p:cNvSpPr>
            <a:spLocks noChangeShapeType="1"/>
          </p:cNvSpPr>
          <p:nvPr/>
        </p:nvSpPr>
        <p:spPr bwMode="auto">
          <a:xfrm>
            <a:off x="3143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7" name="Line 127"/>
          <p:cNvSpPr>
            <a:spLocks noChangeShapeType="1"/>
          </p:cNvSpPr>
          <p:nvPr/>
        </p:nvSpPr>
        <p:spPr bwMode="auto">
          <a:xfrm>
            <a:off x="295275" y="383222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8" name="Line 128"/>
          <p:cNvSpPr>
            <a:spLocks noChangeShapeType="1"/>
          </p:cNvSpPr>
          <p:nvPr/>
        </p:nvSpPr>
        <p:spPr bwMode="auto">
          <a:xfrm>
            <a:off x="295275" y="36703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29" name="Line 129"/>
          <p:cNvSpPr>
            <a:spLocks noChangeShapeType="1"/>
          </p:cNvSpPr>
          <p:nvPr/>
        </p:nvSpPr>
        <p:spPr bwMode="auto">
          <a:xfrm>
            <a:off x="295275" y="3509963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0" name="Line 130"/>
          <p:cNvSpPr>
            <a:spLocks noChangeShapeType="1"/>
          </p:cNvSpPr>
          <p:nvPr/>
        </p:nvSpPr>
        <p:spPr bwMode="auto">
          <a:xfrm>
            <a:off x="295275" y="3348038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1" name="Line 131"/>
          <p:cNvSpPr>
            <a:spLocks noChangeShapeType="1"/>
          </p:cNvSpPr>
          <p:nvPr/>
        </p:nvSpPr>
        <p:spPr bwMode="auto">
          <a:xfrm>
            <a:off x="295275" y="31877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2" name="Line 132"/>
          <p:cNvSpPr>
            <a:spLocks noChangeShapeType="1"/>
          </p:cNvSpPr>
          <p:nvPr/>
        </p:nvSpPr>
        <p:spPr bwMode="auto">
          <a:xfrm>
            <a:off x="295275" y="30257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3" name="Line 133"/>
          <p:cNvSpPr>
            <a:spLocks noChangeShapeType="1"/>
          </p:cNvSpPr>
          <p:nvPr/>
        </p:nvSpPr>
        <p:spPr bwMode="auto">
          <a:xfrm>
            <a:off x="295275" y="28702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4" name="Line 134"/>
          <p:cNvSpPr>
            <a:spLocks noChangeShapeType="1"/>
          </p:cNvSpPr>
          <p:nvPr/>
        </p:nvSpPr>
        <p:spPr bwMode="auto">
          <a:xfrm>
            <a:off x="295275" y="2709863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5" name="Line 135"/>
          <p:cNvSpPr>
            <a:spLocks noChangeShapeType="1"/>
          </p:cNvSpPr>
          <p:nvPr/>
        </p:nvSpPr>
        <p:spPr bwMode="auto">
          <a:xfrm>
            <a:off x="295275" y="2547938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6" name="Line 136"/>
          <p:cNvSpPr>
            <a:spLocks noChangeShapeType="1"/>
          </p:cNvSpPr>
          <p:nvPr/>
        </p:nvSpPr>
        <p:spPr bwMode="auto">
          <a:xfrm>
            <a:off x="295275" y="23876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7" name="Line 137"/>
          <p:cNvSpPr>
            <a:spLocks noChangeShapeType="1"/>
          </p:cNvSpPr>
          <p:nvPr/>
        </p:nvSpPr>
        <p:spPr bwMode="auto">
          <a:xfrm>
            <a:off x="295275" y="22256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8" name="Line 138"/>
          <p:cNvSpPr>
            <a:spLocks noChangeShapeType="1"/>
          </p:cNvSpPr>
          <p:nvPr/>
        </p:nvSpPr>
        <p:spPr bwMode="auto">
          <a:xfrm>
            <a:off x="314325" y="383222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39" name="Line 139"/>
          <p:cNvSpPr>
            <a:spLocks noChangeShapeType="1"/>
          </p:cNvSpPr>
          <p:nvPr/>
        </p:nvSpPr>
        <p:spPr bwMode="auto">
          <a:xfrm flipV="1">
            <a:off x="3143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0" name="Line 140"/>
          <p:cNvSpPr>
            <a:spLocks noChangeShapeType="1"/>
          </p:cNvSpPr>
          <p:nvPr/>
        </p:nvSpPr>
        <p:spPr bwMode="auto">
          <a:xfrm flipV="1">
            <a:off x="506413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1" name="Line 141"/>
          <p:cNvSpPr>
            <a:spLocks noChangeShapeType="1"/>
          </p:cNvSpPr>
          <p:nvPr/>
        </p:nvSpPr>
        <p:spPr bwMode="auto">
          <a:xfrm flipV="1">
            <a:off x="69215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2" name="Line 142"/>
          <p:cNvSpPr>
            <a:spLocks noChangeShapeType="1"/>
          </p:cNvSpPr>
          <p:nvPr/>
        </p:nvSpPr>
        <p:spPr bwMode="auto">
          <a:xfrm flipV="1">
            <a:off x="8858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3" name="Line 143"/>
          <p:cNvSpPr>
            <a:spLocks noChangeShapeType="1"/>
          </p:cNvSpPr>
          <p:nvPr/>
        </p:nvSpPr>
        <p:spPr bwMode="auto">
          <a:xfrm flipV="1">
            <a:off x="1077913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4" name="Line 144"/>
          <p:cNvSpPr>
            <a:spLocks noChangeShapeType="1"/>
          </p:cNvSpPr>
          <p:nvPr/>
        </p:nvSpPr>
        <p:spPr bwMode="auto">
          <a:xfrm flipV="1">
            <a:off x="127000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5" name="Line 145"/>
          <p:cNvSpPr>
            <a:spLocks noChangeShapeType="1"/>
          </p:cNvSpPr>
          <p:nvPr/>
        </p:nvSpPr>
        <p:spPr bwMode="auto">
          <a:xfrm flipV="1">
            <a:off x="14573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6" name="Line 146"/>
          <p:cNvSpPr>
            <a:spLocks noChangeShapeType="1"/>
          </p:cNvSpPr>
          <p:nvPr/>
        </p:nvSpPr>
        <p:spPr bwMode="auto">
          <a:xfrm flipV="1">
            <a:off x="1649413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7" name="Line 147"/>
          <p:cNvSpPr>
            <a:spLocks noChangeShapeType="1"/>
          </p:cNvSpPr>
          <p:nvPr/>
        </p:nvSpPr>
        <p:spPr bwMode="auto">
          <a:xfrm flipV="1">
            <a:off x="184150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8" name="Line 148"/>
          <p:cNvSpPr>
            <a:spLocks noChangeShapeType="1"/>
          </p:cNvSpPr>
          <p:nvPr/>
        </p:nvSpPr>
        <p:spPr bwMode="auto">
          <a:xfrm flipV="1">
            <a:off x="20288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49" name="Line 149"/>
          <p:cNvSpPr>
            <a:spLocks noChangeShapeType="1"/>
          </p:cNvSpPr>
          <p:nvPr/>
        </p:nvSpPr>
        <p:spPr bwMode="auto">
          <a:xfrm flipV="1">
            <a:off x="2220913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2350" name="Freeform 150"/>
          <p:cNvSpPr>
            <a:spLocks/>
          </p:cNvSpPr>
          <p:nvPr/>
        </p:nvSpPr>
        <p:spPr bwMode="auto">
          <a:xfrm>
            <a:off x="839788" y="2824163"/>
            <a:ext cx="90487" cy="93662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1" name="Freeform 151"/>
          <p:cNvSpPr>
            <a:spLocks/>
          </p:cNvSpPr>
          <p:nvPr/>
        </p:nvSpPr>
        <p:spPr bwMode="auto">
          <a:xfrm>
            <a:off x="1604963" y="3302000"/>
            <a:ext cx="88900" cy="93663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2" name="Freeform 152"/>
          <p:cNvSpPr>
            <a:spLocks/>
          </p:cNvSpPr>
          <p:nvPr/>
        </p:nvSpPr>
        <p:spPr bwMode="auto">
          <a:xfrm>
            <a:off x="1033463" y="2662238"/>
            <a:ext cx="88900" cy="93662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30"/>
                </a:lnTo>
                <a:lnTo>
                  <a:pt x="28" y="59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3" name="Freeform 153"/>
          <p:cNvSpPr>
            <a:spLocks/>
          </p:cNvSpPr>
          <p:nvPr/>
        </p:nvSpPr>
        <p:spPr bwMode="auto">
          <a:xfrm>
            <a:off x="839788" y="2501900"/>
            <a:ext cx="90487" cy="93663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4" name="Freeform 154"/>
          <p:cNvSpPr>
            <a:spLocks/>
          </p:cNvSpPr>
          <p:nvPr/>
        </p:nvSpPr>
        <p:spPr bwMode="auto">
          <a:xfrm>
            <a:off x="1797050" y="2984500"/>
            <a:ext cx="90488" cy="95250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0"/>
              <a:gd name="T17" fmla="*/ 57 w 5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5" name="Freeform 155"/>
          <p:cNvSpPr>
            <a:spLocks/>
          </p:cNvSpPr>
          <p:nvPr/>
        </p:nvSpPr>
        <p:spPr bwMode="auto">
          <a:xfrm>
            <a:off x="1033463" y="2984500"/>
            <a:ext cx="88900" cy="95250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0"/>
              <a:gd name="T17" fmla="*/ 56 w 56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6" name="Freeform 156"/>
          <p:cNvSpPr>
            <a:spLocks/>
          </p:cNvSpPr>
          <p:nvPr/>
        </p:nvSpPr>
        <p:spPr bwMode="auto">
          <a:xfrm>
            <a:off x="1225550" y="3624263"/>
            <a:ext cx="90488" cy="93662"/>
          </a:xfrm>
          <a:custGeom>
            <a:avLst/>
            <a:gdLst>
              <a:gd name="T0" fmla="*/ 2147483647 w 57"/>
              <a:gd name="T1" fmla="*/ 0 h 59"/>
              <a:gd name="T2" fmla="*/ 2147483647 w 57"/>
              <a:gd name="T3" fmla="*/ 2147483647 h 59"/>
              <a:gd name="T4" fmla="*/ 2147483647 w 57"/>
              <a:gd name="T5" fmla="*/ 2147483647 h 59"/>
              <a:gd name="T6" fmla="*/ 0 w 57"/>
              <a:gd name="T7" fmla="*/ 2147483647 h 59"/>
              <a:gd name="T8" fmla="*/ 2147483647 w 57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59"/>
              <a:gd name="T17" fmla="*/ 57 w 57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59">
                <a:moveTo>
                  <a:pt x="28" y="0"/>
                </a:moveTo>
                <a:lnTo>
                  <a:pt x="57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7" name="Freeform 157"/>
          <p:cNvSpPr>
            <a:spLocks/>
          </p:cNvSpPr>
          <p:nvPr/>
        </p:nvSpPr>
        <p:spPr bwMode="auto">
          <a:xfrm>
            <a:off x="1225550" y="2984500"/>
            <a:ext cx="90488" cy="95250"/>
          </a:xfrm>
          <a:custGeom>
            <a:avLst/>
            <a:gdLst>
              <a:gd name="T0" fmla="*/ 2147483647 w 57"/>
              <a:gd name="T1" fmla="*/ 0 h 60"/>
              <a:gd name="T2" fmla="*/ 2147483647 w 57"/>
              <a:gd name="T3" fmla="*/ 2147483647 h 60"/>
              <a:gd name="T4" fmla="*/ 2147483647 w 57"/>
              <a:gd name="T5" fmla="*/ 2147483647 h 60"/>
              <a:gd name="T6" fmla="*/ 0 w 57"/>
              <a:gd name="T7" fmla="*/ 2147483647 h 60"/>
              <a:gd name="T8" fmla="*/ 2147483647 w 57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"/>
              <a:gd name="T16" fmla="*/ 0 h 60"/>
              <a:gd name="T17" fmla="*/ 57 w 57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58" name="Rectangle 158"/>
          <p:cNvSpPr>
            <a:spLocks noChangeArrowheads="1"/>
          </p:cNvSpPr>
          <p:nvPr/>
        </p:nvSpPr>
        <p:spPr bwMode="auto">
          <a:xfrm>
            <a:off x="223838" y="378460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59" name="Rectangle 159"/>
          <p:cNvSpPr>
            <a:spLocks noChangeArrowheads="1"/>
          </p:cNvSpPr>
          <p:nvPr/>
        </p:nvSpPr>
        <p:spPr bwMode="auto">
          <a:xfrm>
            <a:off x="223838" y="3624263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1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0" name="Rectangle 160"/>
          <p:cNvSpPr>
            <a:spLocks noChangeArrowheads="1"/>
          </p:cNvSpPr>
          <p:nvPr/>
        </p:nvSpPr>
        <p:spPr bwMode="auto">
          <a:xfrm>
            <a:off x="223838" y="3462338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2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1" name="Rectangle 161"/>
          <p:cNvSpPr>
            <a:spLocks noChangeArrowheads="1"/>
          </p:cNvSpPr>
          <p:nvPr/>
        </p:nvSpPr>
        <p:spPr bwMode="auto">
          <a:xfrm>
            <a:off x="223838" y="330200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3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2" name="Rectangle 162"/>
          <p:cNvSpPr>
            <a:spLocks noChangeArrowheads="1"/>
          </p:cNvSpPr>
          <p:nvPr/>
        </p:nvSpPr>
        <p:spPr bwMode="auto">
          <a:xfrm>
            <a:off x="223838" y="3140075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4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3" name="Rectangle 163"/>
          <p:cNvSpPr>
            <a:spLocks noChangeArrowheads="1"/>
          </p:cNvSpPr>
          <p:nvPr/>
        </p:nvSpPr>
        <p:spPr bwMode="auto">
          <a:xfrm>
            <a:off x="223838" y="29781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5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4" name="Rectangle 164"/>
          <p:cNvSpPr>
            <a:spLocks noChangeArrowheads="1"/>
          </p:cNvSpPr>
          <p:nvPr/>
        </p:nvSpPr>
        <p:spPr bwMode="auto">
          <a:xfrm>
            <a:off x="223838" y="2824163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6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5" name="Rectangle 165"/>
          <p:cNvSpPr>
            <a:spLocks noChangeArrowheads="1"/>
          </p:cNvSpPr>
          <p:nvPr/>
        </p:nvSpPr>
        <p:spPr bwMode="auto">
          <a:xfrm>
            <a:off x="223838" y="2662238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7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6" name="Rectangle 166"/>
          <p:cNvSpPr>
            <a:spLocks noChangeArrowheads="1"/>
          </p:cNvSpPr>
          <p:nvPr/>
        </p:nvSpPr>
        <p:spPr bwMode="auto">
          <a:xfrm>
            <a:off x="223838" y="250190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8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7" name="Rectangle 167"/>
          <p:cNvSpPr>
            <a:spLocks noChangeArrowheads="1"/>
          </p:cNvSpPr>
          <p:nvPr/>
        </p:nvSpPr>
        <p:spPr bwMode="auto">
          <a:xfrm>
            <a:off x="223838" y="2339975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9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8" name="Rectangle 168"/>
          <p:cNvSpPr>
            <a:spLocks noChangeArrowheads="1"/>
          </p:cNvSpPr>
          <p:nvPr/>
        </p:nvSpPr>
        <p:spPr bwMode="auto">
          <a:xfrm>
            <a:off x="185738" y="2178050"/>
            <a:ext cx="115887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10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69" name="Rectangle 169"/>
          <p:cNvSpPr>
            <a:spLocks noChangeArrowheads="1"/>
          </p:cNvSpPr>
          <p:nvPr/>
        </p:nvSpPr>
        <p:spPr bwMode="auto">
          <a:xfrm>
            <a:off x="295275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0" name="Rectangle 170"/>
          <p:cNvSpPr>
            <a:spLocks noChangeArrowheads="1"/>
          </p:cNvSpPr>
          <p:nvPr/>
        </p:nvSpPr>
        <p:spPr bwMode="auto">
          <a:xfrm>
            <a:off x="487363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1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1" name="Rectangle 171"/>
          <p:cNvSpPr>
            <a:spLocks noChangeArrowheads="1"/>
          </p:cNvSpPr>
          <p:nvPr/>
        </p:nvSpPr>
        <p:spPr bwMode="auto">
          <a:xfrm>
            <a:off x="673100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2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2" name="Rectangle 172"/>
          <p:cNvSpPr>
            <a:spLocks noChangeArrowheads="1"/>
          </p:cNvSpPr>
          <p:nvPr/>
        </p:nvSpPr>
        <p:spPr bwMode="auto">
          <a:xfrm>
            <a:off x="866775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3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3" name="Rectangle 173"/>
          <p:cNvSpPr>
            <a:spLocks noChangeArrowheads="1"/>
          </p:cNvSpPr>
          <p:nvPr/>
        </p:nvSpPr>
        <p:spPr bwMode="auto">
          <a:xfrm>
            <a:off x="1058863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4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4" name="Rectangle 174"/>
          <p:cNvSpPr>
            <a:spLocks noChangeArrowheads="1"/>
          </p:cNvSpPr>
          <p:nvPr/>
        </p:nvSpPr>
        <p:spPr bwMode="auto">
          <a:xfrm>
            <a:off x="1250950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5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5" name="Rectangle 175"/>
          <p:cNvSpPr>
            <a:spLocks noChangeArrowheads="1"/>
          </p:cNvSpPr>
          <p:nvPr/>
        </p:nvSpPr>
        <p:spPr bwMode="auto">
          <a:xfrm>
            <a:off x="1438275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6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6" name="Rectangle 176"/>
          <p:cNvSpPr>
            <a:spLocks noChangeArrowheads="1"/>
          </p:cNvSpPr>
          <p:nvPr/>
        </p:nvSpPr>
        <p:spPr bwMode="auto">
          <a:xfrm>
            <a:off x="1630363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7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7" name="Rectangle 177"/>
          <p:cNvSpPr>
            <a:spLocks noChangeArrowheads="1"/>
          </p:cNvSpPr>
          <p:nvPr/>
        </p:nvSpPr>
        <p:spPr bwMode="auto">
          <a:xfrm>
            <a:off x="1822450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8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8" name="Rectangle 178"/>
          <p:cNvSpPr>
            <a:spLocks noChangeArrowheads="1"/>
          </p:cNvSpPr>
          <p:nvPr/>
        </p:nvSpPr>
        <p:spPr bwMode="auto">
          <a:xfrm>
            <a:off x="2009775" y="3892550"/>
            <a:ext cx="69850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9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79" name="Rectangle 179"/>
          <p:cNvSpPr>
            <a:spLocks noChangeArrowheads="1"/>
          </p:cNvSpPr>
          <p:nvPr/>
        </p:nvSpPr>
        <p:spPr bwMode="auto">
          <a:xfrm>
            <a:off x="2182813" y="3892550"/>
            <a:ext cx="115887" cy="10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000000"/>
                </a:solidFill>
                <a:latin typeface="Arial" pitchFamily="34" charset="0"/>
                <a:ea typeface="굴림" pitchFamily="34" charset="-127"/>
              </a:rPr>
              <a:t>10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2380" name="Rectangle 180"/>
          <p:cNvSpPr>
            <a:spLocks noChangeArrowheads="1"/>
          </p:cNvSpPr>
          <p:nvPr/>
        </p:nvSpPr>
        <p:spPr bwMode="auto">
          <a:xfrm>
            <a:off x="101600" y="2084388"/>
            <a:ext cx="2222500" cy="1990725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81" name="Text Box 181"/>
          <p:cNvSpPr txBox="1">
            <a:spLocks noChangeArrowheads="1"/>
          </p:cNvSpPr>
          <p:nvPr/>
        </p:nvSpPr>
        <p:spPr bwMode="auto">
          <a:xfrm>
            <a:off x="228600" y="4572000"/>
            <a:ext cx="1905000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K=2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Arbitrarily choose K object as initial cluster center</a:t>
            </a:r>
          </a:p>
        </p:txBody>
      </p:sp>
      <p:sp>
        <p:nvSpPr>
          <p:cNvPr id="12382" name="Line 182"/>
          <p:cNvSpPr>
            <a:spLocks noChangeShapeType="1"/>
          </p:cNvSpPr>
          <p:nvPr/>
        </p:nvSpPr>
        <p:spPr bwMode="auto">
          <a:xfrm flipV="1">
            <a:off x="10668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2383" name="Line 183"/>
          <p:cNvSpPr>
            <a:spLocks noChangeShapeType="1"/>
          </p:cNvSpPr>
          <p:nvPr/>
        </p:nvSpPr>
        <p:spPr bwMode="auto">
          <a:xfrm>
            <a:off x="2438400" y="2895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2384" name="Text Box 184"/>
          <p:cNvSpPr txBox="1">
            <a:spLocks noChangeArrowheads="1"/>
          </p:cNvSpPr>
          <p:nvPr/>
        </p:nvSpPr>
        <p:spPr bwMode="auto">
          <a:xfrm>
            <a:off x="2362200" y="3124200"/>
            <a:ext cx="83820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Assign each objects to most similar center</a:t>
            </a:r>
          </a:p>
        </p:txBody>
      </p:sp>
      <p:sp>
        <p:nvSpPr>
          <p:cNvPr id="12385" name="Text Box 185"/>
          <p:cNvSpPr txBox="1">
            <a:spLocks noChangeArrowheads="1"/>
          </p:cNvSpPr>
          <p:nvPr/>
        </p:nvSpPr>
        <p:spPr bwMode="auto">
          <a:xfrm>
            <a:off x="5638800" y="3048000"/>
            <a:ext cx="838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Update the cluster means</a:t>
            </a:r>
          </a:p>
        </p:txBody>
      </p:sp>
      <p:sp>
        <p:nvSpPr>
          <p:cNvPr id="12386" name="Freeform 186"/>
          <p:cNvSpPr>
            <a:spLocks/>
          </p:cNvSpPr>
          <p:nvPr/>
        </p:nvSpPr>
        <p:spPr bwMode="auto">
          <a:xfrm>
            <a:off x="838200" y="3136900"/>
            <a:ext cx="88900" cy="95250"/>
          </a:xfrm>
          <a:custGeom>
            <a:avLst/>
            <a:gdLst>
              <a:gd name="T0" fmla="*/ 2147483647 w 56"/>
              <a:gd name="T1" fmla="*/ 0 h 60"/>
              <a:gd name="T2" fmla="*/ 2147483647 w 56"/>
              <a:gd name="T3" fmla="*/ 2147483647 h 60"/>
              <a:gd name="T4" fmla="*/ 2147483647 w 56"/>
              <a:gd name="T5" fmla="*/ 2147483647 h 60"/>
              <a:gd name="T6" fmla="*/ 0 w 56"/>
              <a:gd name="T7" fmla="*/ 2147483647 h 60"/>
              <a:gd name="T8" fmla="*/ 2147483647 w 56"/>
              <a:gd name="T9" fmla="*/ 0 h 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60"/>
              <a:gd name="T17" fmla="*/ 56 w 56"/>
              <a:gd name="T18" fmla="*/ 60 h 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87" name="Freeform 187"/>
          <p:cNvSpPr>
            <a:spLocks/>
          </p:cNvSpPr>
          <p:nvPr/>
        </p:nvSpPr>
        <p:spPr bwMode="auto">
          <a:xfrm>
            <a:off x="1600200" y="2971800"/>
            <a:ext cx="88900" cy="93663"/>
          </a:xfrm>
          <a:custGeom>
            <a:avLst/>
            <a:gdLst>
              <a:gd name="T0" fmla="*/ 2147483647 w 56"/>
              <a:gd name="T1" fmla="*/ 0 h 59"/>
              <a:gd name="T2" fmla="*/ 2147483647 w 56"/>
              <a:gd name="T3" fmla="*/ 2147483647 h 59"/>
              <a:gd name="T4" fmla="*/ 2147483647 w 56"/>
              <a:gd name="T5" fmla="*/ 2147483647 h 59"/>
              <a:gd name="T6" fmla="*/ 0 w 56"/>
              <a:gd name="T7" fmla="*/ 2147483647 h 59"/>
              <a:gd name="T8" fmla="*/ 2147483647 w 56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"/>
              <a:gd name="T16" fmla="*/ 0 h 59"/>
              <a:gd name="T17" fmla="*/ 56 w 56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88" name="Oval 188"/>
          <p:cNvSpPr>
            <a:spLocks noChangeArrowheads="1"/>
          </p:cNvSpPr>
          <p:nvPr/>
        </p:nvSpPr>
        <p:spPr bwMode="auto">
          <a:xfrm>
            <a:off x="457200" y="3265488"/>
            <a:ext cx="84138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89" name="Oval 189"/>
          <p:cNvSpPr>
            <a:spLocks noChangeArrowheads="1"/>
          </p:cNvSpPr>
          <p:nvPr/>
        </p:nvSpPr>
        <p:spPr bwMode="auto">
          <a:xfrm>
            <a:off x="1973263" y="3113088"/>
            <a:ext cx="84137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2390" name="Text Box 190"/>
          <p:cNvSpPr txBox="1">
            <a:spLocks noChangeArrowheads="1"/>
          </p:cNvSpPr>
          <p:nvPr/>
        </p:nvSpPr>
        <p:spPr bwMode="auto">
          <a:xfrm>
            <a:off x="5638800" y="5334000"/>
            <a:ext cx="83820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Update the cluster means</a:t>
            </a:r>
          </a:p>
        </p:txBody>
      </p:sp>
      <p:sp>
        <p:nvSpPr>
          <p:cNvPr id="12391" name="Text Box 191"/>
          <p:cNvSpPr txBox="1">
            <a:spLocks noChangeArrowheads="1"/>
          </p:cNvSpPr>
          <p:nvPr/>
        </p:nvSpPr>
        <p:spPr bwMode="auto">
          <a:xfrm>
            <a:off x="7848600" y="41148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reassign</a:t>
            </a:r>
          </a:p>
        </p:txBody>
      </p:sp>
      <p:sp>
        <p:nvSpPr>
          <p:cNvPr id="12392" name="Line 192"/>
          <p:cNvSpPr>
            <a:spLocks noChangeShapeType="1"/>
          </p:cNvSpPr>
          <p:nvPr/>
        </p:nvSpPr>
        <p:spPr bwMode="auto">
          <a:xfrm flipV="1">
            <a:off x="4267200" y="4114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2393" name="Text Box 193"/>
          <p:cNvSpPr txBox="1">
            <a:spLocks noChangeArrowheads="1"/>
          </p:cNvSpPr>
          <p:nvPr/>
        </p:nvSpPr>
        <p:spPr bwMode="auto">
          <a:xfrm>
            <a:off x="4419600" y="41148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reassign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BD337E0-C650-4C1D-9BA1-3816175C2461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71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71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30BDEEE-1321-4688-92CF-72C2F9B0283A}" type="slidenum">
              <a:rPr lang="zh-TW" altLang="en-US" sz="1200" smtClean="0"/>
              <a:pPr eaLnBrk="1" hangingPunct="1"/>
              <a:t>31</a:t>
            </a:fld>
            <a:endParaRPr lang="en-US" altLang="zh-TW" sz="1200" smtClean="0"/>
          </a:p>
        </p:txBody>
      </p:sp>
      <p:sp>
        <p:nvSpPr>
          <p:cNvPr id="47109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439025" cy="442912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Comments on the </a:t>
            </a:r>
            <a:r>
              <a:rPr lang="en-US" altLang="zh-TW" sz="3200" i="1" smtClean="0">
                <a:ea typeface="新細明體" pitchFamily="18" charset="-120"/>
              </a:rPr>
              <a:t>K-Means</a:t>
            </a:r>
            <a:r>
              <a:rPr lang="en-US" altLang="zh-TW" sz="3200" smtClean="0">
                <a:ea typeface="新細明體" pitchFamily="18" charset="-120"/>
              </a:rPr>
              <a:t> Method</a:t>
            </a:r>
            <a:endParaRPr lang="en-US" altLang="zh-TW" sz="2400" b="1" smtClean="0">
              <a:ea typeface="新細明體" pitchFamily="18" charset="-120"/>
            </a:endParaRPr>
          </a:p>
        </p:txBody>
      </p:sp>
      <p:sp>
        <p:nvSpPr>
          <p:cNvPr id="471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9530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Strength:</a:t>
            </a:r>
            <a:r>
              <a:rPr lang="en-US" altLang="zh-TW" sz="2000" dirty="0" smtClean="0">
                <a:ea typeface="新細明體" pitchFamily="18" charset="-120"/>
              </a:rPr>
              <a:t> </a:t>
            </a:r>
            <a:r>
              <a:rPr lang="en-US" altLang="zh-TW" sz="2000" i="1" dirty="0" smtClean="0">
                <a:ea typeface="新細明體" pitchFamily="18" charset="-120"/>
              </a:rPr>
              <a:t>Relatively efficient</a:t>
            </a:r>
            <a:r>
              <a:rPr lang="en-US" altLang="zh-TW" sz="2000" dirty="0" smtClean="0">
                <a:ea typeface="新細明體" pitchFamily="18" charset="-120"/>
              </a:rPr>
              <a:t>: </a:t>
            </a:r>
            <a:r>
              <a:rPr lang="en-US" altLang="zh-TW" sz="2000" i="1" dirty="0" smtClean="0">
                <a:ea typeface="新細明體" pitchFamily="18" charset="-120"/>
              </a:rPr>
              <a:t>O</a:t>
            </a:r>
            <a:r>
              <a:rPr lang="en-US" altLang="zh-TW" sz="2000" dirty="0" smtClean="0">
                <a:ea typeface="新細明體" pitchFamily="18" charset="-120"/>
              </a:rPr>
              <a:t>(</a:t>
            </a:r>
            <a:r>
              <a:rPr lang="en-US" altLang="zh-TW" sz="2000" i="1" dirty="0" err="1" smtClean="0">
                <a:ea typeface="新細明體" pitchFamily="18" charset="-120"/>
              </a:rPr>
              <a:t>tkn</a:t>
            </a:r>
            <a:r>
              <a:rPr lang="en-US" altLang="zh-TW" sz="2000" dirty="0" smtClean="0">
                <a:ea typeface="新細明體" pitchFamily="18" charset="-120"/>
              </a:rPr>
              <a:t>), where </a:t>
            </a:r>
            <a:r>
              <a:rPr lang="en-US" altLang="zh-TW" sz="2000" i="1" dirty="0" smtClean="0">
                <a:ea typeface="新細明體" pitchFamily="18" charset="-120"/>
              </a:rPr>
              <a:t>n</a:t>
            </a:r>
            <a:r>
              <a:rPr lang="en-US" altLang="zh-TW" sz="2000" dirty="0" smtClean="0">
                <a:ea typeface="新細明體" pitchFamily="18" charset="-120"/>
              </a:rPr>
              <a:t> is # objects, </a:t>
            </a:r>
            <a:r>
              <a:rPr lang="en-US" altLang="zh-TW" sz="2000" i="1" dirty="0" smtClean="0">
                <a:ea typeface="新細明體" pitchFamily="18" charset="-120"/>
              </a:rPr>
              <a:t>k</a:t>
            </a:r>
            <a:r>
              <a:rPr lang="en-US" altLang="zh-TW" sz="2000" dirty="0" smtClean="0">
                <a:ea typeface="新細明體" pitchFamily="18" charset="-120"/>
              </a:rPr>
              <a:t> is # clusters, and </a:t>
            </a:r>
            <a:r>
              <a:rPr lang="en-US" altLang="zh-TW" sz="2000" i="1" dirty="0" smtClean="0">
                <a:ea typeface="新細明體" pitchFamily="18" charset="-120"/>
              </a:rPr>
              <a:t>t  </a:t>
            </a:r>
            <a:r>
              <a:rPr lang="en-US" altLang="zh-TW" sz="2000" dirty="0" smtClean="0">
                <a:ea typeface="新細明體" pitchFamily="18" charset="-120"/>
              </a:rPr>
              <a:t>is # iterations. Normally, </a:t>
            </a:r>
            <a:r>
              <a:rPr lang="en-US" altLang="zh-TW" sz="2000" i="1" dirty="0" smtClean="0">
                <a:ea typeface="新細明體" pitchFamily="18" charset="-120"/>
              </a:rPr>
              <a:t>k</a:t>
            </a:r>
            <a:r>
              <a:rPr lang="en-US" altLang="zh-TW" sz="2000" dirty="0" smtClean="0">
                <a:ea typeface="新細明體" pitchFamily="18" charset="-120"/>
              </a:rPr>
              <a:t>, </a:t>
            </a:r>
            <a:r>
              <a:rPr lang="en-US" altLang="zh-TW" sz="2000" i="1" dirty="0" smtClean="0">
                <a:ea typeface="新細明體" pitchFamily="18" charset="-120"/>
              </a:rPr>
              <a:t>t</a:t>
            </a:r>
            <a:r>
              <a:rPr lang="en-US" altLang="zh-TW" sz="2000" dirty="0" smtClean="0">
                <a:ea typeface="新細明體" pitchFamily="18" charset="-120"/>
              </a:rPr>
              <a:t> &lt;&lt; </a:t>
            </a:r>
            <a:r>
              <a:rPr lang="en-US" altLang="zh-TW" sz="2000" i="1" dirty="0" smtClean="0">
                <a:ea typeface="新細明體" pitchFamily="18" charset="-120"/>
              </a:rPr>
              <a:t>n</a:t>
            </a:r>
            <a:r>
              <a:rPr lang="en-US" altLang="zh-TW" sz="2000" dirty="0" smtClean="0">
                <a:ea typeface="新細明體" pitchFamily="18" charset="-12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Comment:</a:t>
            </a:r>
            <a:r>
              <a:rPr lang="en-US" altLang="zh-TW" sz="2000" dirty="0" smtClean="0">
                <a:ea typeface="新細明體" pitchFamily="18" charset="-120"/>
              </a:rPr>
              <a:t> Often terminates at a </a:t>
            </a:r>
            <a:r>
              <a:rPr lang="en-US" altLang="zh-TW" sz="2000" i="1" dirty="0" smtClean="0">
                <a:ea typeface="新細明體" pitchFamily="18" charset="-120"/>
              </a:rPr>
              <a:t>local optimum</a:t>
            </a:r>
            <a:r>
              <a:rPr lang="en-US" altLang="zh-TW" sz="2000" dirty="0" smtClean="0">
                <a:ea typeface="新細明體" pitchFamily="18" charset="-120"/>
              </a:rPr>
              <a:t>. The </a:t>
            </a:r>
            <a:r>
              <a:rPr lang="en-US" altLang="zh-TW" sz="2000" i="1" dirty="0" smtClean="0">
                <a:ea typeface="新細明體" pitchFamily="18" charset="-120"/>
              </a:rPr>
              <a:t>global optimum</a:t>
            </a:r>
            <a:r>
              <a:rPr lang="en-US" altLang="zh-TW" sz="2000" dirty="0" smtClean="0">
                <a:ea typeface="新細明體" pitchFamily="18" charset="-120"/>
              </a:rPr>
              <a:t> may be found using techniques such as: </a:t>
            </a:r>
            <a:r>
              <a:rPr lang="en-US" altLang="zh-TW" sz="2000" i="1" dirty="0" smtClean="0">
                <a:ea typeface="新細明體" pitchFamily="18" charset="-120"/>
              </a:rPr>
              <a:t>deterministic annealing</a:t>
            </a:r>
            <a:r>
              <a:rPr lang="en-US" altLang="zh-TW" sz="2000" dirty="0" smtClean="0">
                <a:ea typeface="新細明體" pitchFamily="18" charset="-120"/>
              </a:rPr>
              <a:t> and </a:t>
            </a:r>
            <a:r>
              <a:rPr lang="en-US" altLang="zh-TW" sz="2000" i="1" dirty="0" smtClean="0">
                <a:ea typeface="新細明體" pitchFamily="18" charset="-120"/>
              </a:rPr>
              <a:t>genetic algorithms</a:t>
            </a:r>
            <a:endParaRPr lang="en-US" altLang="zh-TW" sz="2000" dirty="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sz="2000" u="sng" dirty="0" smtClean="0">
                <a:ea typeface="新細明體" pitchFamily="18" charset="-120"/>
              </a:rPr>
              <a:t>Weakness</a:t>
            </a:r>
            <a:endParaRPr lang="en-US" altLang="zh-TW" sz="2000" dirty="0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Applicable only when </a:t>
            </a:r>
            <a:r>
              <a:rPr lang="en-US" altLang="zh-TW" sz="2000" i="1" dirty="0" smtClean="0">
                <a:ea typeface="新細明體" pitchFamily="18" charset="-120"/>
              </a:rPr>
              <a:t>mean</a:t>
            </a:r>
            <a:r>
              <a:rPr lang="en-US" altLang="zh-TW" sz="2000" dirty="0" smtClean="0">
                <a:ea typeface="新細明體" pitchFamily="18" charset="-120"/>
              </a:rPr>
              <a:t> is defined, then what about categorical data?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Need to specify </a:t>
            </a:r>
            <a:r>
              <a:rPr lang="en-US" altLang="zh-TW" sz="2000" i="1" dirty="0" smtClean="0">
                <a:ea typeface="新細明體" pitchFamily="18" charset="-120"/>
              </a:rPr>
              <a:t>k, </a:t>
            </a:r>
            <a:r>
              <a:rPr lang="en-US" altLang="zh-TW" sz="2000" dirty="0" smtClean="0">
                <a:ea typeface="新細明體" pitchFamily="18" charset="-120"/>
              </a:rPr>
              <a:t>the </a:t>
            </a:r>
            <a:r>
              <a:rPr lang="en-US" altLang="zh-TW" sz="2000" i="1" dirty="0" smtClean="0">
                <a:ea typeface="新細明體" pitchFamily="18" charset="-120"/>
              </a:rPr>
              <a:t>number</a:t>
            </a:r>
            <a:r>
              <a:rPr lang="en-US" altLang="zh-TW" sz="2000" dirty="0" smtClean="0">
                <a:ea typeface="新細明體" pitchFamily="18" charset="-120"/>
              </a:rPr>
              <a:t> of clusters, in advance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Unable to handle noisy data and </a:t>
            </a:r>
            <a:r>
              <a:rPr lang="en-US" altLang="zh-TW" sz="2000" i="1" dirty="0" smtClean="0">
                <a:ea typeface="新細明體" pitchFamily="18" charset="-120"/>
              </a:rPr>
              <a:t>outliers</a:t>
            </a:r>
            <a:endParaRPr lang="en-US" altLang="zh-TW" sz="2000" dirty="0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Not suitable to discover clusters with </a:t>
            </a:r>
            <a:r>
              <a:rPr lang="en-US" altLang="zh-TW" sz="2000" i="1" dirty="0" smtClean="0">
                <a:ea typeface="新細明體" pitchFamily="18" charset="-120"/>
              </a:rPr>
              <a:t>non-convex shapes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6E8491E-DD8A-4E2E-AA67-61E511BD93C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81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81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79BE9C8-A8DE-4307-B38B-C52B03773CF6}" type="slidenum">
              <a:rPr lang="zh-TW" altLang="en-US" sz="1200" smtClean="0"/>
              <a:pPr eaLnBrk="1" hangingPunct="1"/>
              <a:t>32</a:t>
            </a:fld>
            <a:endParaRPr lang="en-US" altLang="zh-TW" sz="1200" smtClean="0"/>
          </a:p>
        </p:txBody>
      </p:sp>
      <p:sp>
        <p:nvSpPr>
          <p:cNvPr id="4813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510462" cy="498475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Variations of the </a:t>
            </a:r>
            <a:r>
              <a:rPr lang="en-US" altLang="zh-TW" sz="3200" i="1" smtClean="0">
                <a:ea typeface="新細明體" pitchFamily="18" charset="-120"/>
              </a:rPr>
              <a:t>K-Means</a:t>
            </a:r>
            <a:r>
              <a:rPr lang="en-US" altLang="zh-TW" sz="3200" smtClean="0">
                <a:ea typeface="新細明體" pitchFamily="18" charset="-120"/>
              </a:rPr>
              <a:t> Method</a:t>
            </a:r>
            <a:endParaRPr lang="en-US" altLang="zh-TW" sz="2400" b="1" smtClean="0">
              <a:ea typeface="新細明體" pitchFamily="18" charset="-120"/>
            </a:endParaRPr>
          </a:p>
        </p:txBody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876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A few variants of the </a:t>
            </a:r>
            <a:r>
              <a:rPr lang="en-US" altLang="zh-TW" sz="2000" i="1" smtClean="0">
                <a:ea typeface="新細明體" pitchFamily="18" charset="-120"/>
              </a:rPr>
              <a:t>k-means</a:t>
            </a:r>
            <a:r>
              <a:rPr lang="en-US" altLang="zh-TW" sz="2000" smtClean="0">
                <a:ea typeface="新細明體" pitchFamily="18" charset="-120"/>
              </a:rPr>
              <a:t> which differ in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Selection of the initial </a:t>
            </a:r>
            <a:r>
              <a:rPr lang="en-US" altLang="zh-TW" sz="2000" i="1" smtClean="0">
                <a:ea typeface="新細明體" pitchFamily="18" charset="-120"/>
              </a:rPr>
              <a:t>k</a:t>
            </a:r>
            <a:r>
              <a:rPr lang="en-US" altLang="zh-TW" sz="2000" smtClean="0">
                <a:ea typeface="新細明體" pitchFamily="18" charset="-120"/>
              </a:rPr>
              <a:t> means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Dissimilarity calculations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Strategies to calculate cluster means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Handling categorical data: </a:t>
            </a:r>
            <a:r>
              <a:rPr lang="en-US" altLang="zh-TW" sz="2000" i="1" smtClean="0">
                <a:ea typeface="新細明體" pitchFamily="18" charset="-120"/>
              </a:rPr>
              <a:t>k-modes</a:t>
            </a:r>
            <a:r>
              <a:rPr lang="en-US" altLang="zh-TW" sz="2000" smtClean="0">
                <a:ea typeface="新細明體" pitchFamily="18" charset="-120"/>
              </a:rPr>
              <a:t> (Huang’98)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Replacing means of clusters with </a:t>
            </a:r>
            <a:r>
              <a:rPr lang="en-US" altLang="zh-TW" sz="2000" u="sng" smtClean="0">
                <a:ea typeface="新細明體" pitchFamily="18" charset="-120"/>
              </a:rPr>
              <a:t>modes</a:t>
            </a:r>
            <a:endParaRPr lang="en-US" altLang="zh-TW" sz="2000" smtClean="0">
              <a:ea typeface="新細明體" pitchFamily="18" charset="-12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Using new dissimilarity measures to deal with categorical objects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Using a </a:t>
            </a:r>
            <a:r>
              <a:rPr lang="en-US" altLang="zh-TW" sz="2000" u="sng" smtClean="0">
                <a:ea typeface="新細明體" pitchFamily="18" charset="-120"/>
              </a:rPr>
              <a:t>frequency</a:t>
            </a:r>
            <a:r>
              <a:rPr lang="en-US" altLang="zh-TW" sz="2000" smtClean="0">
                <a:ea typeface="新細明體" pitchFamily="18" charset="-120"/>
              </a:rPr>
              <a:t>-based method to update modes of clusters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TW" sz="2000" smtClean="0">
                <a:ea typeface="新細明體" pitchFamily="18" charset="-120"/>
              </a:rPr>
              <a:t>A mixture of categorical and numerical data: </a:t>
            </a:r>
            <a:r>
              <a:rPr lang="en-US" altLang="zh-TW" sz="2000" i="1" smtClean="0">
                <a:ea typeface="新細明體" pitchFamily="18" charset="-120"/>
              </a:rPr>
              <a:t>k-prototype</a:t>
            </a:r>
            <a:r>
              <a:rPr lang="en-US" altLang="zh-TW" sz="2000" smtClean="0">
                <a:ea typeface="新細明體" pitchFamily="18" charset="-120"/>
              </a:rPr>
              <a:t> method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5C180D8-4A79-4662-8B3E-A8DFA736490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491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491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9C17BF5-BBAE-44E2-99C6-BF19E4F593BE}" type="slidenum">
              <a:rPr lang="zh-TW" altLang="en-US" sz="1200" smtClean="0"/>
              <a:pPr eaLnBrk="1" hangingPunct="1"/>
              <a:t>33</a:t>
            </a:fld>
            <a:endParaRPr lang="en-US" altLang="zh-TW" sz="1200" smtClean="0"/>
          </a:p>
        </p:txBody>
      </p:sp>
      <p:sp>
        <p:nvSpPr>
          <p:cNvPr id="4915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566150" cy="609600"/>
          </a:xfrm>
        </p:spPr>
        <p:txBody>
          <a:bodyPr/>
          <a:lstStyle/>
          <a:p>
            <a:pPr eaLnBrk="1" hangingPunct="1"/>
            <a:r>
              <a:rPr lang="en-US" altLang="ko-KR" sz="3200" smtClean="0">
                <a:ea typeface="굴림" pitchFamily="34" charset="-127"/>
              </a:rPr>
              <a:t>What Is the Problem of the K-Means Method?</a:t>
            </a:r>
            <a:endParaRPr lang="en-US" altLang="zh-TW" sz="3200" smtClean="0">
              <a:ea typeface="굴림" pitchFamily="34" charset="-127"/>
            </a:endParaRPr>
          </a:p>
        </p:txBody>
      </p:sp>
      <p:sp>
        <p:nvSpPr>
          <p:cNvPr id="4915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4572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ko-KR" sz="2400" smtClean="0">
                <a:ea typeface="굴림" pitchFamily="34" charset="-127"/>
              </a:rPr>
              <a:t>The k-means algorithm is sensitive to outliers !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ko-KR" sz="2000" smtClean="0">
                <a:ea typeface="굴림" pitchFamily="34" charset="-127"/>
              </a:rPr>
              <a:t>Since an object with an extremely large value may substantially distort the distribution of the data.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ko-KR" sz="2000" smtClean="0">
                <a:ea typeface="굴림" pitchFamily="34" charset="-127"/>
              </a:rPr>
              <a:t>K-Medoids:  Instead of taking the </a:t>
            </a:r>
            <a:r>
              <a:rPr lang="en-US" altLang="ko-KR" sz="2000" b="1" smtClean="0">
                <a:ea typeface="굴림" pitchFamily="34" charset="-127"/>
              </a:rPr>
              <a:t>mean</a:t>
            </a:r>
            <a:r>
              <a:rPr lang="en-US" altLang="ko-KR" sz="2000" smtClean="0">
                <a:ea typeface="굴림" pitchFamily="34" charset="-127"/>
              </a:rPr>
              <a:t> value of the object in a cluster as a reference point, </a:t>
            </a:r>
            <a:r>
              <a:rPr lang="en-US" altLang="ko-KR" sz="2000" b="1" smtClean="0">
                <a:ea typeface="굴림" pitchFamily="34" charset="-127"/>
              </a:rPr>
              <a:t>medoids</a:t>
            </a:r>
            <a:r>
              <a:rPr lang="en-US" altLang="ko-KR" sz="2000" smtClean="0">
                <a:ea typeface="굴림" pitchFamily="34" charset="-127"/>
              </a:rPr>
              <a:t> can be used, which is the </a:t>
            </a:r>
            <a:r>
              <a:rPr lang="en-US" altLang="ko-KR" sz="2000" b="1" smtClean="0">
                <a:ea typeface="굴림" pitchFamily="34" charset="-127"/>
              </a:rPr>
              <a:t>most centrally located</a:t>
            </a:r>
            <a:r>
              <a:rPr lang="en-US" altLang="ko-KR" sz="2000" smtClean="0">
                <a:ea typeface="굴림" pitchFamily="34" charset="-127"/>
              </a:rPr>
              <a:t> object in a cluster. 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2057400" y="4724400"/>
            <a:ext cx="5257800" cy="1765300"/>
            <a:chOff x="1344" y="3072"/>
            <a:chExt cx="3312" cy="1112"/>
          </a:xfrm>
        </p:grpSpPr>
        <p:grpSp>
          <p:nvGrpSpPr>
            <p:cNvPr id="49160" name="Group 1029"/>
            <p:cNvGrpSpPr>
              <a:grpSpLocks/>
            </p:cNvGrpSpPr>
            <p:nvPr/>
          </p:nvGrpSpPr>
          <p:grpSpPr bwMode="auto">
            <a:xfrm>
              <a:off x="1344" y="3072"/>
              <a:ext cx="1248" cy="1112"/>
              <a:chOff x="1728" y="864"/>
              <a:chExt cx="1396" cy="1208"/>
            </a:xfrm>
          </p:grpSpPr>
          <p:sp>
            <p:nvSpPr>
              <p:cNvPr id="49247" name="Rectangle 1030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8" name="Rectangle 1031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9" name="Line 1032"/>
              <p:cNvSpPr>
                <a:spLocks noChangeShapeType="1"/>
              </p:cNvSpPr>
              <p:nvPr/>
            </p:nvSpPr>
            <p:spPr bwMode="auto">
              <a:xfrm>
                <a:off x="1861" y="18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0" name="Line 1033"/>
              <p:cNvSpPr>
                <a:spLocks noChangeShapeType="1"/>
              </p:cNvSpPr>
              <p:nvPr/>
            </p:nvSpPr>
            <p:spPr bwMode="auto">
              <a:xfrm>
                <a:off x="1861" y="17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1" name="Line 1034"/>
              <p:cNvSpPr>
                <a:spLocks noChangeShapeType="1"/>
              </p:cNvSpPr>
              <p:nvPr/>
            </p:nvSpPr>
            <p:spPr bwMode="auto">
              <a:xfrm>
                <a:off x="1861" y="16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2" name="Line 1035"/>
              <p:cNvSpPr>
                <a:spLocks noChangeShapeType="1"/>
              </p:cNvSpPr>
              <p:nvPr/>
            </p:nvSpPr>
            <p:spPr bwMode="auto">
              <a:xfrm>
                <a:off x="1861" y="15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3" name="Line 1036"/>
              <p:cNvSpPr>
                <a:spLocks noChangeShapeType="1"/>
              </p:cNvSpPr>
              <p:nvPr/>
            </p:nvSpPr>
            <p:spPr bwMode="auto">
              <a:xfrm>
                <a:off x="1861" y="14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4" name="Line 1037"/>
              <p:cNvSpPr>
                <a:spLocks noChangeShapeType="1"/>
              </p:cNvSpPr>
              <p:nvPr/>
            </p:nvSpPr>
            <p:spPr bwMode="auto">
              <a:xfrm>
                <a:off x="1861" y="13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5" name="Line 1038"/>
              <p:cNvSpPr>
                <a:spLocks noChangeShapeType="1"/>
              </p:cNvSpPr>
              <p:nvPr/>
            </p:nvSpPr>
            <p:spPr bwMode="auto">
              <a:xfrm>
                <a:off x="1861" y="12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6" name="Line 1039"/>
              <p:cNvSpPr>
                <a:spLocks noChangeShapeType="1"/>
              </p:cNvSpPr>
              <p:nvPr/>
            </p:nvSpPr>
            <p:spPr bwMode="auto">
              <a:xfrm>
                <a:off x="1861" y="11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7" name="Line 1040"/>
              <p:cNvSpPr>
                <a:spLocks noChangeShapeType="1"/>
              </p:cNvSpPr>
              <p:nvPr/>
            </p:nvSpPr>
            <p:spPr bwMode="auto">
              <a:xfrm>
                <a:off x="1861" y="10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8" name="Line 1041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59" name="Line 1042"/>
              <p:cNvSpPr>
                <a:spLocks noChangeShapeType="1"/>
              </p:cNvSpPr>
              <p:nvPr/>
            </p:nvSpPr>
            <p:spPr bwMode="auto">
              <a:xfrm>
                <a:off x="19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0" name="Line 1043"/>
              <p:cNvSpPr>
                <a:spLocks noChangeShapeType="1"/>
              </p:cNvSpPr>
              <p:nvPr/>
            </p:nvSpPr>
            <p:spPr bwMode="auto">
              <a:xfrm>
                <a:off x="2102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1" name="Line 1044"/>
              <p:cNvSpPr>
                <a:spLocks noChangeShapeType="1"/>
              </p:cNvSpPr>
              <p:nvPr/>
            </p:nvSpPr>
            <p:spPr bwMode="auto">
              <a:xfrm>
                <a:off x="221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2" name="Line 1045"/>
              <p:cNvSpPr>
                <a:spLocks noChangeShapeType="1"/>
              </p:cNvSpPr>
              <p:nvPr/>
            </p:nvSpPr>
            <p:spPr bwMode="auto">
              <a:xfrm>
                <a:off x="23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3" name="Line 1046"/>
              <p:cNvSpPr>
                <a:spLocks noChangeShapeType="1"/>
              </p:cNvSpPr>
              <p:nvPr/>
            </p:nvSpPr>
            <p:spPr bwMode="auto">
              <a:xfrm>
                <a:off x="2460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4" name="Line 1047"/>
              <p:cNvSpPr>
                <a:spLocks noChangeShapeType="1"/>
              </p:cNvSpPr>
              <p:nvPr/>
            </p:nvSpPr>
            <p:spPr bwMode="auto">
              <a:xfrm>
                <a:off x="25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5" name="Line 1048"/>
              <p:cNvSpPr>
                <a:spLocks noChangeShapeType="1"/>
              </p:cNvSpPr>
              <p:nvPr/>
            </p:nvSpPr>
            <p:spPr bwMode="auto">
              <a:xfrm>
                <a:off x="270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6" name="Line 1049"/>
              <p:cNvSpPr>
                <a:spLocks noChangeShapeType="1"/>
              </p:cNvSpPr>
              <p:nvPr/>
            </p:nvSpPr>
            <p:spPr bwMode="auto">
              <a:xfrm>
                <a:off x="2818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7" name="Line 1050"/>
              <p:cNvSpPr>
                <a:spLocks noChangeShapeType="1"/>
              </p:cNvSpPr>
              <p:nvPr/>
            </p:nvSpPr>
            <p:spPr bwMode="auto">
              <a:xfrm>
                <a:off x="29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8" name="Line 1051"/>
              <p:cNvSpPr>
                <a:spLocks noChangeShapeType="1"/>
              </p:cNvSpPr>
              <p:nvPr/>
            </p:nvSpPr>
            <p:spPr bwMode="auto">
              <a:xfrm>
                <a:off x="305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69" name="Rectangle 1052"/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70" name="Line 1053"/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1" name="Line 1054"/>
              <p:cNvSpPr>
                <a:spLocks noChangeShapeType="1"/>
              </p:cNvSpPr>
              <p:nvPr/>
            </p:nvSpPr>
            <p:spPr bwMode="auto">
              <a:xfrm>
                <a:off x="1849" y="19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2" name="Line 1055"/>
              <p:cNvSpPr>
                <a:spLocks noChangeShapeType="1"/>
              </p:cNvSpPr>
              <p:nvPr/>
            </p:nvSpPr>
            <p:spPr bwMode="auto">
              <a:xfrm>
                <a:off x="1849" y="18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3" name="Line 1056"/>
              <p:cNvSpPr>
                <a:spLocks noChangeShapeType="1"/>
              </p:cNvSpPr>
              <p:nvPr/>
            </p:nvSpPr>
            <p:spPr bwMode="auto">
              <a:xfrm>
                <a:off x="1849" y="17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4" name="Line 1057"/>
              <p:cNvSpPr>
                <a:spLocks noChangeShapeType="1"/>
              </p:cNvSpPr>
              <p:nvPr/>
            </p:nvSpPr>
            <p:spPr bwMode="auto">
              <a:xfrm>
                <a:off x="1849" y="16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5" name="Line 1058"/>
              <p:cNvSpPr>
                <a:spLocks noChangeShapeType="1"/>
              </p:cNvSpPr>
              <p:nvPr/>
            </p:nvSpPr>
            <p:spPr bwMode="auto">
              <a:xfrm>
                <a:off x="1849" y="15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6" name="Line 1059"/>
              <p:cNvSpPr>
                <a:spLocks noChangeShapeType="1"/>
              </p:cNvSpPr>
              <p:nvPr/>
            </p:nvSpPr>
            <p:spPr bwMode="auto">
              <a:xfrm>
                <a:off x="1849" y="14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7" name="Line 1060"/>
              <p:cNvSpPr>
                <a:spLocks noChangeShapeType="1"/>
              </p:cNvSpPr>
              <p:nvPr/>
            </p:nvSpPr>
            <p:spPr bwMode="auto">
              <a:xfrm>
                <a:off x="1849" y="13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8" name="Line 1061"/>
              <p:cNvSpPr>
                <a:spLocks noChangeShapeType="1"/>
              </p:cNvSpPr>
              <p:nvPr/>
            </p:nvSpPr>
            <p:spPr bwMode="auto">
              <a:xfrm>
                <a:off x="1849" y="12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79" name="Line 1062"/>
              <p:cNvSpPr>
                <a:spLocks noChangeShapeType="1"/>
              </p:cNvSpPr>
              <p:nvPr/>
            </p:nvSpPr>
            <p:spPr bwMode="auto">
              <a:xfrm>
                <a:off x="1849" y="11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0" name="Line 1063"/>
              <p:cNvSpPr>
                <a:spLocks noChangeShapeType="1"/>
              </p:cNvSpPr>
              <p:nvPr/>
            </p:nvSpPr>
            <p:spPr bwMode="auto">
              <a:xfrm>
                <a:off x="1849" y="10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1" name="Line 1064"/>
              <p:cNvSpPr>
                <a:spLocks noChangeShapeType="1"/>
              </p:cNvSpPr>
              <p:nvPr/>
            </p:nvSpPr>
            <p:spPr bwMode="auto">
              <a:xfrm>
                <a:off x="1849" y="9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2" name="Line 1065"/>
              <p:cNvSpPr>
                <a:spLocks noChangeShapeType="1"/>
              </p:cNvSpPr>
              <p:nvPr/>
            </p:nvSpPr>
            <p:spPr bwMode="auto">
              <a:xfrm>
                <a:off x="1861" y="19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3" name="Line 1066"/>
              <p:cNvSpPr>
                <a:spLocks noChangeShapeType="1"/>
              </p:cNvSpPr>
              <p:nvPr/>
            </p:nvSpPr>
            <p:spPr bwMode="auto">
              <a:xfrm flipV="1">
                <a:off x="186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4" name="Line 1067"/>
              <p:cNvSpPr>
                <a:spLocks noChangeShapeType="1"/>
              </p:cNvSpPr>
              <p:nvPr/>
            </p:nvSpPr>
            <p:spPr bwMode="auto">
              <a:xfrm flipV="1">
                <a:off x="19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5" name="Line 1068"/>
              <p:cNvSpPr>
                <a:spLocks noChangeShapeType="1"/>
              </p:cNvSpPr>
              <p:nvPr/>
            </p:nvSpPr>
            <p:spPr bwMode="auto">
              <a:xfrm flipV="1">
                <a:off x="2102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6" name="Line 1069"/>
              <p:cNvSpPr>
                <a:spLocks noChangeShapeType="1"/>
              </p:cNvSpPr>
              <p:nvPr/>
            </p:nvSpPr>
            <p:spPr bwMode="auto">
              <a:xfrm flipV="1">
                <a:off x="221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7" name="Line 1070"/>
              <p:cNvSpPr>
                <a:spLocks noChangeShapeType="1"/>
              </p:cNvSpPr>
              <p:nvPr/>
            </p:nvSpPr>
            <p:spPr bwMode="auto">
              <a:xfrm flipV="1">
                <a:off x="23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8" name="Line 1071"/>
              <p:cNvSpPr>
                <a:spLocks noChangeShapeType="1"/>
              </p:cNvSpPr>
              <p:nvPr/>
            </p:nvSpPr>
            <p:spPr bwMode="auto">
              <a:xfrm flipV="1">
                <a:off x="2460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89" name="Line 1072"/>
              <p:cNvSpPr>
                <a:spLocks noChangeShapeType="1"/>
              </p:cNvSpPr>
              <p:nvPr/>
            </p:nvSpPr>
            <p:spPr bwMode="auto">
              <a:xfrm flipV="1">
                <a:off x="25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90" name="Line 1073"/>
              <p:cNvSpPr>
                <a:spLocks noChangeShapeType="1"/>
              </p:cNvSpPr>
              <p:nvPr/>
            </p:nvSpPr>
            <p:spPr bwMode="auto">
              <a:xfrm flipV="1">
                <a:off x="270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91" name="Line 1074"/>
              <p:cNvSpPr>
                <a:spLocks noChangeShapeType="1"/>
              </p:cNvSpPr>
              <p:nvPr/>
            </p:nvSpPr>
            <p:spPr bwMode="auto">
              <a:xfrm flipV="1">
                <a:off x="2818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92" name="Line 1075"/>
              <p:cNvSpPr>
                <a:spLocks noChangeShapeType="1"/>
              </p:cNvSpPr>
              <p:nvPr/>
            </p:nvSpPr>
            <p:spPr bwMode="auto">
              <a:xfrm flipV="1">
                <a:off x="29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93" name="Line 1076"/>
              <p:cNvSpPr>
                <a:spLocks noChangeShapeType="1"/>
              </p:cNvSpPr>
              <p:nvPr/>
            </p:nvSpPr>
            <p:spPr bwMode="auto">
              <a:xfrm flipV="1">
                <a:off x="305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94" name="Freeform 1077"/>
              <p:cNvSpPr>
                <a:spLocks/>
              </p:cNvSpPr>
              <p:nvPr/>
            </p:nvSpPr>
            <p:spPr bwMode="auto">
              <a:xfrm>
                <a:off x="2191" y="15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95" name="Freeform 1078"/>
              <p:cNvSpPr>
                <a:spLocks/>
              </p:cNvSpPr>
              <p:nvPr/>
            </p:nvSpPr>
            <p:spPr bwMode="auto">
              <a:xfrm>
                <a:off x="2191" y="13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96" name="Freeform 1079"/>
              <p:cNvSpPr>
                <a:spLocks/>
              </p:cNvSpPr>
              <p:nvPr/>
            </p:nvSpPr>
            <p:spPr bwMode="auto">
              <a:xfrm>
                <a:off x="2673" y="16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97" name="Freeform 1080"/>
              <p:cNvSpPr>
                <a:spLocks/>
              </p:cNvSpPr>
              <p:nvPr/>
            </p:nvSpPr>
            <p:spPr bwMode="auto">
              <a:xfrm>
                <a:off x="2311" y="12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98" name="Freeform 1081"/>
              <p:cNvSpPr>
                <a:spLocks/>
              </p:cNvSpPr>
              <p:nvPr/>
            </p:nvSpPr>
            <p:spPr bwMode="auto">
              <a:xfrm>
                <a:off x="2191" y="11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99" name="Freeform 1082"/>
              <p:cNvSpPr>
                <a:spLocks/>
              </p:cNvSpPr>
              <p:nvPr/>
            </p:nvSpPr>
            <p:spPr bwMode="auto">
              <a:xfrm>
                <a:off x="2790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300" name="Freeform 1083"/>
              <p:cNvSpPr>
                <a:spLocks/>
              </p:cNvSpPr>
              <p:nvPr/>
            </p:nvSpPr>
            <p:spPr bwMode="auto">
              <a:xfrm>
                <a:off x="2311" y="14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301" name="Freeform 1084"/>
              <p:cNvSpPr>
                <a:spLocks/>
              </p:cNvSpPr>
              <p:nvPr/>
            </p:nvSpPr>
            <p:spPr bwMode="auto">
              <a:xfrm>
                <a:off x="2432" y="17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302" name="Freeform 1085"/>
              <p:cNvSpPr>
                <a:spLocks/>
              </p:cNvSpPr>
              <p:nvPr/>
            </p:nvSpPr>
            <p:spPr bwMode="auto">
              <a:xfrm>
                <a:off x="2673" y="15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303" name="Freeform 1086"/>
              <p:cNvSpPr>
                <a:spLocks/>
              </p:cNvSpPr>
              <p:nvPr/>
            </p:nvSpPr>
            <p:spPr bwMode="auto">
              <a:xfrm>
                <a:off x="2432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304" name="Rectangle 1087"/>
              <p:cNvSpPr>
                <a:spLocks noChangeArrowheads="1"/>
              </p:cNvSpPr>
              <p:nvPr/>
            </p:nvSpPr>
            <p:spPr bwMode="auto">
              <a:xfrm>
                <a:off x="1805" y="18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05" name="Rectangle 1088"/>
              <p:cNvSpPr>
                <a:spLocks noChangeArrowheads="1"/>
              </p:cNvSpPr>
              <p:nvPr/>
            </p:nvSpPr>
            <p:spPr bwMode="auto">
              <a:xfrm>
                <a:off x="1805" y="17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06" name="Rectangle 1089"/>
              <p:cNvSpPr>
                <a:spLocks noChangeArrowheads="1"/>
              </p:cNvSpPr>
              <p:nvPr/>
            </p:nvSpPr>
            <p:spPr bwMode="auto">
              <a:xfrm>
                <a:off x="1805" y="17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2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07" name="Rectangle 1090"/>
              <p:cNvSpPr>
                <a:spLocks noChangeArrowheads="1"/>
              </p:cNvSpPr>
              <p:nvPr/>
            </p:nvSpPr>
            <p:spPr bwMode="auto">
              <a:xfrm>
                <a:off x="1805" y="16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3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08" name="Rectangle 1091"/>
              <p:cNvSpPr>
                <a:spLocks noChangeArrowheads="1"/>
              </p:cNvSpPr>
              <p:nvPr/>
            </p:nvSpPr>
            <p:spPr bwMode="auto">
              <a:xfrm>
                <a:off x="1805" y="15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4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09" name="Rectangle 1092"/>
              <p:cNvSpPr>
                <a:spLocks noChangeArrowheads="1"/>
              </p:cNvSpPr>
              <p:nvPr/>
            </p:nvSpPr>
            <p:spPr bwMode="auto">
              <a:xfrm>
                <a:off x="1805" y="14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5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0" name="Rectangle 1093"/>
              <p:cNvSpPr>
                <a:spLocks noChangeArrowheads="1"/>
              </p:cNvSpPr>
              <p:nvPr/>
            </p:nvSpPr>
            <p:spPr bwMode="auto">
              <a:xfrm>
                <a:off x="1805" y="13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6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1" name="Rectangle 1094"/>
              <p:cNvSpPr>
                <a:spLocks noChangeArrowheads="1"/>
              </p:cNvSpPr>
              <p:nvPr/>
            </p:nvSpPr>
            <p:spPr bwMode="auto">
              <a:xfrm>
                <a:off x="1805" y="12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7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2" name="Rectangle 1095"/>
              <p:cNvSpPr>
                <a:spLocks noChangeArrowheads="1"/>
              </p:cNvSpPr>
              <p:nvPr/>
            </p:nvSpPr>
            <p:spPr bwMode="auto">
              <a:xfrm>
                <a:off x="1805" y="11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8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3" name="Rectangle 1096"/>
              <p:cNvSpPr>
                <a:spLocks noChangeArrowheads="1"/>
              </p:cNvSpPr>
              <p:nvPr/>
            </p:nvSpPr>
            <p:spPr bwMode="auto">
              <a:xfrm>
                <a:off x="1805" y="10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9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4" name="Rectangle 1097"/>
              <p:cNvSpPr>
                <a:spLocks noChangeArrowheads="1"/>
              </p:cNvSpPr>
              <p:nvPr/>
            </p:nvSpPr>
            <p:spPr bwMode="auto">
              <a:xfrm>
                <a:off x="1779" y="9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5" name="Rectangle 1098"/>
              <p:cNvSpPr>
                <a:spLocks noChangeArrowheads="1"/>
              </p:cNvSpPr>
              <p:nvPr/>
            </p:nvSpPr>
            <p:spPr bwMode="auto">
              <a:xfrm>
                <a:off x="184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6" name="Rectangle 1099"/>
              <p:cNvSpPr>
                <a:spLocks noChangeArrowheads="1"/>
              </p:cNvSpPr>
              <p:nvPr/>
            </p:nvSpPr>
            <p:spPr bwMode="auto">
              <a:xfrm>
                <a:off x="196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7" name="Rectangle 1100"/>
              <p:cNvSpPr>
                <a:spLocks noChangeArrowheads="1"/>
              </p:cNvSpPr>
              <p:nvPr/>
            </p:nvSpPr>
            <p:spPr bwMode="auto">
              <a:xfrm>
                <a:off x="2090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2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8" name="Rectangle 1101"/>
              <p:cNvSpPr>
                <a:spLocks noChangeArrowheads="1"/>
              </p:cNvSpPr>
              <p:nvPr/>
            </p:nvSpPr>
            <p:spPr bwMode="auto">
              <a:xfrm>
                <a:off x="220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3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19" name="Rectangle 1102"/>
              <p:cNvSpPr>
                <a:spLocks noChangeArrowheads="1"/>
              </p:cNvSpPr>
              <p:nvPr/>
            </p:nvSpPr>
            <p:spPr bwMode="auto">
              <a:xfrm>
                <a:off x="232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4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0" name="Rectangle 1103"/>
              <p:cNvSpPr>
                <a:spLocks noChangeArrowheads="1"/>
              </p:cNvSpPr>
              <p:nvPr/>
            </p:nvSpPr>
            <p:spPr bwMode="auto">
              <a:xfrm>
                <a:off x="244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5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1" name="Rectangle 1104"/>
              <p:cNvSpPr>
                <a:spLocks noChangeArrowheads="1"/>
              </p:cNvSpPr>
              <p:nvPr/>
            </p:nvSpPr>
            <p:spPr bwMode="auto">
              <a:xfrm>
                <a:off x="256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6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2" name="Rectangle 1105"/>
              <p:cNvSpPr>
                <a:spLocks noChangeArrowheads="1"/>
              </p:cNvSpPr>
              <p:nvPr/>
            </p:nvSpPr>
            <p:spPr bwMode="auto">
              <a:xfrm>
                <a:off x="268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7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3" name="Rectangle 1106"/>
              <p:cNvSpPr>
                <a:spLocks noChangeArrowheads="1"/>
              </p:cNvSpPr>
              <p:nvPr/>
            </p:nvSpPr>
            <p:spPr bwMode="auto">
              <a:xfrm>
                <a:off x="280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8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4" name="Rectangle 1107"/>
              <p:cNvSpPr>
                <a:spLocks noChangeArrowheads="1"/>
              </p:cNvSpPr>
              <p:nvPr/>
            </p:nvSpPr>
            <p:spPr bwMode="auto">
              <a:xfrm>
                <a:off x="292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9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5" name="Rectangle 1108"/>
              <p:cNvSpPr>
                <a:spLocks noChangeArrowheads="1"/>
              </p:cNvSpPr>
              <p:nvPr/>
            </p:nvSpPr>
            <p:spPr bwMode="auto">
              <a:xfrm>
                <a:off x="3035" y="1962"/>
                <a:ext cx="6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326" name="Rectangle 1109"/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</p:grpSp>
        <p:grpSp>
          <p:nvGrpSpPr>
            <p:cNvPr id="49161" name="Group 1110"/>
            <p:cNvGrpSpPr>
              <a:grpSpLocks/>
            </p:cNvGrpSpPr>
            <p:nvPr/>
          </p:nvGrpSpPr>
          <p:grpSpPr bwMode="auto">
            <a:xfrm>
              <a:off x="3408" y="3072"/>
              <a:ext cx="1248" cy="1112"/>
              <a:chOff x="3616" y="2464"/>
              <a:chExt cx="1396" cy="1208"/>
            </a:xfrm>
          </p:grpSpPr>
          <p:sp>
            <p:nvSpPr>
              <p:cNvPr id="49163" name="Rectangle 1111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164" name="Rectangle 1112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165" name="Line 1113"/>
              <p:cNvSpPr>
                <a:spLocks noChangeShapeType="1"/>
              </p:cNvSpPr>
              <p:nvPr/>
            </p:nvSpPr>
            <p:spPr bwMode="auto">
              <a:xfrm>
                <a:off x="3749" y="34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66" name="Line 1114"/>
              <p:cNvSpPr>
                <a:spLocks noChangeShapeType="1"/>
              </p:cNvSpPr>
              <p:nvPr/>
            </p:nvSpPr>
            <p:spPr bwMode="auto">
              <a:xfrm>
                <a:off x="3749" y="33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67" name="Line 1115"/>
              <p:cNvSpPr>
                <a:spLocks noChangeShapeType="1"/>
              </p:cNvSpPr>
              <p:nvPr/>
            </p:nvSpPr>
            <p:spPr bwMode="auto">
              <a:xfrm>
                <a:off x="3749" y="32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68" name="Line 1116"/>
              <p:cNvSpPr>
                <a:spLocks noChangeShapeType="1"/>
              </p:cNvSpPr>
              <p:nvPr/>
            </p:nvSpPr>
            <p:spPr bwMode="auto">
              <a:xfrm>
                <a:off x="3749" y="31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69" name="Line 1117"/>
              <p:cNvSpPr>
                <a:spLocks noChangeShapeType="1"/>
              </p:cNvSpPr>
              <p:nvPr/>
            </p:nvSpPr>
            <p:spPr bwMode="auto">
              <a:xfrm>
                <a:off x="3749" y="30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0" name="Line 1118"/>
              <p:cNvSpPr>
                <a:spLocks noChangeShapeType="1"/>
              </p:cNvSpPr>
              <p:nvPr/>
            </p:nvSpPr>
            <p:spPr bwMode="auto">
              <a:xfrm>
                <a:off x="3749" y="29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1" name="Line 1119"/>
              <p:cNvSpPr>
                <a:spLocks noChangeShapeType="1"/>
              </p:cNvSpPr>
              <p:nvPr/>
            </p:nvSpPr>
            <p:spPr bwMode="auto">
              <a:xfrm>
                <a:off x="3749" y="28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2" name="Line 1120"/>
              <p:cNvSpPr>
                <a:spLocks noChangeShapeType="1"/>
              </p:cNvSpPr>
              <p:nvPr/>
            </p:nvSpPr>
            <p:spPr bwMode="auto">
              <a:xfrm>
                <a:off x="3749" y="27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3" name="Line 1121"/>
              <p:cNvSpPr>
                <a:spLocks noChangeShapeType="1"/>
              </p:cNvSpPr>
              <p:nvPr/>
            </p:nvSpPr>
            <p:spPr bwMode="auto">
              <a:xfrm>
                <a:off x="3749" y="26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4" name="Line 1122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5" name="Line 1123"/>
              <p:cNvSpPr>
                <a:spLocks noChangeShapeType="1"/>
              </p:cNvSpPr>
              <p:nvPr/>
            </p:nvSpPr>
            <p:spPr bwMode="auto">
              <a:xfrm>
                <a:off x="38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6" name="Line 1124"/>
              <p:cNvSpPr>
                <a:spLocks noChangeShapeType="1"/>
              </p:cNvSpPr>
              <p:nvPr/>
            </p:nvSpPr>
            <p:spPr bwMode="auto">
              <a:xfrm>
                <a:off x="3990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7" name="Line 1125"/>
              <p:cNvSpPr>
                <a:spLocks noChangeShapeType="1"/>
              </p:cNvSpPr>
              <p:nvPr/>
            </p:nvSpPr>
            <p:spPr bwMode="auto">
              <a:xfrm>
                <a:off x="410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8" name="Line 1126"/>
              <p:cNvSpPr>
                <a:spLocks noChangeShapeType="1"/>
              </p:cNvSpPr>
              <p:nvPr/>
            </p:nvSpPr>
            <p:spPr bwMode="auto">
              <a:xfrm>
                <a:off x="42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79" name="Line 1127"/>
              <p:cNvSpPr>
                <a:spLocks noChangeShapeType="1"/>
              </p:cNvSpPr>
              <p:nvPr/>
            </p:nvSpPr>
            <p:spPr bwMode="auto">
              <a:xfrm>
                <a:off x="4348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0" name="Line 1128"/>
              <p:cNvSpPr>
                <a:spLocks noChangeShapeType="1"/>
              </p:cNvSpPr>
              <p:nvPr/>
            </p:nvSpPr>
            <p:spPr bwMode="auto">
              <a:xfrm>
                <a:off x="44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1" name="Line 1129"/>
              <p:cNvSpPr>
                <a:spLocks noChangeShapeType="1"/>
              </p:cNvSpPr>
              <p:nvPr/>
            </p:nvSpPr>
            <p:spPr bwMode="auto">
              <a:xfrm>
                <a:off x="458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2" name="Line 1130"/>
              <p:cNvSpPr>
                <a:spLocks noChangeShapeType="1"/>
              </p:cNvSpPr>
              <p:nvPr/>
            </p:nvSpPr>
            <p:spPr bwMode="auto">
              <a:xfrm>
                <a:off x="4706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3" name="Line 1131"/>
              <p:cNvSpPr>
                <a:spLocks noChangeShapeType="1"/>
              </p:cNvSpPr>
              <p:nvPr/>
            </p:nvSpPr>
            <p:spPr bwMode="auto">
              <a:xfrm>
                <a:off x="48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4" name="Line 1132"/>
              <p:cNvSpPr>
                <a:spLocks noChangeShapeType="1"/>
              </p:cNvSpPr>
              <p:nvPr/>
            </p:nvSpPr>
            <p:spPr bwMode="auto">
              <a:xfrm>
                <a:off x="494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5" name="Rectangle 1133"/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186" name="Line 1134"/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7" name="Line 1135"/>
              <p:cNvSpPr>
                <a:spLocks noChangeShapeType="1"/>
              </p:cNvSpPr>
              <p:nvPr/>
            </p:nvSpPr>
            <p:spPr bwMode="auto">
              <a:xfrm>
                <a:off x="3737" y="35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8" name="Line 1136"/>
              <p:cNvSpPr>
                <a:spLocks noChangeShapeType="1"/>
              </p:cNvSpPr>
              <p:nvPr/>
            </p:nvSpPr>
            <p:spPr bwMode="auto">
              <a:xfrm>
                <a:off x="3737" y="34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89" name="Line 1137"/>
              <p:cNvSpPr>
                <a:spLocks noChangeShapeType="1"/>
              </p:cNvSpPr>
              <p:nvPr/>
            </p:nvSpPr>
            <p:spPr bwMode="auto">
              <a:xfrm>
                <a:off x="3737" y="33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0" name="Line 1138"/>
              <p:cNvSpPr>
                <a:spLocks noChangeShapeType="1"/>
              </p:cNvSpPr>
              <p:nvPr/>
            </p:nvSpPr>
            <p:spPr bwMode="auto">
              <a:xfrm>
                <a:off x="3737" y="32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1" name="Line 1139"/>
              <p:cNvSpPr>
                <a:spLocks noChangeShapeType="1"/>
              </p:cNvSpPr>
              <p:nvPr/>
            </p:nvSpPr>
            <p:spPr bwMode="auto">
              <a:xfrm>
                <a:off x="3737" y="31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2" name="Line 1140"/>
              <p:cNvSpPr>
                <a:spLocks noChangeShapeType="1"/>
              </p:cNvSpPr>
              <p:nvPr/>
            </p:nvSpPr>
            <p:spPr bwMode="auto">
              <a:xfrm>
                <a:off x="3737" y="30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3" name="Line 1141"/>
              <p:cNvSpPr>
                <a:spLocks noChangeShapeType="1"/>
              </p:cNvSpPr>
              <p:nvPr/>
            </p:nvSpPr>
            <p:spPr bwMode="auto">
              <a:xfrm>
                <a:off x="3737" y="29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4" name="Line 1142"/>
              <p:cNvSpPr>
                <a:spLocks noChangeShapeType="1"/>
              </p:cNvSpPr>
              <p:nvPr/>
            </p:nvSpPr>
            <p:spPr bwMode="auto">
              <a:xfrm>
                <a:off x="3737" y="28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5" name="Line 1143"/>
              <p:cNvSpPr>
                <a:spLocks noChangeShapeType="1"/>
              </p:cNvSpPr>
              <p:nvPr/>
            </p:nvSpPr>
            <p:spPr bwMode="auto">
              <a:xfrm>
                <a:off x="3737" y="27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6" name="Line 1144"/>
              <p:cNvSpPr>
                <a:spLocks noChangeShapeType="1"/>
              </p:cNvSpPr>
              <p:nvPr/>
            </p:nvSpPr>
            <p:spPr bwMode="auto">
              <a:xfrm>
                <a:off x="3737" y="26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7" name="Line 1145"/>
              <p:cNvSpPr>
                <a:spLocks noChangeShapeType="1"/>
              </p:cNvSpPr>
              <p:nvPr/>
            </p:nvSpPr>
            <p:spPr bwMode="auto">
              <a:xfrm>
                <a:off x="3737" y="25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8" name="Line 1146"/>
              <p:cNvSpPr>
                <a:spLocks noChangeShapeType="1"/>
              </p:cNvSpPr>
              <p:nvPr/>
            </p:nvSpPr>
            <p:spPr bwMode="auto">
              <a:xfrm>
                <a:off x="3749" y="35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199" name="Line 1147"/>
              <p:cNvSpPr>
                <a:spLocks noChangeShapeType="1"/>
              </p:cNvSpPr>
              <p:nvPr/>
            </p:nvSpPr>
            <p:spPr bwMode="auto">
              <a:xfrm flipV="1">
                <a:off x="374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0" name="Line 1148"/>
              <p:cNvSpPr>
                <a:spLocks noChangeShapeType="1"/>
              </p:cNvSpPr>
              <p:nvPr/>
            </p:nvSpPr>
            <p:spPr bwMode="auto">
              <a:xfrm flipV="1">
                <a:off x="38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1" name="Line 1149"/>
              <p:cNvSpPr>
                <a:spLocks noChangeShapeType="1"/>
              </p:cNvSpPr>
              <p:nvPr/>
            </p:nvSpPr>
            <p:spPr bwMode="auto">
              <a:xfrm flipV="1">
                <a:off x="3990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2" name="Line 1150"/>
              <p:cNvSpPr>
                <a:spLocks noChangeShapeType="1"/>
              </p:cNvSpPr>
              <p:nvPr/>
            </p:nvSpPr>
            <p:spPr bwMode="auto">
              <a:xfrm flipV="1">
                <a:off x="410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3" name="Line 1151"/>
              <p:cNvSpPr>
                <a:spLocks noChangeShapeType="1"/>
              </p:cNvSpPr>
              <p:nvPr/>
            </p:nvSpPr>
            <p:spPr bwMode="auto">
              <a:xfrm flipV="1">
                <a:off x="42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4" name="Line 1152"/>
              <p:cNvSpPr>
                <a:spLocks noChangeShapeType="1"/>
              </p:cNvSpPr>
              <p:nvPr/>
            </p:nvSpPr>
            <p:spPr bwMode="auto">
              <a:xfrm flipV="1">
                <a:off x="4348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5" name="Line 1153"/>
              <p:cNvSpPr>
                <a:spLocks noChangeShapeType="1"/>
              </p:cNvSpPr>
              <p:nvPr/>
            </p:nvSpPr>
            <p:spPr bwMode="auto">
              <a:xfrm flipV="1">
                <a:off x="44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6" name="Line 1154"/>
              <p:cNvSpPr>
                <a:spLocks noChangeShapeType="1"/>
              </p:cNvSpPr>
              <p:nvPr/>
            </p:nvSpPr>
            <p:spPr bwMode="auto">
              <a:xfrm flipV="1">
                <a:off x="458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7" name="Line 1155"/>
              <p:cNvSpPr>
                <a:spLocks noChangeShapeType="1"/>
              </p:cNvSpPr>
              <p:nvPr/>
            </p:nvSpPr>
            <p:spPr bwMode="auto">
              <a:xfrm flipV="1">
                <a:off x="4706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8" name="Line 1156"/>
              <p:cNvSpPr>
                <a:spLocks noChangeShapeType="1"/>
              </p:cNvSpPr>
              <p:nvPr/>
            </p:nvSpPr>
            <p:spPr bwMode="auto">
              <a:xfrm flipV="1">
                <a:off x="48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09" name="Line 1157"/>
              <p:cNvSpPr>
                <a:spLocks noChangeShapeType="1"/>
              </p:cNvSpPr>
              <p:nvPr/>
            </p:nvSpPr>
            <p:spPr bwMode="auto">
              <a:xfrm flipV="1">
                <a:off x="494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TW" altLang="en-US"/>
              </a:p>
            </p:txBody>
          </p:sp>
          <p:sp>
            <p:nvSpPr>
              <p:cNvPr id="49210" name="Freeform 1158"/>
              <p:cNvSpPr>
                <a:spLocks/>
              </p:cNvSpPr>
              <p:nvPr/>
            </p:nvSpPr>
            <p:spPr bwMode="auto">
              <a:xfrm>
                <a:off x="4079" y="31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6"/>
                  <a:gd name="T17" fmla="*/ 56 w 56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1" name="Freeform 1159"/>
              <p:cNvSpPr>
                <a:spLocks/>
              </p:cNvSpPr>
              <p:nvPr/>
            </p:nvSpPr>
            <p:spPr bwMode="auto">
              <a:xfrm>
                <a:off x="4079" y="29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2" name="Freeform 1160"/>
              <p:cNvSpPr>
                <a:spLocks/>
              </p:cNvSpPr>
              <p:nvPr/>
            </p:nvSpPr>
            <p:spPr bwMode="auto">
              <a:xfrm>
                <a:off x="4561" y="32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3" name="Freeform 1161"/>
              <p:cNvSpPr>
                <a:spLocks/>
              </p:cNvSpPr>
              <p:nvPr/>
            </p:nvSpPr>
            <p:spPr bwMode="auto">
              <a:xfrm>
                <a:off x="4199" y="28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4" name="Freeform 1162"/>
              <p:cNvSpPr>
                <a:spLocks/>
              </p:cNvSpPr>
              <p:nvPr/>
            </p:nvSpPr>
            <p:spPr bwMode="auto">
              <a:xfrm>
                <a:off x="4079" y="27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5" name="Freeform 1163"/>
              <p:cNvSpPr>
                <a:spLocks/>
              </p:cNvSpPr>
              <p:nvPr/>
            </p:nvSpPr>
            <p:spPr bwMode="auto">
              <a:xfrm>
                <a:off x="4678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6" name="Freeform 1164"/>
              <p:cNvSpPr>
                <a:spLocks/>
              </p:cNvSpPr>
              <p:nvPr/>
            </p:nvSpPr>
            <p:spPr bwMode="auto">
              <a:xfrm>
                <a:off x="4199" y="30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7"/>
                  <a:gd name="T17" fmla="*/ 57 w 57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7" name="Freeform 1165"/>
              <p:cNvSpPr>
                <a:spLocks/>
              </p:cNvSpPr>
              <p:nvPr/>
            </p:nvSpPr>
            <p:spPr bwMode="auto">
              <a:xfrm>
                <a:off x="4320" y="33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8" name="Freeform 1166"/>
              <p:cNvSpPr>
                <a:spLocks/>
              </p:cNvSpPr>
              <p:nvPr/>
            </p:nvSpPr>
            <p:spPr bwMode="auto">
              <a:xfrm>
                <a:off x="4561" y="31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"/>
                  <a:gd name="T16" fmla="*/ 0 h 56"/>
                  <a:gd name="T17" fmla="*/ 57 w 57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19" name="Freeform 1167"/>
              <p:cNvSpPr>
                <a:spLocks/>
              </p:cNvSpPr>
              <p:nvPr/>
            </p:nvSpPr>
            <p:spPr bwMode="auto">
              <a:xfrm>
                <a:off x="4320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"/>
                  <a:gd name="T16" fmla="*/ 0 h 57"/>
                  <a:gd name="T17" fmla="*/ 56 w 56"/>
                  <a:gd name="T18" fmla="*/ 57 h 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20" name="Rectangle 1168"/>
              <p:cNvSpPr>
                <a:spLocks noChangeArrowheads="1"/>
              </p:cNvSpPr>
              <p:nvPr/>
            </p:nvSpPr>
            <p:spPr bwMode="auto">
              <a:xfrm>
                <a:off x="3693" y="34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1" name="Rectangle 1169"/>
              <p:cNvSpPr>
                <a:spLocks noChangeArrowheads="1"/>
              </p:cNvSpPr>
              <p:nvPr/>
            </p:nvSpPr>
            <p:spPr bwMode="auto">
              <a:xfrm>
                <a:off x="3693" y="33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2" name="Rectangle 1170"/>
              <p:cNvSpPr>
                <a:spLocks noChangeArrowheads="1"/>
              </p:cNvSpPr>
              <p:nvPr/>
            </p:nvSpPr>
            <p:spPr bwMode="auto">
              <a:xfrm>
                <a:off x="3693" y="33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2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3" name="Rectangle 1171"/>
              <p:cNvSpPr>
                <a:spLocks noChangeArrowheads="1"/>
              </p:cNvSpPr>
              <p:nvPr/>
            </p:nvSpPr>
            <p:spPr bwMode="auto">
              <a:xfrm>
                <a:off x="3693" y="32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3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4" name="Rectangle 1172"/>
              <p:cNvSpPr>
                <a:spLocks noChangeArrowheads="1"/>
              </p:cNvSpPr>
              <p:nvPr/>
            </p:nvSpPr>
            <p:spPr bwMode="auto">
              <a:xfrm>
                <a:off x="3693" y="31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4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5" name="Rectangle 1173"/>
              <p:cNvSpPr>
                <a:spLocks noChangeArrowheads="1"/>
              </p:cNvSpPr>
              <p:nvPr/>
            </p:nvSpPr>
            <p:spPr bwMode="auto">
              <a:xfrm>
                <a:off x="3693" y="30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5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6" name="Rectangle 1174"/>
              <p:cNvSpPr>
                <a:spLocks noChangeArrowheads="1"/>
              </p:cNvSpPr>
              <p:nvPr/>
            </p:nvSpPr>
            <p:spPr bwMode="auto">
              <a:xfrm>
                <a:off x="3693" y="29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6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7" name="Rectangle 1175"/>
              <p:cNvSpPr>
                <a:spLocks noChangeArrowheads="1"/>
              </p:cNvSpPr>
              <p:nvPr/>
            </p:nvSpPr>
            <p:spPr bwMode="auto">
              <a:xfrm>
                <a:off x="3693" y="28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7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8" name="Rectangle 1176"/>
              <p:cNvSpPr>
                <a:spLocks noChangeArrowheads="1"/>
              </p:cNvSpPr>
              <p:nvPr/>
            </p:nvSpPr>
            <p:spPr bwMode="auto">
              <a:xfrm>
                <a:off x="3693" y="27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8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29" name="Rectangle 1177"/>
              <p:cNvSpPr>
                <a:spLocks noChangeArrowheads="1"/>
              </p:cNvSpPr>
              <p:nvPr/>
            </p:nvSpPr>
            <p:spPr bwMode="auto">
              <a:xfrm>
                <a:off x="3693" y="26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9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0" name="Rectangle 1178"/>
              <p:cNvSpPr>
                <a:spLocks noChangeArrowheads="1"/>
              </p:cNvSpPr>
              <p:nvPr/>
            </p:nvSpPr>
            <p:spPr bwMode="auto">
              <a:xfrm>
                <a:off x="3667" y="25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1" name="Rectangle 1179"/>
              <p:cNvSpPr>
                <a:spLocks noChangeArrowheads="1"/>
              </p:cNvSpPr>
              <p:nvPr/>
            </p:nvSpPr>
            <p:spPr bwMode="auto">
              <a:xfrm>
                <a:off x="373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2" name="Rectangle 1180"/>
              <p:cNvSpPr>
                <a:spLocks noChangeArrowheads="1"/>
              </p:cNvSpPr>
              <p:nvPr/>
            </p:nvSpPr>
            <p:spPr bwMode="auto">
              <a:xfrm>
                <a:off x="385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3" name="Rectangle 1181"/>
              <p:cNvSpPr>
                <a:spLocks noChangeArrowheads="1"/>
              </p:cNvSpPr>
              <p:nvPr/>
            </p:nvSpPr>
            <p:spPr bwMode="auto">
              <a:xfrm>
                <a:off x="3978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2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4" name="Rectangle 1182"/>
              <p:cNvSpPr>
                <a:spLocks noChangeArrowheads="1"/>
              </p:cNvSpPr>
              <p:nvPr/>
            </p:nvSpPr>
            <p:spPr bwMode="auto">
              <a:xfrm>
                <a:off x="409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3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5" name="Rectangle 1183"/>
              <p:cNvSpPr>
                <a:spLocks noChangeArrowheads="1"/>
              </p:cNvSpPr>
              <p:nvPr/>
            </p:nvSpPr>
            <p:spPr bwMode="auto">
              <a:xfrm>
                <a:off x="421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4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6" name="Rectangle 1184"/>
              <p:cNvSpPr>
                <a:spLocks noChangeArrowheads="1"/>
              </p:cNvSpPr>
              <p:nvPr/>
            </p:nvSpPr>
            <p:spPr bwMode="auto">
              <a:xfrm>
                <a:off x="433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5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7" name="Rectangle 1185"/>
              <p:cNvSpPr>
                <a:spLocks noChangeArrowheads="1"/>
              </p:cNvSpPr>
              <p:nvPr/>
            </p:nvSpPr>
            <p:spPr bwMode="auto">
              <a:xfrm>
                <a:off x="445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6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8" name="Rectangle 1186"/>
              <p:cNvSpPr>
                <a:spLocks noChangeArrowheads="1"/>
              </p:cNvSpPr>
              <p:nvPr/>
            </p:nvSpPr>
            <p:spPr bwMode="auto">
              <a:xfrm>
                <a:off x="457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7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39" name="Rectangle 1187"/>
              <p:cNvSpPr>
                <a:spLocks noChangeArrowheads="1"/>
              </p:cNvSpPr>
              <p:nvPr/>
            </p:nvSpPr>
            <p:spPr bwMode="auto">
              <a:xfrm>
                <a:off x="469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8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40" name="Rectangle 1188"/>
              <p:cNvSpPr>
                <a:spLocks noChangeArrowheads="1"/>
              </p:cNvSpPr>
              <p:nvPr/>
            </p:nvSpPr>
            <p:spPr bwMode="auto">
              <a:xfrm>
                <a:off x="481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9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41" name="Rectangle 1189"/>
              <p:cNvSpPr>
                <a:spLocks noChangeArrowheads="1"/>
              </p:cNvSpPr>
              <p:nvPr/>
            </p:nvSpPr>
            <p:spPr bwMode="auto">
              <a:xfrm>
                <a:off x="4923" y="3562"/>
                <a:ext cx="6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algn="l"/>
                <a:r>
                  <a:rPr lang="ko-KR" altLang="en-US" sz="600">
                    <a:solidFill>
                      <a:srgbClr val="000000"/>
                    </a:solidFill>
                    <a:latin typeface="Arial" pitchFamily="34" charset="0"/>
                    <a:ea typeface="굴림" pitchFamily="34" charset="-127"/>
                  </a:rPr>
                  <a:t>10</a:t>
                </a:r>
                <a:endParaRPr lang="ko-KR" altLang="en-US">
                  <a:ea typeface="굴림" pitchFamily="34" charset="-127"/>
                </a:endParaRPr>
              </a:p>
            </p:txBody>
          </p:sp>
          <p:sp>
            <p:nvSpPr>
              <p:cNvPr id="49242" name="Rectangle 1190"/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3" name="Freeform 1191"/>
              <p:cNvSpPr>
                <a:spLocks/>
              </p:cNvSpPr>
              <p:nvPr/>
            </p:nvSpPr>
            <p:spPr bwMode="auto">
              <a:xfrm>
                <a:off x="3955" y="2658"/>
                <a:ext cx="488" cy="597"/>
              </a:xfrm>
              <a:custGeom>
                <a:avLst/>
                <a:gdLst>
                  <a:gd name="T0" fmla="*/ 27 w 728"/>
                  <a:gd name="T1" fmla="*/ 1 h 896"/>
                  <a:gd name="T2" fmla="*/ 15 w 728"/>
                  <a:gd name="T3" fmla="*/ 13 h 896"/>
                  <a:gd name="T4" fmla="*/ 11 w 728"/>
                  <a:gd name="T5" fmla="*/ 18 h 896"/>
                  <a:gd name="T6" fmla="*/ 9 w 728"/>
                  <a:gd name="T7" fmla="*/ 21 h 896"/>
                  <a:gd name="T8" fmla="*/ 3 w 728"/>
                  <a:gd name="T9" fmla="*/ 40 h 896"/>
                  <a:gd name="T10" fmla="*/ 9 w 728"/>
                  <a:gd name="T11" fmla="*/ 93 h 896"/>
                  <a:gd name="T12" fmla="*/ 15 w 728"/>
                  <a:gd name="T13" fmla="*/ 100 h 896"/>
                  <a:gd name="T14" fmla="*/ 45 w 728"/>
                  <a:gd name="T15" fmla="*/ 118 h 896"/>
                  <a:gd name="T16" fmla="*/ 67 w 728"/>
                  <a:gd name="T17" fmla="*/ 112 h 896"/>
                  <a:gd name="T18" fmla="*/ 86 w 728"/>
                  <a:gd name="T19" fmla="*/ 94 h 896"/>
                  <a:gd name="T20" fmla="*/ 93 w 728"/>
                  <a:gd name="T21" fmla="*/ 79 h 896"/>
                  <a:gd name="T22" fmla="*/ 95 w 728"/>
                  <a:gd name="T23" fmla="*/ 74 h 896"/>
                  <a:gd name="T24" fmla="*/ 96 w 728"/>
                  <a:gd name="T25" fmla="*/ 71 h 896"/>
                  <a:gd name="T26" fmla="*/ 92 w 728"/>
                  <a:gd name="T27" fmla="*/ 39 h 896"/>
                  <a:gd name="T28" fmla="*/ 77 w 728"/>
                  <a:gd name="T29" fmla="*/ 17 h 896"/>
                  <a:gd name="T30" fmla="*/ 69 w 728"/>
                  <a:gd name="T31" fmla="*/ 11 h 896"/>
                  <a:gd name="T32" fmla="*/ 63 w 728"/>
                  <a:gd name="T33" fmla="*/ 7 h 896"/>
                  <a:gd name="T34" fmla="*/ 40 w 728"/>
                  <a:gd name="T35" fmla="*/ 0 h 896"/>
                  <a:gd name="T36" fmla="*/ 28 w 728"/>
                  <a:gd name="T37" fmla="*/ 1 h 896"/>
                  <a:gd name="T38" fmla="*/ 25 w 728"/>
                  <a:gd name="T39" fmla="*/ 2 h 896"/>
                  <a:gd name="T40" fmla="*/ 27 w 728"/>
                  <a:gd name="T41" fmla="*/ 1 h 8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28"/>
                  <a:gd name="T64" fmla="*/ 0 h 896"/>
                  <a:gd name="T65" fmla="*/ 728 w 728"/>
                  <a:gd name="T66" fmla="*/ 896 h 89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4" name="Freeform 1192"/>
              <p:cNvSpPr>
                <a:spLocks/>
              </p:cNvSpPr>
              <p:nvPr/>
            </p:nvSpPr>
            <p:spPr bwMode="auto">
              <a:xfrm>
                <a:off x="4258" y="2900"/>
                <a:ext cx="538" cy="593"/>
              </a:xfrm>
              <a:custGeom>
                <a:avLst/>
                <a:gdLst>
                  <a:gd name="T0" fmla="*/ 69 w 802"/>
                  <a:gd name="T1" fmla="*/ 6 h 889"/>
                  <a:gd name="T2" fmla="*/ 51 w 802"/>
                  <a:gd name="T3" fmla="*/ 23 h 889"/>
                  <a:gd name="T4" fmla="*/ 32 w 802"/>
                  <a:gd name="T5" fmla="*/ 39 h 889"/>
                  <a:gd name="T6" fmla="*/ 30 w 802"/>
                  <a:gd name="T7" fmla="*/ 42 h 889"/>
                  <a:gd name="T8" fmla="*/ 27 w 802"/>
                  <a:gd name="T9" fmla="*/ 44 h 889"/>
                  <a:gd name="T10" fmla="*/ 26 w 802"/>
                  <a:gd name="T11" fmla="*/ 47 h 889"/>
                  <a:gd name="T12" fmla="*/ 23 w 802"/>
                  <a:gd name="T13" fmla="*/ 51 h 889"/>
                  <a:gd name="T14" fmla="*/ 18 w 802"/>
                  <a:gd name="T15" fmla="*/ 65 h 889"/>
                  <a:gd name="T16" fmla="*/ 15 w 802"/>
                  <a:gd name="T17" fmla="*/ 69 h 889"/>
                  <a:gd name="T18" fmla="*/ 11 w 802"/>
                  <a:gd name="T19" fmla="*/ 74 h 889"/>
                  <a:gd name="T20" fmla="*/ 6 w 802"/>
                  <a:gd name="T21" fmla="*/ 83 h 889"/>
                  <a:gd name="T22" fmla="*/ 2 w 802"/>
                  <a:gd name="T23" fmla="*/ 93 h 889"/>
                  <a:gd name="T24" fmla="*/ 5 w 802"/>
                  <a:gd name="T25" fmla="*/ 111 h 889"/>
                  <a:gd name="T26" fmla="*/ 11 w 802"/>
                  <a:gd name="T27" fmla="*/ 115 h 889"/>
                  <a:gd name="T28" fmla="*/ 17 w 802"/>
                  <a:gd name="T29" fmla="*/ 117 h 889"/>
                  <a:gd name="T30" fmla="*/ 48 w 802"/>
                  <a:gd name="T31" fmla="*/ 115 h 889"/>
                  <a:gd name="T32" fmla="*/ 70 w 802"/>
                  <a:gd name="T33" fmla="*/ 109 h 889"/>
                  <a:gd name="T34" fmla="*/ 77 w 802"/>
                  <a:gd name="T35" fmla="*/ 105 h 889"/>
                  <a:gd name="T36" fmla="*/ 91 w 802"/>
                  <a:gd name="T37" fmla="*/ 86 h 889"/>
                  <a:gd name="T38" fmla="*/ 95 w 802"/>
                  <a:gd name="T39" fmla="*/ 79 h 889"/>
                  <a:gd name="T40" fmla="*/ 101 w 802"/>
                  <a:gd name="T41" fmla="*/ 70 h 889"/>
                  <a:gd name="T42" fmla="*/ 107 w 802"/>
                  <a:gd name="T43" fmla="*/ 59 h 889"/>
                  <a:gd name="T44" fmla="*/ 109 w 802"/>
                  <a:gd name="T45" fmla="*/ 51 h 889"/>
                  <a:gd name="T46" fmla="*/ 88 w 802"/>
                  <a:gd name="T47" fmla="*/ 0 h 889"/>
                  <a:gd name="T48" fmla="*/ 72 w 802"/>
                  <a:gd name="T49" fmla="*/ 3 h 889"/>
                  <a:gd name="T50" fmla="*/ 69 w 802"/>
                  <a:gd name="T51" fmla="*/ 6 h 88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802"/>
                  <a:gd name="T79" fmla="*/ 0 h 889"/>
                  <a:gd name="T80" fmla="*/ 802 w 802"/>
                  <a:gd name="T81" fmla="*/ 889 h 88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5" name="AutoShape 1193"/>
              <p:cNvSpPr>
                <a:spLocks noChangeArrowheads="1"/>
              </p:cNvSpPr>
              <p:nvPr/>
            </p:nvSpPr>
            <p:spPr bwMode="auto">
              <a:xfrm>
                <a:off x="4080" y="2880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49246" name="AutoShape 1194"/>
              <p:cNvSpPr>
                <a:spLocks noChangeArrowheads="1"/>
              </p:cNvSpPr>
              <p:nvPr/>
            </p:nvSpPr>
            <p:spPr bwMode="auto">
              <a:xfrm>
                <a:off x="4560" y="3168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</p:grpSp>
        <p:sp>
          <p:nvSpPr>
            <p:cNvPr id="49162" name="Line 1195"/>
            <p:cNvSpPr>
              <a:spLocks noChangeShapeType="1"/>
            </p:cNvSpPr>
            <p:nvPr/>
          </p:nvSpPr>
          <p:spPr bwMode="auto">
            <a:xfrm>
              <a:off x="2784" y="36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TW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780D553-7EDD-45D2-A1CC-C207858BA021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01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01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AAE5381-754E-44D3-AB74-DD97200936C8}" type="slidenum">
              <a:rPr lang="zh-TW" altLang="en-US" sz="1200" smtClean="0"/>
              <a:pPr eaLnBrk="1" hangingPunct="1"/>
              <a:t>34</a:t>
            </a:fld>
            <a:endParaRPr lang="en-US" altLang="zh-TW" sz="1200" smtClean="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92125"/>
            <a:ext cx="7721600" cy="442913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The</a:t>
            </a:r>
            <a:r>
              <a:rPr lang="en-US" altLang="zh-TW" sz="3200" i="1" smtClean="0">
                <a:ea typeface="新細明體" pitchFamily="18" charset="-120"/>
              </a:rPr>
              <a:t> K</a:t>
            </a:r>
            <a:r>
              <a:rPr lang="en-US" altLang="zh-TW" sz="3200" smtClean="0">
                <a:ea typeface="新細明體" pitchFamily="18" charset="-120"/>
              </a:rPr>
              <a:t>-</a:t>
            </a:r>
            <a:r>
              <a:rPr lang="en-US" altLang="zh-TW" sz="3200" i="1" smtClean="0">
                <a:ea typeface="新細明體" pitchFamily="18" charset="-120"/>
              </a:rPr>
              <a:t>Medoids</a:t>
            </a:r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sz="3200" smtClean="0">
                <a:ea typeface="新細明體" pitchFamily="18" charset="-120"/>
              </a:rPr>
              <a:t>Clustering Method</a:t>
            </a:r>
          </a:p>
        </p:txBody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229600" cy="50292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TW" sz="2000" smtClean="0">
                <a:ea typeface="新細明體" pitchFamily="18" charset="-120"/>
              </a:rPr>
              <a:t>Find </a:t>
            </a:r>
            <a:r>
              <a:rPr lang="en-US" altLang="zh-TW" sz="2000" i="1" smtClean="0">
                <a:ea typeface="新細明體" pitchFamily="18" charset="-120"/>
              </a:rPr>
              <a:t>representative</a:t>
            </a:r>
            <a:r>
              <a:rPr lang="en-US" altLang="zh-TW" sz="2000" smtClean="0">
                <a:ea typeface="新細明體" pitchFamily="18" charset="-120"/>
              </a:rPr>
              <a:t> objects, called </a:t>
            </a:r>
            <a:r>
              <a:rPr lang="en-US" altLang="zh-TW" sz="2000" u="sng" smtClean="0">
                <a:ea typeface="新細明體" pitchFamily="18" charset="-120"/>
              </a:rPr>
              <a:t>medoids</a:t>
            </a:r>
            <a:r>
              <a:rPr lang="en-US" altLang="zh-TW" sz="2000" smtClean="0">
                <a:ea typeface="新細明體" pitchFamily="18" charset="-120"/>
              </a:rPr>
              <a:t>, in clusters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i="1" smtClean="0">
                <a:ea typeface="新細明體" pitchFamily="18" charset="-120"/>
              </a:rPr>
              <a:t>PAM</a:t>
            </a:r>
            <a:r>
              <a:rPr lang="en-US" altLang="zh-TW" sz="2000" smtClean="0">
                <a:ea typeface="新細明體" pitchFamily="18" charset="-120"/>
              </a:rPr>
              <a:t> (Partitioning Around Medoids, 1987)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TW" sz="2000" smtClean="0">
                <a:ea typeface="新細明體" pitchFamily="18" charset="-120"/>
              </a:rPr>
              <a:t>starts from an initial set of medoids and iteratively replaces one of the medoids by one of the non-medoids if it improves the total distance of the resulting clustering</a:t>
            </a:r>
          </a:p>
          <a:p>
            <a:pPr lvl="1" eaLnBrk="1" hangingPunct="1">
              <a:lnSpc>
                <a:spcPct val="140000"/>
              </a:lnSpc>
            </a:pPr>
            <a:r>
              <a:rPr lang="en-US" altLang="zh-TW" sz="2000" i="1" smtClean="0">
                <a:ea typeface="新細明體" pitchFamily="18" charset="-120"/>
              </a:rPr>
              <a:t>PAM</a:t>
            </a:r>
            <a:r>
              <a:rPr lang="en-US" altLang="zh-TW" sz="2000" smtClean="0">
                <a:ea typeface="新細明體" pitchFamily="18" charset="-120"/>
              </a:rPr>
              <a:t> works effectively for small data sets, but does not scale well for large data sets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i="1" smtClean="0">
                <a:ea typeface="新細明體" pitchFamily="18" charset="-120"/>
              </a:rPr>
              <a:t>CLARA</a:t>
            </a:r>
            <a:r>
              <a:rPr lang="en-US" altLang="zh-TW" sz="2000" smtClean="0">
                <a:ea typeface="新細明體" pitchFamily="18" charset="-120"/>
              </a:rPr>
              <a:t> (Kaufmann &amp; Rousseeuw, 1990)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i="1" smtClean="0">
                <a:ea typeface="新細明體" pitchFamily="18" charset="-120"/>
              </a:rPr>
              <a:t>CLARANS</a:t>
            </a:r>
            <a:r>
              <a:rPr lang="en-US" altLang="zh-TW" sz="2000" smtClean="0">
                <a:ea typeface="新細明體" pitchFamily="18" charset="-120"/>
              </a:rPr>
              <a:t> (Ng &amp; Han, 1994): Randomized sampling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TW" sz="2000" smtClean="0">
                <a:ea typeface="新細明體" pitchFamily="18" charset="-120"/>
              </a:rPr>
              <a:t>Focusing + spatial data structure (Ester et al., 1995)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F9893BC-97BE-4CCC-A462-AFE2A5D26CD9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331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331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2A474B4-5464-4EDB-81A0-51AB4E33D0BB}" type="slidenum">
              <a:rPr lang="zh-TW" altLang="en-US" sz="1200" smtClean="0"/>
              <a:pPr eaLnBrk="1" hangingPunct="1"/>
              <a:t>35</a:t>
            </a:fld>
            <a:endParaRPr lang="en-US" altLang="zh-TW" sz="1200" smtClean="0"/>
          </a:p>
        </p:txBody>
      </p:sp>
      <p:sp>
        <p:nvSpPr>
          <p:cNvPr id="13319" name="Rectangle 2050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609600"/>
          </a:xfrm>
        </p:spPr>
        <p:txBody>
          <a:bodyPr/>
          <a:lstStyle/>
          <a:p>
            <a:pPr eaLnBrk="1" hangingPunct="1"/>
            <a:r>
              <a:rPr lang="en-US" altLang="ko-KR" sz="3200" smtClean="0">
                <a:ea typeface="굴림" pitchFamily="34" charset="-127"/>
              </a:rPr>
              <a:t>A Typical K-Medoids Algorithm (PAM)</a:t>
            </a:r>
            <a:endParaRPr lang="en-US" altLang="ko-KR" sz="4800" b="1" i="1" baseline="-25000" smtClean="0">
              <a:ea typeface="굴림" pitchFamily="34" charset="-127"/>
              <a:sym typeface="Symbol" pitchFamily="18" charset="2"/>
            </a:endParaRPr>
          </a:p>
        </p:txBody>
      </p:sp>
      <p:grpSp>
        <p:nvGrpSpPr>
          <p:cNvPr id="13320" name="Group 2051"/>
          <p:cNvGrpSpPr>
            <a:grpSpLocks/>
          </p:cNvGrpSpPr>
          <p:nvPr/>
        </p:nvGrpSpPr>
        <p:grpSpPr bwMode="auto">
          <a:xfrm>
            <a:off x="6705600" y="1676400"/>
            <a:ext cx="2514600" cy="2362200"/>
            <a:chOff x="912" y="864"/>
            <a:chExt cx="1584" cy="1488"/>
          </a:xfrm>
        </p:grpSpPr>
        <p:graphicFrame>
          <p:nvGraphicFramePr>
            <p:cNvPr id="13315" name="Object 2052"/>
            <p:cNvGraphicFramePr>
              <a:graphicFrameLocks noChangeAspect="1"/>
            </p:cNvGraphicFramePr>
            <p:nvPr/>
          </p:nvGraphicFramePr>
          <p:xfrm>
            <a:off x="912" y="864"/>
            <a:ext cx="1584" cy="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16" name="Worksheet" r:id="rId3" imgW="2200656" imgH="2076907" progId="Excel.Sheet.8">
                    <p:embed/>
                  </p:oleObj>
                </mc:Choice>
                <mc:Fallback>
                  <p:oleObj name="Worksheet" r:id="rId3" imgW="2200656" imgH="2076907" progId="Excel.Sheet.8">
                    <p:embed/>
                    <p:pic>
                      <p:nvPicPr>
                        <p:cNvPr id="0" name="Object 20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864"/>
                          <a:ext cx="1584" cy="1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80" name="Line 2053"/>
            <p:cNvSpPr>
              <a:spLocks noChangeShapeType="1"/>
            </p:cNvSpPr>
            <p:nvPr/>
          </p:nvSpPr>
          <p:spPr bwMode="auto">
            <a:xfrm>
              <a:off x="1982" y="1502"/>
              <a:ext cx="0" cy="1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81" name="Oval 2054"/>
            <p:cNvSpPr>
              <a:spLocks noChangeArrowheads="1"/>
            </p:cNvSpPr>
            <p:nvPr/>
          </p:nvSpPr>
          <p:spPr bwMode="auto">
            <a:xfrm>
              <a:off x="1212" y="1034"/>
              <a:ext cx="513" cy="7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82" name="Oval 2055"/>
            <p:cNvSpPr>
              <a:spLocks noChangeArrowheads="1"/>
            </p:cNvSpPr>
            <p:nvPr/>
          </p:nvSpPr>
          <p:spPr bwMode="auto">
            <a:xfrm>
              <a:off x="1725" y="1374"/>
              <a:ext cx="514" cy="63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3321" name="Text Box 2056"/>
          <p:cNvSpPr txBox="1">
            <a:spLocks noChangeArrowheads="1"/>
          </p:cNvSpPr>
          <p:nvPr/>
        </p:nvSpPr>
        <p:spPr bwMode="auto">
          <a:xfrm>
            <a:off x="7735888" y="1371600"/>
            <a:ext cx="1408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altLang="ko-KR" sz="1400">
                <a:ea typeface="굴림" pitchFamily="34" charset="-127"/>
              </a:rPr>
              <a:t>Total Cost = 20</a:t>
            </a:r>
          </a:p>
        </p:txBody>
      </p:sp>
      <p:sp>
        <p:nvSpPr>
          <p:cNvPr id="13322" name="Rectangle 2057"/>
          <p:cNvSpPr>
            <a:spLocks noChangeArrowheads="1"/>
          </p:cNvSpPr>
          <p:nvPr/>
        </p:nvSpPr>
        <p:spPr bwMode="auto">
          <a:xfrm>
            <a:off x="119063" y="1719263"/>
            <a:ext cx="2395537" cy="22542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23" name="Rectangle 2058"/>
          <p:cNvSpPr>
            <a:spLocks noChangeArrowheads="1"/>
          </p:cNvSpPr>
          <p:nvPr/>
        </p:nvSpPr>
        <p:spPr bwMode="auto">
          <a:xfrm>
            <a:off x="369888" y="1903413"/>
            <a:ext cx="2014537" cy="17891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24" name="Line 2059"/>
          <p:cNvSpPr>
            <a:spLocks noChangeShapeType="1"/>
          </p:cNvSpPr>
          <p:nvPr/>
        </p:nvSpPr>
        <p:spPr bwMode="auto">
          <a:xfrm>
            <a:off x="369888" y="3517900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5" name="Line 2060"/>
          <p:cNvSpPr>
            <a:spLocks noChangeShapeType="1"/>
          </p:cNvSpPr>
          <p:nvPr/>
        </p:nvSpPr>
        <p:spPr bwMode="auto">
          <a:xfrm>
            <a:off x="369888" y="3333750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6" name="Line 2061"/>
          <p:cNvSpPr>
            <a:spLocks noChangeShapeType="1"/>
          </p:cNvSpPr>
          <p:nvPr/>
        </p:nvSpPr>
        <p:spPr bwMode="auto">
          <a:xfrm>
            <a:off x="369888" y="316071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7" name="Line 2062"/>
          <p:cNvSpPr>
            <a:spLocks noChangeShapeType="1"/>
          </p:cNvSpPr>
          <p:nvPr/>
        </p:nvSpPr>
        <p:spPr bwMode="auto">
          <a:xfrm>
            <a:off x="369888" y="297656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8" name="Line 2063"/>
          <p:cNvSpPr>
            <a:spLocks noChangeShapeType="1"/>
          </p:cNvSpPr>
          <p:nvPr/>
        </p:nvSpPr>
        <p:spPr bwMode="auto">
          <a:xfrm>
            <a:off x="369888" y="280352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9" name="Line 2064"/>
          <p:cNvSpPr>
            <a:spLocks noChangeShapeType="1"/>
          </p:cNvSpPr>
          <p:nvPr/>
        </p:nvSpPr>
        <p:spPr bwMode="auto">
          <a:xfrm>
            <a:off x="369888" y="261937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0" name="Line 2065"/>
          <p:cNvSpPr>
            <a:spLocks noChangeShapeType="1"/>
          </p:cNvSpPr>
          <p:nvPr/>
        </p:nvSpPr>
        <p:spPr bwMode="auto">
          <a:xfrm>
            <a:off x="369888" y="2446338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1" name="Line 2066"/>
          <p:cNvSpPr>
            <a:spLocks noChangeShapeType="1"/>
          </p:cNvSpPr>
          <p:nvPr/>
        </p:nvSpPr>
        <p:spPr bwMode="auto">
          <a:xfrm>
            <a:off x="369888" y="2262188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2" name="Line 2067"/>
          <p:cNvSpPr>
            <a:spLocks noChangeShapeType="1"/>
          </p:cNvSpPr>
          <p:nvPr/>
        </p:nvSpPr>
        <p:spPr bwMode="auto">
          <a:xfrm>
            <a:off x="369888" y="208756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3" name="Line 2068"/>
          <p:cNvSpPr>
            <a:spLocks noChangeShapeType="1"/>
          </p:cNvSpPr>
          <p:nvPr/>
        </p:nvSpPr>
        <p:spPr bwMode="auto">
          <a:xfrm>
            <a:off x="369888" y="1903413"/>
            <a:ext cx="2014537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4" name="Line 2069"/>
          <p:cNvSpPr>
            <a:spLocks noChangeShapeType="1"/>
          </p:cNvSpPr>
          <p:nvPr/>
        </p:nvSpPr>
        <p:spPr bwMode="auto">
          <a:xfrm>
            <a:off x="57626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5" name="Line 2070"/>
          <p:cNvSpPr>
            <a:spLocks noChangeShapeType="1"/>
          </p:cNvSpPr>
          <p:nvPr/>
        </p:nvSpPr>
        <p:spPr bwMode="auto">
          <a:xfrm>
            <a:off x="77311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6" name="Line 2071"/>
          <p:cNvSpPr>
            <a:spLocks noChangeShapeType="1"/>
          </p:cNvSpPr>
          <p:nvPr/>
        </p:nvSpPr>
        <p:spPr bwMode="auto">
          <a:xfrm>
            <a:off x="97948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7" name="Line 2072"/>
          <p:cNvSpPr>
            <a:spLocks noChangeShapeType="1"/>
          </p:cNvSpPr>
          <p:nvPr/>
        </p:nvSpPr>
        <p:spPr bwMode="auto">
          <a:xfrm>
            <a:off x="117633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8" name="Line 2073"/>
          <p:cNvSpPr>
            <a:spLocks noChangeShapeType="1"/>
          </p:cNvSpPr>
          <p:nvPr/>
        </p:nvSpPr>
        <p:spPr bwMode="auto">
          <a:xfrm>
            <a:off x="1382713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9" name="Line 2074"/>
          <p:cNvSpPr>
            <a:spLocks noChangeShapeType="1"/>
          </p:cNvSpPr>
          <p:nvPr/>
        </p:nvSpPr>
        <p:spPr bwMode="auto">
          <a:xfrm>
            <a:off x="157797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0" name="Line 2075"/>
          <p:cNvSpPr>
            <a:spLocks noChangeShapeType="1"/>
          </p:cNvSpPr>
          <p:nvPr/>
        </p:nvSpPr>
        <p:spPr bwMode="auto">
          <a:xfrm>
            <a:off x="178593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1" name="Line 2076"/>
          <p:cNvSpPr>
            <a:spLocks noChangeShapeType="1"/>
          </p:cNvSpPr>
          <p:nvPr/>
        </p:nvSpPr>
        <p:spPr bwMode="auto">
          <a:xfrm>
            <a:off x="1981200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2" name="Line 2077"/>
          <p:cNvSpPr>
            <a:spLocks noChangeShapeType="1"/>
          </p:cNvSpPr>
          <p:nvPr/>
        </p:nvSpPr>
        <p:spPr bwMode="auto">
          <a:xfrm>
            <a:off x="218757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3" name="Line 2078"/>
          <p:cNvSpPr>
            <a:spLocks noChangeShapeType="1"/>
          </p:cNvSpPr>
          <p:nvPr/>
        </p:nvSpPr>
        <p:spPr bwMode="auto">
          <a:xfrm>
            <a:off x="2384425" y="1903413"/>
            <a:ext cx="1588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4" name="Rectangle 2079"/>
          <p:cNvSpPr>
            <a:spLocks noChangeArrowheads="1"/>
          </p:cNvSpPr>
          <p:nvPr/>
        </p:nvSpPr>
        <p:spPr bwMode="auto">
          <a:xfrm>
            <a:off x="369888" y="1903413"/>
            <a:ext cx="2014537" cy="1789112"/>
          </a:xfrm>
          <a:prstGeom prst="rect">
            <a:avLst/>
          </a:prstGeom>
          <a:noFill/>
          <a:ln w="1111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45" name="Line 2080"/>
          <p:cNvSpPr>
            <a:spLocks noChangeShapeType="1"/>
          </p:cNvSpPr>
          <p:nvPr/>
        </p:nvSpPr>
        <p:spPr bwMode="auto">
          <a:xfrm>
            <a:off x="369888" y="1903413"/>
            <a:ext cx="1587" cy="1789112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6" name="Line 2081"/>
          <p:cNvSpPr>
            <a:spLocks noChangeShapeType="1"/>
          </p:cNvSpPr>
          <p:nvPr/>
        </p:nvSpPr>
        <p:spPr bwMode="auto">
          <a:xfrm>
            <a:off x="347663" y="369252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7" name="Line 2082"/>
          <p:cNvSpPr>
            <a:spLocks noChangeShapeType="1"/>
          </p:cNvSpPr>
          <p:nvPr/>
        </p:nvSpPr>
        <p:spPr bwMode="auto">
          <a:xfrm>
            <a:off x="347663" y="3517900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8" name="Line 2083"/>
          <p:cNvSpPr>
            <a:spLocks noChangeShapeType="1"/>
          </p:cNvSpPr>
          <p:nvPr/>
        </p:nvSpPr>
        <p:spPr bwMode="auto">
          <a:xfrm>
            <a:off x="347663" y="3333750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49" name="Line 2084"/>
          <p:cNvSpPr>
            <a:spLocks noChangeShapeType="1"/>
          </p:cNvSpPr>
          <p:nvPr/>
        </p:nvSpPr>
        <p:spPr bwMode="auto">
          <a:xfrm>
            <a:off x="347663" y="316071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0" name="Line 2085"/>
          <p:cNvSpPr>
            <a:spLocks noChangeShapeType="1"/>
          </p:cNvSpPr>
          <p:nvPr/>
        </p:nvSpPr>
        <p:spPr bwMode="auto">
          <a:xfrm>
            <a:off x="347663" y="297656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1" name="Line 2086"/>
          <p:cNvSpPr>
            <a:spLocks noChangeShapeType="1"/>
          </p:cNvSpPr>
          <p:nvPr/>
        </p:nvSpPr>
        <p:spPr bwMode="auto">
          <a:xfrm>
            <a:off x="347663" y="280352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2" name="Line 2087"/>
          <p:cNvSpPr>
            <a:spLocks noChangeShapeType="1"/>
          </p:cNvSpPr>
          <p:nvPr/>
        </p:nvSpPr>
        <p:spPr bwMode="auto">
          <a:xfrm>
            <a:off x="347663" y="2619375"/>
            <a:ext cx="222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3" name="Line 2088"/>
          <p:cNvSpPr>
            <a:spLocks noChangeShapeType="1"/>
          </p:cNvSpPr>
          <p:nvPr/>
        </p:nvSpPr>
        <p:spPr bwMode="auto">
          <a:xfrm>
            <a:off x="347663" y="2446338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4" name="Line 2089"/>
          <p:cNvSpPr>
            <a:spLocks noChangeShapeType="1"/>
          </p:cNvSpPr>
          <p:nvPr/>
        </p:nvSpPr>
        <p:spPr bwMode="auto">
          <a:xfrm>
            <a:off x="347663" y="2262188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5" name="Line 2090"/>
          <p:cNvSpPr>
            <a:spLocks noChangeShapeType="1"/>
          </p:cNvSpPr>
          <p:nvPr/>
        </p:nvSpPr>
        <p:spPr bwMode="auto">
          <a:xfrm>
            <a:off x="347663" y="208756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6" name="Line 2091"/>
          <p:cNvSpPr>
            <a:spLocks noChangeShapeType="1"/>
          </p:cNvSpPr>
          <p:nvPr/>
        </p:nvSpPr>
        <p:spPr bwMode="auto">
          <a:xfrm>
            <a:off x="347663" y="1903413"/>
            <a:ext cx="222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7" name="Line 2092"/>
          <p:cNvSpPr>
            <a:spLocks noChangeShapeType="1"/>
          </p:cNvSpPr>
          <p:nvPr/>
        </p:nvSpPr>
        <p:spPr bwMode="auto">
          <a:xfrm>
            <a:off x="369888" y="3692525"/>
            <a:ext cx="2014537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8" name="Line 2093"/>
          <p:cNvSpPr>
            <a:spLocks noChangeShapeType="1"/>
          </p:cNvSpPr>
          <p:nvPr/>
        </p:nvSpPr>
        <p:spPr bwMode="auto">
          <a:xfrm flipV="1">
            <a:off x="36988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59" name="Line 2094"/>
          <p:cNvSpPr>
            <a:spLocks noChangeShapeType="1"/>
          </p:cNvSpPr>
          <p:nvPr/>
        </p:nvSpPr>
        <p:spPr bwMode="auto">
          <a:xfrm flipV="1">
            <a:off x="57626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0" name="Line 2095"/>
          <p:cNvSpPr>
            <a:spLocks noChangeShapeType="1"/>
          </p:cNvSpPr>
          <p:nvPr/>
        </p:nvSpPr>
        <p:spPr bwMode="auto">
          <a:xfrm flipV="1">
            <a:off x="77311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1" name="Line 2096"/>
          <p:cNvSpPr>
            <a:spLocks noChangeShapeType="1"/>
          </p:cNvSpPr>
          <p:nvPr/>
        </p:nvSpPr>
        <p:spPr bwMode="auto">
          <a:xfrm flipV="1">
            <a:off x="97948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2" name="Line 2097"/>
          <p:cNvSpPr>
            <a:spLocks noChangeShapeType="1"/>
          </p:cNvSpPr>
          <p:nvPr/>
        </p:nvSpPr>
        <p:spPr bwMode="auto">
          <a:xfrm flipV="1">
            <a:off x="117633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3" name="Line 2098"/>
          <p:cNvSpPr>
            <a:spLocks noChangeShapeType="1"/>
          </p:cNvSpPr>
          <p:nvPr/>
        </p:nvSpPr>
        <p:spPr bwMode="auto">
          <a:xfrm flipV="1">
            <a:off x="1382713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4" name="Line 2099"/>
          <p:cNvSpPr>
            <a:spLocks noChangeShapeType="1"/>
          </p:cNvSpPr>
          <p:nvPr/>
        </p:nvSpPr>
        <p:spPr bwMode="auto">
          <a:xfrm flipV="1">
            <a:off x="157797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5" name="Line 2100"/>
          <p:cNvSpPr>
            <a:spLocks noChangeShapeType="1"/>
          </p:cNvSpPr>
          <p:nvPr/>
        </p:nvSpPr>
        <p:spPr bwMode="auto">
          <a:xfrm flipV="1">
            <a:off x="1785938" y="36925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6" name="Line 2101"/>
          <p:cNvSpPr>
            <a:spLocks noChangeShapeType="1"/>
          </p:cNvSpPr>
          <p:nvPr/>
        </p:nvSpPr>
        <p:spPr bwMode="auto">
          <a:xfrm flipV="1">
            <a:off x="1981200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7" name="Line 2102"/>
          <p:cNvSpPr>
            <a:spLocks noChangeShapeType="1"/>
          </p:cNvSpPr>
          <p:nvPr/>
        </p:nvSpPr>
        <p:spPr bwMode="auto">
          <a:xfrm flipV="1">
            <a:off x="218757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8" name="Line 2103"/>
          <p:cNvSpPr>
            <a:spLocks noChangeShapeType="1"/>
          </p:cNvSpPr>
          <p:nvPr/>
        </p:nvSpPr>
        <p:spPr bwMode="auto">
          <a:xfrm flipV="1">
            <a:off x="2384425" y="36925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69" name="Freeform 2104"/>
          <p:cNvSpPr>
            <a:spLocks/>
          </p:cNvSpPr>
          <p:nvPr/>
        </p:nvSpPr>
        <p:spPr bwMode="auto">
          <a:xfrm>
            <a:off x="903288" y="2900363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0" name="Freeform 2105"/>
          <p:cNvSpPr>
            <a:spLocks/>
          </p:cNvSpPr>
          <p:nvPr/>
        </p:nvSpPr>
        <p:spPr bwMode="auto">
          <a:xfrm>
            <a:off x="696913" y="2543175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1" name="Freeform 2106"/>
          <p:cNvSpPr>
            <a:spLocks/>
          </p:cNvSpPr>
          <p:nvPr/>
        </p:nvSpPr>
        <p:spPr bwMode="auto">
          <a:xfrm>
            <a:off x="1709738" y="3084513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2" name="Freeform 2107"/>
          <p:cNvSpPr>
            <a:spLocks/>
          </p:cNvSpPr>
          <p:nvPr/>
        </p:nvSpPr>
        <p:spPr bwMode="auto">
          <a:xfrm>
            <a:off x="1100138" y="2370138"/>
            <a:ext cx="152400" cy="150812"/>
          </a:xfrm>
          <a:custGeom>
            <a:avLst/>
            <a:gdLst>
              <a:gd name="T0" fmla="*/ 2147483647 w 96"/>
              <a:gd name="T1" fmla="*/ 0 h 95"/>
              <a:gd name="T2" fmla="*/ 2147483647 w 96"/>
              <a:gd name="T3" fmla="*/ 2147483647 h 95"/>
              <a:gd name="T4" fmla="*/ 2147483647 w 96"/>
              <a:gd name="T5" fmla="*/ 2147483647 h 95"/>
              <a:gd name="T6" fmla="*/ 0 w 96"/>
              <a:gd name="T7" fmla="*/ 2147483647 h 95"/>
              <a:gd name="T8" fmla="*/ 2147483647 w 96"/>
              <a:gd name="T9" fmla="*/ 0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5"/>
              <a:gd name="T17" fmla="*/ 96 w 96"/>
              <a:gd name="T18" fmla="*/ 95 h 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5">
                <a:moveTo>
                  <a:pt x="48" y="0"/>
                </a:moveTo>
                <a:lnTo>
                  <a:pt x="96" y="48"/>
                </a:lnTo>
                <a:lnTo>
                  <a:pt x="48" y="95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3" name="Freeform 2108"/>
          <p:cNvSpPr>
            <a:spLocks/>
          </p:cNvSpPr>
          <p:nvPr/>
        </p:nvSpPr>
        <p:spPr bwMode="auto">
          <a:xfrm>
            <a:off x="1905000" y="2727325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4" name="Freeform 2109"/>
          <p:cNvSpPr>
            <a:spLocks/>
          </p:cNvSpPr>
          <p:nvPr/>
        </p:nvSpPr>
        <p:spPr bwMode="auto">
          <a:xfrm>
            <a:off x="1501775" y="3259138"/>
            <a:ext cx="152400" cy="150812"/>
          </a:xfrm>
          <a:custGeom>
            <a:avLst/>
            <a:gdLst>
              <a:gd name="T0" fmla="*/ 2147483647 w 96"/>
              <a:gd name="T1" fmla="*/ 0 h 95"/>
              <a:gd name="T2" fmla="*/ 2147483647 w 96"/>
              <a:gd name="T3" fmla="*/ 2147483647 h 95"/>
              <a:gd name="T4" fmla="*/ 2147483647 w 96"/>
              <a:gd name="T5" fmla="*/ 2147483647 h 95"/>
              <a:gd name="T6" fmla="*/ 0 w 96"/>
              <a:gd name="T7" fmla="*/ 2147483647 h 95"/>
              <a:gd name="T8" fmla="*/ 2147483647 w 96"/>
              <a:gd name="T9" fmla="*/ 0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5"/>
              <a:gd name="T17" fmla="*/ 96 w 96"/>
              <a:gd name="T18" fmla="*/ 95 h 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5">
                <a:moveTo>
                  <a:pt x="48" y="0"/>
                </a:moveTo>
                <a:lnTo>
                  <a:pt x="96" y="47"/>
                </a:lnTo>
                <a:lnTo>
                  <a:pt x="48" y="95"/>
                </a:lnTo>
                <a:lnTo>
                  <a:pt x="0" y="47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5" name="Freeform 2110"/>
          <p:cNvSpPr>
            <a:spLocks/>
          </p:cNvSpPr>
          <p:nvPr/>
        </p:nvSpPr>
        <p:spPr bwMode="auto">
          <a:xfrm>
            <a:off x="1709738" y="2900363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6" name="Freeform 2111"/>
          <p:cNvSpPr>
            <a:spLocks/>
          </p:cNvSpPr>
          <p:nvPr/>
        </p:nvSpPr>
        <p:spPr bwMode="auto">
          <a:xfrm>
            <a:off x="1709738" y="2543175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377" name="Rectangle 2112"/>
          <p:cNvSpPr>
            <a:spLocks noChangeArrowheads="1"/>
          </p:cNvSpPr>
          <p:nvPr/>
        </p:nvSpPr>
        <p:spPr bwMode="auto">
          <a:xfrm>
            <a:off x="282575" y="365918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78" name="Rectangle 2113"/>
          <p:cNvSpPr>
            <a:spLocks noChangeArrowheads="1"/>
          </p:cNvSpPr>
          <p:nvPr/>
        </p:nvSpPr>
        <p:spPr bwMode="auto">
          <a:xfrm>
            <a:off x="282575" y="348615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1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79" name="Rectangle 2114"/>
          <p:cNvSpPr>
            <a:spLocks noChangeArrowheads="1"/>
          </p:cNvSpPr>
          <p:nvPr/>
        </p:nvSpPr>
        <p:spPr bwMode="auto">
          <a:xfrm>
            <a:off x="282575" y="330200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2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0" name="Rectangle 2115"/>
          <p:cNvSpPr>
            <a:spLocks noChangeArrowheads="1"/>
          </p:cNvSpPr>
          <p:nvPr/>
        </p:nvSpPr>
        <p:spPr bwMode="auto">
          <a:xfrm>
            <a:off x="282575" y="312896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3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1" name="Rectangle 2116"/>
          <p:cNvSpPr>
            <a:spLocks noChangeArrowheads="1"/>
          </p:cNvSpPr>
          <p:nvPr/>
        </p:nvSpPr>
        <p:spPr bwMode="auto">
          <a:xfrm>
            <a:off x="282575" y="294481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4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2" name="Rectangle 2117"/>
          <p:cNvSpPr>
            <a:spLocks noChangeArrowheads="1"/>
          </p:cNvSpPr>
          <p:nvPr/>
        </p:nvSpPr>
        <p:spPr bwMode="auto">
          <a:xfrm>
            <a:off x="282575" y="277018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5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3" name="Rectangle 2118"/>
          <p:cNvSpPr>
            <a:spLocks noChangeArrowheads="1"/>
          </p:cNvSpPr>
          <p:nvPr/>
        </p:nvSpPr>
        <p:spPr bwMode="auto">
          <a:xfrm>
            <a:off x="282575" y="25860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6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4" name="Rectangle 2119"/>
          <p:cNvSpPr>
            <a:spLocks noChangeArrowheads="1"/>
          </p:cNvSpPr>
          <p:nvPr/>
        </p:nvSpPr>
        <p:spPr bwMode="auto">
          <a:xfrm>
            <a:off x="282575" y="241300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7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5" name="Rectangle 2120"/>
          <p:cNvSpPr>
            <a:spLocks noChangeArrowheads="1"/>
          </p:cNvSpPr>
          <p:nvPr/>
        </p:nvSpPr>
        <p:spPr bwMode="auto">
          <a:xfrm>
            <a:off x="282575" y="2228850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8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6" name="Rectangle 2121"/>
          <p:cNvSpPr>
            <a:spLocks noChangeArrowheads="1"/>
          </p:cNvSpPr>
          <p:nvPr/>
        </p:nvSpPr>
        <p:spPr bwMode="auto">
          <a:xfrm>
            <a:off x="282575" y="2055813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9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7" name="Rectangle 2122"/>
          <p:cNvSpPr>
            <a:spLocks noChangeArrowheads="1"/>
          </p:cNvSpPr>
          <p:nvPr/>
        </p:nvSpPr>
        <p:spPr bwMode="auto">
          <a:xfrm>
            <a:off x="250825" y="1871663"/>
            <a:ext cx="33338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10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8" name="Rectangle 2123"/>
          <p:cNvSpPr>
            <a:spLocks noChangeArrowheads="1"/>
          </p:cNvSpPr>
          <p:nvPr/>
        </p:nvSpPr>
        <p:spPr bwMode="auto">
          <a:xfrm>
            <a:off x="35877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89" name="Rectangle 2124"/>
          <p:cNvSpPr>
            <a:spLocks noChangeArrowheads="1"/>
          </p:cNvSpPr>
          <p:nvPr/>
        </p:nvSpPr>
        <p:spPr bwMode="auto">
          <a:xfrm>
            <a:off x="566738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1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0" name="Rectangle 2125"/>
          <p:cNvSpPr>
            <a:spLocks noChangeArrowheads="1"/>
          </p:cNvSpPr>
          <p:nvPr/>
        </p:nvSpPr>
        <p:spPr bwMode="auto">
          <a:xfrm>
            <a:off x="762000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2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1" name="Rectangle 2126"/>
          <p:cNvSpPr>
            <a:spLocks noChangeArrowheads="1"/>
          </p:cNvSpPr>
          <p:nvPr/>
        </p:nvSpPr>
        <p:spPr bwMode="auto">
          <a:xfrm>
            <a:off x="96837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3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2" name="Rectangle 2127"/>
          <p:cNvSpPr>
            <a:spLocks noChangeArrowheads="1"/>
          </p:cNvSpPr>
          <p:nvPr/>
        </p:nvSpPr>
        <p:spPr bwMode="auto">
          <a:xfrm>
            <a:off x="116522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4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3" name="Rectangle 2128"/>
          <p:cNvSpPr>
            <a:spLocks noChangeArrowheads="1"/>
          </p:cNvSpPr>
          <p:nvPr/>
        </p:nvSpPr>
        <p:spPr bwMode="auto">
          <a:xfrm>
            <a:off x="1371600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5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4" name="Rectangle 2129"/>
          <p:cNvSpPr>
            <a:spLocks noChangeArrowheads="1"/>
          </p:cNvSpPr>
          <p:nvPr/>
        </p:nvSpPr>
        <p:spPr bwMode="auto">
          <a:xfrm>
            <a:off x="1566863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6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5" name="Rectangle 2130"/>
          <p:cNvSpPr>
            <a:spLocks noChangeArrowheads="1"/>
          </p:cNvSpPr>
          <p:nvPr/>
        </p:nvSpPr>
        <p:spPr bwMode="auto">
          <a:xfrm>
            <a:off x="1774825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7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6" name="Rectangle 2131"/>
          <p:cNvSpPr>
            <a:spLocks noChangeArrowheads="1"/>
          </p:cNvSpPr>
          <p:nvPr/>
        </p:nvSpPr>
        <p:spPr bwMode="auto">
          <a:xfrm>
            <a:off x="1970088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8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7" name="Rectangle 2132"/>
          <p:cNvSpPr>
            <a:spLocks noChangeArrowheads="1"/>
          </p:cNvSpPr>
          <p:nvPr/>
        </p:nvSpPr>
        <p:spPr bwMode="auto">
          <a:xfrm>
            <a:off x="2176463" y="3767138"/>
            <a:ext cx="22225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9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8" name="Rectangle 2133"/>
          <p:cNvSpPr>
            <a:spLocks noChangeArrowheads="1"/>
          </p:cNvSpPr>
          <p:nvPr/>
        </p:nvSpPr>
        <p:spPr bwMode="auto">
          <a:xfrm>
            <a:off x="2351088" y="3767138"/>
            <a:ext cx="33337" cy="3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500">
                <a:solidFill>
                  <a:srgbClr val="000000"/>
                </a:solidFill>
                <a:latin typeface="Small Fonts" charset="0"/>
                <a:ea typeface="굴림" pitchFamily="34" charset="-127"/>
              </a:rPr>
              <a:t>10</a:t>
            </a:r>
            <a:endParaRPr lang="ko-KR" altLang="en-US">
              <a:ea typeface="굴림" pitchFamily="34" charset="-127"/>
            </a:endParaRPr>
          </a:p>
        </p:txBody>
      </p:sp>
      <p:sp>
        <p:nvSpPr>
          <p:cNvPr id="13399" name="Rectangle 2134"/>
          <p:cNvSpPr>
            <a:spLocks noChangeArrowheads="1"/>
          </p:cNvSpPr>
          <p:nvPr/>
        </p:nvSpPr>
        <p:spPr bwMode="auto">
          <a:xfrm>
            <a:off x="119063" y="1719263"/>
            <a:ext cx="2395537" cy="2254250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400" name="Freeform 2135"/>
          <p:cNvSpPr>
            <a:spLocks/>
          </p:cNvSpPr>
          <p:nvPr/>
        </p:nvSpPr>
        <p:spPr bwMode="auto">
          <a:xfrm>
            <a:off x="914400" y="2211388"/>
            <a:ext cx="152400" cy="150812"/>
          </a:xfrm>
          <a:custGeom>
            <a:avLst/>
            <a:gdLst>
              <a:gd name="T0" fmla="*/ 2147483647 w 96"/>
              <a:gd name="T1" fmla="*/ 0 h 95"/>
              <a:gd name="T2" fmla="*/ 2147483647 w 96"/>
              <a:gd name="T3" fmla="*/ 2147483647 h 95"/>
              <a:gd name="T4" fmla="*/ 2147483647 w 96"/>
              <a:gd name="T5" fmla="*/ 2147483647 h 95"/>
              <a:gd name="T6" fmla="*/ 0 w 96"/>
              <a:gd name="T7" fmla="*/ 2147483647 h 95"/>
              <a:gd name="T8" fmla="*/ 2147483647 w 96"/>
              <a:gd name="T9" fmla="*/ 0 h 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5"/>
              <a:gd name="T17" fmla="*/ 96 w 96"/>
              <a:gd name="T18" fmla="*/ 95 h 9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5">
                <a:moveTo>
                  <a:pt x="48" y="0"/>
                </a:moveTo>
                <a:lnTo>
                  <a:pt x="96" y="48"/>
                </a:lnTo>
                <a:lnTo>
                  <a:pt x="48" y="95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401" name="Freeform 2136"/>
          <p:cNvSpPr>
            <a:spLocks/>
          </p:cNvSpPr>
          <p:nvPr/>
        </p:nvSpPr>
        <p:spPr bwMode="auto">
          <a:xfrm>
            <a:off x="1524000" y="3048000"/>
            <a:ext cx="152400" cy="152400"/>
          </a:xfrm>
          <a:custGeom>
            <a:avLst/>
            <a:gdLst>
              <a:gd name="T0" fmla="*/ 2147483647 w 96"/>
              <a:gd name="T1" fmla="*/ 0 h 96"/>
              <a:gd name="T2" fmla="*/ 2147483647 w 96"/>
              <a:gd name="T3" fmla="*/ 2147483647 h 96"/>
              <a:gd name="T4" fmla="*/ 2147483647 w 96"/>
              <a:gd name="T5" fmla="*/ 2147483647 h 96"/>
              <a:gd name="T6" fmla="*/ 0 w 96"/>
              <a:gd name="T7" fmla="*/ 2147483647 h 96"/>
              <a:gd name="T8" fmla="*/ 2147483647 w 96"/>
              <a:gd name="T9" fmla="*/ 0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96"/>
              <a:gd name="T17" fmla="*/ 96 w 96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96">
                <a:moveTo>
                  <a:pt x="48" y="0"/>
                </a:moveTo>
                <a:lnTo>
                  <a:pt x="96" y="48"/>
                </a:lnTo>
                <a:lnTo>
                  <a:pt x="48" y="96"/>
                </a:lnTo>
                <a:lnTo>
                  <a:pt x="0" y="48"/>
                </a:lnTo>
                <a:lnTo>
                  <a:pt x="48" y="0"/>
                </a:lnTo>
                <a:close/>
              </a:path>
            </a:pathLst>
          </a:custGeom>
          <a:solidFill>
            <a:srgbClr val="00FFFF"/>
          </a:solidFill>
          <a:ln w="11113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3402" name="Text Box 2137"/>
          <p:cNvSpPr txBox="1">
            <a:spLocks noChangeArrowheads="1"/>
          </p:cNvSpPr>
          <p:nvPr/>
        </p:nvSpPr>
        <p:spPr bwMode="auto">
          <a:xfrm>
            <a:off x="136525" y="3886200"/>
            <a:ext cx="75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/>
            <a:r>
              <a:rPr lang="en-US" altLang="ko-KR">
                <a:ea typeface="굴림" pitchFamily="34" charset="-127"/>
              </a:rPr>
              <a:t>K=2</a:t>
            </a:r>
          </a:p>
        </p:txBody>
      </p:sp>
      <p:sp>
        <p:nvSpPr>
          <p:cNvPr id="13403" name="Line 2138"/>
          <p:cNvSpPr>
            <a:spLocks noChangeShapeType="1"/>
          </p:cNvSpPr>
          <p:nvPr/>
        </p:nvSpPr>
        <p:spPr bwMode="auto">
          <a:xfrm>
            <a:off x="2590800" y="2057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04" name="Text Box 2139"/>
          <p:cNvSpPr txBox="1">
            <a:spLocks noChangeArrowheads="1"/>
          </p:cNvSpPr>
          <p:nvPr/>
        </p:nvSpPr>
        <p:spPr bwMode="auto">
          <a:xfrm>
            <a:off x="2590800" y="2362200"/>
            <a:ext cx="9144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Arbitrary choose k object as initial medoids</a:t>
            </a:r>
          </a:p>
        </p:txBody>
      </p:sp>
      <p:graphicFrame>
        <p:nvGraphicFramePr>
          <p:cNvPr id="13314" name="Object 2140"/>
          <p:cNvGraphicFramePr>
            <a:graphicFrameLocks noChangeAspect="1"/>
          </p:cNvGraphicFramePr>
          <p:nvPr/>
        </p:nvGraphicFramePr>
        <p:xfrm>
          <a:off x="3429000" y="1676400"/>
          <a:ext cx="25146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17" name="Worksheet" r:id="rId5" imgW="2200656" imgH="2076907" progId="Excel.Sheet.8">
                  <p:embed/>
                </p:oleObj>
              </mc:Choice>
              <mc:Fallback>
                <p:oleObj name="Worksheet" r:id="rId5" imgW="2200656" imgH="2076907" progId="Excel.Sheet.8">
                  <p:embed/>
                  <p:pic>
                    <p:nvPicPr>
                      <p:cNvPr id="0" name="Object 2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676400"/>
                        <a:ext cx="2514600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05" name="Line 2141"/>
          <p:cNvSpPr>
            <a:spLocks noChangeShapeType="1"/>
          </p:cNvSpPr>
          <p:nvPr/>
        </p:nvSpPr>
        <p:spPr bwMode="auto">
          <a:xfrm>
            <a:off x="5127625" y="2689225"/>
            <a:ext cx="0" cy="201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sp>
        <p:nvSpPr>
          <p:cNvPr id="13406" name="Line 2142"/>
          <p:cNvSpPr>
            <a:spLocks noChangeShapeType="1"/>
          </p:cNvSpPr>
          <p:nvPr/>
        </p:nvSpPr>
        <p:spPr bwMode="auto">
          <a:xfrm>
            <a:off x="5943600" y="2133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07" name="Text Box 2143"/>
          <p:cNvSpPr txBox="1">
            <a:spLocks noChangeArrowheads="1"/>
          </p:cNvSpPr>
          <p:nvPr/>
        </p:nvSpPr>
        <p:spPr bwMode="auto">
          <a:xfrm>
            <a:off x="5867400" y="2362200"/>
            <a:ext cx="9144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Assign each remaining object to nearest medoids</a:t>
            </a:r>
          </a:p>
        </p:txBody>
      </p:sp>
      <p:sp>
        <p:nvSpPr>
          <p:cNvPr id="13408" name="Line 2144"/>
          <p:cNvSpPr>
            <a:spLocks noChangeShapeType="1"/>
          </p:cNvSpPr>
          <p:nvPr/>
        </p:nvSpPr>
        <p:spPr bwMode="auto">
          <a:xfrm>
            <a:off x="67818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09" name="Text Box 2145"/>
          <p:cNvSpPr txBox="1">
            <a:spLocks noChangeArrowheads="1"/>
          </p:cNvSpPr>
          <p:nvPr/>
        </p:nvSpPr>
        <p:spPr bwMode="auto">
          <a:xfrm>
            <a:off x="6934200" y="4038600"/>
            <a:ext cx="22098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Randomly select a nonmedoid object,O</a:t>
            </a:r>
            <a:r>
              <a:rPr lang="en-US" altLang="ko-KR" sz="1400" baseline="-25000">
                <a:ea typeface="굴림" pitchFamily="34" charset="-127"/>
              </a:rPr>
              <a:t>ramdom</a:t>
            </a:r>
          </a:p>
        </p:txBody>
      </p:sp>
      <p:sp>
        <p:nvSpPr>
          <p:cNvPr id="13410" name="Line 2146"/>
          <p:cNvSpPr>
            <a:spLocks noChangeShapeType="1"/>
          </p:cNvSpPr>
          <p:nvPr/>
        </p:nvSpPr>
        <p:spPr bwMode="auto">
          <a:xfrm flipH="1">
            <a:off x="6019800" y="4724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11" name="Text Box 2147"/>
          <p:cNvSpPr txBox="1">
            <a:spLocks noChangeArrowheads="1"/>
          </p:cNvSpPr>
          <p:nvPr/>
        </p:nvSpPr>
        <p:spPr bwMode="auto">
          <a:xfrm>
            <a:off x="5715000" y="4876800"/>
            <a:ext cx="1143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Compute total cost of swapping</a:t>
            </a:r>
          </a:p>
        </p:txBody>
      </p:sp>
      <p:grpSp>
        <p:nvGrpSpPr>
          <p:cNvPr id="13412" name="Group 2148"/>
          <p:cNvGrpSpPr>
            <a:grpSpLocks/>
          </p:cNvGrpSpPr>
          <p:nvPr/>
        </p:nvGrpSpPr>
        <p:grpSpPr bwMode="auto">
          <a:xfrm>
            <a:off x="3544888" y="4611688"/>
            <a:ext cx="2176462" cy="2035175"/>
            <a:chOff x="2233" y="2905"/>
            <a:chExt cx="1371" cy="1282"/>
          </a:xfrm>
        </p:grpSpPr>
        <p:sp>
          <p:nvSpPr>
            <p:cNvPr id="13499" name="Rectangle 2149"/>
            <p:cNvSpPr>
              <a:spLocks noChangeArrowheads="1"/>
            </p:cNvSpPr>
            <p:nvPr/>
          </p:nvSpPr>
          <p:spPr bwMode="auto">
            <a:xfrm>
              <a:off x="2233" y="2905"/>
              <a:ext cx="1371" cy="128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00" name="Rectangle 2150"/>
            <p:cNvSpPr>
              <a:spLocks noChangeArrowheads="1"/>
            </p:cNvSpPr>
            <p:nvPr/>
          </p:nvSpPr>
          <p:spPr bwMode="auto">
            <a:xfrm>
              <a:off x="2376" y="3009"/>
              <a:ext cx="1154" cy="10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01" name="Line 2151"/>
            <p:cNvSpPr>
              <a:spLocks noChangeShapeType="1"/>
            </p:cNvSpPr>
            <p:nvPr/>
          </p:nvSpPr>
          <p:spPr bwMode="auto">
            <a:xfrm>
              <a:off x="2376" y="392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2" name="Line 2152"/>
            <p:cNvSpPr>
              <a:spLocks noChangeShapeType="1"/>
            </p:cNvSpPr>
            <p:nvPr/>
          </p:nvSpPr>
          <p:spPr bwMode="auto">
            <a:xfrm>
              <a:off x="2376" y="382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3" name="Line 2153"/>
            <p:cNvSpPr>
              <a:spLocks noChangeShapeType="1"/>
            </p:cNvSpPr>
            <p:nvPr/>
          </p:nvSpPr>
          <p:spPr bwMode="auto">
            <a:xfrm>
              <a:off x="2376" y="3725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4" name="Line 2154"/>
            <p:cNvSpPr>
              <a:spLocks noChangeShapeType="1"/>
            </p:cNvSpPr>
            <p:nvPr/>
          </p:nvSpPr>
          <p:spPr bwMode="auto">
            <a:xfrm>
              <a:off x="2376" y="3620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5" name="Line 2155"/>
            <p:cNvSpPr>
              <a:spLocks noChangeShapeType="1"/>
            </p:cNvSpPr>
            <p:nvPr/>
          </p:nvSpPr>
          <p:spPr bwMode="auto">
            <a:xfrm>
              <a:off x="2376" y="3521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6" name="Line 2156"/>
            <p:cNvSpPr>
              <a:spLocks noChangeShapeType="1"/>
            </p:cNvSpPr>
            <p:nvPr/>
          </p:nvSpPr>
          <p:spPr bwMode="auto">
            <a:xfrm>
              <a:off x="2376" y="3416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7" name="Line 2157"/>
            <p:cNvSpPr>
              <a:spLocks noChangeShapeType="1"/>
            </p:cNvSpPr>
            <p:nvPr/>
          </p:nvSpPr>
          <p:spPr bwMode="auto">
            <a:xfrm>
              <a:off x="2376" y="331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8" name="Line 2158"/>
            <p:cNvSpPr>
              <a:spLocks noChangeShapeType="1"/>
            </p:cNvSpPr>
            <p:nvPr/>
          </p:nvSpPr>
          <p:spPr bwMode="auto">
            <a:xfrm>
              <a:off x="2376" y="321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09" name="Line 2159"/>
            <p:cNvSpPr>
              <a:spLocks noChangeShapeType="1"/>
            </p:cNvSpPr>
            <p:nvPr/>
          </p:nvSpPr>
          <p:spPr bwMode="auto">
            <a:xfrm>
              <a:off x="2376" y="3114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0" name="Line 2160"/>
            <p:cNvSpPr>
              <a:spLocks noChangeShapeType="1"/>
            </p:cNvSpPr>
            <p:nvPr/>
          </p:nvSpPr>
          <p:spPr bwMode="auto">
            <a:xfrm>
              <a:off x="2376" y="3009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1" name="Line 2161"/>
            <p:cNvSpPr>
              <a:spLocks noChangeShapeType="1"/>
            </p:cNvSpPr>
            <p:nvPr/>
          </p:nvSpPr>
          <p:spPr bwMode="auto">
            <a:xfrm>
              <a:off x="2495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2" name="Line 2162"/>
            <p:cNvSpPr>
              <a:spLocks noChangeShapeType="1"/>
            </p:cNvSpPr>
            <p:nvPr/>
          </p:nvSpPr>
          <p:spPr bwMode="auto">
            <a:xfrm>
              <a:off x="260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3" name="Line 2163"/>
            <p:cNvSpPr>
              <a:spLocks noChangeShapeType="1"/>
            </p:cNvSpPr>
            <p:nvPr/>
          </p:nvSpPr>
          <p:spPr bwMode="auto">
            <a:xfrm>
              <a:off x="2725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4" name="Line 2164"/>
            <p:cNvSpPr>
              <a:spLocks noChangeShapeType="1"/>
            </p:cNvSpPr>
            <p:nvPr/>
          </p:nvSpPr>
          <p:spPr bwMode="auto">
            <a:xfrm>
              <a:off x="2838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5" name="Line 2165"/>
            <p:cNvSpPr>
              <a:spLocks noChangeShapeType="1"/>
            </p:cNvSpPr>
            <p:nvPr/>
          </p:nvSpPr>
          <p:spPr bwMode="auto">
            <a:xfrm>
              <a:off x="2956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6" name="Line 2166"/>
            <p:cNvSpPr>
              <a:spLocks noChangeShapeType="1"/>
            </p:cNvSpPr>
            <p:nvPr/>
          </p:nvSpPr>
          <p:spPr bwMode="auto">
            <a:xfrm>
              <a:off x="3068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7" name="Line 2167"/>
            <p:cNvSpPr>
              <a:spLocks noChangeShapeType="1"/>
            </p:cNvSpPr>
            <p:nvPr/>
          </p:nvSpPr>
          <p:spPr bwMode="auto">
            <a:xfrm>
              <a:off x="318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8" name="Line 2168"/>
            <p:cNvSpPr>
              <a:spLocks noChangeShapeType="1"/>
            </p:cNvSpPr>
            <p:nvPr/>
          </p:nvSpPr>
          <p:spPr bwMode="auto">
            <a:xfrm>
              <a:off x="329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19" name="Line 2169"/>
            <p:cNvSpPr>
              <a:spLocks noChangeShapeType="1"/>
            </p:cNvSpPr>
            <p:nvPr/>
          </p:nvSpPr>
          <p:spPr bwMode="auto">
            <a:xfrm>
              <a:off x="3417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0" name="Line 2170"/>
            <p:cNvSpPr>
              <a:spLocks noChangeShapeType="1"/>
            </p:cNvSpPr>
            <p:nvPr/>
          </p:nvSpPr>
          <p:spPr bwMode="auto">
            <a:xfrm>
              <a:off x="353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1" name="Rectangle 2171"/>
            <p:cNvSpPr>
              <a:spLocks noChangeArrowheads="1"/>
            </p:cNvSpPr>
            <p:nvPr/>
          </p:nvSpPr>
          <p:spPr bwMode="auto">
            <a:xfrm>
              <a:off x="2376" y="3009"/>
              <a:ext cx="1154" cy="10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22" name="Line 2172"/>
            <p:cNvSpPr>
              <a:spLocks noChangeShapeType="1"/>
            </p:cNvSpPr>
            <p:nvPr/>
          </p:nvSpPr>
          <p:spPr bwMode="auto">
            <a:xfrm>
              <a:off x="2376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3" name="Line 2173"/>
            <p:cNvSpPr>
              <a:spLocks noChangeShapeType="1"/>
            </p:cNvSpPr>
            <p:nvPr/>
          </p:nvSpPr>
          <p:spPr bwMode="auto">
            <a:xfrm>
              <a:off x="2364" y="402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4" name="Line 2174"/>
            <p:cNvSpPr>
              <a:spLocks noChangeShapeType="1"/>
            </p:cNvSpPr>
            <p:nvPr/>
          </p:nvSpPr>
          <p:spPr bwMode="auto">
            <a:xfrm>
              <a:off x="2364" y="392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5" name="Line 2175"/>
            <p:cNvSpPr>
              <a:spLocks noChangeShapeType="1"/>
            </p:cNvSpPr>
            <p:nvPr/>
          </p:nvSpPr>
          <p:spPr bwMode="auto">
            <a:xfrm>
              <a:off x="2364" y="382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6" name="Line 2176"/>
            <p:cNvSpPr>
              <a:spLocks noChangeShapeType="1"/>
            </p:cNvSpPr>
            <p:nvPr/>
          </p:nvSpPr>
          <p:spPr bwMode="auto">
            <a:xfrm>
              <a:off x="2364" y="37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7" name="Line 2177"/>
            <p:cNvSpPr>
              <a:spLocks noChangeShapeType="1"/>
            </p:cNvSpPr>
            <p:nvPr/>
          </p:nvSpPr>
          <p:spPr bwMode="auto">
            <a:xfrm>
              <a:off x="2364" y="362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8" name="Line 2178"/>
            <p:cNvSpPr>
              <a:spLocks noChangeShapeType="1"/>
            </p:cNvSpPr>
            <p:nvPr/>
          </p:nvSpPr>
          <p:spPr bwMode="auto">
            <a:xfrm>
              <a:off x="2364" y="352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29" name="Line 2179"/>
            <p:cNvSpPr>
              <a:spLocks noChangeShapeType="1"/>
            </p:cNvSpPr>
            <p:nvPr/>
          </p:nvSpPr>
          <p:spPr bwMode="auto">
            <a:xfrm>
              <a:off x="2364" y="341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0" name="Line 2180"/>
            <p:cNvSpPr>
              <a:spLocks noChangeShapeType="1"/>
            </p:cNvSpPr>
            <p:nvPr/>
          </p:nvSpPr>
          <p:spPr bwMode="auto">
            <a:xfrm>
              <a:off x="2364" y="331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1" name="Line 2181"/>
            <p:cNvSpPr>
              <a:spLocks noChangeShapeType="1"/>
            </p:cNvSpPr>
            <p:nvPr/>
          </p:nvSpPr>
          <p:spPr bwMode="auto">
            <a:xfrm>
              <a:off x="2364" y="321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2" name="Line 2182"/>
            <p:cNvSpPr>
              <a:spLocks noChangeShapeType="1"/>
            </p:cNvSpPr>
            <p:nvPr/>
          </p:nvSpPr>
          <p:spPr bwMode="auto">
            <a:xfrm>
              <a:off x="2364" y="311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3" name="Line 2183"/>
            <p:cNvSpPr>
              <a:spLocks noChangeShapeType="1"/>
            </p:cNvSpPr>
            <p:nvPr/>
          </p:nvSpPr>
          <p:spPr bwMode="auto">
            <a:xfrm>
              <a:off x="2364" y="300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4" name="Line 2184"/>
            <p:cNvSpPr>
              <a:spLocks noChangeShapeType="1"/>
            </p:cNvSpPr>
            <p:nvPr/>
          </p:nvSpPr>
          <p:spPr bwMode="auto">
            <a:xfrm>
              <a:off x="2376" y="4027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5" name="Line 2185"/>
            <p:cNvSpPr>
              <a:spLocks noChangeShapeType="1"/>
            </p:cNvSpPr>
            <p:nvPr/>
          </p:nvSpPr>
          <p:spPr bwMode="auto">
            <a:xfrm flipV="1">
              <a:off x="2376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6" name="Line 2186"/>
            <p:cNvSpPr>
              <a:spLocks noChangeShapeType="1"/>
            </p:cNvSpPr>
            <p:nvPr/>
          </p:nvSpPr>
          <p:spPr bwMode="auto">
            <a:xfrm flipV="1">
              <a:off x="2495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7" name="Line 2187"/>
            <p:cNvSpPr>
              <a:spLocks noChangeShapeType="1"/>
            </p:cNvSpPr>
            <p:nvPr/>
          </p:nvSpPr>
          <p:spPr bwMode="auto">
            <a:xfrm flipV="1">
              <a:off x="260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8" name="Line 2188"/>
            <p:cNvSpPr>
              <a:spLocks noChangeShapeType="1"/>
            </p:cNvSpPr>
            <p:nvPr/>
          </p:nvSpPr>
          <p:spPr bwMode="auto">
            <a:xfrm flipV="1">
              <a:off x="2725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39" name="Line 2189"/>
            <p:cNvSpPr>
              <a:spLocks noChangeShapeType="1"/>
            </p:cNvSpPr>
            <p:nvPr/>
          </p:nvSpPr>
          <p:spPr bwMode="auto">
            <a:xfrm flipV="1">
              <a:off x="2838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0" name="Line 2190"/>
            <p:cNvSpPr>
              <a:spLocks noChangeShapeType="1"/>
            </p:cNvSpPr>
            <p:nvPr/>
          </p:nvSpPr>
          <p:spPr bwMode="auto">
            <a:xfrm flipV="1">
              <a:off x="2956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1" name="Line 2191"/>
            <p:cNvSpPr>
              <a:spLocks noChangeShapeType="1"/>
            </p:cNvSpPr>
            <p:nvPr/>
          </p:nvSpPr>
          <p:spPr bwMode="auto">
            <a:xfrm flipV="1">
              <a:off x="3068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2" name="Line 2192"/>
            <p:cNvSpPr>
              <a:spLocks noChangeShapeType="1"/>
            </p:cNvSpPr>
            <p:nvPr/>
          </p:nvSpPr>
          <p:spPr bwMode="auto">
            <a:xfrm flipV="1">
              <a:off x="318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3" name="Line 2193"/>
            <p:cNvSpPr>
              <a:spLocks noChangeShapeType="1"/>
            </p:cNvSpPr>
            <p:nvPr/>
          </p:nvSpPr>
          <p:spPr bwMode="auto">
            <a:xfrm flipV="1">
              <a:off x="329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4" name="Line 2194"/>
            <p:cNvSpPr>
              <a:spLocks noChangeShapeType="1"/>
            </p:cNvSpPr>
            <p:nvPr/>
          </p:nvSpPr>
          <p:spPr bwMode="auto">
            <a:xfrm flipV="1">
              <a:off x="3417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5" name="Line 2195"/>
            <p:cNvSpPr>
              <a:spLocks noChangeShapeType="1"/>
            </p:cNvSpPr>
            <p:nvPr/>
          </p:nvSpPr>
          <p:spPr bwMode="auto">
            <a:xfrm flipV="1">
              <a:off x="353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46" name="Freeform 2196"/>
            <p:cNvSpPr>
              <a:spLocks/>
            </p:cNvSpPr>
            <p:nvPr/>
          </p:nvSpPr>
          <p:spPr bwMode="auto">
            <a:xfrm>
              <a:off x="2682" y="3577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47" name="Freeform 2197"/>
            <p:cNvSpPr>
              <a:spLocks/>
            </p:cNvSpPr>
            <p:nvPr/>
          </p:nvSpPr>
          <p:spPr bwMode="auto">
            <a:xfrm>
              <a:off x="2563" y="3373"/>
              <a:ext cx="88" cy="87"/>
            </a:xfrm>
            <a:custGeom>
              <a:avLst/>
              <a:gdLst>
                <a:gd name="T0" fmla="*/ 44 w 88"/>
                <a:gd name="T1" fmla="*/ 0 h 87"/>
                <a:gd name="T2" fmla="*/ 88 w 88"/>
                <a:gd name="T3" fmla="*/ 43 h 87"/>
                <a:gd name="T4" fmla="*/ 44 w 88"/>
                <a:gd name="T5" fmla="*/ 87 h 87"/>
                <a:gd name="T6" fmla="*/ 0 w 88"/>
                <a:gd name="T7" fmla="*/ 43 h 87"/>
                <a:gd name="T8" fmla="*/ 44 w 88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87"/>
                <a:gd name="T17" fmla="*/ 88 w 88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87">
                  <a:moveTo>
                    <a:pt x="44" y="0"/>
                  </a:moveTo>
                  <a:lnTo>
                    <a:pt x="88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48" name="Freeform 2198"/>
            <p:cNvSpPr>
              <a:spLocks/>
            </p:cNvSpPr>
            <p:nvPr/>
          </p:nvSpPr>
          <p:spPr bwMode="auto">
            <a:xfrm>
              <a:off x="3143" y="3681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4 h 87"/>
                <a:gd name="T4" fmla="*/ 44 w 87"/>
                <a:gd name="T5" fmla="*/ 87 h 87"/>
                <a:gd name="T6" fmla="*/ 0 w 87"/>
                <a:gd name="T7" fmla="*/ 44 h 87"/>
                <a:gd name="T8" fmla="*/ 44 w 87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7"/>
                <a:gd name="T17" fmla="*/ 87 w 87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7">
                  <a:moveTo>
                    <a:pt x="44" y="0"/>
                  </a:moveTo>
                  <a:lnTo>
                    <a:pt x="87" y="44"/>
                  </a:lnTo>
                  <a:lnTo>
                    <a:pt x="44" y="87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49" name="Freeform 2199"/>
            <p:cNvSpPr>
              <a:spLocks/>
            </p:cNvSpPr>
            <p:nvPr/>
          </p:nvSpPr>
          <p:spPr bwMode="auto">
            <a:xfrm>
              <a:off x="2794" y="3275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50" name="Freeform 2200"/>
            <p:cNvSpPr>
              <a:spLocks/>
            </p:cNvSpPr>
            <p:nvPr/>
          </p:nvSpPr>
          <p:spPr bwMode="auto">
            <a:xfrm>
              <a:off x="2682" y="317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51" name="Freeform 2201"/>
            <p:cNvSpPr>
              <a:spLocks/>
            </p:cNvSpPr>
            <p:nvPr/>
          </p:nvSpPr>
          <p:spPr bwMode="auto">
            <a:xfrm>
              <a:off x="3255" y="3478"/>
              <a:ext cx="88" cy="86"/>
            </a:xfrm>
            <a:custGeom>
              <a:avLst/>
              <a:gdLst>
                <a:gd name="T0" fmla="*/ 44 w 88"/>
                <a:gd name="T1" fmla="*/ 0 h 86"/>
                <a:gd name="T2" fmla="*/ 88 w 88"/>
                <a:gd name="T3" fmla="*/ 43 h 86"/>
                <a:gd name="T4" fmla="*/ 44 w 88"/>
                <a:gd name="T5" fmla="*/ 86 h 86"/>
                <a:gd name="T6" fmla="*/ 0 w 88"/>
                <a:gd name="T7" fmla="*/ 43 h 86"/>
                <a:gd name="T8" fmla="*/ 44 w 88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86"/>
                <a:gd name="T17" fmla="*/ 88 w 88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86">
                  <a:moveTo>
                    <a:pt x="44" y="0"/>
                  </a:moveTo>
                  <a:lnTo>
                    <a:pt x="88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52" name="Freeform 2202"/>
            <p:cNvSpPr>
              <a:spLocks/>
            </p:cNvSpPr>
            <p:nvPr/>
          </p:nvSpPr>
          <p:spPr bwMode="auto">
            <a:xfrm>
              <a:off x="3143" y="3577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53" name="Freeform 2203"/>
            <p:cNvSpPr>
              <a:spLocks/>
            </p:cNvSpPr>
            <p:nvPr/>
          </p:nvSpPr>
          <p:spPr bwMode="auto">
            <a:xfrm>
              <a:off x="3143" y="3373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3 h 87"/>
                <a:gd name="T4" fmla="*/ 44 w 87"/>
                <a:gd name="T5" fmla="*/ 87 h 87"/>
                <a:gd name="T6" fmla="*/ 0 w 87"/>
                <a:gd name="T7" fmla="*/ 43 h 87"/>
                <a:gd name="T8" fmla="*/ 44 w 87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7"/>
                <a:gd name="T17" fmla="*/ 87 w 87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7">
                  <a:moveTo>
                    <a:pt x="44" y="0"/>
                  </a:moveTo>
                  <a:lnTo>
                    <a:pt x="87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54" name="Rectangle 2204"/>
            <p:cNvSpPr>
              <a:spLocks noChangeArrowheads="1"/>
            </p:cNvSpPr>
            <p:nvPr/>
          </p:nvSpPr>
          <p:spPr bwMode="auto">
            <a:xfrm>
              <a:off x="2326" y="400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55" name="Rectangle 2205"/>
            <p:cNvSpPr>
              <a:spLocks noChangeArrowheads="1"/>
            </p:cNvSpPr>
            <p:nvPr/>
          </p:nvSpPr>
          <p:spPr bwMode="auto">
            <a:xfrm>
              <a:off x="2326" y="391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56" name="Rectangle 2206"/>
            <p:cNvSpPr>
              <a:spLocks noChangeArrowheads="1"/>
            </p:cNvSpPr>
            <p:nvPr/>
          </p:nvSpPr>
          <p:spPr bwMode="auto">
            <a:xfrm>
              <a:off x="2326" y="3805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57" name="Rectangle 2207"/>
            <p:cNvSpPr>
              <a:spLocks noChangeArrowheads="1"/>
            </p:cNvSpPr>
            <p:nvPr/>
          </p:nvSpPr>
          <p:spPr bwMode="auto">
            <a:xfrm>
              <a:off x="2326" y="370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58" name="Rectangle 2208"/>
            <p:cNvSpPr>
              <a:spLocks noChangeArrowheads="1"/>
            </p:cNvSpPr>
            <p:nvPr/>
          </p:nvSpPr>
          <p:spPr bwMode="auto">
            <a:xfrm>
              <a:off x="2326" y="3601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59" name="Rectangle 2209"/>
            <p:cNvSpPr>
              <a:spLocks noChangeArrowheads="1"/>
            </p:cNvSpPr>
            <p:nvPr/>
          </p:nvSpPr>
          <p:spPr bwMode="auto">
            <a:xfrm>
              <a:off x="2326" y="3503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0" name="Rectangle 2210"/>
            <p:cNvSpPr>
              <a:spLocks noChangeArrowheads="1"/>
            </p:cNvSpPr>
            <p:nvPr/>
          </p:nvSpPr>
          <p:spPr bwMode="auto">
            <a:xfrm>
              <a:off x="2326" y="339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1" name="Rectangle 2211"/>
            <p:cNvSpPr>
              <a:spLocks noChangeArrowheads="1"/>
            </p:cNvSpPr>
            <p:nvPr/>
          </p:nvSpPr>
          <p:spPr bwMode="auto">
            <a:xfrm>
              <a:off x="2326" y="3299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2" name="Rectangle 2212"/>
            <p:cNvSpPr>
              <a:spLocks noChangeArrowheads="1"/>
            </p:cNvSpPr>
            <p:nvPr/>
          </p:nvSpPr>
          <p:spPr bwMode="auto">
            <a:xfrm>
              <a:off x="2326" y="3194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3" name="Rectangle 2213"/>
            <p:cNvSpPr>
              <a:spLocks noChangeArrowheads="1"/>
            </p:cNvSpPr>
            <p:nvPr/>
          </p:nvSpPr>
          <p:spPr bwMode="auto">
            <a:xfrm>
              <a:off x="2326" y="309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4" name="Rectangle 2214"/>
            <p:cNvSpPr>
              <a:spLocks noChangeArrowheads="1"/>
            </p:cNvSpPr>
            <p:nvPr/>
          </p:nvSpPr>
          <p:spPr bwMode="auto">
            <a:xfrm>
              <a:off x="2308" y="2991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5" name="Rectangle 2215"/>
            <p:cNvSpPr>
              <a:spLocks noChangeArrowheads="1"/>
            </p:cNvSpPr>
            <p:nvPr/>
          </p:nvSpPr>
          <p:spPr bwMode="auto">
            <a:xfrm>
              <a:off x="237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6" name="Rectangle 2216"/>
            <p:cNvSpPr>
              <a:spLocks noChangeArrowheads="1"/>
            </p:cNvSpPr>
            <p:nvPr/>
          </p:nvSpPr>
          <p:spPr bwMode="auto">
            <a:xfrm>
              <a:off x="2489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7" name="Rectangle 2217"/>
            <p:cNvSpPr>
              <a:spLocks noChangeArrowheads="1"/>
            </p:cNvSpPr>
            <p:nvPr/>
          </p:nvSpPr>
          <p:spPr bwMode="auto">
            <a:xfrm>
              <a:off x="260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8" name="Rectangle 2218"/>
            <p:cNvSpPr>
              <a:spLocks noChangeArrowheads="1"/>
            </p:cNvSpPr>
            <p:nvPr/>
          </p:nvSpPr>
          <p:spPr bwMode="auto">
            <a:xfrm>
              <a:off x="2719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69" name="Rectangle 2219"/>
            <p:cNvSpPr>
              <a:spLocks noChangeArrowheads="1"/>
            </p:cNvSpPr>
            <p:nvPr/>
          </p:nvSpPr>
          <p:spPr bwMode="auto">
            <a:xfrm>
              <a:off x="283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0" name="Rectangle 2220"/>
            <p:cNvSpPr>
              <a:spLocks noChangeArrowheads="1"/>
            </p:cNvSpPr>
            <p:nvPr/>
          </p:nvSpPr>
          <p:spPr bwMode="auto">
            <a:xfrm>
              <a:off x="295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1" name="Rectangle 2221"/>
            <p:cNvSpPr>
              <a:spLocks noChangeArrowheads="1"/>
            </p:cNvSpPr>
            <p:nvPr/>
          </p:nvSpPr>
          <p:spPr bwMode="auto">
            <a:xfrm>
              <a:off x="3062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2" name="Rectangle 2222"/>
            <p:cNvSpPr>
              <a:spLocks noChangeArrowheads="1"/>
            </p:cNvSpPr>
            <p:nvPr/>
          </p:nvSpPr>
          <p:spPr bwMode="auto">
            <a:xfrm>
              <a:off x="3180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3" name="Rectangle 2223"/>
            <p:cNvSpPr>
              <a:spLocks noChangeArrowheads="1"/>
            </p:cNvSpPr>
            <p:nvPr/>
          </p:nvSpPr>
          <p:spPr bwMode="auto">
            <a:xfrm>
              <a:off x="329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4" name="Rectangle 2224"/>
            <p:cNvSpPr>
              <a:spLocks noChangeArrowheads="1"/>
            </p:cNvSpPr>
            <p:nvPr/>
          </p:nvSpPr>
          <p:spPr bwMode="auto">
            <a:xfrm>
              <a:off x="3411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5" name="Rectangle 2225"/>
            <p:cNvSpPr>
              <a:spLocks noChangeArrowheads="1"/>
            </p:cNvSpPr>
            <p:nvPr/>
          </p:nvSpPr>
          <p:spPr bwMode="auto">
            <a:xfrm>
              <a:off x="3511" y="4070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576" name="Rectangle 2226"/>
            <p:cNvSpPr>
              <a:spLocks noChangeArrowheads="1"/>
            </p:cNvSpPr>
            <p:nvPr/>
          </p:nvSpPr>
          <p:spPr bwMode="auto">
            <a:xfrm>
              <a:off x="2233" y="2905"/>
              <a:ext cx="1371" cy="128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77" name="Line 2227"/>
            <p:cNvSpPr>
              <a:spLocks noChangeShapeType="1"/>
            </p:cNvSpPr>
            <p:nvPr/>
          </p:nvSpPr>
          <p:spPr bwMode="auto">
            <a:xfrm>
              <a:off x="3181" y="3456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578" name="Freeform 2228"/>
            <p:cNvSpPr>
              <a:spLocks/>
            </p:cNvSpPr>
            <p:nvPr/>
          </p:nvSpPr>
          <p:spPr bwMode="auto">
            <a:xfrm>
              <a:off x="3033" y="3600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579" name="Freeform 2229"/>
            <p:cNvSpPr>
              <a:spLocks/>
            </p:cNvSpPr>
            <p:nvPr/>
          </p:nvSpPr>
          <p:spPr bwMode="auto">
            <a:xfrm>
              <a:off x="3024" y="3792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3413" name="Rectangle 2230"/>
          <p:cNvSpPr>
            <a:spLocks noChangeArrowheads="1"/>
          </p:cNvSpPr>
          <p:nvPr/>
        </p:nvSpPr>
        <p:spPr bwMode="auto">
          <a:xfrm>
            <a:off x="3657600" y="4267200"/>
            <a:ext cx="1408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ko-KR" sz="1400">
                <a:ea typeface="굴림" pitchFamily="34" charset="-127"/>
              </a:rPr>
              <a:t>Total Cost = 26</a:t>
            </a:r>
          </a:p>
        </p:txBody>
      </p:sp>
      <p:sp>
        <p:nvSpPr>
          <p:cNvPr id="13414" name="Line 2231"/>
          <p:cNvSpPr>
            <a:spLocks noChangeShapeType="1"/>
          </p:cNvSpPr>
          <p:nvPr/>
        </p:nvSpPr>
        <p:spPr bwMode="auto">
          <a:xfrm flipV="1">
            <a:off x="5334000" y="411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/>
          </a:p>
        </p:txBody>
      </p:sp>
      <p:sp>
        <p:nvSpPr>
          <p:cNvPr id="13415" name="Text Box 2232"/>
          <p:cNvSpPr txBox="1">
            <a:spLocks noChangeArrowheads="1"/>
          </p:cNvSpPr>
          <p:nvPr/>
        </p:nvSpPr>
        <p:spPr bwMode="auto">
          <a:xfrm>
            <a:off x="2362200" y="5029200"/>
            <a:ext cx="1219200" cy="10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Swapping O and O</a:t>
            </a:r>
            <a:r>
              <a:rPr lang="en-US" altLang="ko-KR" sz="1400" baseline="-25000">
                <a:ea typeface="굴림" pitchFamily="34" charset="-127"/>
              </a:rPr>
              <a:t>ramdom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ko-KR" sz="1400">
                <a:ea typeface="굴림" pitchFamily="34" charset="-127"/>
              </a:rPr>
              <a:t>If quality is improved.</a:t>
            </a:r>
          </a:p>
        </p:txBody>
      </p:sp>
      <p:sp>
        <p:nvSpPr>
          <p:cNvPr id="13416" name="Text Box 2233"/>
          <p:cNvSpPr txBox="1">
            <a:spLocks noChangeArrowheads="1"/>
          </p:cNvSpPr>
          <p:nvPr/>
        </p:nvSpPr>
        <p:spPr bwMode="auto">
          <a:xfrm>
            <a:off x="228600" y="4724400"/>
            <a:ext cx="19812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ko-KR" sz="2000" b="1">
                <a:ea typeface="굴림" pitchFamily="34" charset="-127"/>
              </a:rPr>
              <a:t>Do loop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ko-KR" sz="2000" b="1">
                <a:ea typeface="굴림" pitchFamily="34" charset="-127"/>
              </a:rPr>
              <a:t>Until no change</a:t>
            </a:r>
          </a:p>
        </p:txBody>
      </p:sp>
      <p:grpSp>
        <p:nvGrpSpPr>
          <p:cNvPr id="13417" name="Group 2234"/>
          <p:cNvGrpSpPr>
            <a:grpSpLocks/>
          </p:cNvGrpSpPr>
          <p:nvPr/>
        </p:nvGrpSpPr>
        <p:grpSpPr bwMode="auto">
          <a:xfrm>
            <a:off x="6821488" y="4611688"/>
            <a:ext cx="2176462" cy="2035175"/>
            <a:chOff x="4297" y="2905"/>
            <a:chExt cx="1371" cy="1282"/>
          </a:xfrm>
        </p:grpSpPr>
        <p:sp>
          <p:nvSpPr>
            <p:cNvPr id="13418" name="Rectangle 2235"/>
            <p:cNvSpPr>
              <a:spLocks noChangeArrowheads="1"/>
            </p:cNvSpPr>
            <p:nvPr/>
          </p:nvSpPr>
          <p:spPr bwMode="auto">
            <a:xfrm>
              <a:off x="4297" y="2905"/>
              <a:ext cx="1371" cy="1282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19" name="Rectangle 2236"/>
            <p:cNvSpPr>
              <a:spLocks noChangeArrowheads="1"/>
            </p:cNvSpPr>
            <p:nvPr/>
          </p:nvSpPr>
          <p:spPr bwMode="auto">
            <a:xfrm>
              <a:off x="4440" y="3009"/>
              <a:ext cx="1154" cy="10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20" name="Line 2237"/>
            <p:cNvSpPr>
              <a:spLocks noChangeShapeType="1"/>
            </p:cNvSpPr>
            <p:nvPr/>
          </p:nvSpPr>
          <p:spPr bwMode="auto">
            <a:xfrm>
              <a:off x="4440" y="392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1" name="Line 2238"/>
            <p:cNvSpPr>
              <a:spLocks noChangeShapeType="1"/>
            </p:cNvSpPr>
            <p:nvPr/>
          </p:nvSpPr>
          <p:spPr bwMode="auto">
            <a:xfrm>
              <a:off x="4440" y="382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2" name="Line 2239"/>
            <p:cNvSpPr>
              <a:spLocks noChangeShapeType="1"/>
            </p:cNvSpPr>
            <p:nvPr/>
          </p:nvSpPr>
          <p:spPr bwMode="auto">
            <a:xfrm>
              <a:off x="4440" y="3725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3" name="Line 2240"/>
            <p:cNvSpPr>
              <a:spLocks noChangeShapeType="1"/>
            </p:cNvSpPr>
            <p:nvPr/>
          </p:nvSpPr>
          <p:spPr bwMode="auto">
            <a:xfrm>
              <a:off x="4440" y="3620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4" name="Line 2241"/>
            <p:cNvSpPr>
              <a:spLocks noChangeShapeType="1"/>
            </p:cNvSpPr>
            <p:nvPr/>
          </p:nvSpPr>
          <p:spPr bwMode="auto">
            <a:xfrm>
              <a:off x="4440" y="3521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5" name="Line 2242"/>
            <p:cNvSpPr>
              <a:spLocks noChangeShapeType="1"/>
            </p:cNvSpPr>
            <p:nvPr/>
          </p:nvSpPr>
          <p:spPr bwMode="auto">
            <a:xfrm>
              <a:off x="4440" y="3416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6" name="Line 2243"/>
            <p:cNvSpPr>
              <a:spLocks noChangeShapeType="1"/>
            </p:cNvSpPr>
            <p:nvPr/>
          </p:nvSpPr>
          <p:spPr bwMode="auto">
            <a:xfrm>
              <a:off x="4440" y="3318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7" name="Line 2244"/>
            <p:cNvSpPr>
              <a:spLocks noChangeShapeType="1"/>
            </p:cNvSpPr>
            <p:nvPr/>
          </p:nvSpPr>
          <p:spPr bwMode="auto">
            <a:xfrm>
              <a:off x="4440" y="3213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8" name="Line 2245"/>
            <p:cNvSpPr>
              <a:spLocks noChangeShapeType="1"/>
            </p:cNvSpPr>
            <p:nvPr/>
          </p:nvSpPr>
          <p:spPr bwMode="auto">
            <a:xfrm>
              <a:off x="4440" y="3114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29" name="Line 2246"/>
            <p:cNvSpPr>
              <a:spLocks noChangeShapeType="1"/>
            </p:cNvSpPr>
            <p:nvPr/>
          </p:nvSpPr>
          <p:spPr bwMode="auto">
            <a:xfrm>
              <a:off x="4440" y="3009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0" name="Line 2247"/>
            <p:cNvSpPr>
              <a:spLocks noChangeShapeType="1"/>
            </p:cNvSpPr>
            <p:nvPr/>
          </p:nvSpPr>
          <p:spPr bwMode="auto">
            <a:xfrm>
              <a:off x="455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1" name="Line 2248"/>
            <p:cNvSpPr>
              <a:spLocks noChangeShapeType="1"/>
            </p:cNvSpPr>
            <p:nvPr/>
          </p:nvSpPr>
          <p:spPr bwMode="auto">
            <a:xfrm>
              <a:off x="467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2" name="Line 2249"/>
            <p:cNvSpPr>
              <a:spLocks noChangeShapeType="1"/>
            </p:cNvSpPr>
            <p:nvPr/>
          </p:nvSpPr>
          <p:spPr bwMode="auto">
            <a:xfrm>
              <a:off x="4789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3" name="Line 2250"/>
            <p:cNvSpPr>
              <a:spLocks noChangeShapeType="1"/>
            </p:cNvSpPr>
            <p:nvPr/>
          </p:nvSpPr>
          <p:spPr bwMode="auto">
            <a:xfrm>
              <a:off x="4902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4" name="Line 2251"/>
            <p:cNvSpPr>
              <a:spLocks noChangeShapeType="1"/>
            </p:cNvSpPr>
            <p:nvPr/>
          </p:nvSpPr>
          <p:spPr bwMode="auto">
            <a:xfrm>
              <a:off x="502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5" name="Line 2252"/>
            <p:cNvSpPr>
              <a:spLocks noChangeShapeType="1"/>
            </p:cNvSpPr>
            <p:nvPr/>
          </p:nvSpPr>
          <p:spPr bwMode="auto">
            <a:xfrm>
              <a:off x="5132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6" name="Line 2253"/>
            <p:cNvSpPr>
              <a:spLocks noChangeShapeType="1"/>
            </p:cNvSpPr>
            <p:nvPr/>
          </p:nvSpPr>
          <p:spPr bwMode="auto">
            <a:xfrm>
              <a:off x="525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7" name="Line 2254"/>
            <p:cNvSpPr>
              <a:spLocks noChangeShapeType="1"/>
            </p:cNvSpPr>
            <p:nvPr/>
          </p:nvSpPr>
          <p:spPr bwMode="auto">
            <a:xfrm>
              <a:off x="5363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8" name="Line 2255"/>
            <p:cNvSpPr>
              <a:spLocks noChangeShapeType="1"/>
            </p:cNvSpPr>
            <p:nvPr/>
          </p:nvSpPr>
          <p:spPr bwMode="auto">
            <a:xfrm>
              <a:off x="5481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39" name="Line 2256"/>
            <p:cNvSpPr>
              <a:spLocks noChangeShapeType="1"/>
            </p:cNvSpPr>
            <p:nvPr/>
          </p:nvSpPr>
          <p:spPr bwMode="auto">
            <a:xfrm>
              <a:off x="5594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0" name="Rectangle 2257"/>
            <p:cNvSpPr>
              <a:spLocks noChangeArrowheads="1"/>
            </p:cNvSpPr>
            <p:nvPr/>
          </p:nvSpPr>
          <p:spPr bwMode="auto">
            <a:xfrm>
              <a:off x="4440" y="3009"/>
              <a:ext cx="1154" cy="10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41" name="Line 2258"/>
            <p:cNvSpPr>
              <a:spLocks noChangeShapeType="1"/>
            </p:cNvSpPr>
            <p:nvPr/>
          </p:nvSpPr>
          <p:spPr bwMode="auto">
            <a:xfrm>
              <a:off x="4440" y="3009"/>
              <a:ext cx="1" cy="10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2" name="Line 2259"/>
            <p:cNvSpPr>
              <a:spLocks noChangeShapeType="1"/>
            </p:cNvSpPr>
            <p:nvPr/>
          </p:nvSpPr>
          <p:spPr bwMode="auto">
            <a:xfrm>
              <a:off x="4428" y="402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3" name="Line 2260"/>
            <p:cNvSpPr>
              <a:spLocks noChangeShapeType="1"/>
            </p:cNvSpPr>
            <p:nvPr/>
          </p:nvSpPr>
          <p:spPr bwMode="auto">
            <a:xfrm>
              <a:off x="4428" y="392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4" name="Line 2261"/>
            <p:cNvSpPr>
              <a:spLocks noChangeShapeType="1"/>
            </p:cNvSpPr>
            <p:nvPr/>
          </p:nvSpPr>
          <p:spPr bwMode="auto">
            <a:xfrm>
              <a:off x="4428" y="382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5" name="Line 2262"/>
            <p:cNvSpPr>
              <a:spLocks noChangeShapeType="1"/>
            </p:cNvSpPr>
            <p:nvPr/>
          </p:nvSpPr>
          <p:spPr bwMode="auto">
            <a:xfrm>
              <a:off x="4428" y="3725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6" name="Line 2263"/>
            <p:cNvSpPr>
              <a:spLocks noChangeShapeType="1"/>
            </p:cNvSpPr>
            <p:nvPr/>
          </p:nvSpPr>
          <p:spPr bwMode="auto">
            <a:xfrm>
              <a:off x="4428" y="362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7" name="Line 2264"/>
            <p:cNvSpPr>
              <a:spLocks noChangeShapeType="1"/>
            </p:cNvSpPr>
            <p:nvPr/>
          </p:nvSpPr>
          <p:spPr bwMode="auto">
            <a:xfrm>
              <a:off x="4428" y="352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8" name="Line 2265"/>
            <p:cNvSpPr>
              <a:spLocks noChangeShapeType="1"/>
            </p:cNvSpPr>
            <p:nvPr/>
          </p:nvSpPr>
          <p:spPr bwMode="auto">
            <a:xfrm>
              <a:off x="4428" y="341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49" name="Line 2266"/>
            <p:cNvSpPr>
              <a:spLocks noChangeShapeType="1"/>
            </p:cNvSpPr>
            <p:nvPr/>
          </p:nvSpPr>
          <p:spPr bwMode="auto">
            <a:xfrm>
              <a:off x="4428" y="331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0" name="Line 2267"/>
            <p:cNvSpPr>
              <a:spLocks noChangeShapeType="1"/>
            </p:cNvSpPr>
            <p:nvPr/>
          </p:nvSpPr>
          <p:spPr bwMode="auto">
            <a:xfrm>
              <a:off x="4428" y="321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1" name="Line 2268"/>
            <p:cNvSpPr>
              <a:spLocks noChangeShapeType="1"/>
            </p:cNvSpPr>
            <p:nvPr/>
          </p:nvSpPr>
          <p:spPr bwMode="auto">
            <a:xfrm>
              <a:off x="4428" y="311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2" name="Line 2269"/>
            <p:cNvSpPr>
              <a:spLocks noChangeShapeType="1"/>
            </p:cNvSpPr>
            <p:nvPr/>
          </p:nvSpPr>
          <p:spPr bwMode="auto">
            <a:xfrm>
              <a:off x="4428" y="300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3" name="Line 2270"/>
            <p:cNvSpPr>
              <a:spLocks noChangeShapeType="1"/>
            </p:cNvSpPr>
            <p:nvPr/>
          </p:nvSpPr>
          <p:spPr bwMode="auto">
            <a:xfrm>
              <a:off x="4440" y="4027"/>
              <a:ext cx="115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4" name="Line 2271"/>
            <p:cNvSpPr>
              <a:spLocks noChangeShapeType="1"/>
            </p:cNvSpPr>
            <p:nvPr/>
          </p:nvSpPr>
          <p:spPr bwMode="auto">
            <a:xfrm flipV="1">
              <a:off x="444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5" name="Line 2272"/>
            <p:cNvSpPr>
              <a:spLocks noChangeShapeType="1"/>
            </p:cNvSpPr>
            <p:nvPr/>
          </p:nvSpPr>
          <p:spPr bwMode="auto">
            <a:xfrm flipV="1">
              <a:off x="455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6" name="Line 2273"/>
            <p:cNvSpPr>
              <a:spLocks noChangeShapeType="1"/>
            </p:cNvSpPr>
            <p:nvPr/>
          </p:nvSpPr>
          <p:spPr bwMode="auto">
            <a:xfrm flipV="1">
              <a:off x="467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7" name="Line 2274"/>
            <p:cNvSpPr>
              <a:spLocks noChangeShapeType="1"/>
            </p:cNvSpPr>
            <p:nvPr/>
          </p:nvSpPr>
          <p:spPr bwMode="auto">
            <a:xfrm flipV="1">
              <a:off x="4789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8" name="Line 2275"/>
            <p:cNvSpPr>
              <a:spLocks noChangeShapeType="1"/>
            </p:cNvSpPr>
            <p:nvPr/>
          </p:nvSpPr>
          <p:spPr bwMode="auto">
            <a:xfrm flipV="1">
              <a:off x="4902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59" name="Line 2276"/>
            <p:cNvSpPr>
              <a:spLocks noChangeShapeType="1"/>
            </p:cNvSpPr>
            <p:nvPr/>
          </p:nvSpPr>
          <p:spPr bwMode="auto">
            <a:xfrm flipV="1">
              <a:off x="5020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0" name="Line 2277"/>
            <p:cNvSpPr>
              <a:spLocks noChangeShapeType="1"/>
            </p:cNvSpPr>
            <p:nvPr/>
          </p:nvSpPr>
          <p:spPr bwMode="auto">
            <a:xfrm flipV="1">
              <a:off x="5132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1" name="Line 2278"/>
            <p:cNvSpPr>
              <a:spLocks noChangeShapeType="1"/>
            </p:cNvSpPr>
            <p:nvPr/>
          </p:nvSpPr>
          <p:spPr bwMode="auto">
            <a:xfrm flipV="1">
              <a:off x="525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2" name="Line 2279"/>
            <p:cNvSpPr>
              <a:spLocks noChangeShapeType="1"/>
            </p:cNvSpPr>
            <p:nvPr/>
          </p:nvSpPr>
          <p:spPr bwMode="auto">
            <a:xfrm flipV="1">
              <a:off x="5363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3" name="Line 2280"/>
            <p:cNvSpPr>
              <a:spLocks noChangeShapeType="1"/>
            </p:cNvSpPr>
            <p:nvPr/>
          </p:nvSpPr>
          <p:spPr bwMode="auto">
            <a:xfrm flipV="1">
              <a:off x="5481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4" name="Line 2281"/>
            <p:cNvSpPr>
              <a:spLocks noChangeShapeType="1"/>
            </p:cNvSpPr>
            <p:nvPr/>
          </p:nvSpPr>
          <p:spPr bwMode="auto">
            <a:xfrm flipV="1">
              <a:off x="5594" y="4027"/>
              <a:ext cx="1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65" name="Freeform 2282"/>
            <p:cNvSpPr>
              <a:spLocks/>
            </p:cNvSpPr>
            <p:nvPr/>
          </p:nvSpPr>
          <p:spPr bwMode="auto">
            <a:xfrm>
              <a:off x="4746" y="3577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66" name="Freeform 2283"/>
            <p:cNvSpPr>
              <a:spLocks/>
            </p:cNvSpPr>
            <p:nvPr/>
          </p:nvSpPr>
          <p:spPr bwMode="auto">
            <a:xfrm>
              <a:off x="4627" y="3373"/>
              <a:ext cx="88" cy="87"/>
            </a:xfrm>
            <a:custGeom>
              <a:avLst/>
              <a:gdLst>
                <a:gd name="T0" fmla="*/ 44 w 88"/>
                <a:gd name="T1" fmla="*/ 0 h 87"/>
                <a:gd name="T2" fmla="*/ 88 w 88"/>
                <a:gd name="T3" fmla="*/ 43 h 87"/>
                <a:gd name="T4" fmla="*/ 44 w 88"/>
                <a:gd name="T5" fmla="*/ 87 h 87"/>
                <a:gd name="T6" fmla="*/ 0 w 88"/>
                <a:gd name="T7" fmla="*/ 43 h 87"/>
                <a:gd name="T8" fmla="*/ 44 w 88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87"/>
                <a:gd name="T17" fmla="*/ 88 w 88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87">
                  <a:moveTo>
                    <a:pt x="44" y="0"/>
                  </a:moveTo>
                  <a:lnTo>
                    <a:pt x="88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67" name="Freeform 2284"/>
            <p:cNvSpPr>
              <a:spLocks/>
            </p:cNvSpPr>
            <p:nvPr/>
          </p:nvSpPr>
          <p:spPr bwMode="auto">
            <a:xfrm>
              <a:off x="5207" y="3681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4 h 87"/>
                <a:gd name="T4" fmla="*/ 44 w 87"/>
                <a:gd name="T5" fmla="*/ 87 h 87"/>
                <a:gd name="T6" fmla="*/ 0 w 87"/>
                <a:gd name="T7" fmla="*/ 44 h 87"/>
                <a:gd name="T8" fmla="*/ 44 w 87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7"/>
                <a:gd name="T17" fmla="*/ 87 w 87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7">
                  <a:moveTo>
                    <a:pt x="44" y="0"/>
                  </a:moveTo>
                  <a:lnTo>
                    <a:pt x="87" y="44"/>
                  </a:lnTo>
                  <a:lnTo>
                    <a:pt x="44" y="87"/>
                  </a:lnTo>
                  <a:lnTo>
                    <a:pt x="0" y="44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68" name="Freeform 2285"/>
            <p:cNvSpPr>
              <a:spLocks/>
            </p:cNvSpPr>
            <p:nvPr/>
          </p:nvSpPr>
          <p:spPr bwMode="auto">
            <a:xfrm>
              <a:off x="4858" y="3275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69" name="Freeform 2286"/>
            <p:cNvSpPr>
              <a:spLocks/>
            </p:cNvSpPr>
            <p:nvPr/>
          </p:nvSpPr>
          <p:spPr bwMode="auto">
            <a:xfrm>
              <a:off x="4746" y="317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70" name="Freeform 2287"/>
            <p:cNvSpPr>
              <a:spLocks/>
            </p:cNvSpPr>
            <p:nvPr/>
          </p:nvSpPr>
          <p:spPr bwMode="auto">
            <a:xfrm>
              <a:off x="5319" y="3478"/>
              <a:ext cx="88" cy="86"/>
            </a:xfrm>
            <a:custGeom>
              <a:avLst/>
              <a:gdLst>
                <a:gd name="T0" fmla="*/ 44 w 88"/>
                <a:gd name="T1" fmla="*/ 0 h 86"/>
                <a:gd name="T2" fmla="*/ 88 w 88"/>
                <a:gd name="T3" fmla="*/ 43 h 86"/>
                <a:gd name="T4" fmla="*/ 44 w 88"/>
                <a:gd name="T5" fmla="*/ 86 h 86"/>
                <a:gd name="T6" fmla="*/ 0 w 88"/>
                <a:gd name="T7" fmla="*/ 43 h 86"/>
                <a:gd name="T8" fmla="*/ 44 w 88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8"/>
                <a:gd name="T16" fmla="*/ 0 h 86"/>
                <a:gd name="T17" fmla="*/ 88 w 88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8" h="86">
                  <a:moveTo>
                    <a:pt x="44" y="0"/>
                  </a:moveTo>
                  <a:lnTo>
                    <a:pt x="88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71" name="Freeform 2288"/>
            <p:cNvSpPr>
              <a:spLocks/>
            </p:cNvSpPr>
            <p:nvPr/>
          </p:nvSpPr>
          <p:spPr bwMode="auto">
            <a:xfrm>
              <a:off x="5089" y="378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72" name="Freeform 2289"/>
            <p:cNvSpPr>
              <a:spLocks/>
            </p:cNvSpPr>
            <p:nvPr/>
          </p:nvSpPr>
          <p:spPr bwMode="auto">
            <a:xfrm>
              <a:off x="5207" y="3577"/>
              <a:ext cx="87" cy="86"/>
            </a:xfrm>
            <a:custGeom>
              <a:avLst/>
              <a:gdLst>
                <a:gd name="T0" fmla="*/ 44 w 87"/>
                <a:gd name="T1" fmla="*/ 0 h 86"/>
                <a:gd name="T2" fmla="*/ 87 w 87"/>
                <a:gd name="T3" fmla="*/ 43 h 86"/>
                <a:gd name="T4" fmla="*/ 44 w 87"/>
                <a:gd name="T5" fmla="*/ 86 h 86"/>
                <a:gd name="T6" fmla="*/ 0 w 87"/>
                <a:gd name="T7" fmla="*/ 43 h 86"/>
                <a:gd name="T8" fmla="*/ 44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4" y="0"/>
                  </a:moveTo>
                  <a:lnTo>
                    <a:pt x="87" y="43"/>
                  </a:lnTo>
                  <a:lnTo>
                    <a:pt x="44" y="86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73" name="Freeform 2290"/>
            <p:cNvSpPr>
              <a:spLocks/>
            </p:cNvSpPr>
            <p:nvPr/>
          </p:nvSpPr>
          <p:spPr bwMode="auto">
            <a:xfrm>
              <a:off x="5207" y="3373"/>
              <a:ext cx="87" cy="87"/>
            </a:xfrm>
            <a:custGeom>
              <a:avLst/>
              <a:gdLst>
                <a:gd name="T0" fmla="*/ 44 w 87"/>
                <a:gd name="T1" fmla="*/ 0 h 87"/>
                <a:gd name="T2" fmla="*/ 87 w 87"/>
                <a:gd name="T3" fmla="*/ 43 h 87"/>
                <a:gd name="T4" fmla="*/ 44 w 87"/>
                <a:gd name="T5" fmla="*/ 87 h 87"/>
                <a:gd name="T6" fmla="*/ 0 w 87"/>
                <a:gd name="T7" fmla="*/ 43 h 87"/>
                <a:gd name="T8" fmla="*/ 44 w 87"/>
                <a:gd name="T9" fmla="*/ 0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7"/>
                <a:gd name="T17" fmla="*/ 87 w 87"/>
                <a:gd name="T18" fmla="*/ 87 h 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7">
                  <a:moveTo>
                    <a:pt x="44" y="0"/>
                  </a:moveTo>
                  <a:lnTo>
                    <a:pt x="87" y="43"/>
                  </a:lnTo>
                  <a:lnTo>
                    <a:pt x="44" y="87"/>
                  </a:lnTo>
                  <a:lnTo>
                    <a:pt x="0" y="4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74" name="Rectangle 2291"/>
            <p:cNvSpPr>
              <a:spLocks noChangeArrowheads="1"/>
            </p:cNvSpPr>
            <p:nvPr/>
          </p:nvSpPr>
          <p:spPr bwMode="auto">
            <a:xfrm>
              <a:off x="4390" y="400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75" name="Rectangle 2292"/>
            <p:cNvSpPr>
              <a:spLocks noChangeArrowheads="1"/>
            </p:cNvSpPr>
            <p:nvPr/>
          </p:nvSpPr>
          <p:spPr bwMode="auto">
            <a:xfrm>
              <a:off x="4390" y="391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76" name="Rectangle 2293"/>
            <p:cNvSpPr>
              <a:spLocks noChangeArrowheads="1"/>
            </p:cNvSpPr>
            <p:nvPr/>
          </p:nvSpPr>
          <p:spPr bwMode="auto">
            <a:xfrm>
              <a:off x="4390" y="3805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77" name="Rectangle 2294"/>
            <p:cNvSpPr>
              <a:spLocks noChangeArrowheads="1"/>
            </p:cNvSpPr>
            <p:nvPr/>
          </p:nvSpPr>
          <p:spPr bwMode="auto">
            <a:xfrm>
              <a:off x="4390" y="370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78" name="Rectangle 2295"/>
            <p:cNvSpPr>
              <a:spLocks noChangeArrowheads="1"/>
            </p:cNvSpPr>
            <p:nvPr/>
          </p:nvSpPr>
          <p:spPr bwMode="auto">
            <a:xfrm>
              <a:off x="4390" y="3601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79" name="Rectangle 2296"/>
            <p:cNvSpPr>
              <a:spLocks noChangeArrowheads="1"/>
            </p:cNvSpPr>
            <p:nvPr/>
          </p:nvSpPr>
          <p:spPr bwMode="auto">
            <a:xfrm>
              <a:off x="4390" y="3503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0" name="Rectangle 2297"/>
            <p:cNvSpPr>
              <a:spLocks noChangeArrowheads="1"/>
            </p:cNvSpPr>
            <p:nvPr/>
          </p:nvSpPr>
          <p:spPr bwMode="auto">
            <a:xfrm>
              <a:off x="4390" y="3398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1" name="Rectangle 2298"/>
            <p:cNvSpPr>
              <a:spLocks noChangeArrowheads="1"/>
            </p:cNvSpPr>
            <p:nvPr/>
          </p:nvSpPr>
          <p:spPr bwMode="auto">
            <a:xfrm>
              <a:off x="4390" y="3299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2" name="Rectangle 2299"/>
            <p:cNvSpPr>
              <a:spLocks noChangeArrowheads="1"/>
            </p:cNvSpPr>
            <p:nvPr/>
          </p:nvSpPr>
          <p:spPr bwMode="auto">
            <a:xfrm>
              <a:off x="4390" y="3194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3" name="Rectangle 2300"/>
            <p:cNvSpPr>
              <a:spLocks noChangeArrowheads="1"/>
            </p:cNvSpPr>
            <p:nvPr/>
          </p:nvSpPr>
          <p:spPr bwMode="auto">
            <a:xfrm>
              <a:off x="4390" y="3096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4" name="Rectangle 2301"/>
            <p:cNvSpPr>
              <a:spLocks noChangeArrowheads="1"/>
            </p:cNvSpPr>
            <p:nvPr/>
          </p:nvSpPr>
          <p:spPr bwMode="auto">
            <a:xfrm>
              <a:off x="4372" y="2991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5" name="Rectangle 2302"/>
            <p:cNvSpPr>
              <a:spLocks noChangeArrowheads="1"/>
            </p:cNvSpPr>
            <p:nvPr/>
          </p:nvSpPr>
          <p:spPr bwMode="auto">
            <a:xfrm>
              <a:off x="443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6" name="Rectangle 2303"/>
            <p:cNvSpPr>
              <a:spLocks noChangeArrowheads="1"/>
            </p:cNvSpPr>
            <p:nvPr/>
          </p:nvSpPr>
          <p:spPr bwMode="auto">
            <a:xfrm>
              <a:off x="455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7" name="Rectangle 2304"/>
            <p:cNvSpPr>
              <a:spLocks noChangeArrowheads="1"/>
            </p:cNvSpPr>
            <p:nvPr/>
          </p:nvSpPr>
          <p:spPr bwMode="auto">
            <a:xfrm>
              <a:off x="466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2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8" name="Rectangle 2305"/>
            <p:cNvSpPr>
              <a:spLocks noChangeArrowheads="1"/>
            </p:cNvSpPr>
            <p:nvPr/>
          </p:nvSpPr>
          <p:spPr bwMode="auto">
            <a:xfrm>
              <a:off x="4783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3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89" name="Rectangle 2306"/>
            <p:cNvSpPr>
              <a:spLocks noChangeArrowheads="1"/>
            </p:cNvSpPr>
            <p:nvPr/>
          </p:nvSpPr>
          <p:spPr bwMode="auto">
            <a:xfrm>
              <a:off x="489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4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0" name="Rectangle 2307"/>
            <p:cNvSpPr>
              <a:spLocks noChangeArrowheads="1"/>
            </p:cNvSpPr>
            <p:nvPr/>
          </p:nvSpPr>
          <p:spPr bwMode="auto">
            <a:xfrm>
              <a:off x="501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5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1" name="Rectangle 2308"/>
            <p:cNvSpPr>
              <a:spLocks noChangeArrowheads="1"/>
            </p:cNvSpPr>
            <p:nvPr/>
          </p:nvSpPr>
          <p:spPr bwMode="auto">
            <a:xfrm>
              <a:off x="5126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6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2" name="Rectangle 2309"/>
            <p:cNvSpPr>
              <a:spLocks noChangeArrowheads="1"/>
            </p:cNvSpPr>
            <p:nvPr/>
          </p:nvSpPr>
          <p:spPr bwMode="auto">
            <a:xfrm>
              <a:off x="5244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7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3" name="Rectangle 2310"/>
            <p:cNvSpPr>
              <a:spLocks noChangeArrowheads="1"/>
            </p:cNvSpPr>
            <p:nvPr/>
          </p:nvSpPr>
          <p:spPr bwMode="auto">
            <a:xfrm>
              <a:off x="5357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8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4" name="Rectangle 2311"/>
            <p:cNvSpPr>
              <a:spLocks noChangeArrowheads="1"/>
            </p:cNvSpPr>
            <p:nvPr/>
          </p:nvSpPr>
          <p:spPr bwMode="auto">
            <a:xfrm>
              <a:off x="5475" y="4070"/>
              <a:ext cx="12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9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5" name="Rectangle 2312"/>
            <p:cNvSpPr>
              <a:spLocks noChangeArrowheads="1"/>
            </p:cNvSpPr>
            <p:nvPr/>
          </p:nvSpPr>
          <p:spPr bwMode="auto">
            <a:xfrm>
              <a:off x="5575" y="4070"/>
              <a:ext cx="19" cy="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ko-KR" altLang="en-US" sz="500">
                  <a:solidFill>
                    <a:srgbClr val="000000"/>
                  </a:solidFill>
                  <a:latin typeface="Small Fonts" charset="0"/>
                  <a:ea typeface="굴림" pitchFamily="34" charset="-127"/>
                </a:rPr>
                <a:t>10</a:t>
              </a:r>
              <a:endParaRPr lang="ko-KR" altLang="en-US">
                <a:ea typeface="굴림" pitchFamily="34" charset="-127"/>
              </a:endParaRPr>
            </a:p>
          </p:txBody>
        </p:sp>
        <p:sp>
          <p:nvSpPr>
            <p:cNvPr id="13496" name="Rectangle 2313"/>
            <p:cNvSpPr>
              <a:spLocks noChangeArrowheads="1"/>
            </p:cNvSpPr>
            <p:nvPr/>
          </p:nvSpPr>
          <p:spPr bwMode="auto">
            <a:xfrm>
              <a:off x="4297" y="2905"/>
              <a:ext cx="1371" cy="1282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3497" name="Line 2314"/>
            <p:cNvSpPr>
              <a:spLocks noChangeShapeType="1"/>
            </p:cNvSpPr>
            <p:nvPr/>
          </p:nvSpPr>
          <p:spPr bwMode="auto">
            <a:xfrm>
              <a:off x="5245" y="3456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/>
            </a:p>
          </p:txBody>
        </p:sp>
        <p:sp>
          <p:nvSpPr>
            <p:cNvPr id="13498" name="Freeform 2315"/>
            <p:cNvSpPr>
              <a:spLocks/>
            </p:cNvSpPr>
            <p:nvPr/>
          </p:nvSpPr>
          <p:spPr bwMode="auto">
            <a:xfrm>
              <a:off x="5088" y="3600"/>
              <a:ext cx="87" cy="86"/>
            </a:xfrm>
            <a:custGeom>
              <a:avLst/>
              <a:gdLst>
                <a:gd name="T0" fmla="*/ 43 w 87"/>
                <a:gd name="T1" fmla="*/ 0 h 86"/>
                <a:gd name="T2" fmla="*/ 87 w 87"/>
                <a:gd name="T3" fmla="*/ 43 h 86"/>
                <a:gd name="T4" fmla="*/ 43 w 87"/>
                <a:gd name="T5" fmla="*/ 86 h 86"/>
                <a:gd name="T6" fmla="*/ 0 w 87"/>
                <a:gd name="T7" fmla="*/ 43 h 86"/>
                <a:gd name="T8" fmla="*/ 43 w 87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7"/>
                <a:gd name="T16" fmla="*/ 0 h 86"/>
                <a:gd name="T17" fmla="*/ 87 w 87"/>
                <a:gd name="T18" fmla="*/ 86 h 8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7" h="86">
                  <a:moveTo>
                    <a:pt x="43" y="0"/>
                  </a:moveTo>
                  <a:lnTo>
                    <a:pt x="87" y="43"/>
                  </a:lnTo>
                  <a:lnTo>
                    <a:pt x="43" y="86"/>
                  </a:lnTo>
                  <a:lnTo>
                    <a:pt x="0" y="43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000080"/>
            </a:solidFill>
            <a:ln w="9525">
              <a:solidFill>
                <a:srgbClr val="00008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96" name="Rectangle 40"/>
          <p:cNvSpPr>
            <a:spLocks noGrp="1" noChangeArrowheads="1"/>
          </p:cNvSpPr>
          <p:nvPr>
            <p:ph type="title"/>
          </p:nvPr>
        </p:nvSpPr>
        <p:spPr>
          <a:xfrm>
            <a:off x="1357313" y="142875"/>
            <a:ext cx="5929312" cy="1143000"/>
          </a:xfrm>
          <a:noFill/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Fuzzy C-Means Clustering</a:t>
            </a:r>
          </a:p>
        </p:txBody>
      </p:sp>
      <p:sp>
        <p:nvSpPr>
          <p:cNvPr id="53251" name="Rectangle 3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848600" cy="4038600"/>
          </a:xfrm>
          <a:noFill/>
        </p:spPr>
        <p:txBody>
          <a:bodyPr/>
          <a:lstStyle/>
          <a:p>
            <a:pPr eaLnBrk="1" hangingPunct="1"/>
            <a:r>
              <a:rPr lang="en-US" altLang="zh-TW" sz="3000" dirty="0" smtClean="0">
                <a:ea typeface="新細明體" pitchFamily="18" charset="-120"/>
              </a:rPr>
              <a:t>Input: Unlabeled data set </a:t>
            </a:r>
            <a:r>
              <a:rPr lang="en-US" altLang="zh-TW" sz="3000" i="1" dirty="0" smtClean="0">
                <a:ea typeface="新細明體" pitchFamily="18" charset="-120"/>
              </a:rPr>
              <a:t>U</a:t>
            </a:r>
            <a:r>
              <a:rPr lang="en-US" altLang="zh-TW" sz="3000" dirty="0" smtClean="0">
                <a:ea typeface="新細明體" pitchFamily="18" charset="-120"/>
              </a:rPr>
              <a:t>={</a:t>
            </a:r>
            <a:r>
              <a:rPr lang="en-US" altLang="zh-TW" sz="3000" i="1" dirty="0" smtClean="0">
                <a:ea typeface="新細明體" pitchFamily="18" charset="-120"/>
              </a:rPr>
              <a:t>x</a:t>
            </a:r>
            <a:r>
              <a:rPr lang="en-US" altLang="zh-TW" sz="3000" baseline="-25000" dirty="0" smtClean="0">
                <a:ea typeface="新細明體" pitchFamily="18" charset="-120"/>
              </a:rPr>
              <a:t>1</a:t>
            </a:r>
            <a:r>
              <a:rPr lang="en-US" altLang="zh-TW" sz="3000" dirty="0" smtClean="0">
                <a:ea typeface="新細明體" pitchFamily="18" charset="-120"/>
              </a:rPr>
              <a:t>, </a:t>
            </a:r>
            <a:r>
              <a:rPr lang="en-US" altLang="zh-TW" sz="3000" i="1" dirty="0" smtClean="0">
                <a:ea typeface="新細明體" pitchFamily="18" charset="-120"/>
              </a:rPr>
              <a:t>x</a:t>
            </a:r>
            <a:r>
              <a:rPr lang="en-US" altLang="zh-TW" sz="3000" baseline="-25000" dirty="0" smtClean="0">
                <a:ea typeface="新細明體" pitchFamily="18" charset="-120"/>
              </a:rPr>
              <a:t>2</a:t>
            </a:r>
            <a:r>
              <a:rPr lang="en-US" altLang="zh-TW" sz="3000" dirty="0" smtClean="0">
                <a:ea typeface="新細明體" pitchFamily="18" charset="-120"/>
              </a:rPr>
              <a:t>, …, </a:t>
            </a:r>
            <a:r>
              <a:rPr lang="en-US" altLang="zh-TW" sz="3000" i="1" dirty="0" err="1" smtClean="0">
                <a:ea typeface="新細明體" pitchFamily="18" charset="-120"/>
              </a:rPr>
              <a:t>x</a:t>
            </a:r>
            <a:r>
              <a:rPr lang="en-US" altLang="zh-TW" sz="3000" i="1" baseline="-25000" dirty="0" err="1" smtClean="0">
                <a:ea typeface="新細明體" pitchFamily="18" charset="-120"/>
              </a:rPr>
              <a:t>n</a:t>
            </a:r>
            <a:r>
              <a:rPr lang="en-US" altLang="zh-TW" sz="3000" dirty="0" smtClean="0">
                <a:ea typeface="新細明體" pitchFamily="18" charset="-120"/>
              </a:rPr>
              <a:t>}</a:t>
            </a:r>
          </a:p>
          <a:p>
            <a:pPr eaLnBrk="1" hangingPunct="1"/>
            <a:r>
              <a:rPr lang="en-US" altLang="zh-TW" sz="3000" dirty="0" smtClean="0">
                <a:ea typeface="新細明體" pitchFamily="18" charset="-120"/>
              </a:rPr>
              <a:t>Output: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	A c-partition of </a:t>
            </a:r>
            <a:r>
              <a:rPr lang="en-US" altLang="zh-TW" sz="3000" i="1" dirty="0" smtClean="0">
                <a:ea typeface="新細明體" pitchFamily="18" charset="-120"/>
              </a:rPr>
              <a:t>U</a:t>
            </a:r>
          </a:p>
          <a:p>
            <a:pPr eaLnBrk="1" hangingPunct="1"/>
            <a:r>
              <a:rPr lang="en-US" altLang="zh-TW" sz="3000" smtClean="0">
                <a:ea typeface="新細明體" pitchFamily="18" charset="-120"/>
              </a:rPr>
              <a:t>Additional output:</a:t>
            </a:r>
            <a:endParaRPr lang="en-US" altLang="zh-TW" sz="3000" dirty="0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	A set of vectors </a:t>
            </a:r>
            <a:r>
              <a:rPr lang="en-US" altLang="zh-TW" sz="3000" i="1" dirty="0" smtClean="0">
                <a:ea typeface="新細明體" pitchFamily="18" charset="-120"/>
              </a:rPr>
              <a:t>V</a:t>
            </a:r>
            <a:r>
              <a:rPr lang="en-US" altLang="zh-TW" sz="3000" dirty="0" smtClean="0">
                <a:ea typeface="新細明體" pitchFamily="18" charset="-120"/>
              </a:rPr>
              <a:t>={</a:t>
            </a:r>
            <a:r>
              <a:rPr lang="en-US" altLang="zh-TW" sz="3000" i="1" dirty="0" smtClean="0">
                <a:ea typeface="新細明體" pitchFamily="18" charset="-120"/>
              </a:rPr>
              <a:t>v</a:t>
            </a:r>
            <a:r>
              <a:rPr lang="en-US" altLang="zh-TW" sz="3000" baseline="-25000" dirty="0" smtClean="0">
                <a:ea typeface="新細明體" pitchFamily="18" charset="-120"/>
              </a:rPr>
              <a:t>1</a:t>
            </a:r>
            <a:r>
              <a:rPr lang="en-US" altLang="zh-TW" sz="3000" dirty="0" smtClean="0">
                <a:ea typeface="新細明體" pitchFamily="18" charset="-120"/>
              </a:rPr>
              <a:t>, </a:t>
            </a:r>
            <a:r>
              <a:rPr lang="en-US" altLang="zh-TW" sz="3000" i="1" dirty="0" smtClean="0">
                <a:ea typeface="新細明體" pitchFamily="18" charset="-120"/>
              </a:rPr>
              <a:t>v</a:t>
            </a:r>
            <a:r>
              <a:rPr lang="en-US" altLang="zh-TW" sz="3000" baseline="-25000" dirty="0" smtClean="0">
                <a:ea typeface="新細明體" pitchFamily="18" charset="-120"/>
              </a:rPr>
              <a:t>2</a:t>
            </a:r>
            <a:r>
              <a:rPr lang="en-US" altLang="zh-TW" sz="3000" dirty="0" smtClean="0">
                <a:ea typeface="新細明體" pitchFamily="18" charset="-120"/>
              </a:rPr>
              <a:t>, …, </a:t>
            </a:r>
            <a:r>
              <a:rPr lang="en-US" altLang="zh-TW" sz="3000" i="1" dirty="0" err="1" smtClean="0">
                <a:ea typeface="新細明體" pitchFamily="18" charset="-120"/>
              </a:rPr>
              <a:t>v</a:t>
            </a:r>
            <a:r>
              <a:rPr lang="en-US" altLang="zh-TW" sz="3000" i="1" baseline="-25000" dirty="0" err="1" smtClean="0">
                <a:ea typeface="新細明體" pitchFamily="18" charset="-120"/>
              </a:rPr>
              <a:t>c</a:t>
            </a:r>
            <a:r>
              <a:rPr lang="en-US" altLang="zh-TW" sz="3000" dirty="0" smtClean="0">
                <a:ea typeface="新細明體" pitchFamily="18" charset="-120"/>
              </a:rPr>
              <a:t>}, where </a:t>
            </a:r>
            <a:r>
              <a:rPr lang="en-US" altLang="zh-TW" sz="3000" i="1" dirty="0" smtClean="0">
                <a:ea typeface="新細明體" pitchFamily="18" charset="-120"/>
              </a:rPr>
              <a:t>v</a:t>
            </a:r>
            <a:r>
              <a:rPr lang="en-US" altLang="zh-TW" sz="3000" i="1" baseline="-25000" dirty="0" smtClean="0">
                <a:ea typeface="新細明體" pitchFamily="18" charset="-120"/>
              </a:rPr>
              <a:t>i</a:t>
            </a:r>
            <a:r>
              <a:rPr lang="en-US" altLang="zh-TW" sz="3000" i="1" dirty="0" smtClean="0">
                <a:ea typeface="新細明體" pitchFamily="18" charset="-120"/>
              </a:rPr>
              <a:t> </a:t>
            </a:r>
            <a:r>
              <a:rPr lang="en-US" altLang="zh-TW" sz="3000" dirty="0" smtClean="0">
                <a:ea typeface="新細明體" pitchFamily="18" charset="-120"/>
              </a:rPr>
              <a:t>is called a cluster center</a:t>
            </a:r>
          </a:p>
        </p:txBody>
      </p:sp>
      <p:sp>
        <p:nvSpPr>
          <p:cNvPr id="173059" name="Rectangle 3"/>
          <p:cNvSpPr>
            <a:spLocks noChangeArrowheads="1"/>
          </p:cNvSpPr>
          <p:nvPr/>
        </p:nvSpPr>
        <p:spPr bwMode="auto">
          <a:xfrm>
            <a:off x="3505200" y="1295400"/>
            <a:ext cx="5562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endParaRPr lang="zh-TW" altLang="zh-TW" sz="280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16"/>
          <p:cNvSpPr>
            <a:spLocks noGrp="1" noChangeArrowheads="1"/>
          </p:cNvSpPr>
          <p:nvPr>
            <p:ph type="title"/>
          </p:nvPr>
        </p:nvSpPr>
        <p:spPr>
          <a:xfrm>
            <a:off x="1214438" y="142875"/>
            <a:ext cx="6929437" cy="1143000"/>
          </a:xfrm>
          <a:noFill/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Fuzzy C-Means Clustering (Cont.)</a:t>
            </a:r>
          </a:p>
        </p:txBody>
      </p:sp>
      <p:sp>
        <p:nvSpPr>
          <p:cNvPr id="15368" name="Rectangle 17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785938"/>
            <a:ext cx="7848600" cy="4038600"/>
          </a:xfrm>
          <a:noFill/>
        </p:spPr>
        <p:txBody>
          <a:bodyPr/>
          <a:lstStyle/>
          <a:p>
            <a:pPr eaLnBrk="1" hangingPunct="1"/>
            <a:r>
              <a:rPr lang="en-US" altLang="zh-TW" sz="3000" dirty="0" smtClean="0">
                <a:ea typeface="新細明體" pitchFamily="18" charset="-120"/>
              </a:rPr>
              <a:t>Optimization of an objective function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3000" dirty="0" smtClean="0">
              <a:ea typeface="新細明體" pitchFamily="18" charset="-12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Constraint: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Distance: </a:t>
            </a:r>
            <a:r>
              <a:rPr lang="zh-TW" altLang="en-US" sz="3000" dirty="0" smtClean="0">
                <a:ea typeface="新細明體" pitchFamily="18" charset="-120"/>
              </a:rPr>
              <a:t> 離中心點的距離</a:t>
            </a:r>
            <a:r>
              <a:rPr lang="en-US" altLang="zh-TW" sz="3000" dirty="0" smtClean="0">
                <a:ea typeface="新細明體" pitchFamily="18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3000" dirty="0" smtClean="0">
                <a:ea typeface="新細明體" pitchFamily="18" charset="-120"/>
              </a:rPr>
              <a:t>Degree of </a:t>
            </a:r>
            <a:r>
              <a:rPr lang="en-US" altLang="zh-TW" sz="3000" dirty="0" err="1" smtClean="0">
                <a:ea typeface="新細明體" pitchFamily="18" charset="-120"/>
              </a:rPr>
              <a:t>fuzzification</a:t>
            </a:r>
            <a:r>
              <a:rPr lang="en-US" altLang="zh-TW" sz="3000" dirty="0" smtClean="0">
                <a:ea typeface="新細明體" pitchFamily="18" charset="-120"/>
              </a:rPr>
              <a:t>: </a:t>
            </a:r>
            <a:r>
              <a:rPr lang="en-US" altLang="zh-TW" sz="3000" i="1" dirty="0" smtClean="0">
                <a:ea typeface="新細明體" pitchFamily="18" charset="-120"/>
              </a:rPr>
              <a:t>m</a:t>
            </a:r>
            <a:r>
              <a:rPr lang="en-US" altLang="zh-TW" sz="3000" u="sng" dirty="0" smtClean="0">
                <a:ea typeface="新細明體" pitchFamily="18" charset="-120"/>
              </a:rPr>
              <a:t>&gt;</a:t>
            </a:r>
            <a:r>
              <a:rPr lang="en-US" altLang="zh-TW" sz="3000" dirty="0" smtClean="0">
                <a:ea typeface="新細明體" pitchFamily="18" charset="-120"/>
              </a:rPr>
              <a:t>1</a:t>
            </a:r>
          </a:p>
        </p:txBody>
      </p:sp>
      <p:sp>
        <p:nvSpPr>
          <p:cNvPr id="233475" name="Rectangle 3"/>
          <p:cNvSpPr>
            <a:spLocks noChangeArrowheads="1"/>
          </p:cNvSpPr>
          <p:nvPr/>
        </p:nvSpPr>
        <p:spPr bwMode="auto">
          <a:xfrm>
            <a:off x="3505200" y="1295400"/>
            <a:ext cx="5562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endParaRPr lang="zh-TW" altLang="zh-TW" sz="280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1965325" y="5503863"/>
          <a:ext cx="9715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5" name="Equation" r:id="rId3" imgW="355320" imgH="177480" progId="Equation.DSMT4">
                  <p:embed/>
                </p:oleObj>
              </mc:Choice>
              <mc:Fallback>
                <p:oleObj name="Equation" r:id="rId3" imgW="355320" imgH="177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5503863"/>
                        <a:ext cx="971550" cy="439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6"/>
          <p:cNvGraphicFramePr>
            <a:graphicFrameLocks noChangeAspect="1"/>
          </p:cNvGraphicFramePr>
          <p:nvPr/>
        </p:nvGraphicFramePr>
        <p:xfrm>
          <a:off x="5486400" y="4953000"/>
          <a:ext cx="26670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6" name="Equation" r:id="rId5" imgW="1587240" imgH="304560" progId="Equation.DSMT4">
                  <p:embed/>
                </p:oleObj>
              </mc:Choice>
              <mc:Fallback>
                <p:oleObj name="Equation" r:id="rId5" imgW="1587240" imgH="3045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953000"/>
                        <a:ext cx="2667000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7"/>
          <p:cNvGraphicFramePr>
            <a:graphicFrameLocks noChangeAspect="1"/>
          </p:cNvGraphicFramePr>
          <p:nvPr/>
        </p:nvGraphicFramePr>
        <p:xfrm>
          <a:off x="2214563" y="2286000"/>
          <a:ext cx="42195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7" name="方程式" r:id="rId7" imgW="2019240" imgH="444240" progId="Equation.3">
                  <p:embed/>
                </p:oleObj>
              </mc:Choice>
              <mc:Fallback>
                <p:oleObj name="方程式" r:id="rId7" imgW="201924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286000"/>
                        <a:ext cx="421957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8"/>
          <p:cNvGraphicFramePr>
            <a:graphicFrameLocks noChangeAspect="1"/>
          </p:cNvGraphicFramePr>
          <p:nvPr/>
        </p:nvGraphicFramePr>
        <p:xfrm>
          <a:off x="2643188" y="3357563"/>
          <a:ext cx="927100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8" name="方程式" r:id="rId9" imgW="622080" imgH="431640" progId="Equation.3">
                  <p:embed/>
                </p:oleObj>
              </mc:Choice>
              <mc:Fallback>
                <p:oleObj name="方程式" r:id="rId9" imgW="622080" imgH="431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357563"/>
                        <a:ext cx="927100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305462"/>
              </p:ext>
            </p:extLst>
          </p:nvPr>
        </p:nvGraphicFramePr>
        <p:xfrm>
          <a:off x="5234208" y="3969270"/>
          <a:ext cx="16668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49" name="方程式" r:id="rId11" imgW="1015920" imgH="304560" progId="Equation.3">
                  <p:embed/>
                </p:oleObj>
              </mc:Choice>
              <mc:Fallback>
                <p:oleObj name="方程式" r:id="rId11" imgW="1015920" imgH="304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4208" y="3969270"/>
                        <a:ext cx="16668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3" name="Rectangle 2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7848600" cy="4038600"/>
          </a:xfrm>
          <a:noFill/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Compute memberships with respect to </a:t>
            </a:r>
            <a:r>
              <a:rPr lang="en-US" altLang="zh-TW" i="1" dirty="0" smtClean="0">
                <a:ea typeface="新細明體" pitchFamily="18" charset="-120"/>
              </a:rPr>
              <a:t>V</a:t>
            </a:r>
            <a:r>
              <a:rPr lang="en-US" altLang="zh-TW" dirty="0" smtClean="0">
                <a:ea typeface="新細明體" pitchFamily="18" charset="-120"/>
              </a:rPr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dirty="0" smtClean="0">
                <a:ea typeface="新細明體" pitchFamily="18" charset="-120"/>
              </a:rPr>
              <a:t>	</a:t>
            </a:r>
          </a:p>
          <a:p>
            <a:pPr eaLnBrk="1" hangingPunct="1"/>
            <a:endParaRPr lang="en-US" altLang="zh-TW" dirty="0" smtClean="0">
              <a:ea typeface="新細明體" pitchFamily="18" charset="-120"/>
            </a:endParaRPr>
          </a:p>
          <a:p>
            <a:pPr eaLnBrk="1" hangingPunct="1"/>
            <a:endParaRPr lang="en-US" altLang="zh-TW" dirty="0" smtClean="0">
              <a:ea typeface="新細明體" pitchFamily="18" charset="-120"/>
            </a:endParaRPr>
          </a:p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Compute centers with respect to </a:t>
            </a:r>
            <a:r>
              <a:rPr lang="en-US" altLang="zh-TW" i="1" dirty="0" smtClean="0">
                <a:ea typeface="新細明體" pitchFamily="18" charset="-120"/>
              </a:rPr>
              <a:t>U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i="1" dirty="0" smtClean="0">
                <a:ea typeface="新細明體" pitchFamily="18" charset="-120"/>
              </a:rPr>
              <a:t>	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234499" name="Rectangle 3"/>
          <p:cNvSpPr>
            <a:spLocks noChangeArrowheads="1"/>
          </p:cNvSpPr>
          <p:nvPr/>
        </p:nvSpPr>
        <p:spPr bwMode="auto">
          <a:xfrm>
            <a:off x="3505200" y="1295400"/>
            <a:ext cx="5562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endParaRPr lang="zh-TW" altLang="zh-TW" sz="280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</p:txBody>
      </p:sp>
      <p:graphicFrame>
        <p:nvGraphicFramePr>
          <p:cNvPr id="16391" name="Object 12"/>
          <p:cNvGraphicFramePr>
            <a:graphicFrameLocks noChangeAspect="1"/>
          </p:cNvGraphicFramePr>
          <p:nvPr/>
        </p:nvGraphicFramePr>
        <p:xfrm>
          <a:off x="1058863" y="2571750"/>
          <a:ext cx="3455987" cy="143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4" name="方程式" r:id="rId3" imgW="2425680" imgH="1002960" progId="Equation.3">
                  <p:embed/>
                </p:oleObj>
              </mc:Choice>
              <mc:Fallback>
                <p:oleObj name="方程式" r:id="rId3" imgW="2425680" imgH="10029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2571750"/>
                        <a:ext cx="3455987" cy="143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3"/>
          <p:cNvGraphicFramePr>
            <a:graphicFrameLocks noChangeAspect="1"/>
          </p:cNvGraphicFramePr>
          <p:nvPr/>
        </p:nvGraphicFramePr>
        <p:xfrm>
          <a:off x="1285875" y="4643438"/>
          <a:ext cx="38227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45" name="方程式" r:id="rId5" imgW="2184120" imgH="571320" progId="Equation.3">
                  <p:embed/>
                </p:oleObj>
              </mc:Choice>
              <mc:Fallback>
                <p:oleObj name="方程式" r:id="rId5" imgW="2184120" imgH="57132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4643438"/>
                        <a:ext cx="38227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Rectangle 16"/>
          <p:cNvSpPr>
            <a:spLocks noGrp="1" noChangeArrowheads="1"/>
          </p:cNvSpPr>
          <p:nvPr>
            <p:ph type="title"/>
          </p:nvPr>
        </p:nvSpPr>
        <p:spPr>
          <a:xfrm>
            <a:off x="1214438" y="142875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Fuzzy C-Means Clustering (Cont.)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3"/>
          <p:cNvSpPr>
            <a:spLocks noGrp="1" noChangeArrowheads="1"/>
          </p:cNvSpPr>
          <p:nvPr>
            <p:ph type="body" sz="half" idx="1"/>
          </p:nvPr>
        </p:nvSpPr>
        <p:spPr>
          <a:xfrm>
            <a:off x="642938" y="1785938"/>
            <a:ext cx="7848600" cy="4038600"/>
          </a:xfrm>
          <a:noFill/>
        </p:spPr>
        <p:txBody>
          <a:bodyPr/>
          <a:lstStyle/>
          <a:p>
            <a:pPr eaLnBrk="1" hangingPunct="1"/>
            <a:r>
              <a:rPr lang="en-US" altLang="zh-TW" sz="3200" dirty="0" smtClean="0">
                <a:ea typeface="新細明體" pitchFamily="18" charset="-120"/>
              </a:rPr>
              <a:t>Initial Choices</a:t>
            </a:r>
          </a:p>
          <a:p>
            <a:pPr lvl="1" eaLnBrk="1" hangingPunct="1"/>
            <a:r>
              <a:rPr lang="en-US" altLang="zh-TW" dirty="0" smtClean="0">
                <a:ea typeface="新細明體" pitchFamily="18" charset="-120"/>
              </a:rPr>
              <a:t>Number of clusters 1&lt;</a:t>
            </a:r>
            <a:r>
              <a:rPr lang="en-US" altLang="zh-TW" i="1" dirty="0" smtClean="0">
                <a:ea typeface="新細明體" pitchFamily="18" charset="-120"/>
              </a:rPr>
              <a:t>c</a:t>
            </a:r>
            <a:r>
              <a:rPr lang="en-US" altLang="zh-TW" dirty="0" smtClean="0">
                <a:ea typeface="新細明體" pitchFamily="18" charset="-120"/>
              </a:rPr>
              <a:t>&lt;</a:t>
            </a:r>
            <a:r>
              <a:rPr lang="en-US" altLang="zh-TW" i="1" dirty="0" smtClean="0">
                <a:ea typeface="新細明體" pitchFamily="18" charset="-120"/>
              </a:rPr>
              <a:t>n</a:t>
            </a:r>
          </a:p>
          <a:p>
            <a:pPr lvl="1" eaLnBrk="1" hangingPunct="1"/>
            <a:r>
              <a:rPr lang="en-US" altLang="zh-TW" dirty="0" smtClean="0">
                <a:ea typeface="新細明體" pitchFamily="18" charset="-120"/>
              </a:rPr>
              <a:t>Maximum number of iterations (typ.: 100)</a:t>
            </a:r>
            <a:endParaRPr lang="en-US" altLang="zh-TW" i="1" dirty="0" smtClean="0">
              <a:ea typeface="新細明體" pitchFamily="18" charset="-120"/>
            </a:endParaRPr>
          </a:p>
          <a:p>
            <a:pPr lvl="1" eaLnBrk="1" hangingPunct="1"/>
            <a:r>
              <a:rPr lang="en-US" altLang="zh-TW" dirty="0" smtClean="0">
                <a:ea typeface="新細明體" pitchFamily="18" charset="-120"/>
              </a:rPr>
              <a:t>Weighting exponent (fuzziness degree) </a:t>
            </a:r>
            <a:r>
              <a:rPr lang="en-US" altLang="zh-TW" i="1" dirty="0" smtClean="0">
                <a:ea typeface="新細明體" pitchFamily="18" charset="-120"/>
              </a:rPr>
              <a:t>m</a:t>
            </a:r>
          </a:p>
          <a:p>
            <a:pPr lvl="2" eaLnBrk="1" hangingPunct="1"/>
            <a:r>
              <a:rPr lang="en-US" altLang="zh-TW" dirty="0" smtClean="0">
                <a:ea typeface="新細明體" pitchFamily="18" charset="-120"/>
              </a:rPr>
              <a:t>m=1: crisp </a:t>
            </a:r>
          </a:p>
          <a:p>
            <a:pPr lvl="2" eaLnBrk="1" hangingPunct="1"/>
            <a:r>
              <a:rPr lang="en-US" altLang="zh-TW" dirty="0" smtClean="0">
                <a:ea typeface="新細明體" pitchFamily="18" charset="-120"/>
              </a:rPr>
              <a:t>m=2: Typical</a:t>
            </a:r>
          </a:p>
          <a:p>
            <a:pPr lvl="1" eaLnBrk="1" hangingPunct="1"/>
            <a:r>
              <a:rPr lang="en-US" altLang="zh-TW" dirty="0" smtClean="0">
                <a:ea typeface="新細明體" pitchFamily="18" charset="-120"/>
              </a:rPr>
              <a:t>Termination measure</a:t>
            </a:r>
          </a:p>
          <a:p>
            <a:pPr lvl="1" eaLnBrk="1" hangingPunct="1"/>
            <a:r>
              <a:rPr lang="en-US" altLang="zh-TW" dirty="0" smtClean="0">
                <a:ea typeface="新細明體" pitchFamily="18" charset="-120"/>
              </a:rPr>
              <a:t>Termination threshold (typ. 0.01) </a:t>
            </a:r>
            <a:r>
              <a:rPr lang="en-US" altLang="zh-TW" dirty="0" smtClean="0">
                <a:latin typeface="Symbol" pitchFamily="18" charset="2"/>
                <a:ea typeface="新細明體" pitchFamily="18" charset="-120"/>
              </a:rPr>
              <a:t>e</a:t>
            </a:r>
          </a:p>
        </p:txBody>
      </p:sp>
      <p:sp>
        <p:nvSpPr>
          <p:cNvPr id="229379" name="Rectangle 3"/>
          <p:cNvSpPr>
            <a:spLocks noChangeArrowheads="1"/>
          </p:cNvSpPr>
          <p:nvPr/>
        </p:nvSpPr>
        <p:spPr bwMode="auto">
          <a:xfrm>
            <a:off x="3505200" y="1295400"/>
            <a:ext cx="5562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defRPr/>
            </a:pPr>
            <a:endParaRPr lang="zh-TW" altLang="zh-TW" sz="2800">
              <a:effectLst>
                <a:outerShdw blurRad="38100" dist="38100" dir="2700000" algn="tl">
                  <a:srgbClr val="C0C0C0"/>
                </a:outerShdw>
              </a:effectLst>
              <a:ea typeface="新細明體" pitchFamily="18" charset="-120"/>
            </a:endParaRPr>
          </a:p>
        </p:txBody>
      </p:sp>
      <p:graphicFrame>
        <p:nvGraphicFramePr>
          <p:cNvPr id="17410" name="Object 7"/>
          <p:cNvGraphicFramePr>
            <a:graphicFrameLocks noChangeAspect="1"/>
          </p:cNvGraphicFramePr>
          <p:nvPr/>
        </p:nvGraphicFramePr>
        <p:xfrm>
          <a:off x="4857750" y="4786313"/>
          <a:ext cx="1979613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3" name="方程式" r:id="rId4" imgW="1257120" imgH="317160" progId="Equation.3">
                  <p:embed/>
                </p:oleObj>
              </mc:Choice>
              <mc:Fallback>
                <p:oleObj name="方程式" r:id="rId4" imgW="1257120" imgH="317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4786313"/>
                        <a:ext cx="1979613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Rectangle 16"/>
          <p:cNvSpPr>
            <a:spLocks noGrp="1" noChangeArrowheads="1"/>
          </p:cNvSpPr>
          <p:nvPr>
            <p:ph type="title"/>
          </p:nvPr>
        </p:nvSpPr>
        <p:spPr>
          <a:xfrm>
            <a:off x="1214438" y="142875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Fuzzy C-Means Clustering (Cont.)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642938" y="1643063"/>
            <a:ext cx="7848600" cy="4038600"/>
          </a:xfrm>
          <a:noFill/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Advantages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Unsupervised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Always converges</a:t>
            </a:r>
          </a:p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Disadvantages</a:t>
            </a:r>
          </a:p>
          <a:p>
            <a:pPr lvl="1" eaLnBrk="1" hangingPunct="1"/>
            <a:r>
              <a:rPr lang="en-US" altLang="zh-TW" sz="2400" dirty="0" smtClean="0">
                <a:solidFill>
                  <a:srgbClr val="FF0000"/>
                </a:solidFill>
                <a:ea typeface="新細明體" pitchFamily="18" charset="-120"/>
              </a:rPr>
              <a:t>Long computational time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Sensitivity to the initial guess (speed, local minima)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Sensitivity to noise</a:t>
            </a:r>
          </a:p>
          <a:p>
            <a:pPr lvl="2" eaLnBrk="1" hangingPunct="1"/>
            <a:r>
              <a:rPr lang="en-US" altLang="zh-TW" dirty="0" smtClean="0">
                <a:ea typeface="新細明體" pitchFamily="18" charset="-120"/>
              </a:rPr>
              <a:t>One expects low (or even no) membership degree for outliers (noisy points)</a:t>
            </a:r>
            <a:endParaRPr lang="en-US" altLang="zh-TW" sz="2000" dirty="0" smtClean="0">
              <a:ea typeface="新細明體" pitchFamily="18" charset="-120"/>
            </a:endParaRPr>
          </a:p>
          <a:p>
            <a:pPr lvl="1" eaLnBrk="1" hangingPunct="1">
              <a:buFontTx/>
              <a:buNone/>
            </a:pPr>
            <a:endParaRPr lang="en-US" altLang="zh-TW" sz="2400" dirty="0" smtClean="0">
              <a:ea typeface="新細明體" pitchFamily="18" charset="-120"/>
            </a:endParaRPr>
          </a:p>
        </p:txBody>
      </p:sp>
      <p:sp>
        <p:nvSpPr>
          <p:cNvPr id="54275" name="Rectangle 16"/>
          <p:cNvSpPr>
            <a:spLocks noGrp="1" noChangeArrowheads="1"/>
          </p:cNvSpPr>
          <p:nvPr>
            <p:ph type="title"/>
          </p:nvPr>
        </p:nvSpPr>
        <p:spPr>
          <a:xfrm>
            <a:off x="1371600" y="214313"/>
            <a:ext cx="7772400" cy="1143000"/>
          </a:xfrm>
          <a:noFill/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Fuzzy C-Means Clustering (Cont.)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2C8E6BF-C511-4222-A713-9FB158C003A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52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53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9FDBB5A-F5CE-4DE9-A5CC-DB78AB84A593}" type="slidenum">
              <a:rPr lang="zh-TW" altLang="en-US" sz="1200" smtClean="0"/>
              <a:pPr eaLnBrk="1" hangingPunct="1"/>
              <a:t>41</a:t>
            </a:fld>
            <a:endParaRPr lang="en-US" altLang="zh-TW" sz="1200" smtClean="0"/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524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55303" name="AutoShape 4"/>
          <p:cNvSpPr>
            <a:spLocks noChangeArrowheads="1"/>
          </p:cNvSpPr>
          <p:nvPr/>
        </p:nvSpPr>
        <p:spPr bwMode="auto">
          <a:xfrm rot="-1466637">
            <a:off x="3505200" y="30480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B8E81FE-7DFC-43F9-9C19-35A3A76173D3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63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63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2A7BF79-91DE-490D-8EAB-5CB010535A1B}" type="slidenum">
              <a:rPr lang="zh-TW" altLang="en-US" sz="1200" smtClean="0"/>
              <a:pPr eaLnBrk="1" hangingPunct="1"/>
              <a:t>42</a:t>
            </a:fld>
            <a:endParaRPr lang="en-US" altLang="zh-TW" sz="1200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92125"/>
            <a:ext cx="7297737" cy="442913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dirty="0" smtClean="0">
                <a:ea typeface="SimSun" pitchFamily="2" charset="-122"/>
              </a:rPr>
              <a:t>Hierarchical Clustering</a:t>
            </a:r>
            <a:endParaRPr lang="en-US" altLang="zh-CN" sz="4400" dirty="0" smtClean="0">
              <a:ea typeface="SimSun" pitchFamily="2" charset="-122"/>
            </a:endParaRP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305800" cy="5181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Use distance matrix as clustering criteria.  This method does not require the number of clusters </a:t>
            </a:r>
            <a:r>
              <a:rPr lang="en-US" altLang="zh-CN" sz="2400" b="1" i="1" dirty="0" smtClean="0">
                <a:ea typeface="SimSun" pitchFamily="2" charset="-122"/>
              </a:rPr>
              <a:t>k</a:t>
            </a:r>
            <a:r>
              <a:rPr lang="en-US" altLang="zh-CN" sz="2400" dirty="0" smtClean="0">
                <a:ea typeface="SimSun" pitchFamily="2" charset="-122"/>
              </a:rPr>
              <a:t> as an input, but needs a termination condition </a:t>
            </a:r>
            <a:r>
              <a:rPr lang="zh-TW" altLang="en-US" sz="2400" dirty="0" smtClean="0">
                <a:ea typeface="SimSun" pitchFamily="2" charset="-122"/>
              </a:rPr>
              <a:t>距離最接近的點併起來</a:t>
            </a:r>
            <a:endParaRPr lang="en-US" altLang="zh-TW" sz="2400" dirty="0" smtClean="0">
              <a:ea typeface="SimSun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TW" altLang="en-US" sz="2000" dirty="0" smtClean="0">
                <a:ea typeface="SimSun" pitchFamily="2" charset="-122"/>
              </a:rPr>
              <a:t>複雜度</a:t>
            </a:r>
            <a:r>
              <a:rPr lang="en-US" altLang="zh-TW" sz="2000" dirty="0" smtClean="0">
                <a:ea typeface="SimSun" pitchFamily="2" charset="-122"/>
              </a:rPr>
              <a:t>Cn_2</a:t>
            </a:r>
            <a:r>
              <a:rPr lang="zh-TW" altLang="en-US" sz="2000" dirty="0" smtClean="0">
                <a:ea typeface="SimSun" pitchFamily="2" charset="-122"/>
              </a:rPr>
              <a:t> </a:t>
            </a:r>
            <a:r>
              <a:rPr lang="en-US" altLang="zh-TW" sz="2000" dirty="0" smtClean="0">
                <a:ea typeface="SimSun" pitchFamily="2" charset="-122"/>
              </a:rPr>
              <a:t>,</a:t>
            </a:r>
            <a:r>
              <a:rPr lang="zh-TW" altLang="en-US" sz="2000" dirty="0" smtClean="0">
                <a:ea typeface="SimSun" pitchFamily="2" charset="-122"/>
              </a:rPr>
              <a:t> </a:t>
            </a:r>
            <a:r>
              <a:rPr lang="en-US" altLang="zh-TW" sz="2000" dirty="0" smtClean="0">
                <a:ea typeface="SimSun" pitchFamily="2" charset="-122"/>
              </a:rPr>
              <a:t>O(n^2)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</a:p>
        </p:txBody>
      </p:sp>
      <p:grpSp>
        <p:nvGrpSpPr>
          <p:cNvPr id="56327" name="Group 4"/>
          <p:cNvGrpSpPr>
            <a:grpSpLocks/>
          </p:cNvGrpSpPr>
          <p:nvPr/>
        </p:nvGrpSpPr>
        <p:grpSpPr bwMode="auto">
          <a:xfrm>
            <a:off x="990600" y="2971800"/>
            <a:ext cx="6956425" cy="3641725"/>
            <a:chOff x="1200" y="1776"/>
            <a:chExt cx="4382" cy="2294"/>
          </a:xfrm>
        </p:grpSpPr>
        <p:sp>
          <p:nvSpPr>
            <p:cNvPr id="56328" name="Line 5"/>
            <p:cNvSpPr>
              <a:spLocks noChangeShapeType="1"/>
            </p:cNvSpPr>
            <p:nvPr/>
          </p:nvSpPr>
          <p:spPr bwMode="auto">
            <a:xfrm>
              <a:off x="1200" y="2112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56329" name="Group 6"/>
            <p:cNvGrpSpPr>
              <a:grpSpLocks/>
            </p:cNvGrpSpPr>
            <p:nvPr/>
          </p:nvGrpSpPr>
          <p:grpSpPr bwMode="auto">
            <a:xfrm>
              <a:off x="1440" y="1785"/>
              <a:ext cx="480" cy="327"/>
              <a:chOff x="1104" y="1785"/>
              <a:chExt cx="480" cy="327"/>
            </a:xfrm>
          </p:grpSpPr>
          <p:sp>
            <p:nvSpPr>
              <p:cNvPr id="56381" name="Line 7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6382" name="Text Box 8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itchFamily="18" charset="0"/>
                    <a:ea typeface="SimSun" pitchFamily="2" charset="-122"/>
                  </a:rPr>
                  <a:t>Step 0</a:t>
                </a:r>
                <a:endParaRPr lang="en-US" altLang="zh-CN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56330" name="Group 9"/>
            <p:cNvGrpSpPr>
              <a:grpSpLocks/>
            </p:cNvGrpSpPr>
            <p:nvPr/>
          </p:nvGrpSpPr>
          <p:grpSpPr bwMode="auto">
            <a:xfrm>
              <a:off x="1968" y="1776"/>
              <a:ext cx="480" cy="327"/>
              <a:chOff x="1104" y="1785"/>
              <a:chExt cx="480" cy="327"/>
            </a:xfrm>
          </p:grpSpPr>
          <p:sp>
            <p:nvSpPr>
              <p:cNvPr id="56379" name="Line 10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6380" name="Text Box 11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itchFamily="18" charset="0"/>
                    <a:ea typeface="SimSun" pitchFamily="2" charset="-122"/>
                  </a:rPr>
                  <a:t>Step 1</a:t>
                </a:r>
                <a:endParaRPr lang="en-US" altLang="zh-CN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56331" name="Group 12"/>
            <p:cNvGrpSpPr>
              <a:grpSpLocks/>
            </p:cNvGrpSpPr>
            <p:nvPr/>
          </p:nvGrpSpPr>
          <p:grpSpPr bwMode="auto">
            <a:xfrm>
              <a:off x="2496" y="1776"/>
              <a:ext cx="480" cy="327"/>
              <a:chOff x="1104" y="1785"/>
              <a:chExt cx="480" cy="327"/>
            </a:xfrm>
          </p:grpSpPr>
          <p:sp>
            <p:nvSpPr>
              <p:cNvPr id="56377" name="Line 13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6378" name="Text Box 14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itchFamily="18" charset="0"/>
                    <a:ea typeface="SimSun" pitchFamily="2" charset="-122"/>
                  </a:rPr>
                  <a:t>Step 2</a:t>
                </a:r>
                <a:endParaRPr lang="en-US" altLang="zh-CN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56332" name="Group 15"/>
            <p:cNvGrpSpPr>
              <a:grpSpLocks/>
            </p:cNvGrpSpPr>
            <p:nvPr/>
          </p:nvGrpSpPr>
          <p:grpSpPr bwMode="auto">
            <a:xfrm>
              <a:off x="2976" y="1776"/>
              <a:ext cx="480" cy="327"/>
              <a:chOff x="1104" y="1785"/>
              <a:chExt cx="480" cy="327"/>
            </a:xfrm>
          </p:grpSpPr>
          <p:sp>
            <p:nvSpPr>
              <p:cNvPr id="56375" name="Line 16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6376" name="Text Box 17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itchFamily="18" charset="0"/>
                    <a:ea typeface="SimSun" pitchFamily="2" charset="-122"/>
                  </a:rPr>
                  <a:t>Step 3</a:t>
                </a:r>
                <a:endParaRPr lang="en-US" altLang="zh-CN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  <p:grpSp>
          <p:nvGrpSpPr>
            <p:cNvPr id="56333" name="Group 18"/>
            <p:cNvGrpSpPr>
              <a:grpSpLocks/>
            </p:cNvGrpSpPr>
            <p:nvPr/>
          </p:nvGrpSpPr>
          <p:grpSpPr bwMode="auto">
            <a:xfrm>
              <a:off x="3456" y="1776"/>
              <a:ext cx="480" cy="327"/>
              <a:chOff x="1104" y="1785"/>
              <a:chExt cx="480" cy="327"/>
            </a:xfrm>
          </p:grpSpPr>
          <p:sp>
            <p:nvSpPr>
              <p:cNvPr id="56373" name="Line 19"/>
              <p:cNvSpPr>
                <a:spLocks noChangeShapeType="1"/>
              </p:cNvSpPr>
              <p:nvPr/>
            </p:nvSpPr>
            <p:spPr bwMode="auto">
              <a:xfrm flipH="1">
                <a:off x="1200" y="201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6374" name="Text Box 20"/>
              <p:cNvSpPr txBox="1">
                <a:spLocks noChangeArrowheads="1"/>
              </p:cNvSpPr>
              <p:nvPr/>
            </p:nvSpPr>
            <p:spPr bwMode="auto">
              <a:xfrm>
                <a:off x="1104" y="1785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US" altLang="zh-CN" sz="1800">
                    <a:latin typeface="Times New Roman" pitchFamily="18" charset="0"/>
                    <a:ea typeface="SimSun" pitchFamily="2" charset="-122"/>
                  </a:rPr>
                  <a:t>Step 4</a:t>
                </a:r>
                <a:endParaRPr lang="en-US" altLang="zh-CN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  <p:sp>
          <p:nvSpPr>
            <p:cNvPr id="56334" name="Text Box 21"/>
            <p:cNvSpPr txBox="1">
              <a:spLocks noChangeArrowheads="1"/>
            </p:cNvSpPr>
            <p:nvPr/>
          </p:nvSpPr>
          <p:spPr bwMode="auto">
            <a:xfrm>
              <a:off x="1440" y="25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56335" name="Text Box 22"/>
            <p:cNvSpPr txBox="1">
              <a:spLocks noChangeArrowheads="1"/>
            </p:cNvSpPr>
            <p:nvPr/>
          </p:nvSpPr>
          <p:spPr bwMode="auto">
            <a:xfrm>
              <a:off x="1440" y="31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d</a:t>
              </a:r>
            </a:p>
          </p:txBody>
        </p:sp>
        <p:sp>
          <p:nvSpPr>
            <p:cNvPr id="56336" name="Text Box 23"/>
            <p:cNvSpPr txBox="1">
              <a:spLocks noChangeArrowheads="1"/>
            </p:cNvSpPr>
            <p:nvPr/>
          </p:nvSpPr>
          <p:spPr bwMode="auto">
            <a:xfrm>
              <a:off x="1440" y="28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c</a:t>
              </a:r>
            </a:p>
          </p:txBody>
        </p:sp>
        <p:sp>
          <p:nvSpPr>
            <p:cNvPr id="56337" name="Text Box 24"/>
            <p:cNvSpPr txBox="1">
              <a:spLocks noChangeArrowheads="1"/>
            </p:cNvSpPr>
            <p:nvPr/>
          </p:nvSpPr>
          <p:spPr bwMode="auto">
            <a:xfrm>
              <a:off x="1440" y="34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e</a:t>
              </a:r>
            </a:p>
          </p:txBody>
        </p:sp>
        <p:sp>
          <p:nvSpPr>
            <p:cNvPr id="56338" name="Text Box 25"/>
            <p:cNvSpPr txBox="1">
              <a:spLocks noChangeArrowheads="1"/>
            </p:cNvSpPr>
            <p:nvPr/>
          </p:nvSpPr>
          <p:spPr bwMode="auto">
            <a:xfrm>
              <a:off x="1440" y="22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</a:t>
              </a:r>
            </a:p>
          </p:txBody>
        </p:sp>
        <p:sp>
          <p:nvSpPr>
            <p:cNvPr id="56339" name="Oval 26"/>
            <p:cNvSpPr>
              <a:spLocks noChangeArrowheads="1"/>
            </p:cNvSpPr>
            <p:nvPr/>
          </p:nvSpPr>
          <p:spPr bwMode="auto">
            <a:xfrm>
              <a:off x="1392" y="2256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0" name="Oval 27"/>
            <p:cNvSpPr>
              <a:spLocks noChangeArrowheads="1"/>
            </p:cNvSpPr>
            <p:nvPr/>
          </p:nvSpPr>
          <p:spPr bwMode="auto">
            <a:xfrm>
              <a:off x="1392" y="2544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1" name="Oval 28"/>
            <p:cNvSpPr>
              <a:spLocks noChangeArrowheads="1"/>
            </p:cNvSpPr>
            <p:nvPr/>
          </p:nvSpPr>
          <p:spPr bwMode="auto">
            <a:xfrm>
              <a:off x="1392" y="2832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2" name="Oval 29"/>
            <p:cNvSpPr>
              <a:spLocks noChangeArrowheads="1"/>
            </p:cNvSpPr>
            <p:nvPr/>
          </p:nvSpPr>
          <p:spPr bwMode="auto">
            <a:xfrm>
              <a:off x="1392" y="3120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3" name="Oval 30"/>
            <p:cNvSpPr>
              <a:spLocks noChangeArrowheads="1"/>
            </p:cNvSpPr>
            <p:nvPr/>
          </p:nvSpPr>
          <p:spPr bwMode="auto">
            <a:xfrm>
              <a:off x="1392" y="3408"/>
              <a:ext cx="28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4" name="Text Box 31"/>
            <p:cNvSpPr txBox="1">
              <a:spLocks noChangeArrowheads="1"/>
            </p:cNvSpPr>
            <p:nvPr/>
          </p:nvSpPr>
          <p:spPr bwMode="auto">
            <a:xfrm>
              <a:off x="1968" y="2304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 b</a:t>
              </a:r>
            </a:p>
          </p:txBody>
        </p:sp>
        <p:sp>
          <p:nvSpPr>
            <p:cNvPr id="56345" name="Oval 32"/>
            <p:cNvSpPr>
              <a:spLocks noChangeArrowheads="1"/>
            </p:cNvSpPr>
            <p:nvPr/>
          </p:nvSpPr>
          <p:spPr bwMode="auto">
            <a:xfrm>
              <a:off x="1872" y="2352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6" name="Text Box 33"/>
            <p:cNvSpPr txBox="1">
              <a:spLocks noChangeArrowheads="1"/>
            </p:cNvSpPr>
            <p:nvPr/>
          </p:nvSpPr>
          <p:spPr bwMode="auto">
            <a:xfrm>
              <a:off x="2496" y="3216"/>
              <a:ext cx="34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d e</a:t>
              </a:r>
            </a:p>
          </p:txBody>
        </p:sp>
        <p:sp>
          <p:nvSpPr>
            <p:cNvPr id="56347" name="Oval 34"/>
            <p:cNvSpPr>
              <a:spLocks noChangeArrowheads="1"/>
            </p:cNvSpPr>
            <p:nvPr/>
          </p:nvSpPr>
          <p:spPr bwMode="auto">
            <a:xfrm>
              <a:off x="2400" y="3264"/>
              <a:ext cx="528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48" name="Text Box 35"/>
            <p:cNvSpPr txBox="1">
              <a:spLocks noChangeArrowheads="1"/>
            </p:cNvSpPr>
            <p:nvPr/>
          </p:nvSpPr>
          <p:spPr bwMode="auto">
            <a:xfrm>
              <a:off x="2880" y="2928"/>
              <a:ext cx="47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c d e</a:t>
              </a:r>
            </a:p>
          </p:txBody>
        </p:sp>
        <p:sp>
          <p:nvSpPr>
            <p:cNvPr id="56349" name="Oval 36"/>
            <p:cNvSpPr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50" name="Text Box 37"/>
            <p:cNvSpPr txBox="1">
              <a:spLocks noChangeArrowheads="1"/>
            </p:cNvSpPr>
            <p:nvPr/>
          </p:nvSpPr>
          <p:spPr bwMode="auto">
            <a:xfrm>
              <a:off x="3216" y="2592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a b c d e</a:t>
              </a:r>
            </a:p>
          </p:txBody>
        </p:sp>
        <p:sp>
          <p:nvSpPr>
            <p:cNvPr id="56351" name="Oval 38"/>
            <p:cNvSpPr>
              <a:spLocks noChangeArrowheads="1"/>
            </p:cNvSpPr>
            <p:nvPr/>
          </p:nvSpPr>
          <p:spPr bwMode="auto">
            <a:xfrm>
              <a:off x="3120" y="2592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6352" name="Line 39"/>
            <p:cNvSpPr>
              <a:spLocks noChangeShapeType="1"/>
            </p:cNvSpPr>
            <p:nvPr/>
          </p:nvSpPr>
          <p:spPr bwMode="auto">
            <a:xfrm>
              <a:off x="1200" y="3753"/>
              <a:ext cx="32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53" name="Line 40"/>
            <p:cNvSpPr>
              <a:spLocks noChangeShapeType="1"/>
            </p:cNvSpPr>
            <p:nvPr/>
          </p:nvSpPr>
          <p:spPr bwMode="auto">
            <a:xfrm flipH="1">
              <a:off x="1536" y="3753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54" name="Text Box 41"/>
            <p:cNvSpPr txBox="1">
              <a:spLocks noChangeArrowheads="1"/>
            </p:cNvSpPr>
            <p:nvPr/>
          </p:nvSpPr>
          <p:spPr bwMode="auto">
            <a:xfrm>
              <a:off x="1440" y="381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Step 4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56355" name="Line 42"/>
            <p:cNvSpPr>
              <a:spLocks noChangeShapeType="1"/>
            </p:cNvSpPr>
            <p:nvPr/>
          </p:nvSpPr>
          <p:spPr bwMode="auto">
            <a:xfrm flipH="1">
              <a:off x="2064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56" name="Text Box 43"/>
            <p:cNvSpPr txBox="1">
              <a:spLocks noChangeArrowheads="1"/>
            </p:cNvSpPr>
            <p:nvPr/>
          </p:nvSpPr>
          <p:spPr bwMode="auto">
            <a:xfrm>
              <a:off x="1968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Step 3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56357" name="Line 44"/>
            <p:cNvSpPr>
              <a:spLocks noChangeShapeType="1"/>
            </p:cNvSpPr>
            <p:nvPr/>
          </p:nvSpPr>
          <p:spPr bwMode="auto">
            <a:xfrm flipH="1">
              <a:off x="259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58" name="Text Box 45"/>
            <p:cNvSpPr txBox="1">
              <a:spLocks noChangeArrowheads="1"/>
            </p:cNvSpPr>
            <p:nvPr/>
          </p:nvSpPr>
          <p:spPr bwMode="auto">
            <a:xfrm>
              <a:off x="249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Step 2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56359" name="Line 46"/>
            <p:cNvSpPr>
              <a:spLocks noChangeShapeType="1"/>
            </p:cNvSpPr>
            <p:nvPr/>
          </p:nvSpPr>
          <p:spPr bwMode="auto">
            <a:xfrm flipH="1">
              <a:off x="307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0" name="Text Box 47"/>
            <p:cNvSpPr txBox="1">
              <a:spLocks noChangeArrowheads="1"/>
            </p:cNvSpPr>
            <p:nvPr/>
          </p:nvSpPr>
          <p:spPr bwMode="auto">
            <a:xfrm>
              <a:off x="297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Step 1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56361" name="Line 48"/>
            <p:cNvSpPr>
              <a:spLocks noChangeShapeType="1"/>
            </p:cNvSpPr>
            <p:nvPr/>
          </p:nvSpPr>
          <p:spPr bwMode="auto">
            <a:xfrm flipH="1">
              <a:off x="3552" y="374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2" name="Text Box 49"/>
            <p:cNvSpPr txBox="1">
              <a:spLocks noChangeArrowheads="1"/>
            </p:cNvSpPr>
            <p:nvPr/>
          </p:nvSpPr>
          <p:spPr bwMode="auto">
            <a:xfrm>
              <a:off x="3456" y="3801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 sz="1800">
                  <a:latin typeface="Times New Roman" pitchFamily="18" charset="0"/>
                  <a:ea typeface="SimSun" pitchFamily="2" charset="-122"/>
                </a:rPr>
                <a:t>Step 0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56363" name="Line 50"/>
            <p:cNvSpPr>
              <a:spLocks noChangeShapeType="1"/>
            </p:cNvSpPr>
            <p:nvPr/>
          </p:nvSpPr>
          <p:spPr bwMode="auto">
            <a:xfrm>
              <a:off x="1680" y="2352"/>
              <a:ext cx="192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4" name="Line 51"/>
            <p:cNvSpPr>
              <a:spLocks noChangeShapeType="1"/>
            </p:cNvSpPr>
            <p:nvPr/>
          </p:nvSpPr>
          <p:spPr bwMode="auto">
            <a:xfrm flipV="1">
              <a:off x="1680" y="2448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5" name="Line 52"/>
            <p:cNvSpPr>
              <a:spLocks noChangeShapeType="1"/>
            </p:cNvSpPr>
            <p:nvPr/>
          </p:nvSpPr>
          <p:spPr bwMode="auto">
            <a:xfrm>
              <a:off x="1680" y="3216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6" name="Line 53"/>
            <p:cNvSpPr>
              <a:spLocks noChangeShapeType="1"/>
            </p:cNvSpPr>
            <p:nvPr/>
          </p:nvSpPr>
          <p:spPr bwMode="auto">
            <a:xfrm flipV="1">
              <a:off x="1680" y="3360"/>
              <a:ext cx="72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7" name="Line 54"/>
            <p:cNvSpPr>
              <a:spLocks noChangeShapeType="1"/>
            </p:cNvSpPr>
            <p:nvPr/>
          </p:nvSpPr>
          <p:spPr bwMode="auto">
            <a:xfrm>
              <a:off x="1680" y="2976"/>
              <a:ext cx="110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8" name="Line 55"/>
            <p:cNvSpPr>
              <a:spLocks noChangeShapeType="1"/>
            </p:cNvSpPr>
            <p:nvPr/>
          </p:nvSpPr>
          <p:spPr bwMode="auto">
            <a:xfrm flipV="1">
              <a:off x="2688" y="307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69" name="Line 56"/>
            <p:cNvSpPr>
              <a:spLocks noChangeShapeType="1"/>
            </p:cNvSpPr>
            <p:nvPr/>
          </p:nvSpPr>
          <p:spPr bwMode="auto">
            <a:xfrm>
              <a:off x="2400" y="2496"/>
              <a:ext cx="72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70" name="Line 57"/>
            <p:cNvSpPr>
              <a:spLocks noChangeShapeType="1"/>
            </p:cNvSpPr>
            <p:nvPr/>
          </p:nvSpPr>
          <p:spPr bwMode="auto">
            <a:xfrm flipV="1">
              <a:off x="3072" y="2736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56371" name="Text Box 58"/>
            <p:cNvSpPr txBox="1">
              <a:spLocks noChangeArrowheads="1"/>
            </p:cNvSpPr>
            <p:nvPr/>
          </p:nvSpPr>
          <p:spPr bwMode="auto">
            <a:xfrm>
              <a:off x="4305" y="1824"/>
              <a:ext cx="1277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agglomerative</a:t>
              </a:r>
            </a:p>
            <a:p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(AGNES)</a:t>
              </a:r>
            </a:p>
          </p:txBody>
        </p:sp>
        <p:sp>
          <p:nvSpPr>
            <p:cNvPr id="56372" name="Text Box 59"/>
            <p:cNvSpPr txBox="1">
              <a:spLocks noChangeArrowheads="1"/>
            </p:cNvSpPr>
            <p:nvPr/>
          </p:nvSpPr>
          <p:spPr bwMode="auto">
            <a:xfrm>
              <a:off x="4401" y="3552"/>
              <a:ext cx="875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divisive</a:t>
              </a:r>
            </a:p>
            <a:p>
              <a:r>
                <a:rPr lang="en-US" altLang="zh-CN" b="1">
                  <a:latin typeface="Times New Roman" pitchFamily="18" charset="0"/>
                  <a:ea typeface="SimSun" pitchFamily="2" charset="-122"/>
                </a:rPr>
                <a:t>(DIANA)</a:t>
              </a:r>
              <a:endParaRPr lang="en-US" altLang="zh-CN">
                <a:latin typeface="Times New Roman" pitchFamily="18" charset="0"/>
                <a:ea typeface="SimSun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79C860B-01A4-4A03-8653-8E1077BD2D6C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8438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843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A7D29FE-0A6F-4648-B1CE-104220B8FC8B}" type="slidenum">
              <a:rPr lang="zh-TW" altLang="en-US" sz="1200" smtClean="0"/>
              <a:pPr eaLnBrk="1" hangingPunct="1"/>
              <a:t>43</a:t>
            </a:fld>
            <a:endParaRPr lang="en-US" altLang="zh-TW" sz="1200" smtClean="0"/>
          </a:p>
        </p:txBody>
      </p:sp>
      <p:sp>
        <p:nvSpPr>
          <p:cNvPr id="1844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304800"/>
            <a:ext cx="7162800" cy="762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AGNES (Agglomerative Nesting)</a:t>
            </a:r>
            <a:endParaRPr lang="en-US" altLang="zh-CN" sz="2400" smtClean="0">
              <a:ea typeface="SimSun" pitchFamily="2" charset="-122"/>
            </a:endParaRPr>
          </a:p>
        </p:txBody>
      </p:sp>
      <p:sp>
        <p:nvSpPr>
          <p:cNvPr id="184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458200" cy="4800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Introduced in Kaufmann and </a:t>
            </a:r>
            <a:r>
              <a:rPr lang="en-US" altLang="zh-CN" sz="2400" dirty="0" err="1" smtClean="0">
                <a:ea typeface="SimSun" pitchFamily="2" charset="-122"/>
              </a:rPr>
              <a:t>Rousseeuw</a:t>
            </a:r>
            <a:r>
              <a:rPr lang="en-US" altLang="zh-CN" sz="2400" dirty="0" smtClean="0">
                <a:ea typeface="SimSun" pitchFamily="2" charset="-122"/>
              </a:rPr>
              <a:t> (1990)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Implemented in statistical analysis packages, e.g., </a:t>
            </a:r>
            <a:r>
              <a:rPr lang="en-US" altLang="zh-CN" sz="2400" dirty="0" err="1" smtClean="0">
                <a:ea typeface="SimSun" pitchFamily="2" charset="-122"/>
              </a:rPr>
              <a:t>Splus</a:t>
            </a:r>
            <a:endParaRPr lang="en-US" altLang="zh-CN" sz="2400" dirty="0" smtClean="0">
              <a:ea typeface="SimSun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Use the single-link method and the dissimilarity matrix.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Merge nodes that have the least dissimilarity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Go on in a non-descending fashion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dirty="0" smtClean="0">
                <a:ea typeface="SimSun" pitchFamily="2" charset="-122"/>
              </a:rPr>
              <a:t>Eventually all nodes belong to the same cluster</a:t>
            </a:r>
          </a:p>
        </p:txBody>
      </p:sp>
      <p:grpSp>
        <p:nvGrpSpPr>
          <p:cNvPr id="18442" name="Group 4"/>
          <p:cNvGrpSpPr>
            <a:grpSpLocks/>
          </p:cNvGrpSpPr>
          <p:nvPr/>
        </p:nvGrpSpPr>
        <p:grpSpPr bwMode="auto">
          <a:xfrm>
            <a:off x="533400" y="4343400"/>
            <a:ext cx="2209800" cy="2017713"/>
            <a:chOff x="384" y="2496"/>
            <a:chExt cx="1392" cy="1271"/>
          </a:xfrm>
        </p:grpSpPr>
        <p:graphicFrame>
          <p:nvGraphicFramePr>
            <p:cNvPr id="18436" name="Object 5"/>
            <p:cNvGraphicFramePr>
              <a:graphicFrameLocks noChangeAspect="1"/>
            </p:cNvGraphicFramePr>
            <p:nvPr/>
          </p:nvGraphicFramePr>
          <p:xfrm>
            <a:off x="384" y="2496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03" name="Worksheet" r:id="rId3" imgW="2200656" imgH="2076907" progId="Excel.Sheet.8">
                    <p:embed/>
                  </p:oleObj>
                </mc:Choice>
                <mc:Fallback>
                  <p:oleObj name="Worksheet" r:id="rId3" imgW="2200656" imgH="2076907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496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3" name="Oval 6"/>
            <p:cNvSpPr>
              <a:spLocks noChangeArrowheads="1"/>
            </p:cNvSpPr>
            <p:nvPr/>
          </p:nvSpPr>
          <p:spPr bwMode="auto">
            <a:xfrm>
              <a:off x="816" y="2736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54" name="Oval 7"/>
            <p:cNvSpPr>
              <a:spLocks noChangeArrowheads="1"/>
            </p:cNvSpPr>
            <p:nvPr/>
          </p:nvSpPr>
          <p:spPr bwMode="auto">
            <a:xfrm>
              <a:off x="816" y="3024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55" name="Oval 8"/>
            <p:cNvSpPr>
              <a:spLocks noChangeArrowheads="1"/>
            </p:cNvSpPr>
            <p:nvPr/>
          </p:nvSpPr>
          <p:spPr bwMode="auto">
            <a:xfrm>
              <a:off x="1392" y="3024"/>
              <a:ext cx="144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grpSp>
        <p:nvGrpSpPr>
          <p:cNvPr id="18443" name="Group 9"/>
          <p:cNvGrpSpPr>
            <a:grpSpLocks/>
          </p:cNvGrpSpPr>
          <p:nvPr/>
        </p:nvGrpSpPr>
        <p:grpSpPr bwMode="auto">
          <a:xfrm>
            <a:off x="3505200" y="4343400"/>
            <a:ext cx="2209800" cy="2017713"/>
            <a:chOff x="1968" y="2496"/>
            <a:chExt cx="1392" cy="1271"/>
          </a:xfrm>
        </p:grpSpPr>
        <p:graphicFrame>
          <p:nvGraphicFramePr>
            <p:cNvPr id="18435" name="Object 10"/>
            <p:cNvGraphicFramePr>
              <a:graphicFrameLocks noChangeAspect="1"/>
            </p:cNvGraphicFramePr>
            <p:nvPr/>
          </p:nvGraphicFramePr>
          <p:xfrm>
            <a:off x="1968" y="2496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04" name="Worksheet" r:id="rId5" imgW="2200656" imgH="2076907" progId="Excel.Sheet.8">
                    <p:embed/>
                  </p:oleObj>
                </mc:Choice>
                <mc:Fallback>
                  <p:oleObj name="Worksheet" r:id="rId5" imgW="2200656" imgH="2076907" progId="Excel.Shee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496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9" name="Oval 11"/>
            <p:cNvSpPr>
              <a:spLocks noChangeArrowheads="1"/>
            </p:cNvSpPr>
            <p:nvPr/>
          </p:nvSpPr>
          <p:spPr bwMode="auto">
            <a:xfrm>
              <a:off x="2736" y="3312"/>
              <a:ext cx="288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50" name="Oval 12"/>
            <p:cNvSpPr>
              <a:spLocks noChangeArrowheads="1"/>
            </p:cNvSpPr>
            <p:nvPr/>
          </p:nvSpPr>
          <p:spPr bwMode="auto">
            <a:xfrm>
              <a:off x="2256" y="2688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51" name="Oval 13"/>
            <p:cNvSpPr>
              <a:spLocks noChangeArrowheads="1"/>
            </p:cNvSpPr>
            <p:nvPr/>
          </p:nvSpPr>
          <p:spPr bwMode="auto">
            <a:xfrm>
              <a:off x="2352" y="3024"/>
              <a:ext cx="384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52" name="Oval 14"/>
            <p:cNvSpPr>
              <a:spLocks noChangeArrowheads="1"/>
            </p:cNvSpPr>
            <p:nvPr/>
          </p:nvSpPr>
          <p:spPr bwMode="auto">
            <a:xfrm>
              <a:off x="2832" y="3024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grpSp>
        <p:nvGrpSpPr>
          <p:cNvPr id="18444" name="Group 15"/>
          <p:cNvGrpSpPr>
            <a:grpSpLocks/>
          </p:cNvGrpSpPr>
          <p:nvPr/>
        </p:nvGrpSpPr>
        <p:grpSpPr bwMode="auto">
          <a:xfrm>
            <a:off x="6553200" y="4343400"/>
            <a:ext cx="2209800" cy="2017713"/>
            <a:chOff x="3552" y="2496"/>
            <a:chExt cx="1392" cy="1271"/>
          </a:xfrm>
        </p:grpSpPr>
        <p:graphicFrame>
          <p:nvGraphicFramePr>
            <p:cNvPr id="18434" name="Object 16"/>
            <p:cNvGraphicFramePr>
              <a:graphicFrameLocks noChangeAspect="1"/>
            </p:cNvGraphicFramePr>
            <p:nvPr/>
          </p:nvGraphicFramePr>
          <p:xfrm>
            <a:off x="3552" y="2496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05" name="Worksheet" r:id="rId6" imgW="2200656" imgH="2076907" progId="Excel.Sheet.8">
                    <p:embed/>
                  </p:oleObj>
                </mc:Choice>
                <mc:Fallback>
                  <p:oleObj name="Worksheet" r:id="rId6" imgW="2200656" imgH="2076907" progId="Excel.Sheet.8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96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7" name="Oval 17"/>
            <p:cNvSpPr>
              <a:spLocks noChangeArrowheads="1"/>
            </p:cNvSpPr>
            <p:nvPr/>
          </p:nvSpPr>
          <p:spPr bwMode="auto">
            <a:xfrm>
              <a:off x="3888" y="2688"/>
              <a:ext cx="384" cy="6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8448" name="Oval 18"/>
            <p:cNvSpPr>
              <a:spLocks noChangeArrowheads="1"/>
            </p:cNvSpPr>
            <p:nvPr/>
          </p:nvSpPr>
          <p:spPr bwMode="auto">
            <a:xfrm>
              <a:off x="4272" y="3024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8445" name="Line 19"/>
          <p:cNvSpPr>
            <a:spLocks noChangeShapeType="1"/>
          </p:cNvSpPr>
          <p:nvPr/>
        </p:nvSpPr>
        <p:spPr bwMode="auto">
          <a:xfrm>
            <a:off x="2971800" y="52578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sp>
        <p:nvSpPr>
          <p:cNvPr id="18446" name="Line 20"/>
          <p:cNvSpPr>
            <a:spLocks noChangeShapeType="1"/>
          </p:cNvSpPr>
          <p:nvPr/>
        </p:nvSpPr>
        <p:spPr bwMode="auto">
          <a:xfrm>
            <a:off x="5943600" y="5181600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5EC5697-D59A-4838-B082-E73C7202474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734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7348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43908EB-5B30-472C-B8BB-2ED2F21638AF}" type="slidenum">
              <a:rPr lang="zh-TW" altLang="en-US" sz="1200" smtClean="0"/>
              <a:pPr eaLnBrk="1" hangingPunct="1"/>
              <a:t>44</a:t>
            </a:fld>
            <a:endParaRPr lang="en-US" altLang="zh-TW" sz="1200" smtClean="0"/>
          </a:p>
        </p:txBody>
      </p:sp>
      <p:sp>
        <p:nvSpPr>
          <p:cNvPr id="57349" name="Oval 2"/>
          <p:cNvSpPr>
            <a:spLocks noChangeArrowheads="1"/>
          </p:cNvSpPr>
          <p:nvPr/>
        </p:nvSpPr>
        <p:spPr bwMode="auto">
          <a:xfrm>
            <a:off x="8229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0" name="Oval 3"/>
          <p:cNvSpPr>
            <a:spLocks noChangeArrowheads="1"/>
          </p:cNvSpPr>
          <p:nvPr/>
        </p:nvSpPr>
        <p:spPr bwMode="auto">
          <a:xfrm>
            <a:off x="71628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1" name="Oval 4"/>
          <p:cNvSpPr>
            <a:spLocks noChangeArrowheads="1"/>
          </p:cNvSpPr>
          <p:nvPr/>
        </p:nvSpPr>
        <p:spPr bwMode="auto">
          <a:xfrm>
            <a:off x="6172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2" name="Oval 5"/>
          <p:cNvSpPr>
            <a:spLocks noChangeArrowheads="1"/>
          </p:cNvSpPr>
          <p:nvPr/>
        </p:nvSpPr>
        <p:spPr bwMode="auto">
          <a:xfrm>
            <a:off x="52578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3" name="Oval 6"/>
          <p:cNvSpPr>
            <a:spLocks noChangeArrowheads="1"/>
          </p:cNvSpPr>
          <p:nvPr/>
        </p:nvSpPr>
        <p:spPr bwMode="auto">
          <a:xfrm>
            <a:off x="4267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4" name="Oval 7"/>
          <p:cNvSpPr>
            <a:spLocks noChangeArrowheads="1"/>
          </p:cNvSpPr>
          <p:nvPr/>
        </p:nvSpPr>
        <p:spPr bwMode="auto">
          <a:xfrm>
            <a:off x="3276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5" name="Oval 8"/>
          <p:cNvSpPr>
            <a:spLocks noChangeArrowheads="1"/>
          </p:cNvSpPr>
          <p:nvPr/>
        </p:nvSpPr>
        <p:spPr bwMode="auto">
          <a:xfrm>
            <a:off x="2362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6" name="Oval 9"/>
          <p:cNvSpPr>
            <a:spLocks noChangeArrowheads="1"/>
          </p:cNvSpPr>
          <p:nvPr/>
        </p:nvSpPr>
        <p:spPr bwMode="auto">
          <a:xfrm>
            <a:off x="13716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7" name="Oval 10"/>
          <p:cNvSpPr>
            <a:spLocks noChangeArrowheads="1"/>
          </p:cNvSpPr>
          <p:nvPr/>
        </p:nvSpPr>
        <p:spPr bwMode="auto">
          <a:xfrm>
            <a:off x="457200" y="5867400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7358" name="Line 11"/>
          <p:cNvSpPr>
            <a:spLocks noChangeShapeType="1"/>
          </p:cNvSpPr>
          <p:nvPr/>
        </p:nvSpPr>
        <p:spPr bwMode="auto">
          <a:xfrm>
            <a:off x="533400" y="5029200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59" name="Line 12"/>
          <p:cNvSpPr>
            <a:spLocks noChangeShapeType="1"/>
          </p:cNvSpPr>
          <p:nvPr/>
        </p:nvSpPr>
        <p:spPr bwMode="auto">
          <a:xfrm>
            <a:off x="14478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0" name="Line 13"/>
          <p:cNvSpPr>
            <a:spLocks noChangeShapeType="1"/>
          </p:cNvSpPr>
          <p:nvPr/>
        </p:nvSpPr>
        <p:spPr bwMode="auto">
          <a:xfrm>
            <a:off x="33528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1" name="Line 14"/>
          <p:cNvSpPr>
            <a:spLocks noChangeShapeType="1"/>
          </p:cNvSpPr>
          <p:nvPr/>
        </p:nvSpPr>
        <p:spPr bwMode="auto">
          <a:xfrm>
            <a:off x="3352800" y="50292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2" name="Line 15"/>
          <p:cNvSpPr>
            <a:spLocks noChangeShapeType="1"/>
          </p:cNvSpPr>
          <p:nvPr/>
        </p:nvSpPr>
        <p:spPr bwMode="auto">
          <a:xfrm>
            <a:off x="43434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3" name="Line 16"/>
          <p:cNvSpPr>
            <a:spLocks noChangeShapeType="1"/>
          </p:cNvSpPr>
          <p:nvPr/>
        </p:nvSpPr>
        <p:spPr bwMode="auto">
          <a:xfrm>
            <a:off x="7239000" y="5105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4" name="Line 17"/>
          <p:cNvSpPr>
            <a:spLocks noChangeShapeType="1"/>
          </p:cNvSpPr>
          <p:nvPr/>
        </p:nvSpPr>
        <p:spPr bwMode="auto">
          <a:xfrm>
            <a:off x="7239000" y="510540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5" name="Line 18"/>
          <p:cNvSpPr>
            <a:spLocks noChangeShapeType="1"/>
          </p:cNvSpPr>
          <p:nvPr/>
        </p:nvSpPr>
        <p:spPr bwMode="auto">
          <a:xfrm>
            <a:off x="8305800" y="51054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6" name="Line 19"/>
          <p:cNvSpPr>
            <a:spLocks noChangeShapeType="1"/>
          </p:cNvSpPr>
          <p:nvPr/>
        </p:nvSpPr>
        <p:spPr bwMode="auto">
          <a:xfrm>
            <a:off x="990600" y="4267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7" name="Line 20"/>
          <p:cNvSpPr>
            <a:spLocks noChangeShapeType="1"/>
          </p:cNvSpPr>
          <p:nvPr/>
        </p:nvSpPr>
        <p:spPr bwMode="auto">
          <a:xfrm>
            <a:off x="990600" y="42672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8" name="Line 21"/>
          <p:cNvSpPr>
            <a:spLocks noChangeShapeType="1"/>
          </p:cNvSpPr>
          <p:nvPr/>
        </p:nvSpPr>
        <p:spPr bwMode="auto">
          <a:xfrm>
            <a:off x="2438400" y="4267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69" name="Line 22"/>
          <p:cNvSpPr>
            <a:spLocks noChangeShapeType="1"/>
          </p:cNvSpPr>
          <p:nvPr/>
        </p:nvSpPr>
        <p:spPr bwMode="auto">
          <a:xfrm>
            <a:off x="3733800" y="426720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0" name="Line 23"/>
          <p:cNvSpPr>
            <a:spLocks noChangeShapeType="1"/>
          </p:cNvSpPr>
          <p:nvPr/>
        </p:nvSpPr>
        <p:spPr bwMode="auto">
          <a:xfrm>
            <a:off x="3810000" y="42672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1" name="Line 24"/>
          <p:cNvSpPr>
            <a:spLocks noChangeShapeType="1"/>
          </p:cNvSpPr>
          <p:nvPr/>
        </p:nvSpPr>
        <p:spPr bwMode="auto">
          <a:xfrm>
            <a:off x="3886200" y="426720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2" name="Line 25"/>
          <p:cNvSpPr>
            <a:spLocks noChangeShapeType="1"/>
          </p:cNvSpPr>
          <p:nvPr/>
        </p:nvSpPr>
        <p:spPr bwMode="auto">
          <a:xfrm>
            <a:off x="5334000" y="42672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3" name="Line 26"/>
          <p:cNvSpPr>
            <a:spLocks noChangeShapeType="1"/>
          </p:cNvSpPr>
          <p:nvPr/>
        </p:nvSpPr>
        <p:spPr bwMode="auto">
          <a:xfrm>
            <a:off x="3810000" y="4267200"/>
            <a:ext cx="152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4" name="Line 27"/>
          <p:cNvSpPr>
            <a:spLocks noChangeShapeType="1"/>
          </p:cNvSpPr>
          <p:nvPr/>
        </p:nvSpPr>
        <p:spPr bwMode="auto">
          <a:xfrm>
            <a:off x="4572000" y="3429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5" name="Line 28"/>
          <p:cNvSpPr>
            <a:spLocks noChangeShapeType="1"/>
          </p:cNvSpPr>
          <p:nvPr/>
        </p:nvSpPr>
        <p:spPr bwMode="auto">
          <a:xfrm flipV="1">
            <a:off x="6248400" y="3429000"/>
            <a:ext cx="0" cy="251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6" name="Line 29"/>
          <p:cNvSpPr>
            <a:spLocks noChangeShapeType="1"/>
          </p:cNvSpPr>
          <p:nvPr/>
        </p:nvSpPr>
        <p:spPr bwMode="auto">
          <a:xfrm>
            <a:off x="4572000" y="3429000"/>
            <a:ext cx="1676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7" name="Line 30"/>
          <p:cNvSpPr>
            <a:spLocks noChangeShapeType="1"/>
          </p:cNvSpPr>
          <p:nvPr/>
        </p:nvSpPr>
        <p:spPr bwMode="auto">
          <a:xfrm>
            <a:off x="5410200" y="25908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8" name="Line 31"/>
          <p:cNvSpPr>
            <a:spLocks noChangeShapeType="1"/>
          </p:cNvSpPr>
          <p:nvPr/>
        </p:nvSpPr>
        <p:spPr bwMode="auto">
          <a:xfrm flipV="1">
            <a:off x="7772400" y="2514600"/>
            <a:ext cx="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79" name="Line 32"/>
          <p:cNvSpPr>
            <a:spLocks noChangeShapeType="1"/>
          </p:cNvSpPr>
          <p:nvPr/>
        </p:nvSpPr>
        <p:spPr bwMode="auto">
          <a:xfrm flipH="1">
            <a:off x="5410200" y="25146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0" name="Line 33"/>
          <p:cNvSpPr>
            <a:spLocks noChangeShapeType="1"/>
          </p:cNvSpPr>
          <p:nvPr/>
        </p:nvSpPr>
        <p:spPr bwMode="auto">
          <a:xfrm flipV="1">
            <a:off x="5410200" y="2514600"/>
            <a:ext cx="0" cy="22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1" name="Line 34"/>
          <p:cNvSpPr>
            <a:spLocks noChangeShapeType="1"/>
          </p:cNvSpPr>
          <p:nvPr/>
        </p:nvSpPr>
        <p:spPr bwMode="auto">
          <a:xfrm>
            <a:off x="6553200" y="1600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2" name="Line 35"/>
          <p:cNvSpPr>
            <a:spLocks noChangeShapeType="1"/>
          </p:cNvSpPr>
          <p:nvPr/>
        </p:nvSpPr>
        <p:spPr bwMode="auto">
          <a:xfrm flipH="1">
            <a:off x="1828800" y="1600200"/>
            <a:ext cx="472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3" name="Line 36"/>
          <p:cNvSpPr>
            <a:spLocks noChangeShapeType="1"/>
          </p:cNvSpPr>
          <p:nvPr/>
        </p:nvSpPr>
        <p:spPr bwMode="auto">
          <a:xfrm flipV="1">
            <a:off x="1676400" y="1600200"/>
            <a:ext cx="0" cy="266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4" name="Line 37"/>
          <p:cNvSpPr>
            <a:spLocks noChangeShapeType="1"/>
          </p:cNvSpPr>
          <p:nvPr/>
        </p:nvSpPr>
        <p:spPr bwMode="auto">
          <a:xfrm>
            <a:off x="2209800" y="1600200"/>
            <a:ext cx="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5" name="Line 38"/>
          <p:cNvSpPr>
            <a:spLocks noChangeShapeType="1"/>
          </p:cNvSpPr>
          <p:nvPr/>
        </p:nvSpPr>
        <p:spPr bwMode="auto">
          <a:xfrm flipH="1">
            <a:off x="1676400" y="1600200"/>
            <a:ext cx="38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6" name="Line 39"/>
          <p:cNvSpPr>
            <a:spLocks noChangeShapeType="1"/>
          </p:cNvSpPr>
          <p:nvPr/>
        </p:nvSpPr>
        <p:spPr bwMode="auto">
          <a:xfrm flipV="1">
            <a:off x="4114800" y="114300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7" name="Text Box 40"/>
          <p:cNvSpPr txBox="1">
            <a:spLocks noChangeArrowheads="1"/>
          </p:cNvSpPr>
          <p:nvPr/>
        </p:nvSpPr>
        <p:spPr bwMode="auto">
          <a:xfrm>
            <a:off x="152400" y="304800"/>
            <a:ext cx="8991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US" altLang="zh-CN" sz="3200" b="1" i="1">
                <a:solidFill>
                  <a:srgbClr val="170981"/>
                </a:solidFill>
                <a:latin typeface="Times New Roman" pitchFamily="18" charset="0"/>
                <a:ea typeface="SimSun" pitchFamily="2" charset="-122"/>
              </a:rPr>
              <a:t>Dendrogram:</a:t>
            </a:r>
            <a:r>
              <a:rPr lang="en-US" altLang="zh-CN" sz="3200" b="1">
                <a:solidFill>
                  <a:srgbClr val="170981"/>
                </a:solidFill>
                <a:latin typeface="Times New Roman" pitchFamily="18" charset="0"/>
                <a:ea typeface="SimSun" pitchFamily="2" charset="-122"/>
              </a:rPr>
              <a:t> Shows How the Clusters are Merged</a:t>
            </a:r>
            <a:endParaRPr lang="en-US" altLang="zh-CN" sz="3200" b="1">
              <a:solidFill>
                <a:schemeClr val="tx2"/>
              </a:solidFill>
              <a:latin typeface="Times New Roman" pitchFamily="18" charset="0"/>
              <a:ea typeface="SimSun" pitchFamily="2" charset="-122"/>
            </a:endParaRPr>
          </a:p>
        </p:txBody>
      </p:sp>
      <p:sp>
        <p:nvSpPr>
          <p:cNvPr id="57388" name="Line 41"/>
          <p:cNvSpPr>
            <a:spLocks noChangeShapeType="1"/>
          </p:cNvSpPr>
          <p:nvPr/>
        </p:nvSpPr>
        <p:spPr bwMode="auto">
          <a:xfrm>
            <a:off x="533400" y="5029200"/>
            <a:ext cx="0" cy="914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7389" name="Rectangle 42"/>
          <p:cNvSpPr>
            <a:spLocks noChangeArrowheads="1"/>
          </p:cNvSpPr>
          <p:nvPr/>
        </p:nvSpPr>
        <p:spPr bwMode="auto">
          <a:xfrm>
            <a:off x="381000" y="1981200"/>
            <a:ext cx="8229600" cy="208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1" algn="l" eaLnBrk="0" hangingPunct="0">
              <a:lnSpc>
                <a:spcPct val="90000"/>
              </a:lnSpc>
            </a:pP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Decompose data objects into a several levels of nested </a:t>
            </a:r>
            <a:r>
              <a:rPr lang="zh-TW" altLang="en-US" b="1" dirty="0" smtClean="0">
                <a:latin typeface="Times New Roman" pitchFamily="18" charset="0"/>
                <a:ea typeface="SimSun" pitchFamily="2" charset="-122"/>
              </a:rPr>
              <a:t> </a:t>
            </a:r>
            <a:r>
              <a:rPr lang="en-US" altLang="zh-CN" b="1" dirty="0" smtClean="0">
                <a:latin typeface="Times New Roman" pitchFamily="18" charset="0"/>
                <a:ea typeface="SimSun" pitchFamily="2" charset="-122"/>
              </a:rPr>
              <a:t>partitioning 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(</a:t>
            </a:r>
            <a:r>
              <a:rPr lang="en-US" altLang="zh-CN" b="1" u="sng" dirty="0">
                <a:latin typeface="Times New Roman" pitchFamily="18" charset="0"/>
                <a:ea typeface="SimSun" pitchFamily="2" charset="-122"/>
              </a:rPr>
              <a:t>tree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 of clusters), called a </a:t>
            </a:r>
            <a:r>
              <a:rPr lang="en-US" altLang="zh-CN" b="1" u="sng" dirty="0" err="1">
                <a:latin typeface="Times New Roman" pitchFamily="18" charset="0"/>
                <a:ea typeface="SimSun" pitchFamily="2" charset="-122"/>
              </a:rPr>
              <a:t>dendrogram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. </a:t>
            </a:r>
          </a:p>
          <a:p>
            <a:pPr lvl="1" algn="l" eaLnBrk="0" hangingPunct="0">
              <a:lnSpc>
                <a:spcPct val="90000"/>
              </a:lnSpc>
            </a:pPr>
            <a:endParaRPr lang="en-US" altLang="zh-CN" b="1" dirty="0">
              <a:latin typeface="Times New Roman" pitchFamily="18" charset="0"/>
              <a:ea typeface="SimSun" pitchFamily="2" charset="-122"/>
            </a:endParaRPr>
          </a:p>
          <a:p>
            <a:pPr lvl="1" algn="l" eaLnBrk="0" hangingPunct="0">
              <a:lnSpc>
                <a:spcPct val="90000"/>
              </a:lnSpc>
            </a:pP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A </a:t>
            </a:r>
            <a:r>
              <a:rPr lang="en-US" altLang="zh-CN" b="1" u="sng" dirty="0">
                <a:latin typeface="Times New Roman" pitchFamily="18" charset="0"/>
                <a:ea typeface="SimSun" pitchFamily="2" charset="-122"/>
              </a:rPr>
              <a:t>clustering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 of the data objects is obtained by </a:t>
            </a:r>
            <a:r>
              <a:rPr lang="en-US" altLang="zh-CN" b="1" u="sng" dirty="0">
                <a:latin typeface="Times New Roman" pitchFamily="18" charset="0"/>
                <a:ea typeface="SimSun" pitchFamily="2" charset="-122"/>
              </a:rPr>
              <a:t>cutting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 the </a:t>
            </a:r>
            <a:r>
              <a:rPr lang="en-US" altLang="zh-CN" b="1" dirty="0" err="1">
                <a:latin typeface="Times New Roman" pitchFamily="18" charset="0"/>
                <a:ea typeface="SimSun" pitchFamily="2" charset="-122"/>
              </a:rPr>
              <a:t>dendrogram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 at the desired level, then each </a:t>
            </a:r>
            <a:r>
              <a:rPr lang="en-US" altLang="zh-CN" b="1" u="sng" dirty="0">
                <a:latin typeface="Times New Roman" pitchFamily="18" charset="0"/>
                <a:ea typeface="SimSun" pitchFamily="2" charset="-122"/>
              </a:rPr>
              <a:t>connected component</a:t>
            </a:r>
            <a:r>
              <a:rPr lang="en-US" altLang="zh-CN" b="1" dirty="0">
                <a:latin typeface="Times New Roman" pitchFamily="18" charset="0"/>
                <a:ea typeface="SimSun" pitchFamily="2" charset="-122"/>
              </a:rPr>
              <a:t> forms a cluster.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AE7847B-23A4-49F6-8E85-0B08A63F77C6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9462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946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68E388F-FC1C-4686-BCD9-088CBA7A7C77}" type="slidenum">
              <a:rPr lang="zh-TW" altLang="en-US" sz="1200" smtClean="0"/>
              <a:pPr eaLnBrk="1" hangingPunct="1"/>
              <a:t>45</a:t>
            </a:fld>
            <a:endParaRPr lang="en-US" altLang="zh-TW" sz="1200" smtClean="0"/>
          </a:p>
        </p:txBody>
      </p:sp>
      <p:sp>
        <p:nvSpPr>
          <p:cNvPr id="1946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DIANA (Divisive Analysis)</a:t>
            </a:r>
            <a:endParaRPr lang="en-US" altLang="zh-CN" sz="2400" smtClean="0">
              <a:ea typeface="SimSun" pitchFamily="2" charset="-122"/>
            </a:endParaRPr>
          </a:p>
        </p:txBody>
      </p:sp>
      <p:sp>
        <p:nvSpPr>
          <p:cNvPr id="194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82000" cy="2667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smtClean="0">
                <a:ea typeface="SimSun" pitchFamily="2" charset="-122"/>
              </a:rPr>
              <a:t>Introduced in Kaufmann and Rousseeuw (1990)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smtClean="0">
                <a:ea typeface="SimSun" pitchFamily="2" charset="-122"/>
              </a:rPr>
              <a:t>Implemented in statistical analysis packages, e.g., Splus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smtClean="0">
                <a:ea typeface="SimSun" pitchFamily="2" charset="-122"/>
              </a:rPr>
              <a:t>Inverse order of AGNES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tx1"/>
              </a:buClr>
            </a:pPr>
            <a:r>
              <a:rPr lang="en-US" altLang="zh-CN" sz="2400" smtClean="0">
                <a:ea typeface="SimSun" pitchFamily="2" charset="-122"/>
              </a:rPr>
              <a:t>Eventually each node forms a cluster on its own</a:t>
            </a:r>
          </a:p>
        </p:txBody>
      </p:sp>
      <p:grpSp>
        <p:nvGrpSpPr>
          <p:cNvPr id="19466" name="Group 4"/>
          <p:cNvGrpSpPr>
            <a:grpSpLocks/>
          </p:cNvGrpSpPr>
          <p:nvPr/>
        </p:nvGrpSpPr>
        <p:grpSpPr bwMode="auto">
          <a:xfrm>
            <a:off x="609600" y="4495800"/>
            <a:ext cx="2209800" cy="2017713"/>
            <a:chOff x="3552" y="2496"/>
            <a:chExt cx="1392" cy="1271"/>
          </a:xfrm>
        </p:grpSpPr>
        <p:graphicFrame>
          <p:nvGraphicFramePr>
            <p:cNvPr id="19460" name="Object 5"/>
            <p:cNvGraphicFramePr>
              <a:graphicFrameLocks noChangeAspect="1"/>
            </p:cNvGraphicFramePr>
            <p:nvPr/>
          </p:nvGraphicFramePr>
          <p:xfrm>
            <a:off x="3552" y="2496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0" name="Worksheet" r:id="rId3" imgW="2200656" imgH="2076907" progId="Excel.Sheet.8">
                    <p:embed/>
                  </p:oleObj>
                </mc:Choice>
                <mc:Fallback>
                  <p:oleObj name="Worksheet" r:id="rId3" imgW="2200656" imgH="2076907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496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Oval 6"/>
            <p:cNvSpPr>
              <a:spLocks noChangeArrowheads="1"/>
            </p:cNvSpPr>
            <p:nvPr/>
          </p:nvSpPr>
          <p:spPr bwMode="auto">
            <a:xfrm>
              <a:off x="3888" y="2688"/>
              <a:ext cx="384" cy="6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82" name="Oval 7"/>
            <p:cNvSpPr>
              <a:spLocks noChangeArrowheads="1"/>
            </p:cNvSpPr>
            <p:nvPr/>
          </p:nvSpPr>
          <p:spPr bwMode="auto">
            <a:xfrm>
              <a:off x="4272" y="3024"/>
              <a:ext cx="480" cy="48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grpSp>
        <p:nvGrpSpPr>
          <p:cNvPr id="19467" name="Group 8"/>
          <p:cNvGrpSpPr>
            <a:grpSpLocks/>
          </p:cNvGrpSpPr>
          <p:nvPr/>
        </p:nvGrpSpPr>
        <p:grpSpPr bwMode="auto">
          <a:xfrm>
            <a:off x="3276600" y="4532313"/>
            <a:ext cx="2209800" cy="2017712"/>
            <a:chOff x="1968" y="2496"/>
            <a:chExt cx="1392" cy="1271"/>
          </a:xfrm>
        </p:grpSpPr>
        <p:graphicFrame>
          <p:nvGraphicFramePr>
            <p:cNvPr id="19459" name="Object 9"/>
            <p:cNvGraphicFramePr>
              <a:graphicFrameLocks noChangeAspect="1"/>
            </p:cNvGraphicFramePr>
            <p:nvPr/>
          </p:nvGraphicFramePr>
          <p:xfrm>
            <a:off x="1968" y="2496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1" name="Worksheet" r:id="rId5" imgW="2200656" imgH="2076907" progId="Excel.Sheet.8">
                    <p:embed/>
                  </p:oleObj>
                </mc:Choice>
                <mc:Fallback>
                  <p:oleObj name="Worksheet" r:id="rId5" imgW="2200656" imgH="2076907" progId="Excel.Sheet.8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496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7" name="Oval 10"/>
            <p:cNvSpPr>
              <a:spLocks noChangeArrowheads="1"/>
            </p:cNvSpPr>
            <p:nvPr/>
          </p:nvSpPr>
          <p:spPr bwMode="auto">
            <a:xfrm>
              <a:off x="2736" y="3312"/>
              <a:ext cx="288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8" name="Oval 11"/>
            <p:cNvSpPr>
              <a:spLocks noChangeArrowheads="1"/>
            </p:cNvSpPr>
            <p:nvPr/>
          </p:nvSpPr>
          <p:spPr bwMode="auto">
            <a:xfrm>
              <a:off x="2256" y="2688"/>
              <a:ext cx="384" cy="38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9" name="Oval 12"/>
            <p:cNvSpPr>
              <a:spLocks noChangeArrowheads="1"/>
            </p:cNvSpPr>
            <p:nvPr/>
          </p:nvSpPr>
          <p:spPr bwMode="auto">
            <a:xfrm>
              <a:off x="2352" y="3024"/>
              <a:ext cx="384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80" name="Oval 13"/>
            <p:cNvSpPr>
              <a:spLocks noChangeArrowheads="1"/>
            </p:cNvSpPr>
            <p:nvPr/>
          </p:nvSpPr>
          <p:spPr bwMode="auto">
            <a:xfrm>
              <a:off x="2832" y="3024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grpSp>
        <p:nvGrpSpPr>
          <p:cNvPr id="19468" name="Group 14"/>
          <p:cNvGrpSpPr>
            <a:grpSpLocks/>
          </p:cNvGrpSpPr>
          <p:nvPr/>
        </p:nvGrpSpPr>
        <p:grpSpPr bwMode="auto">
          <a:xfrm>
            <a:off x="6019800" y="4495800"/>
            <a:ext cx="2209800" cy="2017713"/>
            <a:chOff x="3792" y="2473"/>
            <a:chExt cx="1392" cy="1271"/>
          </a:xfrm>
        </p:grpSpPr>
        <p:graphicFrame>
          <p:nvGraphicFramePr>
            <p:cNvPr id="19458" name="Object 15"/>
            <p:cNvGraphicFramePr>
              <a:graphicFrameLocks noChangeAspect="1"/>
            </p:cNvGraphicFramePr>
            <p:nvPr/>
          </p:nvGraphicFramePr>
          <p:xfrm>
            <a:off x="3792" y="2473"/>
            <a:ext cx="1392" cy="1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32" name="Worksheet" r:id="rId6" imgW="2200656" imgH="2076907" progId="Excel.Sheet.8">
                    <p:embed/>
                  </p:oleObj>
                </mc:Choice>
                <mc:Fallback>
                  <p:oleObj name="Worksheet" r:id="rId6" imgW="2200656" imgH="2076907" progId="Excel.Sheet.8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473"/>
                          <a:ext cx="1392" cy="1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1" name="Oval 16"/>
            <p:cNvSpPr>
              <a:spLocks noChangeArrowheads="1"/>
            </p:cNvSpPr>
            <p:nvPr/>
          </p:nvSpPr>
          <p:spPr bwMode="auto">
            <a:xfrm>
              <a:off x="4224" y="2713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2" name="Oval 17"/>
            <p:cNvSpPr>
              <a:spLocks noChangeArrowheads="1"/>
            </p:cNvSpPr>
            <p:nvPr/>
          </p:nvSpPr>
          <p:spPr bwMode="auto">
            <a:xfrm>
              <a:off x="4224" y="3001"/>
              <a:ext cx="288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3" name="Oval 18"/>
            <p:cNvSpPr>
              <a:spLocks noChangeArrowheads="1"/>
            </p:cNvSpPr>
            <p:nvPr/>
          </p:nvSpPr>
          <p:spPr bwMode="auto">
            <a:xfrm>
              <a:off x="4800" y="3001"/>
              <a:ext cx="144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4" name="Oval 19"/>
            <p:cNvSpPr>
              <a:spLocks noChangeArrowheads="1"/>
            </p:cNvSpPr>
            <p:nvPr/>
          </p:nvSpPr>
          <p:spPr bwMode="auto">
            <a:xfrm>
              <a:off x="4128" y="2880"/>
              <a:ext cx="96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5" name="Oval 20"/>
            <p:cNvSpPr>
              <a:spLocks noChangeArrowheads="1"/>
            </p:cNvSpPr>
            <p:nvPr/>
          </p:nvSpPr>
          <p:spPr bwMode="auto">
            <a:xfrm rot="-5400000">
              <a:off x="4608" y="3216"/>
              <a:ext cx="144" cy="28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19476" name="Oval 21"/>
            <p:cNvSpPr>
              <a:spLocks noChangeArrowheads="1"/>
            </p:cNvSpPr>
            <p:nvPr/>
          </p:nvSpPr>
          <p:spPr bwMode="auto">
            <a:xfrm rot="-5400000">
              <a:off x="4704" y="3072"/>
              <a:ext cx="96" cy="19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19469" name="Line 22"/>
          <p:cNvSpPr>
            <a:spLocks noChangeShapeType="1"/>
          </p:cNvSpPr>
          <p:nvPr/>
        </p:nvSpPr>
        <p:spPr bwMode="auto">
          <a:xfrm>
            <a:off x="2895600" y="5446713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  <p:sp>
        <p:nvSpPr>
          <p:cNvPr id="19470" name="Line 23"/>
          <p:cNvSpPr>
            <a:spLocks noChangeShapeType="1"/>
          </p:cNvSpPr>
          <p:nvPr/>
        </p:nvSpPr>
        <p:spPr bwMode="auto">
          <a:xfrm>
            <a:off x="5638800" y="5522913"/>
            <a:ext cx="30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68CC6A7-5C4D-4AD1-B6FD-64088D8FAF1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83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83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49CD0CB-FBF1-47FA-A603-F6785A7B88BC}" type="slidenum">
              <a:rPr lang="zh-TW" altLang="en-US" sz="1200" smtClean="0"/>
              <a:pPr eaLnBrk="1" hangingPunct="1"/>
              <a:t>46</a:t>
            </a:fld>
            <a:endParaRPr lang="en-US" altLang="zh-TW" sz="1200" smtClean="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CHAMELEON: Hierarchical Clustering Using Dynamic Modeling (1999)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763000" cy="5257800"/>
          </a:xfrm>
          <a:noFill/>
        </p:spPr>
        <p:txBody>
          <a:bodyPr lIns="92075" tIns="46038" rIns="92075" bIns="46038"/>
          <a:lstStyle/>
          <a:p>
            <a:pPr marL="457200" indent="-457200" eaLnBrk="1" hangingPunct="1">
              <a:lnSpc>
                <a:spcPct val="120000"/>
              </a:lnSpc>
            </a:pPr>
            <a:r>
              <a:rPr lang="en-US" altLang="zh-CN" sz="2000" smtClean="0">
                <a:ea typeface="SimSun" pitchFamily="2" charset="-122"/>
              </a:rPr>
              <a:t>CHAMELEON: by G. Karypis, E.H. Han, and V. Kumar</a:t>
            </a:r>
            <a:r>
              <a:rPr lang="en-US" altLang="zh-CN" sz="200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000" smtClean="0">
                <a:ea typeface="SimSun" pitchFamily="2" charset="-122"/>
              </a:rPr>
              <a:t>99 </a:t>
            </a: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zh-CN" sz="2000" smtClean="0">
                <a:ea typeface="SimSun" pitchFamily="2" charset="-122"/>
              </a:rPr>
              <a:t>Measures the similarity based on a dynamic model</a:t>
            </a: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en-US" altLang="zh-CN" sz="2000" smtClean="0">
                <a:ea typeface="SimSun" pitchFamily="2" charset="-122"/>
              </a:rPr>
              <a:t>Two clusters are merged only if the </a:t>
            </a:r>
            <a:r>
              <a:rPr lang="en-US" altLang="zh-CN" sz="2000" i="1" smtClean="0">
                <a:solidFill>
                  <a:schemeClr val="hlink"/>
                </a:solidFill>
                <a:ea typeface="SimSun" pitchFamily="2" charset="-122"/>
              </a:rPr>
              <a:t>interconnectivity</a:t>
            </a:r>
            <a:r>
              <a:rPr lang="en-US" altLang="zh-CN" sz="2000" smtClean="0">
                <a:solidFill>
                  <a:schemeClr val="hlink"/>
                </a:solidFill>
                <a:ea typeface="SimSun" pitchFamily="2" charset="-122"/>
              </a:rPr>
              <a:t> </a:t>
            </a:r>
            <a:r>
              <a:rPr lang="en-US" altLang="zh-CN" sz="2000" smtClean="0">
                <a:ea typeface="SimSun" pitchFamily="2" charset="-122"/>
              </a:rPr>
              <a:t>and </a:t>
            </a:r>
            <a:r>
              <a:rPr lang="en-US" altLang="zh-CN" sz="2000" i="1" smtClean="0">
                <a:solidFill>
                  <a:schemeClr val="hlink"/>
                </a:solidFill>
                <a:ea typeface="SimSun" pitchFamily="2" charset="-122"/>
              </a:rPr>
              <a:t>closeness (proximity)</a:t>
            </a:r>
            <a:r>
              <a:rPr lang="en-US" altLang="zh-CN" sz="2000" smtClean="0">
                <a:ea typeface="SimSun" pitchFamily="2" charset="-122"/>
              </a:rPr>
              <a:t> between two clusters are high </a:t>
            </a:r>
            <a:r>
              <a:rPr lang="en-US" altLang="zh-CN" sz="2000" i="1" smtClean="0">
                <a:ea typeface="SimSun" pitchFamily="2" charset="-122"/>
              </a:rPr>
              <a:t>relative to</a:t>
            </a:r>
            <a:r>
              <a:rPr lang="en-US" altLang="zh-CN" sz="2000" smtClean="0">
                <a:ea typeface="SimSun" pitchFamily="2" charset="-122"/>
              </a:rPr>
              <a:t> the internal interconnectivity of the clusters and closeness of items within the clusters </a:t>
            </a:r>
          </a:p>
          <a:p>
            <a:pPr marL="914400" lvl="1" indent="-457200" eaLnBrk="1" hangingPunct="1">
              <a:lnSpc>
                <a:spcPct val="120000"/>
              </a:lnSpc>
            </a:pPr>
            <a:r>
              <a:rPr lang="en-US" altLang="zh-TW" sz="2000" b="1" smtClean="0">
                <a:ea typeface="新細明體" pitchFamily="18" charset="-120"/>
              </a:rPr>
              <a:t>Cure</a:t>
            </a:r>
            <a:r>
              <a:rPr lang="en-US" altLang="zh-TW" sz="2000" smtClean="0">
                <a:ea typeface="新細明體" pitchFamily="18" charset="-120"/>
              </a:rPr>
              <a:t> ignores information about </a:t>
            </a:r>
            <a:r>
              <a:rPr lang="en-US" altLang="zh-TW" sz="2000" b="1" smtClean="0">
                <a:ea typeface="新細明體" pitchFamily="18" charset="-120"/>
              </a:rPr>
              <a:t>interconnectivity</a:t>
            </a:r>
            <a:r>
              <a:rPr lang="en-US" altLang="zh-TW" sz="2000" smtClean="0">
                <a:ea typeface="新細明體" pitchFamily="18" charset="-120"/>
              </a:rPr>
              <a:t> of the objects, </a:t>
            </a:r>
            <a:r>
              <a:rPr lang="en-US" altLang="zh-TW" sz="2000" b="1" smtClean="0">
                <a:ea typeface="新細明體" pitchFamily="18" charset="-120"/>
              </a:rPr>
              <a:t> Rock</a:t>
            </a:r>
            <a:r>
              <a:rPr lang="en-US" altLang="zh-TW" sz="2000" smtClean="0">
                <a:ea typeface="新細明體" pitchFamily="18" charset="-120"/>
              </a:rPr>
              <a:t> ignores information about the </a:t>
            </a:r>
            <a:r>
              <a:rPr lang="en-US" altLang="zh-TW" sz="2000" b="1" smtClean="0">
                <a:ea typeface="新細明體" pitchFamily="18" charset="-120"/>
              </a:rPr>
              <a:t>closeness</a:t>
            </a:r>
            <a:r>
              <a:rPr lang="en-US" altLang="zh-TW" sz="2000" smtClean="0">
                <a:ea typeface="新細明體" pitchFamily="18" charset="-120"/>
              </a:rPr>
              <a:t> of two clusters</a:t>
            </a:r>
            <a:endParaRPr lang="en-US" altLang="zh-CN" sz="2000" smtClean="0">
              <a:ea typeface="SimSun" pitchFamily="2" charset="-122"/>
            </a:endParaRPr>
          </a:p>
          <a:p>
            <a:pPr marL="457200" indent="-457200" eaLnBrk="1" hangingPunct="1">
              <a:lnSpc>
                <a:spcPct val="120000"/>
              </a:lnSpc>
            </a:pPr>
            <a:r>
              <a:rPr lang="en-US" altLang="zh-CN" sz="2000" smtClean="0">
                <a:ea typeface="SimSun" pitchFamily="2" charset="-122"/>
              </a:rPr>
              <a:t>A two-phase algorithm</a:t>
            </a:r>
          </a:p>
          <a:p>
            <a:pPr marL="914400" lvl="1" indent="-457200" eaLnBrk="1" hangingPunct="1">
              <a:lnSpc>
                <a:spcPct val="120000"/>
              </a:lnSpc>
              <a:buSzTx/>
              <a:buFont typeface="Wingdings" pitchFamily="2" charset="2"/>
              <a:buAutoNum type="arabicPeriod"/>
            </a:pPr>
            <a:r>
              <a:rPr lang="en-US" altLang="zh-CN" sz="2000" smtClean="0">
                <a:ea typeface="SimSun" pitchFamily="2" charset="-122"/>
              </a:rPr>
              <a:t>Use a graph partitioning algorithm: cluster objects into a large number of relatively small sub-clusters</a:t>
            </a:r>
          </a:p>
          <a:p>
            <a:pPr marL="914400" lvl="1" indent="-457200" eaLnBrk="1" hangingPunct="1">
              <a:lnSpc>
                <a:spcPct val="120000"/>
              </a:lnSpc>
              <a:buSzTx/>
              <a:buFont typeface="Wingdings" pitchFamily="2" charset="2"/>
              <a:buAutoNum type="arabicPeriod"/>
            </a:pPr>
            <a:r>
              <a:rPr lang="en-US" altLang="zh-CN" sz="2000" smtClean="0">
                <a:ea typeface="SimSun" pitchFamily="2" charset="-122"/>
              </a:rPr>
              <a:t>Use an agglomerative hierarchical clustering algorithm: find the genuine clusters by repeatedly combining these sub-clusters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8BF3630-A9B5-4CEE-9290-C150E8AC9E01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5939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5939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28B5F59-1AA3-4783-A24B-10B86E925C00}" type="slidenum">
              <a:rPr lang="zh-TW" altLang="en-US" sz="1200" smtClean="0"/>
              <a:pPr eaLnBrk="1" hangingPunct="1"/>
              <a:t>47</a:t>
            </a:fld>
            <a:endParaRPr lang="en-US" altLang="zh-TW" sz="1200" smtClean="0"/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-685800" y="1371600"/>
            <a:ext cx="8382000" cy="48006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zh-CN" altLang="en-US" smtClean="0">
              <a:ea typeface="SimSun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mtClean="0">
              <a:ea typeface="SimSun" pitchFamily="2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zh-CN" altLang="en-US" smtClean="0">
              <a:ea typeface="SimSun" pitchFamily="2" charset="-122"/>
            </a:endParaRPr>
          </a:p>
        </p:txBody>
      </p:sp>
      <p:sp>
        <p:nvSpPr>
          <p:cNvPr id="59398" name="Oval 3"/>
          <p:cNvSpPr>
            <a:spLocks noChangeArrowheads="1"/>
          </p:cNvSpPr>
          <p:nvPr/>
        </p:nvSpPr>
        <p:spPr bwMode="auto">
          <a:xfrm>
            <a:off x="2603500" y="17526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399" name="Oval 4"/>
          <p:cNvSpPr>
            <a:spLocks noChangeArrowheads="1"/>
          </p:cNvSpPr>
          <p:nvPr/>
        </p:nvSpPr>
        <p:spPr bwMode="auto">
          <a:xfrm>
            <a:off x="2438400" y="19177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0" name="Oval 5"/>
          <p:cNvSpPr>
            <a:spLocks noChangeArrowheads="1"/>
          </p:cNvSpPr>
          <p:nvPr/>
        </p:nvSpPr>
        <p:spPr bwMode="auto">
          <a:xfrm>
            <a:off x="2667000" y="20701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1" name="Line 6"/>
          <p:cNvSpPr>
            <a:spLocks noChangeShapeType="1"/>
          </p:cNvSpPr>
          <p:nvPr/>
        </p:nvSpPr>
        <p:spPr bwMode="auto">
          <a:xfrm flipV="1">
            <a:off x="2438400" y="1752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02" name="Oval 7"/>
          <p:cNvSpPr>
            <a:spLocks noChangeArrowheads="1"/>
          </p:cNvSpPr>
          <p:nvPr/>
        </p:nvSpPr>
        <p:spPr bwMode="auto">
          <a:xfrm>
            <a:off x="2451100" y="22225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3" name="Oval 8"/>
          <p:cNvSpPr>
            <a:spLocks noChangeArrowheads="1"/>
          </p:cNvSpPr>
          <p:nvPr/>
        </p:nvSpPr>
        <p:spPr bwMode="auto">
          <a:xfrm>
            <a:off x="2133600" y="22860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4" name="Line 9"/>
          <p:cNvSpPr>
            <a:spLocks noChangeShapeType="1"/>
          </p:cNvSpPr>
          <p:nvPr/>
        </p:nvSpPr>
        <p:spPr bwMode="auto">
          <a:xfrm flipH="1">
            <a:off x="2133600" y="1981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05" name="Line 10"/>
          <p:cNvSpPr>
            <a:spLocks noChangeShapeType="1"/>
          </p:cNvSpPr>
          <p:nvPr/>
        </p:nvSpPr>
        <p:spPr bwMode="auto">
          <a:xfrm>
            <a:off x="2438400" y="19812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06" name="Line 11"/>
          <p:cNvSpPr>
            <a:spLocks noChangeShapeType="1"/>
          </p:cNvSpPr>
          <p:nvPr/>
        </p:nvSpPr>
        <p:spPr bwMode="auto">
          <a:xfrm flipH="1">
            <a:off x="2514600" y="21336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07" name="Oval 12"/>
          <p:cNvSpPr>
            <a:spLocks noChangeArrowheads="1"/>
          </p:cNvSpPr>
          <p:nvPr/>
        </p:nvSpPr>
        <p:spPr bwMode="auto">
          <a:xfrm>
            <a:off x="2222500" y="25273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8" name="Oval 13"/>
          <p:cNvSpPr>
            <a:spLocks noChangeArrowheads="1"/>
          </p:cNvSpPr>
          <p:nvPr/>
        </p:nvSpPr>
        <p:spPr bwMode="auto">
          <a:xfrm>
            <a:off x="1905000" y="25146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09" name="Oval 14"/>
          <p:cNvSpPr>
            <a:spLocks noChangeArrowheads="1"/>
          </p:cNvSpPr>
          <p:nvPr/>
        </p:nvSpPr>
        <p:spPr bwMode="auto">
          <a:xfrm>
            <a:off x="2590800" y="25273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0" name="Oval 15"/>
          <p:cNvSpPr>
            <a:spLocks noChangeArrowheads="1"/>
          </p:cNvSpPr>
          <p:nvPr/>
        </p:nvSpPr>
        <p:spPr bwMode="auto">
          <a:xfrm>
            <a:off x="2374900" y="2819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1" name="Oval 16"/>
          <p:cNvSpPr>
            <a:spLocks noChangeArrowheads="1"/>
          </p:cNvSpPr>
          <p:nvPr/>
        </p:nvSpPr>
        <p:spPr bwMode="auto">
          <a:xfrm>
            <a:off x="2438400" y="31369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2" name="Oval 17"/>
          <p:cNvSpPr>
            <a:spLocks noChangeArrowheads="1"/>
          </p:cNvSpPr>
          <p:nvPr/>
        </p:nvSpPr>
        <p:spPr bwMode="auto">
          <a:xfrm>
            <a:off x="2755900" y="29718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3" name="Line 18"/>
          <p:cNvSpPr>
            <a:spLocks noChangeShapeType="1"/>
          </p:cNvSpPr>
          <p:nvPr/>
        </p:nvSpPr>
        <p:spPr bwMode="auto">
          <a:xfrm>
            <a:off x="2133600" y="22860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14" name="Line 19"/>
          <p:cNvSpPr>
            <a:spLocks noChangeShapeType="1"/>
          </p:cNvSpPr>
          <p:nvPr/>
        </p:nvSpPr>
        <p:spPr bwMode="auto">
          <a:xfrm flipH="1">
            <a:off x="1905000" y="22860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15" name="Line 20"/>
          <p:cNvSpPr>
            <a:spLocks noChangeShapeType="1"/>
          </p:cNvSpPr>
          <p:nvPr/>
        </p:nvSpPr>
        <p:spPr bwMode="auto">
          <a:xfrm>
            <a:off x="1905000" y="25146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16" name="Line 21"/>
          <p:cNvSpPr>
            <a:spLocks noChangeShapeType="1"/>
          </p:cNvSpPr>
          <p:nvPr/>
        </p:nvSpPr>
        <p:spPr bwMode="auto">
          <a:xfrm flipV="1">
            <a:off x="2286000" y="22098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17" name="Oval 22"/>
          <p:cNvSpPr>
            <a:spLocks noChangeArrowheads="1"/>
          </p:cNvSpPr>
          <p:nvPr/>
        </p:nvSpPr>
        <p:spPr bwMode="auto">
          <a:xfrm>
            <a:off x="2971800" y="2819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8" name="Oval 23"/>
          <p:cNvSpPr>
            <a:spLocks noChangeArrowheads="1"/>
          </p:cNvSpPr>
          <p:nvPr/>
        </p:nvSpPr>
        <p:spPr bwMode="auto">
          <a:xfrm>
            <a:off x="3048000" y="31369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19" name="Oval 24"/>
          <p:cNvSpPr>
            <a:spLocks noChangeArrowheads="1"/>
          </p:cNvSpPr>
          <p:nvPr/>
        </p:nvSpPr>
        <p:spPr bwMode="auto">
          <a:xfrm>
            <a:off x="4051300" y="18288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0" name="Oval 25"/>
          <p:cNvSpPr>
            <a:spLocks noChangeArrowheads="1"/>
          </p:cNvSpPr>
          <p:nvPr/>
        </p:nvSpPr>
        <p:spPr bwMode="auto">
          <a:xfrm>
            <a:off x="3657600" y="25146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1" name="Oval 26"/>
          <p:cNvSpPr>
            <a:spLocks noChangeArrowheads="1"/>
          </p:cNvSpPr>
          <p:nvPr/>
        </p:nvSpPr>
        <p:spPr bwMode="auto">
          <a:xfrm>
            <a:off x="4267200" y="16891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2" name="Oval 27"/>
          <p:cNvSpPr>
            <a:spLocks noChangeArrowheads="1"/>
          </p:cNvSpPr>
          <p:nvPr/>
        </p:nvSpPr>
        <p:spPr bwMode="auto">
          <a:xfrm>
            <a:off x="4267200" y="19812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3" name="Oval 28"/>
          <p:cNvSpPr>
            <a:spLocks noChangeArrowheads="1"/>
          </p:cNvSpPr>
          <p:nvPr/>
        </p:nvSpPr>
        <p:spPr bwMode="auto">
          <a:xfrm>
            <a:off x="4114800" y="2057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4" name="Oval 29"/>
          <p:cNvSpPr>
            <a:spLocks noChangeArrowheads="1"/>
          </p:cNvSpPr>
          <p:nvPr/>
        </p:nvSpPr>
        <p:spPr bwMode="auto">
          <a:xfrm>
            <a:off x="3822700" y="2438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5" name="Oval 30"/>
          <p:cNvSpPr>
            <a:spLocks noChangeArrowheads="1"/>
          </p:cNvSpPr>
          <p:nvPr/>
        </p:nvSpPr>
        <p:spPr bwMode="auto">
          <a:xfrm>
            <a:off x="3810000" y="26670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6" name="Oval 31"/>
          <p:cNvSpPr>
            <a:spLocks noChangeArrowheads="1"/>
          </p:cNvSpPr>
          <p:nvPr/>
        </p:nvSpPr>
        <p:spPr bwMode="auto">
          <a:xfrm>
            <a:off x="3975100" y="27432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7" name="Oval 32"/>
          <p:cNvSpPr>
            <a:spLocks noChangeArrowheads="1"/>
          </p:cNvSpPr>
          <p:nvPr/>
        </p:nvSpPr>
        <p:spPr bwMode="auto">
          <a:xfrm>
            <a:off x="3886200" y="2819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28" name="Line 33"/>
          <p:cNvSpPr>
            <a:spLocks noChangeShapeType="1"/>
          </p:cNvSpPr>
          <p:nvPr/>
        </p:nvSpPr>
        <p:spPr bwMode="auto">
          <a:xfrm flipV="1">
            <a:off x="3048000" y="25146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29" name="Line 34"/>
          <p:cNvSpPr>
            <a:spLocks noChangeShapeType="1"/>
          </p:cNvSpPr>
          <p:nvPr/>
        </p:nvSpPr>
        <p:spPr bwMode="auto">
          <a:xfrm flipV="1">
            <a:off x="3733800" y="18288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0" name="Line 35"/>
          <p:cNvSpPr>
            <a:spLocks noChangeShapeType="1"/>
          </p:cNvSpPr>
          <p:nvPr/>
        </p:nvSpPr>
        <p:spPr bwMode="auto">
          <a:xfrm flipV="1">
            <a:off x="4114800" y="17526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1" name="Line 36"/>
          <p:cNvSpPr>
            <a:spLocks noChangeShapeType="1"/>
          </p:cNvSpPr>
          <p:nvPr/>
        </p:nvSpPr>
        <p:spPr bwMode="auto">
          <a:xfrm>
            <a:off x="4114800" y="18288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2" name="Line 37"/>
          <p:cNvSpPr>
            <a:spLocks noChangeShapeType="1"/>
          </p:cNvSpPr>
          <p:nvPr/>
        </p:nvSpPr>
        <p:spPr bwMode="auto">
          <a:xfrm>
            <a:off x="4114800" y="1828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3" name="Line 38"/>
          <p:cNvSpPr>
            <a:spLocks noChangeShapeType="1"/>
          </p:cNvSpPr>
          <p:nvPr/>
        </p:nvSpPr>
        <p:spPr bwMode="auto">
          <a:xfrm flipV="1">
            <a:off x="4114800" y="1981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4" name="Line 39"/>
          <p:cNvSpPr>
            <a:spLocks noChangeShapeType="1"/>
          </p:cNvSpPr>
          <p:nvPr/>
        </p:nvSpPr>
        <p:spPr bwMode="auto">
          <a:xfrm>
            <a:off x="3810000" y="2667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35" name="Oval 40"/>
          <p:cNvSpPr>
            <a:spLocks noChangeArrowheads="1"/>
          </p:cNvSpPr>
          <p:nvPr/>
        </p:nvSpPr>
        <p:spPr bwMode="auto">
          <a:xfrm>
            <a:off x="4508500" y="25273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36" name="Oval 41"/>
          <p:cNvSpPr>
            <a:spLocks noChangeArrowheads="1"/>
          </p:cNvSpPr>
          <p:nvPr/>
        </p:nvSpPr>
        <p:spPr bwMode="auto">
          <a:xfrm>
            <a:off x="4737100" y="26035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37" name="Oval 42"/>
          <p:cNvSpPr>
            <a:spLocks noChangeArrowheads="1"/>
          </p:cNvSpPr>
          <p:nvPr/>
        </p:nvSpPr>
        <p:spPr bwMode="auto">
          <a:xfrm>
            <a:off x="3670300" y="32766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38" name="Oval 43"/>
          <p:cNvSpPr>
            <a:spLocks noChangeArrowheads="1"/>
          </p:cNvSpPr>
          <p:nvPr/>
        </p:nvSpPr>
        <p:spPr bwMode="auto">
          <a:xfrm>
            <a:off x="3581400" y="34290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39" name="Oval 44"/>
          <p:cNvSpPr>
            <a:spLocks noChangeArrowheads="1"/>
          </p:cNvSpPr>
          <p:nvPr/>
        </p:nvSpPr>
        <p:spPr bwMode="auto">
          <a:xfrm>
            <a:off x="3810000" y="35052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0" name="Oval 45"/>
          <p:cNvSpPr>
            <a:spLocks noChangeArrowheads="1"/>
          </p:cNvSpPr>
          <p:nvPr/>
        </p:nvSpPr>
        <p:spPr bwMode="auto">
          <a:xfrm>
            <a:off x="3657600" y="37338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1" name="Oval 46"/>
          <p:cNvSpPr>
            <a:spLocks noChangeArrowheads="1"/>
          </p:cNvSpPr>
          <p:nvPr/>
        </p:nvSpPr>
        <p:spPr bwMode="auto">
          <a:xfrm>
            <a:off x="4660900" y="23622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2" name="Oval 47"/>
          <p:cNvSpPr>
            <a:spLocks noChangeArrowheads="1"/>
          </p:cNvSpPr>
          <p:nvPr/>
        </p:nvSpPr>
        <p:spPr bwMode="auto">
          <a:xfrm>
            <a:off x="3581400" y="38989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3" name="Oval 48"/>
          <p:cNvSpPr>
            <a:spLocks noChangeArrowheads="1"/>
          </p:cNvSpPr>
          <p:nvPr/>
        </p:nvSpPr>
        <p:spPr bwMode="auto">
          <a:xfrm>
            <a:off x="3441700" y="38100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4" name="Oval 49"/>
          <p:cNvSpPr>
            <a:spLocks noChangeArrowheads="1"/>
          </p:cNvSpPr>
          <p:nvPr/>
        </p:nvSpPr>
        <p:spPr bwMode="auto">
          <a:xfrm>
            <a:off x="3365500" y="39624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45" name="Line 50"/>
          <p:cNvSpPr>
            <a:spLocks noChangeShapeType="1"/>
          </p:cNvSpPr>
          <p:nvPr/>
        </p:nvSpPr>
        <p:spPr bwMode="auto">
          <a:xfrm>
            <a:off x="4572000" y="2590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46" name="Line 51"/>
          <p:cNvSpPr>
            <a:spLocks noChangeShapeType="1"/>
          </p:cNvSpPr>
          <p:nvPr/>
        </p:nvSpPr>
        <p:spPr bwMode="auto">
          <a:xfrm>
            <a:off x="4724400" y="23622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47" name="Line 52"/>
          <p:cNvSpPr>
            <a:spLocks noChangeShapeType="1"/>
          </p:cNvSpPr>
          <p:nvPr/>
        </p:nvSpPr>
        <p:spPr bwMode="auto">
          <a:xfrm>
            <a:off x="4267200" y="1981200"/>
            <a:ext cx="457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48" name="Line 53"/>
          <p:cNvSpPr>
            <a:spLocks noChangeShapeType="1"/>
          </p:cNvSpPr>
          <p:nvPr/>
        </p:nvSpPr>
        <p:spPr bwMode="auto">
          <a:xfrm>
            <a:off x="4114800" y="20574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49" name="Line 54"/>
          <p:cNvSpPr>
            <a:spLocks noChangeShapeType="1"/>
          </p:cNvSpPr>
          <p:nvPr/>
        </p:nvSpPr>
        <p:spPr bwMode="auto">
          <a:xfrm flipV="1">
            <a:off x="3048000" y="26670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0" name="Line 55"/>
          <p:cNvSpPr>
            <a:spLocks noChangeShapeType="1"/>
          </p:cNvSpPr>
          <p:nvPr/>
        </p:nvSpPr>
        <p:spPr bwMode="auto">
          <a:xfrm>
            <a:off x="3048000" y="32004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1" name="Line 56"/>
          <p:cNvSpPr>
            <a:spLocks noChangeShapeType="1"/>
          </p:cNvSpPr>
          <p:nvPr/>
        </p:nvSpPr>
        <p:spPr bwMode="auto">
          <a:xfrm flipH="1">
            <a:off x="3505200" y="34290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2" name="Line 57"/>
          <p:cNvSpPr>
            <a:spLocks noChangeShapeType="1"/>
          </p:cNvSpPr>
          <p:nvPr/>
        </p:nvSpPr>
        <p:spPr bwMode="auto">
          <a:xfrm>
            <a:off x="3581400" y="34290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3" name="Line 58"/>
          <p:cNvSpPr>
            <a:spLocks noChangeShapeType="1"/>
          </p:cNvSpPr>
          <p:nvPr/>
        </p:nvSpPr>
        <p:spPr bwMode="auto">
          <a:xfrm flipH="1">
            <a:off x="3657600" y="35052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4" name="Line 59"/>
          <p:cNvSpPr>
            <a:spLocks noChangeShapeType="1"/>
          </p:cNvSpPr>
          <p:nvPr/>
        </p:nvSpPr>
        <p:spPr bwMode="auto">
          <a:xfrm>
            <a:off x="3505200" y="38100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5" name="Line 60"/>
          <p:cNvSpPr>
            <a:spLocks noChangeShapeType="1"/>
          </p:cNvSpPr>
          <p:nvPr/>
        </p:nvSpPr>
        <p:spPr bwMode="auto">
          <a:xfrm flipH="1">
            <a:off x="3429000" y="3810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6" name="Line 61"/>
          <p:cNvSpPr>
            <a:spLocks noChangeShapeType="1"/>
          </p:cNvSpPr>
          <p:nvPr/>
        </p:nvSpPr>
        <p:spPr bwMode="auto">
          <a:xfrm>
            <a:off x="2514600" y="22098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7" name="Line 62"/>
          <p:cNvSpPr>
            <a:spLocks noChangeShapeType="1"/>
          </p:cNvSpPr>
          <p:nvPr/>
        </p:nvSpPr>
        <p:spPr bwMode="auto">
          <a:xfrm>
            <a:off x="2667000" y="2590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8" name="Line 63"/>
          <p:cNvSpPr>
            <a:spLocks noChangeShapeType="1"/>
          </p:cNvSpPr>
          <p:nvPr/>
        </p:nvSpPr>
        <p:spPr bwMode="auto">
          <a:xfrm>
            <a:off x="2590800" y="25908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59" name="Line 64"/>
          <p:cNvSpPr>
            <a:spLocks noChangeShapeType="1"/>
          </p:cNvSpPr>
          <p:nvPr/>
        </p:nvSpPr>
        <p:spPr bwMode="auto">
          <a:xfrm>
            <a:off x="2743200" y="29718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0" name="Line 65"/>
          <p:cNvSpPr>
            <a:spLocks noChangeShapeType="1"/>
          </p:cNvSpPr>
          <p:nvPr/>
        </p:nvSpPr>
        <p:spPr bwMode="auto">
          <a:xfrm flipV="1">
            <a:off x="2743200" y="2895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1" name="Line 66"/>
          <p:cNvSpPr>
            <a:spLocks noChangeShapeType="1"/>
          </p:cNvSpPr>
          <p:nvPr/>
        </p:nvSpPr>
        <p:spPr bwMode="auto">
          <a:xfrm>
            <a:off x="2286000" y="2590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2" name="Line 67"/>
          <p:cNvSpPr>
            <a:spLocks noChangeShapeType="1"/>
          </p:cNvSpPr>
          <p:nvPr/>
        </p:nvSpPr>
        <p:spPr bwMode="auto">
          <a:xfrm flipH="1">
            <a:off x="2438400" y="2590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3" name="Line 68"/>
          <p:cNvSpPr>
            <a:spLocks noChangeShapeType="1"/>
          </p:cNvSpPr>
          <p:nvPr/>
        </p:nvSpPr>
        <p:spPr bwMode="auto">
          <a:xfrm>
            <a:off x="2438400" y="2895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4" name="Line 69"/>
          <p:cNvSpPr>
            <a:spLocks noChangeShapeType="1"/>
          </p:cNvSpPr>
          <p:nvPr/>
        </p:nvSpPr>
        <p:spPr bwMode="auto">
          <a:xfrm>
            <a:off x="2438400" y="3200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5" name="Line 70"/>
          <p:cNvSpPr>
            <a:spLocks noChangeShapeType="1"/>
          </p:cNvSpPr>
          <p:nvPr/>
        </p:nvSpPr>
        <p:spPr bwMode="auto">
          <a:xfrm flipV="1">
            <a:off x="2438400" y="30480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6" name="Line 71"/>
          <p:cNvSpPr>
            <a:spLocks noChangeShapeType="1"/>
          </p:cNvSpPr>
          <p:nvPr/>
        </p:nvSpPr>
        <p:spPr bwMode="auto">
          <a:xfrm flipV="1">
            <a:off x="4038600" y="25908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7" name="Line 72"/>
          <p:cNvSpPr>
            <a:spLocks noChangeShapeType="1"/>
          </p:cNvSpPr>
          <p:nvPr/>
        </p:nvSpPr>
        <p:spPr bwMode="auto">
          <a:xfrm>
            <a:off x="2438400" y="2819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8" name="Line 73"/>
          <p:cNvSpPr>
            <a:spLocks noChangeShapeType="1"/>
          </p:cNvSpPr>
          <p:nvPr/>
        </p:nvSpPr>
        <p:spPr bwMode="auto">
          <a:xfrm flipH="1">
            <a:off x="3886200" y="20574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69" name="Oval 74"/>
          <p:cNvSpPr>
            <a:spLocks noChangeArrowheads="1"/>
          </p:cNvSpPr>
          <p:nvPr/>
        </p:nvSpPr>
        <p:spPr bwMode="auto">
          <a:xfrm>
            <a:off x="6248400" y="24384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grpSp>
        <p:nvGrpSpPr>
          <p:cNvPr id="59470" name="Group 75"/>
          <p:cNvGrpSpPr>
            <a:grpSpLocks/>
          </p:cNvGrpSpPr>
          <p:nvPr/>
        </p:nvGrpSpPr>
        <p:grpSpPr bwMode="auto">
          <a:xfrm>
            <a:off x="6553200" y="1905000"/>
            <a:ext cx="292100" cy="533400"/>
            <a:chOff x="4128" y="1200"/>
            <a:chExt cx="184" cy="336"/>
          </a:xfrm>
        </p:grpSpPr>
        <p:sp>
          <p:nvSpPr>
            <p:cNvPr id="59651" name="Oval 76"/>
            <p:cNvSpPr>
              <a:spLocks noChangeArrowheads="1"/>
            </p:cNvSpPr>
            <p:nvPr/>
          </p:nvSpPr>
          <p:spPr bwMode="auto">
            <a:xfrm>
              <a:off x="4224" y="1200"/>
              <a:ext cx="40" cy="40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9652" name="Oval 77"/>
            <p:cNvSpPr>
              <a:spLocks noChangeArrowheads="1"/>
            </p:cNvSpPr>
            <p:nvPr/>
          </p:nvSpPr>
          <p:spPr bwMode="auto">
            <a:xfrm>
              <a:off x="4128" y="1296"/>
              <a:ext cx="40" cy="40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9653" name="Oval 78"/>
            <p:cNvSpPr>
              <a:spLocks noChangeArrowheads="1"/>
            </p:cNvSpPr>
            <p:nvPr/>
          </p:nvSpPr>
          <p:spPr bwMode="auto">
            <a:xfrm>
              <a:off x="4272" y="1400"/>
              <a:ext cx="40" cy="40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9654" name="Line 79"/>
            <p:cNvSpPr>
              <a:spLocks noChangeShapeType="1"/>
            </p:cNvSpPr>
            <p:nvPr/>
          </p:nvSpPr>
          <p:spPr bwMode="auto">
            <a:xfrm flipV="1">
              <a:off x="4176" y="1200"/>
              <a:ext cx="96" cy="96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655" name="Line 80"/>
            <p:cNvSpPr>
              <a:spLocks noChangeShapeType="1"/>
            </p:cNvSpPr>
            <p:nvPr/>
          </p:nvSpPr>
          <p:spPr bwMode="auto">
            <a:xfrm>
              <a:off x="4128" y="1344"/>
              <a:ext cx="144" cy="4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656" name="Line 81"/>
            <p:cNvSpPr>
              <a:spLocks noChangeShapeType="1"/>
            </p:cNvSpPr>
            <p:nvPr/>
          </p:nvSpPr>
          <p:spPr bwMode="auto">
            <a:xfrm>
              <a:off x="4272" y="1248"/>
              <a:ext cx="0" cy="192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657" name="Oval 82"/>
            <p:cNvSpPr>
              <a:spLocks noChangeArrowheads="1"/>
            </p:cNvSpPr>
            <p:nvPr/>
          </p:nvSpPr>
          <p:spPr bwMode="auto">
            <a:xfrm>
              <a:off x="4136" y="1496"/>
              <a:ext cx="40" cy="40"/>
            </a:xfrm>
            <a:prstGeom prst="ellipse">
              <a:avLst/>
            </a:prstGeom>
            <a:solidFill>
              <a:srgbClr val="00FF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59658" name="Line 83"/>
            <p:cNvSpPr>
              <a:spLocks noChangeShapeType="1"/>
            </p:cNvSpPr>
            <p:nvPr/>
          </p:nvSpPr>
          <p:spPr bwMode="auto">
            <a:xfrm>
              <a:off x="4128" y="1344"/>
              <a:ext cx="48" cy="192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9659" name="Line 84"/>
            <p:cNvSpPr>
              <a:spLocks noChangeShapeType="1"/>
            </p:cNvSpPr>
            <p:nvPr/>
          </p:nvSpPr>
          <p:spPr bwMode="auto">
            <a:xfrm flipH="1">
              <a:off x="4176" y="1440"/>
              <a:ext cx="96" cy="48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9471" name="Oval 85"/>
          <p:cNvSpPr>
            <a:spLocks noChangeArrowheads="1"/>
          </p:cNvSpPr>
          <p:nvPr/>
        </p:nvSpPr>
        <p:spPr bwMode="auto">
          <a:xfrm>
            <a:off x="6337300" y="26797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2" name="Oval 86"/>
          <p:cNvSpPr>
            <a:spLocks noChangeArrowheads="1"/>
          </p:cNvSpPr>
          <p:nvPr/>
        </p:nvSpPr>
        <p:spPr bwMode="auto">
          <a:xfrm>
            <a:off x="6019800" y="26670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3" name="Oval 87"/>
          <p:cNvSpPr>
            <a:spLocks noChangeArrowheads="1"/>
          </p:cNvSpPr>
          <p:nvPr/>
        </p:nvSpPr>
        <p:spPr bwMode="auto">
          <a:xfrm>
            <a:off x="6705600" y="26797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4" name="Oval 88"/>
          <p:cNvSpPr>
            <a:spLocks noChangeArrowheads="1"/>
          </p:cNvSpPr>
          <p:nvPr/>
        </p:nvSpPr>
        <p:spPr bwMode="auto">
          <a:xfrm>
            <a:off x="6489700" y="29718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5" name="Oval 89"/>
          <p:cNvSpPr>
            <a:spLocks noChangeArrowheads="1"/>
          </p:cNvSpPr>
          <p:nvPr/>
        </p:nvSpPr>
        <p:spPr bwMode="auto">
          <a:xfrm>
            <a:off x="6553200" y="32893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6" name="Oval 90"/>
          <p:cNvSpPr>
            <a:spLocks noChangeArrowheads="1"/>
          </p:cNvSpPr>
          <p:nvPr/>
        </p:nvSpPr>
        <p:spPr bwMode="auto">
          <a:xfrm>
            <a:off x="6870700" y="31242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77" name="Line 91"/>
          <p:cNvSpPr>
            <a:spLocks noChangeShapeType="1"/>
          </p:cNvSpPr>
          <p:nvPr/>
        </p:nvSpPr>
        <p:spPr bwMode="auto">
          <a:xfrm>
            <a:off x="6248400" y="2438400"/>
            <a:ext cx="152400" cy="3048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78" name="Line 92"/>
          <p:cNvSpPr>
            <a:spLocks noChangeShapeType="1"/>
          </p:cNvSpPr>
          <p:nvPr/>
        </p:nvSpPr>
        <p:spPr bwMode="auto">
          <a:xfrm flipH="1">
            <a:off x="6019800" y="2438400"/>
            <a:ext cx="228600" cy="2286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79" name="Line 93"/>
          <p:cNvSpPr>
            <a:spLocks noChangeShapeType="1"/>
          </p:cNvSpPr>
          <p:nvPr/>
        </p:nvSpPr>
        <p:spPr bwMode="auto">
          <a:xfrm>
            <a:off x="6019800" y="2667000"/>
            <a:ext cx="381000" cy="7620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80" name="Oval 94"/>
          <p:cNvSpPr>
            <a:spLocks noChangeArrowheads="1"/>
          </p:cNvSpPr>
          <p:nvPr/>
        </p:nvSpPr>
        <p:spPr bwMode="auto">
          <a:xfrm>
            <a:off x="7086600" y="29718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1" name="Oval 95"/>
          <p:cNvSpPr>
            <a:spLocks noChangeArrowheads="1"/>
          </p:cNvSpPr>
          <p:nvPr/>
        </p:nvSpPr>
        <p:spPr bwMode="auto">
          <a:xfrm>
            <a:off x="7099300" y="32893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2" name="Oval 96"/>
          <p:cNvSpPr>
            <a:spLocks noChangeArrowheads="1"/>
          </p:cNvSpPr>
          <p:nvPr/>
        </p:nvSpPr>
        <p:spPr bwMode="auto">
          <a:xfrm>
            <a:off x="7251700" y="1676400"/>
            <a:ext cx="63500" cy="6350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3" name="Oval 97"/>
          <p:cNvSpPr>
            <a:spLocks noChangeArrowheads="1"/>
          </p:cNvSpPr>
          <p:nvPr/>
        </p:nvSpPr>
        <p:spPr bwMode="auto">
          <a:xfrm>
            <a:off x="7086600" y="2333625"/>
            <a:ext cx="74613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4" name="Oval 98"/>
          <p:cNvSpPr>
            <a:spLocks noChangeArrowheads="1"/>
          </p:cNvSpPr>
          <p:nvPr/>
        </p:nvSpPr>
        <p:spPr bwMode="auto">
          <a:xfrm>
            <a:off x="7467600" y="1536700"/>
            <a:ext cx="63500" cy="6350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5" name="Oval 99"/>
          <p:cNvSpPr>
            <a:spLocks noChangeArrowheads="1"/>
          </p:cNvSpPr>
          <p:nvPr/>
        </p:nvSpPr>
        <p:spPr bwMode="auto">
          <a:xfrm>
            <a:off x="7467600" y="1828800"/>
            <a:ext cx="63500" cy="6350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6" name="Oval 100"/>
          <p:cNvSpPr>
            <a:spLocks noChangeArrowheads="1"/>
          </p:cNvSpPr>
          <p:nvPr/>
        </p:nvSpPr>
        <p:spPr bwMode="auto">
          <a:xfrm>
            <a:off x="7315200" y="1905000"/>
            <a:ext cx="63500" cy="6350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FF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7" name="Oval 101"/>
          <p:cNvSpPr>
            <a:spLocks noChangeArrowheads="1"/>
          </p:cNvSpPr>
          <p:nvPr/>
        </p:nvSpPr>
        <p:spPr bwMode="auto">
          <a:xfrm>
            <a:off x="7315200" y="2257425"/>
            <a:ext cx="74613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8" name="Oval 102"/>
          <p:cNvSpPr>
            <a:spLocks noChangeArrowheads="1"/>
          </p:cNvSpPr>
          <p:nvPr/>
        </p:nvSpPr>
        <p:spPr bwMode="auto">
          <a:xfrm>
            <a:off x="7239000" y="2486025"/>
            <a:ext cx="74613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89" name="Oval 103"/>
          <p:cNvSpPr>
            <a:spLocks noChangeArrowheads="1"/>
          </p:cNvSpPr>
          <p:nvPr/>
        </p:nvSpPr>
        <p:spPr bwMode="auto">
          <a:xfrm>
            <a:off x="7391400" y="2498725"/>
            <a:ext cx="74613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90" name="Oval 104"/>
          <p:cNvSpPr>
            <a:spLocks noChangeArrowheads="1"/>
          </p:cNvSpPr>
          <p:nvPr/>
        </p:nvSpPr>
        <p:spPr bwMode="auto">
          <a:xfrm>
            <a:off x="7315200" y="2638425"/>
            <a:ext cx="74613" cy="762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91" name="Line 105"/>
          <p:cNvSpPr>
            <a:spLocks noChangeShapeType="1"/>
          </p:cNvSpPr>
          <p:nvPr/>
        </p:nvSpPr>
        <p:spPr bwMode="auto">
          <a:xfrm flipV="1">
            <a:off x="7315200" y="1600200"/>
            <a:ext cx="152400" cy="76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2" name="Line 106"/>
          <p:cNvSpPr>
            <a:spLocks noChangeShapeType="1"/>
          </p:cNvSpPr>
          <p:nvPr/>
        </p:nvSpPr>
        <p:spPr bwMode="auto">
          <a:xfrm>
            <a:off x="7315200" y="1676400"/>
            <a:ext cx="152400" cy="1524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3" name="Line 107"/>
          <p:cNvSpPr>
            <a:spLocks noChangeShapeType="1"/>
          </p:cNvSpPr>
          <p:nvPr/>
        </p:nvSpPr>
        <p:spPr bwMode="auto">
          <a:xfrm>
            <a:off x="7315200" y="1676400"/>
            <a:ext cx="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4" name="Line 108"/>
          <p:cNvSpPr>
            <a:spLocks noChangeShapeType="1"/>
          </p:cNvSpPr>
          <p:nvPr/>
        </p:nvSpPr>
        <p:spPr bwMode="auto">
          <a:xfrm flipV="1">
            <a:off x="7315200" y="1828800"/>
            <a:ext cx="152400" cy="762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5" name="Line 109"/>
          <p:cNvSpPr>
            <a:spLocks noChangeShapeType="1"/>
          </p:cNvSpPr>
          <p:nvPr/>
        </p:nvSpPr>
        <p:spPr bwMode="auto">
          <a:xfrm>
            <a:off x="7288213" y="2498725"/>
            <a:ext cx="114300" cy="158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6" name="Line 110"/>
          <p:cNvSpPr>
            <a:spLocks noChangeShapeType="1"/>
          </p:cNvSpPr>
          <p:nvPr/>
        </p:nvSpPr>
        <p:spPr bwMode="auto">
          <a:xfrm>
            <a:off x="7269163" y="2468563"/>
            <a:ext cx="57150" cy="1825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7" name="Line 111"/>
          <p:cNvSpPr>
            <a:spLocks noChangeShapeType="1"/>
          </p:cNvSpPr>
          <p:nvPr/>
        </p:nvSpPr>
        <p:spPr bwMode="auto">
          <a:xfrm flipV="1">
            <a:off x="7345363" y="2559050"/>
            <a:ext cx="57150" cy="920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498" name="Oval 112"/>
          <p:cNvSpPr>
            <a:spLocks noChangeArrowheads="1"/>
          </p:cNvSpPr>
          <p:nvPr/>
        </p:nvSpPr>
        <p:spPr bwMode="auto">
          <a:xfrm>
            <a:off x="7785100" y="22987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499" name="Oval 113"/>
          <p:cNvSpPr>
            <a:spLocks noChangeArrowheads="1"/>
          </p:cNvSpPr>
          <p:nvPr/>
        </p:nvSpPr>
        <p:spPr bwMode="auto">
          <a:xfrm>
            <a:off x="8013700" y="23749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0" name="Oval 114"/>
          <p:cNvSpPr>
            <a:spLocks noChangeArrowheads="1"/>
          </p:cNvSpPr>
          <p:nvPr/>
        </p:nvSpPr>
        <p:spPr bwMode="auto">
          <a:xfrm>
            <a:off x="7696200" y="2971800"/>
            <a:ext cx="63500" cy="63500"/>
          </a:xfrm>
          <a:prstGeom prst="ellipse">
            <a:avLst/>
          </a:prstGeom>
          <a:solidFill>
            <a:srgbClr val="99CC00"/>
          </a:solidFill>
          <a:ln w="12700">
            <a:solidFill>
              <a:srgbClr val="99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1" name="Oval 115"/>
          <p:cNvSpPr>
            <a:spLocks noChangeArrowheads="1"/>
          </p:cNvSpPr>
          <p:nvPr/>
        </p:nvSpPr>
        <p:spPr bwMode="auto">
          <a:xfrm>
            <a:off x="7556500" y="3200400"/>
            <a:ext cx="63500" cy="63500"/>
          </a:xfrm>
          <a:prstGeom prst="ellipse">
            <a:avLst/>
          </a:prstGeom>
          <a:solidFill>
            <a:srgbClr val="99CC00"/>
          </a:solidFill>
          <a:ln w="12700">
            <a:solidFill>
              <a:srgbClr val="99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2" name="Oval 116"/>
          <p:cNvSpPr>
            <a:spLocks noChangeArrowheads="1"/>
          </p:cNvSpPr>
          <p:nvPr/>
        </p:nvSpPr>
        <p:spPr bwMode="auto">
          <a:xfrm>
            <a:off x="7848600" y="3200400"/>
            <a:ext cx="63500" cy="63500"/>
          </a:xfrm>
          <a:prstGeom prst="ellipse">
            <a:avLst/>
          </a:prstGeom>
          <a:solidFill>
            <a:srgbClr val="99CC00"/>
          </a:solidFill>
          <a:ln w="12700">
            <a:solidFill>
              <a:srgbClr val="99CC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3" name="Oval 117"/>
          <p:cNvSpPr>
            <a:spLocks noChangeArrowheads="1"/>
          </p:cNvSpPr>
          <p:nvPr/>
        </p:nvSpPr>
        <p:spPr bwMode="auto">
          <a:xfrm>
            <a:off x="7696200" y="3441700"/>
            <a:ext cx="63500" cy="635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4" name="Oval 118"/>
          <p:cNvSpPr>
            <a:spLocks noChangeArrowheads="1"/>
          </p:cNvSpPr>
          <p:nvPr/>
        </p:nvSpPr>
        <p:spPr bwMode="auto">
          <a:xfrm>
            <a:off x="7937500" y="2133600"/>
            <a:ext cx="63500" cy="635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5" name="Oval 119"/>
          <p:cNvSpPr>
            <a:spLocks noChangeArrowheads="1"/>
          </p:cNvSpPr>
          <p:nvPr/>
        </p:nvSpPr>
        <p:spPr bwMode="auto">
          <a:xfrm>
            <a:off x="7620000" y="3594100"/>
            <a:ext cx="63500" cy="635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6" name="Oval 120"/>
          <p:cNvSpPr>
            <a:spLocks noChangeArrowheads="1"/>
          </p:cNvSpPr>
          <p:nvPr/>
        </p:nvSpPr>
        <p:spPr bwMode="auto">
          <a:xfrm>
            <a:off x="7480300" y="3505200"/>
            <a:ext cx="63500" cy="635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7" name="Oval 121"/>
          <p:cNvSpPr>
            <a:spLocks noChangeArrowheads="1"/>
          </p:cNvSpPr>
          <p:nvPr/>
        </p:nvSpPr>
        <p:spPr bwMode="auto">
          <a:xfrm>
            <a:off x="7404100" y="3657600"/>
            <a:ext cx="63500" cy="635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08" name="Line 122"/>
          <p:cNvSpPr>
            <a:spLocks noChangeShapeType="1"/>
          </p:cNvSpPr>
          <p:nvPr/>
        </p:nvSpPr>
        <p:spPr bwMode="auto">
          <a:xfrm>
            <a:off x="7848600" y="23622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09" name="Line 123"/>
          <p:cNvSpPr>
            <a:spLocks noChangeShapeType="1"/>
          </p:cNvSpPr>
          <p:nvPr/>
        </p:nvSpPr>
        <p:spPr bwMode="auto">
          <a:xfrm>
            <a:off x="8001000" y="21336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0" name="Line 124"/>
          <p:cNvSpPr>
            <a:spLocks noChangeShapeType="1"/>
          </p:cNvSpPr>
          <p:nvPr/>
        </p:nvSpPr>
        <p:spPr bwMode="auto">
          <a:xfrm flipH="1">
            <a:off x="7467600" y="3505200"/>
            <a:ext cx="76200" cy="1524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1" name="Line 125"/>
          <p:cNvSpPr>
            <a:spLocks noChangeShapeType="1"/>
          </p:cNvSpPr>
          <p:nvPr/>
        </p:nvSpPr>
        <p:spPr bwMode="auto">
          <a:xfrm>
            <a:off x="6781800" y="2743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2" name="Line 126"/>
          <p:cNvSpPr>
            <a:spLocks noChangeShapeType="1"/>
          </p:cNvSpPr>
          <p:nvPr/>
        </p:nvSpPr>
        <p:spPr bwMode="auto">
          <a:xfrm>
            <a:off x="6705600" y="2743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3" name="Line 127"/>
          <p:cNvSpPr>
            <a:spLocks noChangeShapeType="1"/>
          </p:cNvSpPr>
          <p:nvPr/>
        </p:nvSpPr>
        <p:spPr bwMode="auto">
          <a:xfrm>
            <a:off x="6858000" y="31242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4" name="Line 128"/>
          <p:cNvSpPr>
            <a:spLocks noChangeShapeType="1"/>
          </p:cNvSpPr>
          <p:nvPr/>
        </p:nvSpPr>
        <p:spPr bwMode="auto">
          <a:xfrm flipV="1">
            <a:off x="6858000" y="3048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5" name="Line 129"/>
          <p:cNvSpPr>
            <a:spLocks noChangeShapeType="1"/>
          </p:cNvSpPr>
          <p:nvPr/>
        </p:nvSpPr>
        <p:spPr bwMode="auto">
          <a:xfrm flipH="1">
            <a:off x="6553200" y="27432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6" name="Line 130"/>
          <p:cNvSpPr>
            <a:spLocks noChangeShapeType="1"/>
          </p:cNvSpPr>
          <p:nvPr/>
        </p:nvSpPr>
        <p:spPr bwMode="auto">
          <a:xfrm>
            <a:off x="6553200" y="3048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7" name="Line 131"/>
          <p:cNvSpPr>
            <a:spLocks noChangeShapeType="1"/>
          </p:cNvSpPr>
          <p:nvPr/>
        </p:nvSpPr>
        <p:spPr bwMode="auto">
          <a:xfrm>
            <a:off x="6553200" y="3352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8" name="Line 132"/>
          <p:cNvSpPr>
            <a:spLocks noChangeShapeType="1"/>
          </p:cNvSpPr>
          <p:nvPr/>
        </p:nvSpPr>
        <p:spPr bwMode="auto">
          <a:xfrm flipV="1">
            <a:off x="6553200" y="32004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19" name="Line 133"/>
          <p:cNvSpPr>
            <a:spLocks noChangeShapeType="1"/>
          </p:cNvSpPr>
          <p:nvPr/>
        </p:nvSpPr>
        <p:spPr bwMode="auto">
          <a:xfrm>
            <a:off x="6553200" y="2971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20" name="Oval 134"/>
          <p:cNvSpPr>
            <a:spLocks noChangeArrowheads="1"/>
          </p:cNvSpPr>
          <p:nvPr/>
        </p:nvSpPr>
        <p:spPr bwMode="auto">
          <a:xfrm>
            <a:off x="4597400" y="41148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21" name="Oval 135"/>
          <p:cNvSpPr>
            <a:spLocks noChangeArrowheads="1"/>
          </p:cNvSpPr>
          <p:nvPr/>
        </p:nvSpPr>
        <p:spPr bwMode="auto">
          <a:xfrm>
            <a:off x="4432300" y="42799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22" name="Oval 136"/>
          <p:cNvSpPr>
            <a:spLocks noChangeArrowheads="1"/>
          </p:cNvSpPr>
          <p:nvPr/>
        </p:nvSpPr>
        <p:spPr bwMode="auto">
          <a:xfrm>
            <a:off x="4660900" y="44323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23" name="Line 137"/>
          <p:cNvSpPr>
            <a:spLocks noChangeShapeType="1"/>
          </p:cNvSpPr>
          <p:nvPr/>
        </p:nvSpPr>
        <p:spPr bwMode="auto">
          <a:xfrm flipV="1">
            <a:off x="4432300" y="4114800"/>
            <a:ext cx="2286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24" name="Line 138"/>
          <p:cNvSpPr>
            <a:spLocks noChangeShapeType="1"/>
          </p:cNvSpPr>
          <p:nvPr/>
        </p:nvSpPr>
        <p:spPr bwMode="auto">
          <a:xfrm>
            <a:off x="4432300" y="4343400"/>
            <a:ext cx="228600" cy="76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25" name="Line 139"/>
          <p:cNvSpPr>
            <a:spLocks noChangeShapeType="1"/>
          </p:cNvSpPr>
          <p:nvPr/>
        </p:nvSpPr>
        <p:spPr bwMode="auto">
          <a:xfrm>
            <a:off x="4660900" y="4114800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26" name="Oval 140"/>
          <p:cNvSpPr>
            <a:spLocks noChangeArrowheads="1"/>
          </p:cNvSpPr>
          <p:nvPr/>
        </p:nvSpPr>
        <p:spPr bwMode="auto">
          <a:xfrm>
            <a:off x="4445000" y="45847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27" name="Oval 141"/>
          <p:cNvSpPr>
            <a:spLocks noChangeArrowheads="1"/>
          </p:cNvSpPr>
          <p:nvPr/>
        </p:nvSpPr>
        <p:spPr bwMode="auto">
          <a:xfrm>
            <a:off x="4127500" y="46482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28" name="Line 142"/>
          <p:cNvSpPr>
            <a:spLocks noChangeShapeType="1"/>
          </p:cNvSpPr>
          <p:nvPr/>
        </p:nvSpPr>
        <p:spPr bwMode="auto">
          <a:xfrm flipH="1">
            <a:off x="4127500" y="4343400"/>
            <a:ext cx="3048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29" name="Line 143"/>
          <p:cNvSpPr>
            <a:spLocks noChangeShapeType="1"/>
          </p:cNvSpPr>
          <p:nvPr/>
        </p:nvSpPr>
        <p:spPr bwMode="auto">
          <a:xfrm>
            <a:off x="4432300" y="4343400"/>
            <a:ext cx="762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30" name="Line 144"/>
          <p:cNvSpPr>
            <a:spLocks noChangeShapeType="1"/>
          </p:cNvSpPr>
          <p:nvPr/>
        </p:nvSpPr>
        <p:spPr bwMode="auto">
          <a:xfrm flipH="1">
            <a:off x="4508500" y="4495800"/>
            <a:ext cx="152400" cy="76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31" name="Oval 145"/>
          <p:cNvSpPr>
            <a:spLocks noChangeArrowheads="1"/>
          </p:cNvSpPr>
          <p:nvPr/>
        </p:nvSpPr>
        <p:spPr bwMode="auto">
          <a:xfrm>
            <a:off x="4216400" y="48895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2" name="Oval 146"/>
          <p:cNvSpPr>
            <a:spLocks noChangeArrowheads="1"/>
          </p:cNvSpPr>
          <p:nvPr/>
        </p:nvSpPr>
        <p:spPr bwMode="auto">
          <a:xfrm>
            <a:off x="3898900" y="48768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3" name="Oval 147"/>
          <p:cNvSpPr>
            <a:spLocks noChangeArrowheads="1"/>
          </p:cNvSpPr>
          <p:nvPr/>
        </p:nvSpPr>
        <p:spPr bwMode="auto">
          <a:xfrm>
            <a:off x="4584700" y="48895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4" name="Oval 148"/>
          <p:cNvSpPr>
            <a:spLocks noChangeArrowheads="1"/>
          </p:cNvSpPr>
          <p:nvPr/>
        </p:nvSpPr>
        <p:spPr bwMode="auto">
          <a:xfrm>
            <a:off x="4368800" y="51816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5" name="Oval 149"/>
          <p:cNvSpPr>
            <a:spLocks noChangeArrowheads="1"/>
          </p:cNvSpPr>
          <p:nvPr/>
        </p:nvSpPr>
        <p:spPr bwMode="auto">
          <a:xfrm>
            <a:off x="4432300" y="54991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6" name="Oval 150"/>
          <p:cNvSpPr>
            <a:spLocks noChangeArrowheads="1"/>
          </p:cNvSpPr>
          <p:nvPr/>
        </p:nvSpPr>
        <p:spPr bwMode="auto">
          <a:xfrm>
            <a:off x="4749800" y="53340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37" name="Line 151"/>
          <p:cNvSpPr>
            <a:spLocks noChangeShapeType="1"/>
          </p:cNvSpPr>
          <p:nvPr/>
        </p:nvSpPr>
        <p:spPr bwMode="auto">
          <a:xfrm>
            <a:off x="4127500" y="46482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38" name="Line 152"/>
          <p:cNvSpPr>
            <a:spLocks noChangeShapeType="1"/>
          </p:cNvSpPr>
          <p:nvPr/>
        </p:nvSpPr>
        <p:spPr bwMode="auto">
          <a:xfrm flipH="1">
            <a:off x="3898900" y="4648200"/>
            <a:ext cx="2286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39" name="Line 153"/>
          <p:cNvSpPr>
            <a:spLocks noChangeShapeType="1"/>
          </p:cNvSpPr>
          <p:nvPr/>
        </p:nvSpPr>
        <p:spPr bwMode="auto">
          <a:xfrm>
            <a:off x="3898900" y="4876800"/>
            <a:ext cx="381000" cy="76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40" name="Line 154"/>
          <p:cNvSpPr>
            <a:spLocks noChangeShapeType="1"/>
          </p:cNvSpPr>
          <p:nvPr/>
        </p:nvSpPr>
        <p:spPr bwMode="auto">
          <a:xfrm flipV="1">
            <a:off x="4279900" y="4572000"/>
            <a:ext cx="2286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41" name="Oval 155"/>
          <p:cNvSpPr>
            <a:spLocks noChangeArrowheads="1"/>
          </p:cNvSpPr>
          <p:nvPr/>
        </p:nvSpPr>
        <p:spPr bwMode="auto">
          <a:xfrm>
            <a:off x="4965700" y="51816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2" name="Oval 156"/>
          <p:cNvSpPr>
            <a:spLocks noChangeArrowheads="1"/>
          </p:cNvSpPr>
          <p:nvPr/>
        </p:nvSpPr>
        <p:spPr bwMode="auto">
          <a:xfrm>
            <a:off x="5029200" y="5486400"/>
            <a:ext cx="63500" cy="6350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3" name="Oval 157"/>
          <p:cNvSpPr>
            <a:spLocks noChangeArrowheads="1"/>
          </p:cNvSpPr>
          <p:nvPr/>
        </p:nvSpPr>
        <p:spPr bwMode="auto">
          <a:xfrm>
            <a:off x="6032500" y="41910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4" name="Oval 158"/>
          <p:cNvSpPr>
            <a:spLocks noChangeArrowheads="1"/>
          </p:cNvSpPr>
          <p:nvPr/>
        </p:nvSpPr>
        <p:spPr bwMode="auto">
          <a:xfrm>
            <a:off x="5638800" y="48768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5" name="Oval 159"/>
          <p:cNvSpPr>
            <a:spLocks noChangeArrowheads="1"/>
          </p:cNvSpPr>
          <p:nvPr/>
        </p:nvSpPr>
        <p:spPr bwMode="auto">
          <a:xfrm>
            <a:off x="6248400" y="40513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6" name="Oval 160"/>
          <p:cNvSpPr>
            <a:spLocks noChangeArrowheads="1"/>
          </p:cNvSpPr>
          <p:nvPr/>
        </p:nvSpPr>
        <p:spPr bwMode="auto">
          <a:xfrm>
            <a:off x="6248400" y="43434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7" name="Oval 161"/>
          <p:cNvSpPr>
            <a:spLocks noChangeArrowheads="1"/>
          </p:cNvSpPr>
          <p:nvPr/>
        </p:nvSpPr>
        <p:spPr bwMode="auto">
          <a:xfrm>
            <a:off x="6096000" y="44196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8" name="Oval 162"/>
          <p:cNvSpPr>
            <a:spLocks noChangeArrowheads="1"/>
          </p:cNvSpPr>
          <p:nvPr/>
        </p:nvSpPr>
        <p:spPr bwMode="auto">
          <a:xfrm>
            <a:off x="5867400" y="48006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49" name="Oval 163"/>
          <p:cNvSpPr>
            <a:spLocks noChangeArrowheads="1"/>
          </p:cNvSpPr>
          <p:nvPr/>
        </p:nvSpPr>
        <p:spPr bwMode="auto">
          <a:xfrm>
            <a:off x="5791200" y="50292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50" name="Oval 164"/>
          <p:cNvSpPr>
            <a:spLocks noChangeArrowheads="1"/>
          </p:cNvSpPr>
          <p:nvPr/>
        </p:nvSpPr>
        <p:spPr bwMode="auto">
          <a:xfrm>
            <a:off x="5943600" y="50419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51" name="Oval 165"/>
          <p:cNvSpPr>
            <a:spLocks noChangeArrowheads="1"/>
          </p:cNvSpPr>
          <p:nvPr/>
        </p:nvSpPr>
        <p:spPr bwMode="auto">
          <a:xfrm>
            <a:off x="5803900" y="51816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52" name="Line 166"/>
          <p:cNvSpPr>
            <a:spLocks noChangeShapeType="1"/>
          </p:cNvSpPr>
          <p:nvPr/>
        </p:nvSpPr>
        <p:spPr bwMode="auto">
          <a:xfrm flipV="1">
            <a:off x="5715000" y="4191000"/>
            <a:ext cx="381000" cy="685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3" name="Line 167"/>
          <p:cNvSpPr>
            <a:spLocks noChangeShapeType="1"/>
          </p:cNvSpPr>
          <p:nvPr/>
        </p:nvSpPr>
        <p:spPr bwMode="auto">
          <a:xfrm flipV="1">
            <a:off x="6096000" y="4114800"/>
            <a:ext cx="1524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4" name="Line 168"/>
          <p:cNvSpPr>
            <a:spLocks noChangeShapeType="1"/>
          </p:cNvSpPr>
          <p:nvPr/>
        </p:nvSpPr>
        <p:spPr bwMode="auto">
          <a:xfrm>
            <a:off x="6096000" y="4191000"/>
            <a:ext cx="152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5" name="Line 169"/>
          <p:cNvSpPr>
            <a:spLocks noChangeShapeType="1"/>
          </p:cNvSpPr>
          <p:nvPr/>
        </p:nvSpPr>
        <p:spPr bwMode="auto">
          <a:xfrm>
            <a:off x="6096000" y="4191000"/>
            <a:ext cx="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6" name="Line 170"/>
          <p:cNvSpPr>
            <a:spLocks noChangeShapeType="1"/>
          </p:cNvSpPr>
          <p:nvPr/>
        </p:nvSpPr>
        <p:spPr bwMode="auto">
          <a:xfrm flipV="1">
            <a:off x="6096000" y="4343400"/>
            <a:ext cx="1524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7" name="Line 171"/>
          <p:cNvSpPr>
            <a:spLocks noChangeShapeType="1"/>
          </p:cNvSpPr>
          <p:nvPr/>
        </p:nvSpPr>
        <p:spPr bwMode="auto">
          <a:xfrm>
            <a:off x="5867400" y="4800600"/>
            <a:ext cx="762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8" name="Line 172"/>
          <p:cNvSpPr>
            <a:spLocks noChangeShapeType="1"/>
          </p:cNvSpPr>
          <p:nvPr/>
        </p:nvSpPr>
        <p:spPr bwMode="auto">
          <a:xfrm>
            <a:off x="5791200" y="5029200"/>
            <a:ext cx="762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59" name="Line 173"/>
          <p:cNvSpPr>
            <a:spLocks noChangeShapeType="1"/>
          </p:cNvSpPr>
          <p:nvPr/>
        </p:nvSpPr>
        <p:spPr bwMode="auto">
          <a:xfrm flipV="1">
            <a:off x="5867400" y="5105400"/>
            <a:ext cx="762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60" name="Oval 174"/>
          <p:cNvSpPr>
            <a:spLocks noChangeArrowheads="1"/>
          </p:cNvSpPr>
          <p:nvPr/>
        </p:nvSpPr>
        <p:spPr bwMode="auto">
          <a:xfrm>
            <a:off x="6489700" y="48895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1" name="Oval 175"/>
          <p:cNvSpPr>
            <a:spLocks noChangeArrowheads="1"/>
          </p:cNvSpPr>
          <p:nvPr/>
        </p:nvSpPr>
        <p:spPr bwMode="auto">
          <a:xfrm>
            <a:off x="6718300" y="49657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2" name="Oval 176"/>
          <p:cNvSpPr>
            <a:spLocks noChangeArrowheads="1"/>
          </p:cNvSpPr>
          <p:nvPr/>
        </p:nvSpPr>
        <p:spPr bwMode="auto">
          <a:xfrm>
            <a:off x="5715000" y="56388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3" name="Oval 177"/>
          <p:cNvSpPr>
            <a:spLocks noChangeArrowheads="1"/>
          </p:cNvSpPr>
          <p:nvPr/>
        </p:nvSpPr>
        <p:spPr bwMode="auto">
          <a:xfrm>
            <a:off x="5638800" y="57912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4" name="Oval 178"/>
          <p:cNvSpPr>
            <a:spLocks noChangeArrowheads="1"/>
          </p:cNvSpPr>
          <p:nvPr/>
        </p:nvSpPr>
        <p:spPr bwMode="auto">
          <a:xfrm>
            <a:off x="5867400" y="58674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5" name="Oval 179"/>
          <p:cNvSpPr>
            <a:spLocks noChangeArrowheads="1"/>
          </p:cNvSpPr>
          <p:nvPr/>
        </p:nvSpPr>
        <p:spPr bwMode="auto">
          <a:xfrm>
            <a:off x="5715000" y="60960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6" name="Oval 180"/>
          <p:cNvSpPr>
            <a:spLocks noChangeArrowheads="1"/>
          </p:cNvSpPr>
          <p:nvPr/>
        </p:nvSpPr>
        <p:spPr bwMode="auto">
          <a:xfrm>
            <a:off x="6642100" y="4724400"/>
            <a:ext cx="63500" cy="635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7" name="Oval 181"/>
          <p:cNvSpPr>
            <a:spLocks noChangeArrowheads="1"/>
          </p:cNvSpPr>
          <p:nvPr/>
        </p:nvSpPr>
        <p:spPr bwMode="auto">
          <a:xfrm>
            <a:off x="5638800" y="62611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8" name="Oval 182"/>
          <p:cNvSpPr>
            <a:spLocks noChangeArrowheads="1"/>
          </p:cNvSpPr>
          <p:nvPr/>
        </p:nvSpPr>
        <p:spPr bwMode="auto">
          <a:xfrm>
            <a:off x="5499100" y="61722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69" name="Oval 183"/>
          <p:cNvSpPr>
            <a:spLocks noChangeArrowheads="1"/>
          </p:cNvSpPr>
          <p:nvPr/>
        </p:nvSpPr>
        <p:spPr bwMode="auto">
          <a:xfrm>
            <a:off x="5486400" y="6324600"/>
            <a:ext cx="63500" cy="63500"/>
          </a:xfrm>
          <a:prstGeom prst="ellipse">
            <a:avLst/>
          </a:prstGeom>
          <a:solidFill>
            <a:srgbClr val="00FF00"/>
          </a:solidFill>
          <a:ln w="12700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70" name="Line 184"/>
          <p:cNvSpPr>
            <a:spLocks noChangeShapeType="1"/>
          </p:cNvSpPr>
          <p:nvPr/>
        </p:nvSpPr>
        <p:spPr bwMode="auto">
          <a:xfrm>
            <a:off x="6553200" y="4953000"/>
            <a:ext cx="2286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1" name="Line 185"/>
          <p:cNvSpPr>
            <a:spLocks noChangeShapeType="1"/>
          </p:cNvSpPr>
          <p:nvPr/>
        </p:nvSpPr>
        <p:spPr bwMode="auto">
          <a:xfrm>
            <a:off x="6705600" y="4724400"/>
            <a:ext cx="762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2" name="Line 186"/>
          <p:cNvSpPr>
            <a:spLocks noChangeShapeType="1"/>
          </p:cNvSpPr>
          <p:nvPr/>
        </p:nvSpPr>
        <p:spPr bwMode="auto">
          <a:xfrm>
            <a:off x="6248400" y="4343400"/>
            <a:ext cx="457200" cy="381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3" name="Line 187"/>
          <p:cNvSpPr>
            <a:spLocks noChangeShapeType="1"/>
          </p:cNvSpPr>
          <p:nvPr/>
        </p:nvSpPr>
        <p:spPr bwMode="auto">
          <a:xfrm>
            <a:off x="6096000" y="4419600"/>
            <a:ext cx="609600" cy="3048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4" name="Line 188"/>
          <p:cNvSpPr>
            <a:spLocks noChangeShapeType="1"/>
          </p:cNvSpPr>
          <p:nvPr/>
        </p:nvSpPr>
        <p:spPr bwMode="auto">
          <a:xfrm>
            <a:off x="5638800" y="5867400"/>
            <a:ext cx="2286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5" name="Line 189"/>
          <p:cNvSpPr>
            <a:spLocks noChangeShapeType="1"/>
          </p:cNvSpPr>
          <p:nvPr/>
        </p:nvSpPr>
        <p:spPr bwMode="auto">
          <a:xfrm flipH="1">
            <a:off x="5562600" y="5791200"/>
            <a:ext cx="76200" cy="3810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6" name="Line 190"/>
          <p:cNvSpPr>
            <a:spLocks noChangeShapeType="1"/>
          </p:cNvSpPr>
          <p:nvPr/>
        </p:nvSpPr>
        <p:spPr bwMode="auto">
          <a:xfrm>
            <a:off x="5638800" y="5791200"/>
            <a:ext cx="76200" cy="3048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7" name="Line 191"/>
          <p:cNvSpPr>
            <a:spLocks noChangeShapeType="1"/>
          </p:cNvSpPr>
          <p:nvPr/>
        </p:nvSpPr>
        <p:spPr bwMode="auto">
          <a:xfrm flipH="1">
            <a:off x="5715000" y="5867400"/>
            <a:ext cx="152400" cy="3048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8" name="Line 192"/>
          <p:cNvSpPr>
            <a:spLocks noChangeShapeType="1"/>
          </p:cNvSpPr>
          <p:nvPr/>
        </p:nvSpPr>
        <p:spPr bwMode="auto">
          <a:xfrm>
            <a:off x="5562600" y="6172200"/>
            <a:ext cx="1524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79" name="Line 193"/>
          <p:cNvSpPr>
            <a:spLocks noChangeShapeType="1"/>
          </p:cNvSpPr>
          <p:nvPr/>
        </p:nvSpPr>
        <p:spPr bwMode="auto">
          <a:xfrm flipH="1">
            <a:off x="5486400" y="6172200"/>
            <a:ext cx="76200" cy="1524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0" name="Line 194"/>
          <p:cNvSpPr>
            <a:spLocks noChangeShapeType="1"/>
          </p:cNvSpPr>
          <p:nvPr/>
        </p:nvSpPr>
        <p:spPr bwMode="auto">
          <a:xfrm flipH="1">
            <a:off x="5638800" y="6096000"/>
            <a:ext cx="152400" cy="228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1" name="Line 195"/>
          <p:cNvSpPr>
            <a:spLocks noChangeShapeType="1"/>
          </p:cNvSpPr>
          <p:nvPr/>
        </p:nvSpPr>
        <p:spPr bwMode="auto">
          <a:xfrm>
            <a:off x="5486400" y="6324600"/>
            <a:ext cx="228600" cy="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2" name="Line 196"/>
          <p:cNvSpPr>
            <a:spLocks noChangeShapeType="1"/>
          </p:cNvSpPr>
          <p:nvPr/>
        </p:nvSpPr>
        <p:spPr bwMode="auto">
          <a:xfrm>
            <a:off x="4508500" y="4572000"/>
            <a:ext cx="762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3" name="Line 197"/>
          <p:cNvSpPr>
            <a:spLocks noChangeShapeType="1"/>
          </p:cNvSpPr>
          <p:nvPr/>
        </p:nvSpPr>
        <p:spPr bwMode="auto">
          <a:xfrm>
            <a:off x="4660900" y="4953000"/>
            <a:ext cx="3048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4" name="Line 198"/>
          <p:cNvSpPr>
            <a:spLocks noChangeShapeType="1"/>
          </p:cNvSpPr>
          <p:nvPr/>
        </p:nvSpPr>
        <p:spPr bwMode="auto">
          <a:xfrm>
            <a:off x="4584700" y="4953000"/>
            <a:ext cx="1524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5" name="Line 199"/>
          <p:cNvSpPr>
            <a:spLocks noChangeShapeType="1"/>
          </p:cNvSpPr>
          <p:nvPr/>
        </p:nvSpPr>
        <p:spPr bwMode="auto">
          <a:xfrm>
            <a:off x="4737100" y="5334000"/>
            <a:ext cx="3048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6" name="Line 200"/>
          <p:cNvSpPr>
            <a:spLocks noChangeShapeType="1"/>
          </p:cNvSpPr>
          <p:nvPr/>
        </p:nvSpPr>
        <p:spPr bwMode="auto">
          <a:xfrm flipV="1">
            <a:off x="4737100" y="5257800"/>
            <a:ext cx="2286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7" name="Line 201"/>
          <p:cNvSpPr>
            <a:spLocks noChangeShapeType="1"/>
          </p:cNvSpPr>
          <p:nvPr/>
        </p:nvSpPr>
        <p:spPr bwMode="auto">
          <a:xfrm>
            <a:off x="4279900" y="49530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8" name="Line 202"/>
          <p:cNvSpPr>
            <a:spLocks noChangeShapeType="1"/>
          </p:cNvSpPr>
          <p:nvPr/>
        </p:nvSpPr>
        <p:spPr bwMode="auto">
          <a:xfrm flipH="1">
            <a:off x="4432300" y="4953000"/>
            <a:ext cx="152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89" name="Line 203"/>
          <p:cNvSpPr>
            <a:spLocks noChangeShapeType="1"/>
          </p:cNvSpPr>
          <p:nvPr/>
        </p:nvSpPr>
        <p:spPr bwMode="auto">
          <a:xfrm>
            <a:off x="4432300" y="5257800"/>
            <a:ext cx="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0" name="Line 204"/>
          <p:cNvSpPr>
            <a:spLocks noChangeShapeType="1"/>
          </p:cNvSpPr>
          <p:nvPr/>
        </p:nvSpPr>
        <p:spPr bwMode="auto">
          <a:xfrm>
            <a:off x="4432300" y="5562600"/>
            <a:ext cx="609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1" name="Line 205"/>
          <p:cNvSpPr>
            <a:spLocks noChangeShapeType="1"/>
          </p:cNvSpPr>
          <p:nvPr/>
        </p:nvSpPr>
        <p:spPr bwMode="auto">
          <a:xfrm flipV="1">
            <a:off x="4432300" y="5410200"/>
            <a:ext cx="3048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2" name="Line 206"/>
          <p:cNvSpPr>
            <a:spLocks noChangeShapeType="1"/>
          </p:cNvSpPr>
          <p:nvPr/>
        </p:nvSpPr>
        <p:spPr bwMode="auto">
          <a:xfrm>
            <a:off x="5562600" y="6172200"/>
            <a:ext cx="152400" cy="1524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3" name="Line 207"/>
          <p:cNvSpPr>
            <a:spLocks noChangeShapeType="1"/>
          </p:cNvSpPr>
          <p:nvPr/>
        </p:nvSpPr>
        <p:spPr bwMode="auto">
          <a:xfrm flipV="1">
            <a:off x="6019800" y="4953000"/>
            <a:ext cx="533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4" name="Line 208"/>
          <p:cNvSpPr>
            <a:spLocks noChangeShapeType="1"/>
          </p:cNvSpPr>
          <p:nvPr/>
        </p:nvSpPr>
        <p:spPr bwMode="auto">
          <a:xfrm>
            <a:off x="4432300" y="5181600"/>
            <a:ext cx="3810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5" name="Line 209"/>
          <p:cNvSpPr>
            <a:spLocks noChangeShapeType="1"/>
          </p:cNvSpPr>
          <p:nvPr/>
        </p:nvSpPr>
        <p:spPr bwMode="auto">
          <a:xfrm flipH="1">
            <a:off x="5867400" y="4419600"/>
            <a:ext cx="228600" cy="3810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6" name="Rectangle 210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7391400" cy="685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mtClean="0">
                <a:ea typeface="SimSun" pitchFamily="2" charset="-122"/>
              </a:rPr>
              <a:t>Overall Framework of CHAMELEON</a:t>
            </a:r>
          </a:p>
        </p:txBody>
      </p:sp>
      <p:sp>
        <p:nvSpPr>
          <p:cNvPr id="59597" name="AutoShape 211"/>
          <p:cNvSpPr>
            <a:spLocks noChangeArrowheads="1"/>
          </p:cNvSpPr>
          <p:nvPr/>
        </p:nvSpPr>
        <p:spPr bwMode="auto">
          <a:xfrm>
            <a:off x="76200" y="1828800"/>
            <a:ext cx="685800" cy="1066800"/>
          </a:xfrm>
          <a:prstGeom prst="flowChartMagneticDisk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59598" name="Line 212"/>
          <p:cNvSpPr>
            <a:spLocks noChangeShapeType="1"/>
          </p:cNvSpPr>
          <p:nvPr/>
        </p:nvSpPr>
        <p:spPr bwMode="auto">
          <a:xfrm>
            <a:off x="838200" y="2362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599" name="Text Box 213"/>
          <p:cNvSpPr txBox="1">
            <a:spLocks noChangeArrowheads="1"/>
          </p:cNvSpPr>
          <p:nvPr/>
        </p:nvSpPr>
        <p:spPr bwMode="auto">
          <a:xfrm>
            <a:off x="762000" y="1524000"/>
            <a:ext cx="17526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Construct</a:t>
            </a:r>
          </a:p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Sparse Graph</a:t>
            </a:r>
          </a:p>
        </p:txBody>
      </p:sp>
      <p:sp>
        <p:nvSpPr>
          <p:cNvPr id="59600" name="Line 214"/>
          <p:cNvSpPr>
            <a:spLocks noChangeShapeType="1"/>
          </p:cNvSpPr>
          <p:nvPr/>
        </p:nvSpPr>
        <p:spPr bwMode="auto">
          <a:xfrm>
            <a:off x="4953000" y="2438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1" name="Text Box 215"/>
          <p:cNvSpPr txBox="1">
            <a:spLocks noChangeArrowheads="1"/>
          </p:cNvSpPr>
          <p:nvPr/>
        </p:nvSpPr>
        <p:spPr bwMode="auto">
          <a:xfrm>
            <a:off x="4724400" y="18288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Partition the Graph</a:t>
            </a:r>
          </a:p>
        </p:txBody>
      </p:sp>
      <p:sp>
        <p:nvSpPr>
          <p:cNvPr id="59602" name="Line 216"/>
          <p:cNvSpPr>
            <a:spLocks noChangeShapeType="1"/>
          </p:cNvSpPr>
          <p:nvPr/>
        </p:nvSpPr>
        <p:spPr bwMode="auto">
          <a:xfrm flipV="1">
            <a:off x="7097713" y="2270125"/>
            <a:ext cx="228600" cy="76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3" name="Line 217"/>
          <p:cNvSpPr>
            <a:spLocks noChangeShapeType="1"/>
          </p:cNvSpPr>
          <p:nvPr/>
        </p:nvSpPr>
        <p:spPr bwMode="auto">
          <a:xfrm>
            <a:off x="7097713" y="2346325"/>
            <a:ext cx="228600" cy="152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4" name="Text Box 218"/>
          <p:cNvSpPr txBox="1">
            <a:spLocks noChangeArrowheads="1"/>
          </p:cNvSpPr>
          <p:nvPr/>
        </p:nvSpPr>
        <p:spPr bwMode="auto">
          <a:xfrm>
            <a:off x="7086600" y="42672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Merge Partition</a:t>
            </a:r>
          </a:p>
        </p:txBody>
      </p:sp>
      <p:sp>
        <p:nvSpPr>
          <p:cNvPr id="59605" name="Line 219"/>
          <p:cNvSpPr>
            <a:spLocks noChangeShapeType="1"/>
          </p:cNvSpPr>
          <p:nvPr/>
        </p:nvSpPr>
        <p:spPr bwMode="auto">
          <a:xfrm>
            <a:off x="8229600" y="2438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6" name="Line 220"/>
          <p:cNvSpPr>
            <a:spLocks noChangeShapeType="1"/>
          </p:cNvSpPr>
          <p:nvPr/>
        </p:nvSpPr>
        <p:spPr bwMode="auto">
          <a:xfrm>
            <a:off x="8763000" y="24384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7" name="Line 221"/>
          <p:cNvSpPr>
            <a:spLocks noChangeShapeType="1"/>
          </p:cNvSpPr>
          <p:nvPr/>
        </p:nvSpPr>
        <p:spPr bwMode="auto">
          <a:xfrm flipH="1">
            <a:off x="6781800" y="46482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08" name="Text Box 222"/>
          <p:cNvSpPr txBox="1">
            <a:spLocks noChangeArrowheads="1"/>
          </p:cNvSpPr>
          <p:nvPr/>
        </p:nvSpPr>
        <p:spPr bwMode="auto">
          <a:xfrm>
            <a:off x="2209800" y="48006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Final Clusters</a:t>
            </a:r>
          </a:p>
        </p:txBody>
      </p:sp>
      <p:sp>
        <p:nvSpPr>
          <p:cNvPr id="59609" name="Line 223"/>
          <p:cNvSpPr>
            <a:spLocks noChangeShapeType="1"/>
          </p:cNvSpPr>
          <p:nvPr/>
        </p:nvSpPr>
        <p:spPr bwMode="auto">
          <a:xfrm>
            <a:off x="2667000" y="1752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0" name="Text Box 224"/>
          <p:cNvSpPr txBox="1">
            <a:spLocks noChangeArrowheads="1"/>
          </p:cNvSpPr>
          <p:nvPr/>
        </p:nvSpPr>
        <p:spPr bwMode="auto">
          <a:xfrm>
            <a:off x="76200" y="3048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zh-CN" sz="1400" b="1">
                <a:latin typeface="Times New Roman" pitchFamily="18" charset="0"/>
                <a:ea typeface="SimSun" pitchFamily="2" charset="-122"/>
              </a:rPr>
              <a:t>Data Set</a:t>
            </a:r>
          </a:p>
        </p:txBody>
      </p:sp>
      <p:sp>
        <p:nvSpPr>
          <p:cNvPr id="59611" name="Line 225"/>
          <p:cNvSpPr>
            <a:spLocks noChangeShapeType="1"/>
          </p:cNvSpPr>
          <p:nvPr/>
        </p:nvSpPr>
        <p:spPr bwMode="auto">
          <a:xfrm>
            <a:off x="2514600" y="1981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2" name="Line 226"/>
          <p:cNvSpPr>
            <a:spLocks noChangeShapeType="1"/>
          </p:cNvSpPr>
          <p:nvPr/>
        </p:nvSpPr>
        <p:spPr bwMode="auto">
          <a:xfrm flipH="1">
            <a:off x="2590800" y="21336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3" name="Line 227"/>
          <p:cNvSpPr>
            <a:spLocks noChangeShapeType="1"/>
          </p:cNvSpPr>
          <p:nvPr/>
        </p:nvSpPr>
        <p:spPr bwMode="auto">
          <a:xfrm>
            <a:off x="2667000" y="20574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4" name="Line 228"/>
          <p:cNvSpPr>
            <a:spLocks noChangeShapeType="1"/>
          </p:cNvSpPr>
          <p:nvPr/>
        </p:nvSpPr>
        <p:spPr bwMode="auto">
          <a:xfrm>
            <a:off x="2971800" y="2819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5" name="Line 229"/>
          <p:cNvSpPr>
            <a:spLocks noChangeShapeType="1"/>
          </p:cNvSpPr>
          <p:nvPr/>
        </p:nvSpPr>
        <p:spPr bwMode="auto">
          <a:xfrm>
            <a:off x="3657600" y="2514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6" name="Line 230"/>
          <p:cNvSpPr>
            <a:spLocks noChangeShapeType="1"/>
          </p:cNvSpPr>
          <p:nvPr/>
        </p:nvSpPr>
        <p:spPr bwMode="auto">
          <a:xfrm flipH="1">
            <a:off x="3810000" y="24384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7" name="Line 231"/>
          <p:cNvSpPr>
            <a:spLocks noChangeShapeType="1"/>
          </p:cNvSpPr>
          <p:nvPr/>
        </p:nvSpPr>
        <p:spPr bwMode="auto">
          <a:xfrm>
            <a:off x="3810000" y="26670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8" name="Line 232"/>
          <p:cNvSpPr>
            <a:spLocks noChangeShapeType="1"/>
          </p:cNvSpPr>
          <p:nvPr/>
        </p:nvSpPr>
        <p:spPr bwMode="auto">
          <a:xfrm>
            <a:off x="3886200" y="2438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19" name="Line 233"/>
          <p:cNvSpPr>
            <a:spLocks noChangeShapeType="1"/>
          </p:cNvSpPr>
          <p:nvPr/>
        </p:nvSpPr>
        <p:spPr bwMode="auto">
          <a:xfrm flipV="1">
            <a:off x="3886200" y="2743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0" name="Line 234"/>
          <p:cNvSpPr>
            <a:spLocks noChangeShapeType="1"/>
          </p:cNvSpPr>
          <p:nvPr/>
        </p:nvSpPr>
        <p:spPr bwMode="auto">
          <a:xfrm flipH="1">
            <a:off x="3733800" y="28194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1" name="Line 235"/>
          <p:cNvSpPr>
            <a:spLocks noChangeShapeType="1"/>
          </p:cNvSpPr>
          <p:nvPr/>
        </p:nvSpPr>
        <p:spPr bwMode="auto">
          <a:xfrm flipH="1">
            <a:off x="3581400" y="32766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2" name="Line 236"/>
          <p:cNvSpPr>
            <a:spLocks noChangeShapeType="1"/>
          </p:cNvSpPr>
          <p:nvPr/>
        </p:nvSpPr>
        <p:spPr bwMode="auto">
          <a:xfrm>
            <a:off x="3733800" y="327660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3" name="Line 237"/>
          <p:cNvSpPr>
            <a:spLocks noChangeShapeType="1"/>
          </p:cNvSpPr>
          <p:nvPr/>
        </p:nvSpPr>
        <p:spPr bwMode="auto">
          <a:xfrm flipH="1">
            <a:off x="3581400" y="3810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4" name="Line 238"/>
          <p:cNvSpPr>
            <a:spLocks noChangeShapeType="1"/>
          </p:cNvSpPr>
          <p:nvPr/>
        </p:nvSpPr>
        <p:spPr bwMode="auto">
          <a:xfrm>
            <a:off x="3505200" y="3810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5" name="Line 239"/>
          <p:cNvSpPr>
            <a:spLocks noChangeShapeType="1"/>
          </p:cNvSpPr>
          <p:nvPr/>
        </p:nvSpPr>
        <p:spPr bwMode="auto">
          <a:xfrm>
            <a:off x="7467600" y="1600200"/>
            <a:ext cx="0" cy="228600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6" name="Line 240"/>
          <p:cNvSpPr>
            <a:spLocks noChangeShapeType="1"/>
          </p:cNvSpPr>
          <p:nvPr/>
        </p:nvSpPr>
        <p:spPr bwMode="auto">
          <a:xfrm flipV="1">
            <a:off x="7315200" y="2286000"/>
            <a:ext cx="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7" name="Line 241"/>
          <p:cNvSpPr>
            <a:spLocks noChangeShapeType="1"/>
          </p:cNvSpPr>
          <p:nvPr/>
        </p:nvSpPr>
        <p:spPr bwMode="auto">
          <a:xfrm>
            <a:off x="7315200" y="2286000"/>
            <a:ext cx="7620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8" name="Line 242"/>
          <p:cNvSpPr>
            <a:spLocks noChangeShapeType="1"/>
          </p:cNvSpPr>
          <p:nvPr/>
        </p:nvSpPr>
        <p:spPr bwMode="auto">
          <a:xfrm flipV="1">
            <a:off x="7848600" y="2133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29" name="Line 243"/>
          <p:cNvSpPr>
            <a:spLocks noChangeShapeType="1"/>
          </p:cNvSpPr>
          <p:nvPr/>
        </p:nvSpPr>
        <p:spPr bwMode="auto">
          <a:xfrm>
            <a:off x="7086600" y="29718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0" name="Line 244"/>
          <p:cNvSpPr>
            <a:spLocks noChangeShapeType="1"/>
          </p:cNvSpPr>
          <p:nvPr/>
        </p:nvSpPr>
        <p:spPr bwMode="auto">
          <a:xfrm flipH="1">
            <a:off x="7620000" y="2971800"/>
            <a:ext cx="76200" cy="228600"/>
          </a:xfrm>
          <a:prstGeom prst="line">
            <a:avLst/>
          </a:prstGeom>
          <a:noFill/>
          <a:ln w="9525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1" name="Line 245"/>
          <p:cNvSpPr>
            <a:spLocks noChangeShapeType="1"/>
          </p:cNvSpPr>
          <p:nvPr/>
        </p:nvSpPr>
        <p:spPr bwMode="auto">
          <a:xfrm>
            <a:off x="7620000" y="3200400"/>
            <a:ext cx="228600" cy="0"/>
          </a:xfrm>
          <a:prstGeom prst="line">
            <a:avLst/>
          </a:prstGeom>
          <a:noFill/>
          <a:ln w="9525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2" name="Line 246"/>
          <p:cNvSpPr>
            <a:spLocks noChangeShapeType="1"/>
          </p:cNvSpPr>
          <p:nvPr/>
        </p:nvSpPr>
        <p:spPr bwMode="auto">
          <a:xfrm>
            <a:off x="7696200" y="2971800"/>
            <a:ext cx="152400" cy="228600"/>
          </a:xfrm>
          <a:prstGeom prst="line">
            <a:avLst/>
          </a:prstGeom>
          <a:noFill/>
          <a:ln w="9525">
            <a:solidFill>
              <a:srgbClr val="99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3" name="Line 247"/>
          <p:cNvSpPr>
            <a:spLocks noChangeShapeType="1"/>
          </p:cNvSpPr>
          <p:nvPr/>
        </p:nvSpPr>
        <p:spPr bwMode="auto">
          <a:xfrm>
            <a:off x="7543800" y="3505200"/>
            <a:ext cx="1524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4" name="Line 248"/>
          <p:cNvSpPr>
            <a:spLocks noChangeShapeType="1"/>
          </p:cNvSpPr>
          <p:nvPr/>
        </p:nvSpPr>
        <p:spPr bwMode="auto">
          <a:xfrm>
            <a:off x="7467600" y="3657600"/>
            <a:ext cx="1524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5" name="Line 249"/>
          <p:cNvSpPr>
            <a:spLocks noChangeShapeType="1"/>
          </p:cNvSpPr>
          <p:nvPr/>
        </p:nvSpPr>
        <p:spPr bwMode="auto">
          <a:xfrm flipV="1">
            <a:off x="7620000" y="3505200"/>
            <a:ext cx="76200" cy="1524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6" name="Line 250"/>
          <p:cNvSpPr>
            <a:spLocks noChangeShapeType="1"/>
          </p:cNvSpPr>
          <p:nvPr/>
        </p:nvSpPr>
        <p:spPr bwMode="auto">
          <a:xfrm>
            <a:off x="6248400" y="4114800"/>
            <a:ext cx="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7" name="Line 251"/>
          <p:cNvSpPr>
            <a:spLocks noChangeShapeType="1"/>
          </p:cNvSpPr>
          <p:nvPr/>
        </p:nvSpPr>
        <p:spPr bwMode="auto">
          <a:xfrm flipV="1">
            <a:off x="5715000" y="4800600"/>
            <a:ext cx="1524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8" name="Line 252"/>
          <p:cNvSpPr>
            <a:spLocks noChangeShapeType="1"/>
          </p:cNvSpPr>
          <p:nvPr/>
        </p:nvSpPr>
        <p:spPr bwMode="auto">
          <a:xfrm>
            <a:off x="5791200" y="5029200"/>
            <a:ext cx="152400" cy="762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39" name="Line 253"/>
          <p:cNvSpPr>
            <a:spLocks noChangeShapeType="1"/>
          </p:cNvSpPr>
          <p:nvPr/>
        </p:nvSpPr>
        <p:spPr bwMode="auto">
          <a:xfrm>
            <a:off x="5638800" y="4876800"/>
            <a:ext cx="1524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0" name="Line 254"/>
          <p:cNvSpPr>
            <a:spLocks noChangeShapeType="1"/>
          </p:cNvSpPr>
          <p:nvPr/>
        </p:nvSpPr>
        <p:spPr bwMode="auto">
          <a:xfrm flipV="1">
            <a:off x="5791200" y="4876800"/>
            <a:ext cx="76200" cy="1524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1" name="Line 255"/>
          <p:cNvSpPr>
            <a:spLocks noChangeShapeType="1"/>
          </p:cNvSpPr>
          <p:nvPr/>
        </p:nvSpPr>
        <p:spPr bwMode="auto">
          <a:xfrm flipV="1">
            <a:off x="5029200" y="5257800"/>
            <a:ext cx="0" cy="228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2" name="Line 256"/>
          <p:cNvSpPr>
            <a:spLocks noChangeShapeType="1"/>
          </p:cNvSpPr>
          <p:nvPr/>
        </p:nvSpPr>
        <p:spPr bwMode="auto">
          <a:xfrm flipH="1" flipV="1">
            <a:off x="7543800" y="3505200"/>
            <a:ext cx="76200" cy="1524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3" name="Line 257"/>
          <p:cNvSpPr>
            <a:spLocks noChangeShapeType="1"/>
          </p:cNvSpPr>
          <p:nvPr/>
        </p:nvSpPr>
        <p:spPr bwMode="auto">
          <a:xfrm flipV="1">
            <a:off x="6553200" y="4724400"/>
            <a:ext cx="152400" cy="22860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4" name="Line 258"/>
          <p:cNvSpPr>
            <a:spLocks noChangeShapeType="1"/>
          </p:cNvSpPr>
          <p:nvPr/>
        </p:nvSpPr>
        <p:spPr bwMode="auto">
          <a:xfrm flipH="1">
            <a:off x="5638800" y="5638800"/>
            <a:ext cx="76200" cy="228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5" name="Line 259"/>
          <p:cNvSpPr>
            <a:spLocks noChangeShapeType="1"/>
          </p:cNvSpPr>
          <p:nvPr/>
        </p:nvSpPr>
        <p:spPr bwMode="auto">
          <a:xfrm>
            <a:off x="5715000" y="5638800"/>
            <a:ext cx="152400" cy="228600"/>
          </a:xfrm>
          <a:prstGeom prst="line">
            <a:avLst/>
          </a:prstGeom>
          <a:noFill/>
          <a:ln w="952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6" name="Line 260"/>
          <p:cNvSpPr>
            <a:spLocks noChangeShapeType="1"/>
          </p:cNvSpPr>
          <p:nvPr/>
        </p:nvSpPr>
        <p:spPr bwMode="auto">
          <a:xfrm flipH="1">
            <a:off x="3733800" y="24384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7" name="Line 261"/>
          <p:cNvSpPr>
            <a:spLocks noChangeShapeType="1"/>
          </p:cNvSpPr>
          <p:nvPr/>
        </p:nvSpPr>
        <p:spPr bwMode="auto">
          <a:xfrm flipH="1">
            <a:off x="4572000" y="2362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8" name="Line 262"/>
          <p:cNvSpPr>
            <a:spLocks noChangeShapeType="1"/>
          </p:cNvSpPr>
          <p:nvPr/>
        </p:nvSpPr>
        <p:spPr bwMode="auto">
          <a:xfrm>
            <a:off x="3581400" y="34290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49" name="Line 263"/>
          <p:cNvSpPr>
            <a:spLocks noChangeShapeType="1"/>
          </p:cNvSpPr>
          <p:nvPr/>
        </p:nvSpPr>
        <p:spPr bwMode="auto">
          <a:xfrm>
            <a:off x="3429000" y="3962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9650" name="Line 264"/>
          <p:cNvSpPr>
            <a:spLocks noChangeShapeType="1"/>
          </p:cNvSpPr>
          <p:nvPr/>
        </p:nvSpPr>
        <p:spPr bwMode="auto">
          <a:xfrm flipV="1">
            <a:off x="4267200" y="1752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EF0D10B-7072-4622-9144-0557CA5B74B7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04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04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44D2D58-4F64-49B9-A714-C484AFE4B7E7}" type="slidenum">
              <a:rPr lang="zh-TW" altLang="en-US" sz="1200" smtClean="0"/>
              <a:pPr eaLnBrk="1" hangingPunct="1"/>
              <a:t>48</a:t>
            </a:fld>
            <a:endParaRPr lang="en-US" altLang="zh-TW" sz="1200" smtClean="0"/>
          </a:p>
        </p:txBody>
      </p:sp>
      <p:sp>
        <p:nvSpPr>
          <p:cNvPr id="6042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382000" cy="10668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CHAMELEON (Clustering Complex Objects)</a:t>
            </a:r>
          </a:p>
        </p:txBody>
      </p:sp>
      <p:pic>
        <p:nvPicPr>
          <p:cNvPr id="60422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838200"/>
            <a:ext cx="8610600" cy="60198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72E3D18-D83C-4E87-80F4-ED0F9E4F63C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14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14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E3B33FA-2E1B-4A56-B470-99048B75DB19}" type="slidenum">
              <a:rPr lang="zh-TW" altLang="en-US" sz="1200" smtClean="0"/>
              <a:pPr eaLnBrk="1" hangingPunct="1"/>
              <a:t>49</a:t>
            </a:fld>
            <a:endParaRPr lang="en-US" altLang="zh-TW" sz="1200" smtClean="0"/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61447" name="AutoShape 4"/>
          <p:cNvSpPr>
            <a:spLocks noChangeArrowheads="1"/>
          </p:cNvSpPr>
          <p:nvPr/>
        </p:nvSpPr>
        <p:spPr bwMode="auto">
          <a:xfrm rot="-1466637">
            <a:off x="3657600" y="35052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E3F7A69-4650-4DBD-B4CB-44C55570E27C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24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24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E3D3B15-F922-419F-B65A-A2F08B2D2D5A}" type="slidenum">
              <a:rPr lang="zh-TW" altLang="en-US" sz="1200" smtClean="0"/>
              <a:pPr eaLnBrk="1" hangingPunct="1"/>
              <a:t>50</a:t>
            </a:fld>
            <a:endParaRPr lang="en-US" altLang="zh-TW" sz="1200" smtClean="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610600" cy="706438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SimSun" pitchFamily="2" charset="-122"/>
              </a:rPr>
              <a:t>Density-Based Clustering Methods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1816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Clustering based on density (local cluster criterion), such as density-connected points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Major features: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Discover clusters of arbitrary shape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Handle noise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One scan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Need density parameters as termination condition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Several interesting studies:</a:t>
            </a:r>
          </a:p>
          <a:p>
            <a:pPr lvl="1" eaLnBrk="1" hangingPunct="1"/>
            <a:r>
              <a:rPr lang="en-US" altLang="zh-CN" sz="2400" u="sng" smtClean="0">
                <a:ea typeface="SimSun" pitchFamily="2" charset="-122"/>
              </a:rPr>
              <a:t>DBSCAN:</a:t>
            </a:r>
            <a:r>
              <a:rPr lang="en-US" altLang="zh-CN" sz="2400" smtClean="0">
                <a:ea typeface="SimSun" pitchFamily="2" charset="-122"/>
              </a:rPr>
              <a:t> Ester, et al. (KDD</a:t>
            </a:r>
            <a:r>
              <a:rPr lang="en-US" altLang="zh-CN" sz="240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400" smtClean="0">
                <a:ea typeface="SimSun" pitchFamily="2" charset="-122"/>
              </a:rPr>
              <a:t>96)</a:t>
            </a:r>
          </a:p>
          <a:p>
            <a:pPr lvl="1" eaLnBrk="1" hangingPunct="1"/>
            <a:r>
              <a:rPr lang="en-US" altLang="zh-CN" sz="2400" u="sng" smtClean="0">
                <a:ea typeface="SimSun" pitchFamily="2" charset="-122"/>
              </a:rPr>
              <a:t>OPTICS</a:t>
            </a:r>
            <a:r>
              <a:rPr lang="en-US" altLang="zh-CN" sz="2400" smtClean="0">
                <a:ea typeface="SimSun" pitchFamily="2" charset="-122"/>
              </a:rPr>
              <a:t>: Ankerst, et al (SIGMOD</a:t>
            </a:r>
            <a:r>
              <a:rPr lang="en-US" altLang="zh-CN" sz="240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400" smtClean="0">
                <a:ea typeface="SimSun" pitchFamily="2" charset="-122"/>
              </a:rPr>
              <a:t>99).</a:t>
            </a:r>
          </a:p>
          <a:p>
            <a:pPr lvl="1" eaLnBrk="1" hangingPunct="1"/>
            <a:r>
              <a:rPr lang="en-US" altLang="zh-CN" sz="2400" u="sng" smtClean="0">
                <a:ea typeface="SimSun" pitchFamily="2" charset="-122"/>
              </a:rPr>
              <a:t>DENCLUE</a:t>
            </a:r>
            <a:r>
              <a:rPr lang="en-US" altLang="zh-CN" sz="2400" smtClean="0">
                <a:ea typeface="SimSun" pitchFamily="2" charset="-122"/>
              </a:rPr>
              <a:t>: Hinneburg &amp; D. Keim  (KDD</a:t>
            </a:r>
            <a:r>
              <a:rPr lang="en-US" altLang="zh-CN" sz="240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400" smtClean="0">
                <a:ea typeface="SimSun" pitchFamily="2" charset="-122"/>
              </a:rPr>
              <a:t>98)</a:t>
            </a:r>
          </a:p>
          <a:p>
            <a:pPr lvl="1" eaLnBrk="1" hangingPunct="1"/>
            <a:r>
              <a:rPr lang="en-US" altLang="zh-CN" sz="2400" u="sng" smtClean="0">
                <a:ea typeface="SimSun" pitchFamily="2" charset="-122"/>
              </a:rPr>
              <a:t>CLIQUE</a:t>
            </a:r>
            <a:r>
              <a:rPr lang="en-US" altLang="zh-CN" sz="2400" smtClean="0">
                <a:ea typeface="SimSun" pitchFamily="2" charset="-122"/>
              </a:rPr>
              <a:t>: Agrawal, et al. (SIGMOD</a:t>
            </a:r>
            <a:r>
              <a:rPr lang="en-US" altLang="zh-CN" sz="240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400" smtClean="0">
                <a:ea typeface="SimSun" pitchFamily="2" charset="-122"/>
              </a:rPr>
              <a:t>98) (more grid-based)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9CC571D-C496-4F40-8BA0-5755D1490F1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34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34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1916E72-438F-4E8F-8E5F-19950E00C609}" type="slidenum">
              <a:rPr lang="zh-TW" altLang="en-US" sz="1200" smtClean="0"/>
              <a:pPr eaLnBrk="1" hangingPunct="1"/>
              <a:t>51</a:t>
            </a:fld>
            <a:endParaRPr lang="en-US" altLang="zh-TW" sz="1200" smtClean="0"/>
          </a:p>
        </p:txBody>
      </p:sp>
      <p:sp>
        <p:nvSpPr>
          <p:cNvPr id="63493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458200" cy="6858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Density-Based Clustering: Basic Concepts</a:t>
            </a:r>
          </a:p>
        </p:txBody>
      </p:sp>
      <p:sp>
        <p:nvSpPr>
          <p:cNvPr id="63494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181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Two parameters</a:t>
            </a:r>
            <a:r>
              <a:rPr lang="en-US" altLang="zh-CN" sz="2400" i="1" dirty="0" smtClean="0">
                <a:ea typeface="SimSun" pitchFamily="2" charset="-122"/>
              </a:rPr>
              <a:t>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 smtClean="0">
                <a:solidFill>
                  <a:schemeClr val="hlink"/>
                </a:solidFill>
                <a:ea typeface="SimSun" pitchFamily="2" charset="-122"/>
              </a:rPr>
              <a:t>Eps</a:t>
            </a:r>
            <a:r>
              <a:rPr lang="en-US" altLang="zh-CN" sz="2400" dirty="0" smtClean="0">
                <a:ea typeface="SimSun" pitchFamily="2" charset="-122"/>
              </a:rPr>
              <a:t>: Maximum radius of the </a:t>
            </a:r>
            <a:r>
              <a:rPr lang="en-US" altLang="zh-CN" sz="2400" dirty="0" err="1" smtClean="0">
                <a:ea typeface="SimSun" pitchFamily="2" charset="-122"/>
              </a:rPr>
              <a:t>neighbourhood</a:t>
            </a:r>
            <a:endParaRPr lang="en-US" altLang="zh-CN" sz="2400" dirty="0" smtClean="0">
              <a:ea typeface="SimSun" pitchFamily="2" charset="-122"/>
            </a:endParaRP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 err="1" smtClean="0">
                <a:solidFill>
                  <a:schemeClr val="hlink"/>
                </a:solidFill>
                <a:ea typeface="SimSun" pitchFamily="2" charset="-122"/>
              </a:rPr>
              <a:t>MinPts</a:t>
            </a:r>
            <a:r>
              <a:rPr lang="en-US" altLang="zh-CN" sz="2400" dirty="0" smtClean="0">
                <a:ea typeface="SimSun" pitchFamily="2" charset="-122"/>
              </a:rPr>
              <a:t>: Minimum number of points in an Eps-</a:t>
            </a:r>
            <a:r>
              <a:rPr lang="en-US" altLang="zh-CN" sz="2400" dirty="0" err="1" smtClean="0">
                <a:ea typeface="SimSun" pitchFamily="2" charset="-122"/>
              </a:rPr>
              <a:t>neighbourhood</a:t>
            </a:r>
            <a:r>
              <a:rPr lang="en-US" altLang="zh-CN" sz="2400" dirty="0" smtClean="0">
                <a:ea typeface="SimSun" pitchFamily="2" charset="-122"/>
              </a:rPr>
              <a:t> of that point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 err="1" smtClean="0">
                <a:ea typeface="SimSun" pitchFamily="2" charset="-122"/>
              </a:rPr>
              <a:t>N</a:t>
            </a:r>
            <a:r>
              <a:rPr lang="en-US" altLang="zh-CN" sz="2400" i="1" baseline="-25000" dirty="0" err="1" smtClean="0">
                <a:ea typeface="SimSun" pitchFamily="2" charset="-122"/>
              </a:rPr>
              <a:t>Eps</a:t>
            </a:r>
            <a:r>
              <a:rPr lang="en-US" altLang="zh-CN" sz="2400" i="1" dirty="0" smtClean="0">
                <a:ea typeface="SimSun" pitchFamily="2" charset="-122"/>
              </a:rPr>
              <a:t>(p)</a:t>
            </a:r>
            <a:r>
              <a:rPr lang="en-US" altLang="zh-CN" sz="2400" dirty="0" smtClean="0">
                <a:ea typeface="SimSun" pitchFamily="2" charset="-122"/>
              </a:rPr>
              <a:t>:	</a:t>
            </a:r>
            <a:r>
              <a:rPr lang="en-US" altLang="zh-CN" sz="2400" i="1" dirty="0" smtClean="0">
                <a:ea typeface="SimSun" pitchFamily="2" charset="-122"/>
              </a:rPr>
              <a:t>{q belongs to D </a:t>
            </a:r>
            <a:r>
              <a:rPr lang="en-US" altLang="zh-CN" sz="2400" dirty="0" smtClean="0">
                <a:ea typeface="SimSun" pitchFamily="2" charset="-122"/>
              </a:rPr>
              <a:t>|</a:t>
            </a:r>
            <a:r>
              <a:rPr lang="en-US" altLang="zh-CN" sz="2400" i="1" dirty="0" smtClean="0">
                <a:ea typeface="SimSun" pitchFamily="2" charset="-122"/>
              </a:rPr>
              <a:t> </a:t>
            </a:r>
            <a:r>
              <a:rPr lang="en-US" altLang="zh-CN" sz="2400" i="1" dirty="0" err="1" smtClean="0">
                <a:ea typeface="SimSun" pitchFamily="2" charset="-122"/>
              </a:rPr>
              <a:t>dist</a:t>
            </a:r>
            <a:r>
              <a:rPr lang="en-US" altLang="zh-CN" sz="2400" i="1" dirty="0" smtClean="0">
                <a:ea typeface="SimSun" pitchFamily="2" charset="-122"/>
              </a:rPr>
              <a:t>(</a:t>
            </a:r>
            <a:r>
              <a:rPr lang="en-US" altLang="zh-CN" sz="2400" i="1" dirty="0" err="1" smtClean="0">
                <a:ea typeface="SimSun" pitchFamily="2" charset="-122"/>
              </a:rPr>
              <a:t>p,q</a:t>
            </a:r>
            <a:r>
              <a:rPr lang="en-US" altLang="zh-CN" sz="2400" i="1" dirty="0" smtClean="0">
                <a:ea typeface="SimSun" pitchFamily="2" charset="-122"/>
              </a:rPr>
              <a:t>) &lt;= Eps}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 smtClean="0">
                <a:solidFill>
                  <a:schemeClr val="hlink"/>
                </a:solidFill>
                <a:ea typeface="SimSun" pitchFamily="2" charset="-122"/>
              </a:rPr>
              <a:t>Directly</a:t>
            </a:r>
            <a:r>
              <a:rPr lang="zh-TW" altLang="en-US" sz="2400" b="1" dirty="0">
                <a:ea typeface="SimSun" pitchFamily="2" charset="-122"/>
              </a:rPr>
              <a:t>圓</a:t>
            </a:r>
            <a:r>
              <a:rPr lang="zh-TW" altLang="en-US" sz="2400" b="1" dirty="0" smtClean="0">
                <a:ea typeface="SimSun" pitchFamily="2" charset="-122"/>
              </a:rPr>
              <a:t>內</a:t>
            </a:r>
            <a:r>
              <a:rPr lang="en-US" altLang="zh-CN" sz="2400" dirty="0" smtClean="0">
                <a:solidFill>
                  <a:schemeClr val="hlink"/>
                </a:solidFill>
                <a:ea typeface="SimSun" pitchFamily="2" charset="-122"/>
              </a:rPr>
              <a:t>density-reachable</a:t>
            </a:r>
            <a:r>
              <a:rPr lang="en-US" altLang="zh-CN" sz="2400" dirty="0" smtClean="0">
                <a:ea typeface="SimSun" pitchFamily="2" charset="-122"/>
              </a:rPr>
              <a:t>: A point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is directly density-reachable from a point </a:t>
            </a:r>
            <a:r>
              <a:rPr lang="en-US" altLang="zh-CN" sz="2400" i="1" dirty="0" smtClean="0">
                <a:ea typeface="SimSun" pitchFamily="2" charset="-122"/>
              </a:rPr>
              <a:t>q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r>
              <a:rPr lang="en-US" altLang="zh-CN" sz="2400" dirty="0" err="1" smtClean="0">
                <a:ea typeface="SimSun" pitchFamily="2" charset="-122"/>
              </a:rPr>
              <a:t>w.r.t</a:t>
            </a:r>
            <a:r>
              <a:rPr lang="en-US" altLang="zh-CN" sz="2400" dirty="0" smtClean="0">
                <a:ea typeface="SimSun" pitchFamily="2" charset="-122"/>
              </a:rPr>
              <a:t>. </a:t>
            </a:r>
            <a:r>
              <a:rPr lang="en-US" altLang="zh-CN" sz="2400" i="1" dirty="0" smtClean="0">
                <a:ea typeface="SimSun" pitchFamily="2" charset="-122"/>
              </a:rPr>
              <a:t>Eps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err="1" smtClean="0">
                <a:ea typeface="SimSun" pitchFamily="2" charset="-122"/>
              </a:rPr>
              <a:t>MinPts</a:t>
            </a:r>
            <a:r>
              <a:rPr lang="en-US" altLang="zh-CN" sz="2400" dirty="0" smtClean="0">
                <a:ea typeface="SimSun" pitchFamily="2" charset="-122"/>
              </a:rPr>
              <a:t> if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belongs to </a:t>
            </a:r>
            <a:r>
              <a:rPr lang="en-US" altLang="zh-CN" sz="2400" i="1" dirty="0" err="1" smtClean="0">
                <a:ea typeface="SimSun" pitchFamily="2" charset="-122"/>
              </a:rPr>
              <a:t>N</a:t>
            </a:r>
            <a:r>
              <a:rPr lang="en-US" altLang="zh-CN" sz="2400" i="1" baseline="-25000" dirty="0" err="1" smtClean="0">
                <a:ea typeface="SimSun" pitchFamily="2" charset="-122"/>
              </a:rPr>
              <a:t>Eps</a:t>
            </a:r>
            <a:r>
              <a:rPr lang="en-US" altLang="zh-CN" sz="2400" i="1" dirty="0" smtClean="0">
                <a:ea typeface="SimSun" pitchFamily="2" charset="-122"/>
              </a:rPr>
              <a:t>(q)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core point condition: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zh-CN" sz="2400" dirty="0" smtClean="0">
                <a:ea typeface="SimSun" pitchFamily="2" charset="-122"/>
              </a:rPr>
              <a:t>              |</a:t>
            </a:r>
            <a:r>
              <a:rPr lang="en-US" altLang="zh-CN" sz="2400" i="1" dirty="0" err="1" smtClean="0">
                <a:ea typeface="SimSun" pitchFamily="2" charset="-122"/>
              </a:rPr>
              <a:t>N</a:t>
            </a:r>
            <a:r>
              <a:rPr lang="en-US" altLang="zh-CN" sz="2400" i="1" baseline="-25000" dirty="0" err="1" smtClean="0">
                <a:ea typeface="SimSun" pitchFamily="2" charset="-122"/>
              </a:rPr>
              <a:t>Eps</a:t>
            </a:r>
            <a:r>
              <a:rPr lang="en-US" altLang="zh-CN" sz="2400" i="1" dirty="0" smtClean="0">
                <a:ea typeface="SimSun" pitchFamily="2" charset="-122"/>
              </a:rPr>
              <a:t> (q)</a:t>
            </a:r>
            <a:r>
              <a:rPr lang="en-US" altLang="zh-CN" sz="2400" dirty="0" smtClean="0">
                <a:ea typeface="SimSun" pitchFamily="2" charset="-122"/>
              </a:rPr>
              <a:t>| &gt;= </a:t>
            </a:r>
            <a:r>
              <a:rPr lang="en-US" altLang="zh-CN" sz="2400" i="1" dirty="0" err="1" smtClean="0">
                <a:ea typeface="SimSun" pitchFamily="2" charset="-122"/>
              </a:rPr>
              <a:t>MinPts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endParaRPr lang="en-US" altLang="zh-CN" sz="2400" i="1" dirty="0" smtClean="0">
              <a:ea typeface="SimSun" pitchFamily="2" charset="-122"/>
            </a:endParaRPr>
          </a:p>
        </p:txBody>
      </p:sp>
      <p:grpSp>
        <p:nvGrpSpPr>
          <p:cNvPr id="63495" name="Group 2052"/>
          <p:cNvGrpSpPr>
            <a:grpSpLocks/>
          </p:cNvGrpSpPr>
          <p:nvPr/>
        </p:nvGrpSpPr>
        <p:grpSpPr bwMode="auto">
          <a:xfrm>
            <a:off x="5264150" y="4648200"/>
            <a:ext cx="3879850" cy="1663700"/>
            <a:chOff x="3316" y="2788"/>
            <a:chExt cx="2444" cy="1048"/>
          </a:xfrm>
        </p:grpSpPr>
        <p:grpSp>
          <p:nvGrpSpPr>
            <p:cNvPr id="63496" name="Group 2053"/>
            <p:cNvGrpSpPr>
              <a:grpSpLocks/>
            </p:cNvGrpSpPr>
            <p:nvPr/>
          </p:nvGrpSpPr>
          <p:grpSpPr bwMode="auto">
            <a:xfrm>
              <a:off x="3316" y="2788"/>
              <a:ext cx="1048" cy="1048"/>
              <a:chOff x="3316" y="2788"/>
              <a:chExt cx="1048" cy="1048"/>
            </a:xfrm>
          </p:grpSpPr>
          <p:sp>
            <p:nvSpPr>
              <p:cNvPr id="63498" name="Oval 2054"/>
              <p:cNvSpPr>
                <a:spLocks noChangeArrowheads="1"/>
              </p:cNvSpPr>
              <p:nvPr/>
            </p:nvSpPr>
            <p:spPr bwMode="auto">
              <a:xfrm>
                <a:off x="3386" y="3281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499" name="Oval 2055"/>
              <p:cNvSpPr>
                <a:spLocks noChangeArrowheads="1"/>
              </p:cNvSpPr>
              <p:nvPr/>
            </p:nvSpPr>
            <p:spPr bwMode="auto">
              <a:xfrm>
                <a:off x="3598" y="3351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0" name="Oval 2056"/>
              <p:cNvSpPr>
                <a:spLocks noChangeArrowheads="1"/>
              </p:cNvSpPr>
              <p:nvPr/>
            </p:nvSpPr>
            <p:spPr bwMode="auto">
              <a:xfrm>
                <a:off x="3598" y="3140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1" name="Oval 2057"/>
              <p:cNvSpPr>
                <a:spLocks noChangeArrowheads="1"/>
              </p:cNvSpPr>
              <p:nvPr/>
            </p:nvSpPr>
            <p:spPr bwMode="auto">
              <a:xfrm>
                <a:off x="3316" y="3562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2" name="Oval 2058"/>
              <p:cNvSpPr>
                <a:spLocks noChangeArrowheads="1"/>
              </p:cNvSpPr>
              <p:nvPr/>
            </p:nvSpPr>
            <p:spPr bwMode="auto">
              <a:xfrm>
                <a:off x="3457" y="3422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3" name="Oval 2059"/>
              <p:cNvSpPr>
                <a:spLocks noChangeArrowheads="1"/>
              </p:cNvSpPr>
              <p:nvPr/>
            </p:nvSpPr>
            <p:spPr bwMode="auto">
              <a:xfrm>
                <a:off x="3457" y="3562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4" name="Oval 2060"/>
              <p:cNvSpPr>
                <a:spLocks noChangeArrowheads="1"/>
              </p:cNvSpPr>
              <p:nvPr/>
            </p:nvSpPr>
            <p:spPr bwMode="auto">
              <a:xfrm>
                <a:off x="3668" y="3633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5" name="Oval 2061"/>
              <p:cNvSpPr>
                <a:spLocks noChangeArrowheads="1"/>
              </p:cNvSpPr>
              <p:nvPr/>
            </p:nvSpPr>
            <p:spPr bwMode="auto">
              <a:xfrm>
                <a:off x="3668" y="2788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6" name="Oval 2062"/>
              <p:cNvSpPr>
                <a:spLocks noChangeArrowheads="1"/>
              </p:cNvSpPr>
              <p:nvPr/>
            </p:nvSpPr>
            <p:spPr bwMode="auto">
              <a:xfrm>
                <a:off x="3668" y="2999"/>
                <a:ext cx="62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7" name="Oval 2063"/>
              <p:cNvSpPr>
                <a:spLocks noChangeArrowheads="1"/>
              </p:cNvSpPr>
              <p:nvPr/>
            </p:nvSpPr>
            <p:spPr bwMode="auto">
              <a:xfrm>
                <a:off x="4090" y="3422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8" name="Oval 2064"/>
              <p:cNvSpPr>
                <a:spLocks noChangeArrowheads="1"/>
              </p:cNvSpPr>
              <p:nvPr/>
            </p:nvSpPr>
            <p:spPr bwMode="auto">
              <a:xfrm>
                <a:off x="3950" y="3140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09" name="Oval 2065"/>
              <p:cNvSpPr>
                <a:spLocks noChangeArrowheads="1"/>
              </p:cNvSpPr>
              <p:nvPr/>
            </p:nvSpPr>
            <p:spPr bwMode="auto">
              <a:xfrm>
                <a:off x="3598" y="3492"/>
                <a:ext cx="62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10" name="Oval 2066"/>
              <p:cNvSpPr>
                <a:spLocks noChangeArrowheads="1"/>
              </p:cNvSpPr>
              <p:nvPr/>
            </p:nvSpPr>
            <p:spPr bwMode="auto">
              <a:xfrm>
                <a:off x="3738" y="3351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11" name="Oval 2067"/>
              <p:cNvSpPr>
                <a:spLocks noChangeArrowheads="1"/>
              </p:cNvSpPr>
              <p:nvPr/>
            </p:nvSpPr>
            <p:spPr bwMode="auto">
              <a:xfrm>
                <a:off x="3879" y="3562"/>
                <a:ext cx="63" cy="63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12" name="Oval 2068"/>
              <p:cNvSpPr>
                <a:spLocks noChangeArrowheads="1"/>
              </p:cNvSpPr>
              <p:nvPr/>
            </p:nvSpPr>
            <p:spPr bwMode="auto">
              <a:xfrm>
                <a:off x="4231" y="3633"/>
                <a:ext cx="63" cy="62"/>
              </a:xfrm>
              <a:prstGeom prst="ellipse">
                <a:avLst/>
              </a:prstGeom>
              <a:solidFill>
                <a:srgbClr val="CC3300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13" name="Oval 2069"/>
              <p:cNvSpPr>
                <a:spLocks noChangeArrowheads="1"/>
              </p:cNvSpPr>
              <p:nvPr/>
            </p:nvSpPr>
            <p:spPr bwMode="auto">
              <a:xfrm>
                <a:off x="3457" y="3140"/>
                <a:ext cx="696" cy="69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>
                  <a:ea typeface="新細明體" pitchFamily="18" charset="-120"/>
                </a:endParaRPr>
              </a:p>
            </p:txBody>
          </p:sp>
          <p:sp>
            <p:nvSpPr>
              <p:cNvPr id="63514" name="Rectangle 2070"/>
              <p:cNvSpPr>
                <a:spLocks noChangeArrowheads="1"/>
              </p:cNvSpPr>
              <p:nvPr/>
            </p:nvSpPr>
            <p:spPr bwMode="auto">
              <a:xfrm>
                <a:off x="3984" y="297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p</a:t>
                </a:r>
              </a:p>
            </p:txBody>
          </p:sp>
          <p:sp>
            <p:nvSpPr>
              <p:cNvPr id="63515" name="Rectangle 2071"/>
              <p:cNvSpPr>
                <a:spLocks noChangeArrowheads="1"/>
              </p:cNvSpPr>
              <p:nvPr/>
            </p:nvSpPr>
            <p:spPr bwMode="auto">
              <a:xfrm>
                <a:off x="3792" y="3216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75" tIns="46038" rIns="92075" bIns="46038">
                <a:spAutoFit/>
              </a:bodyPr>
              <a:lstStyle/>
              <a:p>
                <a:pPr algn="l" eaLnBrk="0" hangingPunct="0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  <a:ea typeface="SimSun" pitchFamily="2" charset="-122"/>
                  </a:rPr>
                  <a:t>q</a:t>
                </a:r>
              </a:p>
            </p:txBody>
          </p:sp>
        </p:grpSp>
        <p:sp>
          <p:nvSpPr>
            <p:cNvPr id="63497" name="Rectangle 2072"/>
            <p:cNvSpPr>
              <a:spLocks noChangeArrowheads="1"/>
            </p:cNvSpPr>
            <p:nvPr/>
          </p:nvSpPr>
          <p:spPr bwMode="auto">
            <a:xfrm>
              <a:off x="4608" y="2976"/>
              <a:ext cx="115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MinPts = 5</a:t>
              </a:r>
            </a:p>
            <a:p>
              <a:pPr algn="l" eaLnBrk="0" hangingPunct="0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Eps = 1 cm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F7033DA-29D7-435D-A9ED-36FB55BAED4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45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45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D1EBACC-4E0A-43CF-ABC7-8E47AA38231A}" type="slidenum">
              <a:rPr lang="zh-TW" altLang="en-US" sz="1200" smtClean="0"/>
              <a:pPr eaLnBrk="1" hangingPunct="1"/>
              <a:t>52</a:t>
            </a:fld>
            <a:endParaRPr lang="en-US" altLang="zh-TW" sz="1200" smtClean="0"/>
          </a:p>
        </p:txBody>
      </p:sp>
      <p:sp>
        <p:nvSpPr>
          <p:cNvPr id="6451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Density-Reachable and Density-Connected</a:t>
            </a:r>
          </a:p>
        </p:txBody>
      </p:sp>
      <p:sp>
        <p:nvSpPr>
          <p:cNvPr id="645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5638800" cy="50292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Density-reachable: 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A point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is </a:t>
            </a:r>
            <a:r>
              <a:rPr lang="en-US" altLang="zh-CN" sz="2400" dirty="0" smtClean="0">
                <a:solidFill>
                  <a:schemeClr val="hlink"/>
                </a:solidFill>
                <a:ea typeface="SimSun" pitchFamily="2" charset="-122"/>
              </a:rPr>
              <a:t>density-reachable</a:t>
            </a:r>
            <a:r>
              <a:rPr lang="en-US" altLang="zh-CN" sz="2400" dirty="0" smtClean="0">
                <a:ea typeface="SimSun" pitchFamily="2" charset="-122"/>
              </a:rPr>
              <a:t> from a point </a:t>
            </a:r>
            <a:r>
              <a:rPr lang="en-US" altLang="zh-CN" sz="2400" i="1" dirty="0" smtClean="0">
                <a:ea typeface="SimSun" pitchFamily="2" charset="-122"/>
              </a:rPr>
              <a:t>q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r>
              <a:rPr lang="en-US" altLang="zh-CN" sz="2400" dirty="0" err="1" smtClean="0">
                <a:ea typeface="SimSun" pitchFamily="2" charset="-122"/>
              </a:rPr>
              <a:t>w.r.t</a:t>
            </a:r>
            <a:r>
              <a:rPr lang="en-US" altLang="zh-CN" sz="2400" dirty="0" smtClean="0">
                <a:ea typeface="SimSun" pitchFamily="2" charset="-122"/>
              </a:rPr>
              <a:t>. </a:t>
            </a:r>
            <a:r>
              <a:rPr lang="en-US" altLang="zh-CN" sz="2400" i="1" dirty="0" smtClean="0">
                <a:ea typeface="SimSun" pitchFamily="2" charset="-122"/>
              </a:rPr>
              <a:t>Eps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err="1" smtClean="0">
                <a:ea typeface="SimSun" pitchFamily="2" charset="-122"/>
              </a:rPr>
              <a:t>MinPts</a:t>
            </a:r>
            <a:r>
              <a:rPr lang="en-US" altLang="zh-CN" sz="2400" dirty="0" smtClean="0">
                <a:ea typeface="SimSun" pitchFamily="2" charset="-122"/>
              </a:rPr>
              <a:t> if there is </a:t>
            </a:r>
            <a:r>
              <a:rPr lang="en-US" altLang="zh-CN" sz="2400" b="1" dirty="0" smtClean="0">
                <a:ea typeface="SimSun" pitchFamily="2" charset="-122"/>
              </a:rPr>
              <a:t>a chain of points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i="1" baseline="-25000" dirty="0" smtClean="0">
                <a:ea typeface="SimSun" pitchFamily="2" charset="-122"/>
              </a:rPr>
              <a:t>1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dirty="0" smtClean="0">
                <a:latin typeface="Times New Roman" pitchFamily="18" charset="0"/>
                <a:ea typeface="SimSun" pitchFamily="2" charset="-122"/>
              </a:rPr>
              <a:t>…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err="1" smtClean="0">
                <a:ea typeface="SimSun" pitchFamily="2" charset="-122"/>
              </a:rPr>
              <a:t>p</a:t>
            </a:r>
            <a:r>
              <a:rPr lang="en-US" altLang="zh-CN" sz="2400" i="1" baseline="-25000" dirty="0" err="1" smtClean="0">
                <a:ea typeface="SimSun" pitchFamily="2" charset="-122"/>
              </a:rPr>
              <a:t>n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i="1" baseline="-25000" dirty="0" smtClean="0">
                <a:ea typeface="SimSun" pitchFamily="2" charset="-122"/>
              </a:rPr>
              <a:t>1</a:t>
            </a:r>
            <a:r>
              <a:rPr lang="en-US" altLang="zh-CN" sz="2400" dirty="0" smtClean="0">
                <a:ea typeface="SimSun" pitchFamily="2" charset="-122"/>
              </a:rPr>
              <a:t> = </a:t>
            </a:r>
            <a:r>
              <a:rPr lang="en-US" altLang="zh-CN" sz="2400" i="1" dirty="0" smtClean="0">
                <a:ea typeface="SimSun" pitchFamily="2" charset="-122"/>
              </a:rPr>
              <a:t>q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err="1" smtClean="0">
                <a:ea typeface="SimSun" pitchFamily="2" charset="-122"/>
              </a:rPr>
              <a:t>p</a:t>
            </a:r>
            <a:r>
              <a:rPr lang="en-US" altLang="zh-CN" sz="2400" i="1" baseline="-25000" dirty="0" err="1" smtClean="0">
                <a:ea typeface="SimSun" pitchFamily="2" charset="-122"/>
              </a:rPr>
              <a:t>n</a:t>
            </a:r>
            <a:r>
              <a:rPr lang="en-US" altLang="zh-CN" sz="2400" dirty="0" smtClean="0">
                <a:ea typeface="SimSun" pitchFamily="2" charset="-122"/>
              </a:rPr>
              <a:t> =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such that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i="1" baseline="-25000" dirty="0" smtClean="0">
                <a:ea typeface="SimSun" pitchFamily="2" charset="-122"/>
              </a:rPr>
              <a:t>i+1</a:t>
            </a:r>
            <a:r>
              <a:rPr lang="en-US" altLang="zh-CN" sz="2400" dirty="0" smtClean="0">
                <a:ea typeface="SimSun" pitchFamily="2" charset="-122"/>
              </a:rPr>
              <a:t> is directly density-reachable from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i="1" baseline="-25000" dirty="0" smtClean="0">
                <a:ea typeface="SimSun" pitchFamily="2" charset="-122"/>
              </a:rPr>
              <a:t>i</a:t>
            </a:r>
            <a:endParaRPr lang="en-US" altLang="zh-CN" sz="2400" dirty="0" smtClean="0">
              <a:ea typeface="SimSun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Density-connected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sz="2400" dirty="0" smtClean="0">
                <a:ea typeface="SimSun" pitchFamily="2" charset="-122"/>
              </a:rPr>
              <a:t>A point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is </a:t>
            </a:r>
            <a:r>
              <a:rPr lang="en-US" altLang="zh-CN" sz="2400" dirty="0" smtClean="0">
                <a:solidFill>
                  <a:schemeClr val="hlink"/>
                </a:solidFill>
                <a:ea typeface="SimSun" pitchFamily="2" charset="-122"/>
              </a:rPr>
              <a:t>density-connected</a:t>
            </a:r>
            <a:r>
              <a:rPr lang="en-US" altLang="zh-CN" sz="2400" dirty="0" smtClean="0">
                <a:ea typeface="SimSun" pitchFamily="2" charset="-122"/>
              </a:rPr>
              <a:t> to a point </a:t>
            </a:r>
            <a:r>
              <a:rPr lang="en-US" altLang="zh-CN" sz="2400" i="1" dirty="0" smtClean="0">
                <a:ea typeface="SimSun" pitchFamily="2" charset="-122"/>
              </a:rPr>
              <a:t>q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r>
              <a:rPr lang="en-US" altLang="zh-CN" sz="2400" dirty="0" err="1" smtClean="0">
                <a:ea typeface="SimSun" pitchFamily="2" charset="-122"/>
              </a:rPr>
              <a:t>w.r.t</a:t>
            </a:r>
            <a:r>
              <a:rPr lang="en-US" altLang="zh-CN" sz="2400" dirty="0" smtClean="0">
                <a:ea typeface="SimSun" pitchFamily="2" charset="-122"/>
              </a:rPr>
              <a:t>. </a:t>
            </a:r>
            <a:r>
              <a:rPr lang="en-US" altLang="zh-CN" sz="2400" i="1" dirty="0" smtClean="0">
                <a:ea typeface="SimSun" pitchFamily="2" charset="-122"/>
              </a:rPr>
              <a:t>Eps</a:t>
            </a:r>
            <a:r>
              <a:rPr lang="en-US" altLang="zh-CN" sz="2400" dirty="0" smtClean="0">
                <a:ea typeface="SimSun" pitchFamily="2" charset="-122"/>
              </a:rPr>
              <a:t>, </a:t>
            </a:r>
            <a:r>
              <a:rPr lang="en-US" altLang="zh-CN" sz="2400" i="1" dirty="0" err="1" smtClean="0">
                <a:ea typeface="SimSun" pitchFamily="2" charset="-122"/>
              </a:rPr>
              <a:t>MinPts</a:t>
            </a:r>
            <a:r>
              <a:rPr lang="en-US" altLang="zh-CN" sz="2400" dirty="0" smtClean="0">
                <a:ea typeface="SimSun" pitchFamily="2" charset="-122"/>
              </a:rPr>
              <a:t> if there is a </a:t>
            </a:r>
            <a:r>
              <a:rPr lang="en-US" altLang="zh-CN" sz="2400" b="1" dirty="0" smtClean="0">
                <a:ea typeface="SimSun" pitchFamily="2" charset="-122"/>
              </a:rPr>
              <a:t>point </a:t>
            </a:r>
            <a:r>
              <a:rPr lang="en-US" altLang="zh-CN" sz="2400" b="1" i="1" dirty="0" smtClean="0">
                <a:ea typeface="SimSun" pitchFamily="2" charset="-122"/>
              </a:rPr>
              <a:t>o </a:t>
            </a:r>
            <a:r>
              <a:rPr lang="en-US" altLang="zh-CN" sz="2400" dirty="0" smtClean="0">
                <a:ea typeface="SimSun" pitchFamily="2" charset="-122"/>
              </a:rPr>
              <a:t>such that both, </a:t>
            </a:r>
            <a:r>
              <a:rPr lang="en-US" altLang="zh-CN" sz="2400" i="1" dirty="0" smtClean="0">
                <a:ea typeface="SimSun" pitchFamily="2" charset="-122"/>
              </a:rPr>
              <a:t>p</a:t>
            </a:r>
            <a:r>
              <a:rPr lang="en-US" altLang="zh-CN" sz="2400" dirty="0" smtClean="0">
                <a:ea typeface="SimSun" pitchFamily="2" charset="-122"/>
              </a:rPr>
              <a:t> and </a:t>
            </a:r>
            <a:r>
              <a:rPr lang="en-US" altLang="zh-CN" sz="2400" i="1" dirty="0" smtClean="0">
                <a:ea typeface="SimSun" pitchFamily="2" charset="-122"/>
              </a:rPr>
              <a:t>q</a:t>
            </a:r>
            <a:r>
              <a:rPr lang="en-US" altLang="zh-CN" sz="2400" dirty="0" smtClean="0">
                <a:ea typeface="SimSun" pitchFamily="2" charset="-122"/>
              </a:rPr>
              <a:t> are density-reachable from </a:t>
            </a:r>
            <a:r>
              <a:rPr lang="en-US" altLang="zh-CN" sz="2400" i="1" dirty="0" smtClean="0">
                <a:ea typeface="SimSun" pitchFamily="2" charset="-122"/>
              </a:rPr>
              <a:t>o</a:t>
            </a:r>
            <a:r>
              <a:rPr lang="en-US" altLang="zh-CN" sz="2400" dirty="0" smtClean="0">
                <a:ea typeface="SimSun" pitchFamily="2" charset="-122"/>
              </a:rPr>
              <a:t> </a:t>
            </a:r>
            <a:r>
              <a:rPr lang="en-US" altLang="zh-CN" sz="2400" dirty="0" err="1" smtClean="0">
                <a:ea typeface="SimSun" pitchFamily="2" charset="-122"/>
              </a:rPr>
              <a:t>w.r.t</a:t>
            </a:r>
            <a:r>
              <a:rPr lang="en-US" altLang="zh-CN" sz="2400" dirty="0" smtClean="0">
                <a:ea typeface="SimSun" pitchFamily="2" charset="-122"/>
              </a:rPr>
              <a:t>. </a:t>
            </a:r>
            <a:r>
              <a:rPr lang="en-US" altLang="zh-CN" sz="2400" i="1" dirty="0" smtClean="0">
                <a:ea typeface="SimSun" pitchFamily="2" charset="-122"/>
              </a:rPr>
              <a:t>Eps</a:t>
            </a:r>
            <a:r>
              <a:rPr lang="en-US" altLang="zh-CN" sz="2400" dirty="0" smtClean="0">
                <a:ea typeface="SimSun" pitchFamily="2" charset="-122"/>
              </a:rPr>
              <a:t> and </a:t>
            </a:r>
            <a:r>
              <a:rPr lang="en-US" altLang="zh-CN" sz="2400" i="1" dirty="0" err="1" smtClean="0">
                <a:ea typeface="SimSun" pitchFamily="2" charset="-122"/>
              </a:rPr>
              <a:t>MinPts</a:t>
            </a:r>
            <a:endParaRPr lang="en-US" altLang="zh-CN" sz="2400" dirty="0" smtClean="0">
              <a:ea typeface="SimSun" pitchFamily="2" charset="-122"/>
            </a:endParaRPr>
          </a:p>
        </p:txBody>
      </p:sp>
      <p:sp>
        <p:nvSpPr>
          <p:cNvPr id="64519" name="Oval 1028"/>
          <p:cNvSpPr>
            <a:spLocks noChangeArrowheads="1"/>
          </p:cNvSpPr>
          <p:nvPr/>
        </p:nvSpPr>
        <p:spPr bwMode="auto">
          <a:xfrm>
            <a:off x="7019925" y="2459038"/>
            <a:ext cx="100013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0" name="Oval 1029"/>
          <p:cNvSpPr>
            <a:spLocks noChangeArrowheads="1"/>
          </p:cNvSpPr>
          <p:nvPr/>
        </p:nvSpPr>
        <p:spPr bwMode="auto">
          <a:xfrm>
            <a:off x="7356475" y="2570163"/>
            <a:ext cx="98425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1" name="Oval 1030"/>
          <p:cNvSpPr>
            <a:spLocks noChangeArrowheads="1"/>
          </p:cNvSpPr>
          <p:nvPr/>
        </p:nvSpPr>
        <p:spPr bwMode="auto">
          <a:xfrm>
            <a:off x="7356475" y="22352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2" name="Oval 1031"/>
          <p:cNvSpPr>
            <a:spLocks noChangeArrowheads="1"/>
          </p:cNvSpPr>
          <p:nvPr/>
        </p:nvSpPr>
        <p:spPr bwMode="auto">
          <a:xfrm>
            <a:off x="6908800" y="2905125"/>
            <a:ext cx="98425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3" name="Oval 1032"/>
          <p:cNvSpPr>
            <a:spLocks noChangeArrowheads="1"/>
          </p:cNvSpPr>
          <p:nvPr/>
        </p:nvSpPr>
        <p:spPr bwMode="auto">
          <a:xfrm>
            <a:off x="7132638" y="2682875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4" name="Oval 1033"/>
          <p:cNvSpPr>
            <a:spLocks noChangeArrowheads="1"/>
          </p:cNvSpPr>
          <p:nvPr/>
        </p:nvSpPr>
        <p:spPr bwMode="auto">
          <a:xfrm>
            <a:off x="7132638" y="2905125"/>
            <a:ext cx="98425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5" name="Oval 1034"/>
          <p:cNvSpPr>
            <a:spLocks noChangeArrowheads="1"/>
          </p:cNvSpPr>
          <p:nvPr/>
        </p:nvSpPr>
        <p:spPr bwMode="auto">
          <a:xfrm>
            <a:off x="7467600" y="3017838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6" name="Oval 1035"/>
          <p:cNvSpPr>
            <a:spLocks noChangeArrowheads="1"/>
          </p:cNvSpPr>
          <p:nvPr/>
        </p:nvSpPr>
        <p:spPr bwMode="auto">
          <a:xfrm>
            <a:off x="7467600" y="2011363"/>
            <a:ext cx="98425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7" name="Oval 1036"/>
          <p:cNvSpPr>
            <a:spLocks noChangeArrowheads="1"/>
          </p:cNvSpPr>
          <p:nvPr/>
        </p:nvSpPr>
        <p:spPr bwMode="auto">
          <a:xfrm>
            <a:off x="8137525" y="2682875"/>
            <a:ext cx="100013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8" name="Oval 1037"/>
          <p:cNvSpPr>
            <a:spLocks noChangeArrowheads="1"/>
          </p:cNvSpPr>
          <p:nvPr/>
        </p:nvSpPr>
        <p:spPr bwMode="auto">
          <a:xfrm>
            <a:off x="7915275" y="22352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29" name="Oval 1038"/>
          <p:cNvSpPr>
            <a:spLocks noChangeArrowheads="1"/>
          </p:cNvSpPr>
          <p:nvPr/>
        </p:nvSpPr>
        <p:spPr bwMode="auto">
          <a:xfrm>
            <a:off x="7356475" y="2794000"/>
            <a:ext cx="98425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0" name="Oval 1039"/>
          <p:cNvSpPr>
            <a:spLocks noChangeArrowheads="1"/>
          </p:cNvSpPr>
          <p:nvPr/>
        </p:nvSpPr>
        <p:spPr bwMode="auto">
          <a:xfrm>
            <a:off x="7578725" y="2570163"/>
            <a:ext cx="100013" cy="100012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1" name="Oval 1040"/>
          <p:cNvSpPr>
            <a:spLocks noChangeArrowheads="1"/>
          </p:cNvSpPr>
          <p:nvPr/>
        </p:nvSpPr>
        <p:spPr bwMode="auto">
          <a:xfrm>
            <a:off x="7802563" y="2905125"/>
            <a:ext cx="100012" cy="100013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2" name="Oval 1041"/>
          <p:cNvSpPr>
            <a:spLocks noChangeArrowheads="1"/>
          </p:cNvSpPr>
          <p:nvPr/>
        </p:nvSpPr>
        <p:spPr bwMode="auto">
          <a:xfrm>
            <a:off x="8361363" y="3017838"/>
            <a:ext cx="100012" cy="98425"/>
          </a:xfrm>
          <a:prstGeom prst="ellipse">
            <a:avLst/>
          </a:prstGeom>
          <a:solidFill>
            <a:srgbClr val="CC33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3" name="Oval 1042"/>
          <p:cNvSpPr>
            <a:spLocks noChangeArrowheads="1"/>
          </p:cNvSpPr>
          <p:nvPr/>
        </p:nvSpPr>
        <p:spPr bwMode="auto">
          <a:xfrm>
            <a:off x="7086600" y="24384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4" name="Oval 1043"/>
          <p:cNvSpPr>
            <a:spLocks noChangeArrowheads="1"/>
          </p:cNvSpPr>
          <p:nvPr/>
        </p:nvSpPr>
        <p:spPr bwMode="auto">
          <a:xfrm>
            <a:off x="6370638" y="23114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5" name="Rectangle 1044"/>
          <p:cNvSpPr>
            <a:spLocks noChangeArrowheads="1"/>
          </p:cNvSpPr>
          <p:nvPr/>
        </p:nvSpPr>
        <p:spPr bwMode="auto">
          <a:xfrm>
            <a:off x="7969250" y="20510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p</a:t>
            </a:r>
          </a:p>
        </p:txBody>
      </p:sp>
      <p:sp>
        <p:nvSpPr>
          <p:cNvPr id="64536" name="Rectangle 1045"/>
          <p:cNvSpPr>
            <a:spLocks noChangeArrowheads="1"/>
          </p:cNvSpPr>
          <p:nvPr/>
        </p:nvSpPr>
        <p:spPr bwMode="auto">
          <a:xfrm>
            <a:off x="6597650" y="27368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q</a:t>
            </a:r>
          </a:p>
        </p:txBody>
      </p:sp>
      <p:sp>
        <p:nvSpPr>
          <p:cNvPr id="64537" name="Oval 1046"/>
          <p:cNvSpPr>
            <a:spLocks noChangeArrowheads="1"/>
          </p:cNvSpPr>
          <p:nvPr/>
        </p:nvSpPr>
        <p:spPr bwMode="auto">
          <a:xfrm>
            <a:off x="7315200" y="1752600"/>
            <a:ext cx="1104900" cy="11049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4538" name="Rectangle 1047"/>
          <p:cNvSpPr>
            <a:spLocks noChangeArrowheads="1"/>
          </p:cNvSpPr>
          <p:nvPr/>
        </p:nvSpPr>
        <p:spPr bwMode="auto">
          <a:xfrm>
            <a:off x="7359650" y="250825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en-US" altLang="zh-CN" b="1" i="1">
                <a:latin typeface="Times New Roman" pitchFamily="18" charset="0"/>
                <a:ea typeface="SimSun" pitchFamily="2" charset="-122"/>
              </a:rPr>
              <a:t>p</a:t>
            </a:r>
            <a:r>
              <a:rPr lang="en-US" altLang="zh-CN" b="1" i="1" baseline="-25000">
                <a:latin typeface="Times New Roman" pitchFamily="18" charset="0"/>
                <a:ea typeface="SimSun" pitchFamily="2" charset="-122"/>
              </a:rPr>
              <a:t>1</a:t>
            </a:r>
          </a:p>
        </p:txBody>
      </p:sp>
      <p:sp>
        <p:nvSpPr>
          <p:cNvPr id="64539" name="Line 1048"/>
          <p:cNvSpPr>
            <a:spLocks noChangeShapeType="1"/>
          </p:cNvSpPr>
          <p:nvPr/>
        </p:nvSpPr>
        <p:spPr bwMode="auto">
          <a:xfrm flipH="1">
            <a:off x="7435850" y="2355850"/>
            <a:ext cx="4572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lg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grpSp>
        <p:nvGrpSpPr>
          <p:cNvPr id="64540" name="Group 1049"/>
          <p:cNvGrpSpPr>
            <a:grpSpLocks/>
          </p:cNvGrpSpPr>
          <p:nvPr/>
        </p:nvGrpSpPr>
        <p:grpSpPr bwMode="auto">
          <a:xfrm>
            <a:off x="5867400" y="4343400"/>
            <a:ext cx="2863850" cy="1638300"/>
            <a:chOff x="3428" y="2740"/>
            <a:chExt cx="1804" cy="1032"/>
          </a:xfrm>
        </p:grpSpPr>
        <p:sp>
          <p:nvSpPr>
            <p:cNvPr id="64542" name="Oval 1050"/>
            <p:cNvSpPr>
              <a:spLocks noChangeArrowheads="1"/>
            </p:cNvSpPr>
            <p:nvPr/>
          </p:nvSpPr>
          <p:spPr bwMode="auto">
            <a:xfrm>
              <a:off x="3914" y="3089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3" name="Oval 1051"/>
            <p:cNvSpPr>
              <a:spLocks noChangeArrowheads="1"/>
            </p:cNvSpPr>
            <p:nvPr/>
          </p:nvSpPr>
          <p:spPr bwMode="auto">
            <a:xfrm>
              <a:off x="4126" y="3159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4" name="Oval 1052"/>
            <p:cNvSpPr>
              <a:spLocks noChangeArrowheads="1"/>
            </p:cNvSpPr>
            <p:nvPr/>
          </p:nvSpPr>
          <p:spPr bwMode="auto">
            <a:xfrm>
              <a:off x="4126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5" name="Oval 1053"/>
            <p:cNvSpPr>
              <a:spLocks noChangeArrowheads="1"/>
            </p:cNvSpPr>
            <p:nvPr/>
          </p:nvSpPr>
          <p:spPr bwMode="auto">
            <a:xfrm>
              <a:off x="3844" y="3370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6" name="Oval 1054"/>
            <p:cNvSpPr>
              <a:spLocks noChangeArrowheads="1"/>
            </p:cNvSpPr>
            <p:nvPr/>
          </p:nvSpPr>
          <p:spPr bwMode="auto">
            <a:xfrm>
              <a:off x="3985" y="3230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7" name="Oval 1055"/>
            <p:cNvSpPr>
              <a:spLocks noChangeArrowheads="1"/>
            </p:cNvSpPr>
            <p:nvPr/>
          </p:nvSpPr>
          <p:spPr bwMode="auto">
            <a:xfrm>
              <a:off x="4129" y="3514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8" name="Oval 1056"/>
            <p:cNvSpPr>
              <a:spLocks noChangeArrowheads="1"/>
            </p:cNvSpPr>
            <p:nvPr/>
          </p:nvSpPr>
          <p:spPr bwMode="auto">
            <a:xfrm>
              <a:off x="4196" y="3297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49" name="Oval 1057"/>
            <p:cNvSpPr>
              <a:spLocks noChangeArrowheads="1"/>
            </p:cNvSpPr>
            <p:nvPr/>
          </p:nvSpPr>
          <p:spPr bwMode="auto">
            <a:xfrm>
              <a:off x="4196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0" name="Oval 1058"/>
            <p:cNvSpPr>
              <a:spLocks noChangeArrowheads="1"/>
            </p:cNvSpPr>
            <p:nvPr/>
          </p:nvSpPr>
          <p:spPr bwMode="auto">
            <a:xfrm>
              <a:off x="4618" y="3230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1" name="Oval 1059"/>
            <p:cNvSpPr>
              <a:spLocks noChangeArrowheads="1"/>
            </p:cNvSpPr>
            <p:nvPr/>
          </p:nvSpPr>
          <p:spPr bwMode="auto">
            <a:xfrm>
              <a:off x="4478" y="2948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2" name="Oval 1060"/>
            <p:cNvSpPr>
              <a:spLocks noChangeArrowheads="1"/>
            </p:cNvSpPr>
            <p:nvPr/>
          </p:nvSpPr>
          <p:spPr bwMode="auto">
            <a:xfrm>
              <a:off x="3694" y="3252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3" name="Oval 1061"/>
            <p:cNvSpPr>
              <a:spLocks noChangeArrowheads="1"/>
            </p:cNvSpPr>
            <p:nvPr/>
          </p:nvSpPr>
          <p:spPr bwMode="auto">
            <a:xfrm>
              <a:off x="4266" y="3159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4" name="Oval 1062"/>
            <p:cNvSpPr>
              <a:spLocks noChangeArrowheads="1"/>
            </p:cNvSpPr>
            <p:nvPr/>
          </p:nvSpPr>
          <p:spPr bwMode="auto">
            <a:xfrm>
              <a:off x="4407" y="3370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5" name="Oval 1063"/>
            <p:cNvSpPr>
              <a:spLocks noChangeArrowheads="1"/>
            </p:cNvSpPr>
            <p:nvPr/>
          </p:nvSpPr>
          <p:spPr bwMode="auto">
            <a:xfrm>
              <a:off x="4759" y="3441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6" name="Rectangle 1064"/>
            <p:cNvSpPr>
              <a:spLocks noChangeArrowheads="1"/>
            </p:cNvSpPr>
            <p:nvPr/>
          </p:nvSpPr>
          <p:spPr bwMode="auto">
            <a:xfrm>
              <a:off x="3504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SimSun" pitchFamily="2" charset="-122"/>
                </a:rPr>
                <a:t>p</a:t>
              </a:r>
            </a:p>
          </p:txBody>
        </p:sp>
        <p:sp>
          <p:nvSpPr>
            <p:cNvPr id="64557" name="Rectangle 1065"/>
            <p:cNvSpPr>
              <a:spLocks noChangeArrowheads="1"/>
            </p:cNvSpPr>
            <p:nvPr/>
          </p:nvSpPr>
          <p:spPr bwMode="auto">
            <a:xfrm>
              <a:off x="4992" y="283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SimSun" pitchFamily="2" charset="-122"/>
                </a:rPr>
                <a:t>q</a:t>
              </a:r>
            </a:p>
          </p:txBody>
        </p:sp>
        <p:sp>
          <p:nvSpPr>
            <p:cNvPr id="64558" name="Oval 1066"/>
            <p:cNvSpPr>
              <a:spLocks noChangeArrowheads="1"/>
            </p:cNvSpPr>
            <p:nvPr/>
          </p:nvSpPr>
          <p:spPr bwMode="auto">
            <a:xfrm>
              <a:off x="4858" y="318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59" name="Oval 1067"/>
            <p:cNvSpPr>
              <a:spLocks noChangeArrowheads="1"/>
            </p:cNvSpPr>
            <p:nvPr/>
          </p:nvSpPr>
          <p:spPr bwMode="auto">
            <a:xfrm>
              <a:off x="4506" y="3207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0" name="Oval 1068"/>
            <p:cNvSpPr>
              <a:spLocks noChangeArrowheads="1"/>
            </p:cNvSpPr>
            <p:nvPr/>
          </p:nvSpPr>
          <p:spPr bwMode="auto">
            <a:xfrm>
              <a:off x="4647" y="3322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1" name="Oval 1069"/>
            <p:cNvSpPr>
              <a:spLocks noChangeArrowheads="1"/>
            </p:cNvSpPr>
            <p:nvPr/>
          </p:nvSpPr>
          <p:spPr bwMode="auto">
            <a:xfrm>
              <a:off x="4954" y="2942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2" name="Oval 1070"/>
            <p:cNvSpPr>
              <a:spLocks noChangeArrowheads="1"/>
            </p:cNvSpPr>
            <p:nvPr/>
          </p:nvSpPr>
          <p:spPr bwMode="auto">
            <a:xfrm>
              <a:off x="4602" y="2871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3" name="Oval 1071"/>
            <p:cNvSpPr>
              <a:spLocks noChangeArrowheads="1"/>
            </p:cNvSpPr>
            <p:nvPr/>
          </p:nvSpPr>
          <p:spPr bwMode="auto">
            <a:xfrm>
              <a:off x="4791" y="3034"/>
              <a:ext cx="63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4" name="Oval 1072"/>
            <p:cNvSpPr>
              <a:spLocks noChangeArrowheads="1"/>
            </p:cNvSpPr>
            <p:nvPr/>
          </p:nvSpPr>
          <p:spPr bwMode="auto">
            <a:xfrm>
              <a:off x="352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5" name="Oval 1073"/>
            <p:cNvSpPr>
              <a:spLocks noChangeArrowheads="1"/>
            </p:cNvSpPr>
            <p:nvPr/>
          </p:nvSpPr>
          <p:spPr bwMode="auto">
            <a:xfrm>
              <a:off x="3860" y="3076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6" name="Oval 1074"/>
            <p:cNvSpPr>
              <a:spLocks noChangeArrowheads="1"/>
            </p:cNvSpPr>
            <p:nvPr/>
          </p:nvSpPr>
          <p:spPr bwMode="auto">
            <a:xfrm>
              <a:off x="4244" y="298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7" name="Oval 1075"/>
            <p:cNvSpPr>
              <a:spLocks noChangeArrowheads="1"/>
            </p:cNvSpPr>
            <p:nvPr/>
          </p:nvSpPr>
          <p:spPr bwMode="auto">
            <a:xfrm>
              <a:off x="4484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68" name="Line 1076"/>
            <p:cNvSpPr>
              <a:spLocks noChangeShapeType="1"/>
            </p:cNvSpPr>
            <p:nvPr/>
          </p:nvSpPr>
          <p:spPr bwMode="auto">
            <a:xfrm flipV="1">
              <a:off x="3888" y="3312"/>
              <a:ext cx="288" cy="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569" name="Line 1077"/>
            <p:cNvSpPr>
              <a:spLocks noChangeShapeType="1"/>
            </p:cNvSpPr>
            <p:nvPr/>
          </p:nvSpPr>
          <p:spPr bwMode="auto">
            <a:xfrm flipH="1">
              <a:off x="4272" y="3264"/>
              <a:ext cx="24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570" name="Oval 1078"/>
            <p:cNvSpPr>
              <a:spLocks noChangeArrowheads="1"/>
            </p:cNvSpPr>
            <p:nvPr/>
          </p:nvSpPr>
          <p:spPr bwMode="auto">
            <a:xfrm>
              <a:off x="3818" y="2993"/>
              <a:ext cx="63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71" name="Oval 1079"/>
            <p:cNvSpPr>
              <a:spLocks noChangeArrowheads="1"/>
            </p:cNvSpPr>
            <p:nvPr/>
          </p:nvSpPr>
          <p:spPr bwMode="auto">
            <a:xfrm>
              <a:off x="3694" y="3044"/>
              <a:ext cx="62" cy="62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72" name="Oval 1080"/>
            <p:cNvSpPr>
              <a:spLocks noChangeArrowheads="1"/>
            </p:cNvSpPr>
            <p:nvPr/>
          </p:nvSpPr>
          <p:spPr bwMode="auto">
            <a:xfrm>
              <a:off x="3860" y="2807"/>
              <a:ext cx="62" cy="63"/>
            </a:xfrm>
            <a:prstGeom prst="ellipse">
              <a:avLst/>
            </a:prstGeom>
            <a:solidFill>
              <a:srgbClr val="CC3300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73" name="Oval 1081"/>
            <p:cNvSpPr>
              <a:spLocks noChangeArrowheads="1"/>
            </p:cNvSpPr>
            <p:nvPr/>
          </p:nvSpPr>
          <p:spPr bwMode="auto">
            <a:xfrm>
              <a:off x="3428" y="2740"/>
              <a:ext cx="696" cy="69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4574" name="Line 1082"/>
            <p:cNvSpPr>
              <a:spLocks noChangeShapeType="1"/>
            </p:cNvSpPr>
            <p:nvPr/>
          </p:nvSpPr>
          <p:spPr bwMode="auto">
            <a:xfrm>
              <a:off x="3744" y="3072"/>
              <a:ext cx="96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575" name="Line 1083"/>
            <p:cNvSpPr>
              <a:spLocks noChangeShapeType="1"/>
            </p:cNvSpPr>
            <p:nvPr/>
          </p:nvSpPr>
          <p:spPr bwMode="auto">
            <a:xfrm flipH="1">
              <a:off x="4560" y="3072"/>
              <a:ext cx="24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64576" name="Rectangle 1084"/>
            <p:cNvSpPr>
              <a:spLocks noChangeArrowheads="1"/>
            </p:cNvSpPr>
            <p:nvPr/>
          </p:nvSpPr>
          <p:spPr bwMode="auto">
            <a:xfrm>
              <a:off x="4176" y="331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l" eaLnBrk="0" hangingPunct="0">
                <a:spcBef>
                  <a:spcPct val="50000"/>
                </a:spcBef>
              </a:pPr>
              <a:r>
                <a:rPr lang="en-US" altLang="zh-CN" b="1" i="1">
                  <a:latin typeface="Times New Roman" pitchFamily="18" charset="0"/>
                  <a:ea typeface="SimSun" pitchFamily="2" charset="-122"/>
                </a:rPr>
                <a:t>o</a:t>
              </a:r>
            </a:p>
          </p:txBody>
        </p:sp>
      </p:grpSp>
      <p:sp>
        <p:nvSpPr>
          <p:cNvPr id="64541" name="Line 1085"/>
          <p:cNvSpPr>
            <a:spLocks noChangeShapeType="1"/>
          </p:cNvSpPr>
          <p:nvPr/>
        </p:nvSpPr>
        <p:spPr bwMode="auto">
          <a:xfrm flipV="1">
            <a:off x="6934200" y="2667000"/>
            <a:ext cx="4572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495A2A0-A5BF-4187-830C-66C01289F9C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55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55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67A1A19-6B9B-4643-9F49-01FC29D36120}" type="slidenum">
              <a:rPr lang="zh-TW" altLang="en-US" sz="1200" smtClean="0"/>
              <a:pPr eaLnBrk="1" hangingPunct="1"/>
              <a:t>53</a:t>
            </a:fld>
            <a:endParaRPr lang="en-US" altLang="zh-TW" sz="1200" smtClean="0"/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534400" cy="990600"/>
          </a:xfrm>
        </p:spPr>
        <p:txBody>
          <a:bodyPr/>
          <a:lstStyle/>
          <a:p>
            <a:pPr eaLnBrk="1" hangingPunct="1"/>
            <a:r>
              <a:rPr lang="en-US" altLang="zh-CN" sz="3200" smtClean="0">
                <a:ea typeface="SimSun" pitchFamily="2" charset="-122"/>
              </a:rPr>
              <a:t>DBSCAN: Density Based Spatial Clustering of Applications with Noise</a:t>
            </a:r>
          </a:p>
        </p:txBody>
      </p:sp>
      <p:sp>
        <p:nvSpPr>
          <p:cNvPr id="655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534400" cy="5029200"/>
          </a:xfrm>
        </p:spPr>
        <p:txBody>
          <a:bodyPr/>
          <a:lstStyle/>
          <a:p>
            <a:pPr eaLnBrk="1" hangingPunct="1"/>
            <a:r>
              <a:rPr lang="en-US" altLang="zh-CN" sz="2400" smtClean="0">
                <a:ea typeface="SimSun" pitchFamily="2" charset="-122"/>
              </a:rPr>
              <a:t>Relies on a </a:t>
            </a:r>
            <a:r>
              <a:rPr lang="en-US" altLang="zh-CN" sz="2400" i="1" smtClean="0">
                <a:ea typeface="SimSun" pitchFamily="2" charset="-122"/>
              </a:rPr>
              <a:t>density-based</a:t>
            </a:r>
            <a:r>
              <a:rPr lang="en-US" altLang="zh-CN" sz="2400" smtClean="0">
                <a:ea typeface="SimSun" pitchFamily="2" charset="-122"/>
              </a:rPr>
              <a:t> notion of cluster:  A </a:t>
            </a:r>
            <a:r>
              <a:rPr lang="en-US" altLang="zh-CN" sz="2400" i="1" smtClean="0">
                <a:ea typeface="SimSun" pitchFamily="2" charset="-122"/>
              </a:rPr>
              <a:t>cluster</a:t>
            </a:r>
            <a:r>
              <a:rPr lang="en-US" altLang="zh-CN" sz="2400" smtClean="0">
                <a:ea typeface="SimSun" pitchFamily="2" charset="-122"/>
              </a:rPr>
              <a:t> is defined as a maximal set of density-connected points</a:t>
            </a:r>
          </a:p>
          <a:p>
            <a:pPr eaLnBrk="1" hangingPunct="1"/>
            <a:r>
              <a:rPr lang="en-US" altLang="zh-CN" sz="2400" smtClean="0">
                <a:ea typeface="SimSun" pitchFamily="2" charset="-122"/>
              </a:rPr>
              <a:t>Discovers clusters of arbitrary shape in spatial databases with noise</a:t>
            </a:r>
          </a:p>
        </p:txBody>
      </p:sp>
      <p:grpSp>
        <p:nvGrpSpPr>
          <p:cNvPr id="65543" name="Group 4"/>
          <p:cNvGrpSpPr>
            <a:grpSpLocks/>
          </p:cNvGrpSpPr>
          <p:nvPr/>
        </p:nvGrpSpPr>
        <p:grpSpPr bwMode="auto">
          <a:xfrm>
            <a:off x="2057400" y="3505200"/>
            <a:ext cx="6324600" cy="2743200"/>
            <a:chOff x="672" y="1824"/>
            <a:chExt cx="4608" cy="2112"/>
          </a:xfrm>
        </p:grpSpPr>
        <p:sp>
          <p:nvSpPr>
            <p:cNvPr id="65544" name="Oval 5"/>
            <p:cNvSpPr>
              <a:spLocks noChangeArrowheads="1"/>
            </p:cNvSpPr>
            <p:nvPr/>
          </p:nvSpPr>
          <p:spPr bwMode="auto">
            <a:xfrm>
              <a:off x="1872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45" name="Oval 6"/>
            <p:cNvSpPr>
              <a:spLocks noChangeArrowheads="1"/>
            </p:cNvSpPr>
            <p:nvPr/>
          </p:nvSpPr>
          <p:spPr bwMode="auto">
            <a:xfrm>
              <a:off x="1824" y="273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46" name="Oval 7"/>
            <p:cNvSpPr>
              <a:spLocks noChangeArrowheads="1"/>
            </p:cNvSpPr>
            <p:nvPr/>
          </p:nvSpPr>
          <p:spPr bwMode="auto">
            <a:xfrm>
              <a:off x="2064" y="278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47" name="Oval 8"/>
            <p:cNvSpPr>
              <a:spLocks noChangeArrowheads="1"/>
            </p:cNvSpPr>
            <p:nvPr/>
          </p:nvSpPr>
          <p:spPr bwMode="auto">
            <a:xfrm>
              <a:off x="2160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48" name="Oval 9"/>
            <p:cNvSpPr>
              <a:spLocks noChangeArrowheads="1"/>
            </p:cNvSpPr>
            <p:nvPr/>
          </p:nvSpPr>
          <p:spPr bwMode="auto">
            <a:xfrm>
              <a:off x="2256" y="292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49" name="Oval 10"/>
            <p:cNvSpPr>
              <a:spLocks noChangeArrowheads="1"/>
            </p:cNvSpPr>
            <p:nvPr/>
          </p:nvSpPr>
          <p:spPr bwMode="auto">
            <a:xfrm>
              <a:off x="1872" y="297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0" name="Oval 11"/>
            <p:cNvSpPr>
              <a:spLocks noChangeArrowheads="1"/>
            </p:cNvSpPr>
            <p:nvPr/>
          </p:nvSpPr>
          <p:spPr bwMode="auto">
            <a:xfrm>
              <a:off x="2064" y="312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1" name="Oval 12"/>
            <p:cNvSpPr>
              <a:spLocks noChangeArrowheads="1"/>
            </p:cNvSpPr>
            <p:nvPr/>
          </p:nvSpPr>
          <p:spPr bwMode="auto">
            <a:xfrm>
              <a:off x="1968" y="336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2" name="Oval 13"/>
            <p:cNvSpPr>
              <a:spLocks noChangeArrowheads="1"/>
            </p:cNvSpPr>
            <p:nvPr/>
          </p:nvSpPr>
          <p:spPr bwMode="auto">
            <a:xfrm>
              <a:off x="2208" y="350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3" name="Oval 14"/>
            <p:cNvSpPr>
              <a:spLocks noChangeArrowheads="1"/>
            </p:cNvSpPr>
            <p:nvPr/>
          </p:nvSpPr>
          <p:spPr bwMode="auto">
            <a:xfrm>
              <a:off x="2304" y="36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4" name="Oval 15"/>
            <p:cNvSpPr>
              <a:spLocks noChangeArrowheads="1"/>
            </p:cNvSpPr>
            <p:nvPr/>
          </p:nvSpPr>
          <p:spPr bwMode="auto">
            <a:xfrm>
              <a:off x="2256" y="326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5" name="Oval 16"/>
            <p:cNvSpPr>
              <a:spLocks noChangeArrowheads="1"/>
            </p:cNvSpPr>
            <p:nvPr/>
          </p:nvSpPr>
          <p:spPr bwMode="auto">
            <a:xfrm>
              <a:off x="2880" y="192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6" name="Oval 17"/>
            <p:cNvSpPr>
              <a:spLocks noChangeArrowheads="1"/>
            </p:cNvSpPr>
            <p:nvPr/>
          </p:nvSpPr>
          <p:spPr bwMode="auto">
            <a:xfrm>
              <a:off x="2976" y="249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7" name="Oval 18"/>
            <p:cNvSpPr>
              <a:spLocks noChangeArrowheads="1"/>
            </p:cNvSpPr>
            <p:nvPr/>
          </p:nvSpPr>
          <p:spPr bwMode="auto">
            <a:xfrm>
              <a:off x="2832" y="2688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8" name="Oval 19"/>
            <p:cNvSpPr>
              <a:spLocks noChangeArrowheads="1"/>
            </p:cNvSpPr>
            <p:nvPr/>
          </p:nvSpPr>
          <p:spPr bwMode="auto">
            <a:xfrm>
              <a:off x="3168" y="278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59" name="Oval 20"/>
            <p:cNvSpPr>
              <a:spLocks noChangeArrowheads="1"/>
            </p:cNvSpPr>
            <p:nvPr/>
          </p:nvSpPr>
          <p:spPr bwMode="auto">
            <a:xfrm>
              <a:off x="3264" y="2544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0" name="Oval 21"/>
            <p:cNvSpPr>
              <a:spLocks noChangeArrowheads="1"/>
            </p:cNvSpPr>
            <p:nvPr/>
          </p:nvSpPr>
          <p:spPr bwMode="auto">
            <a:xfrm>
              <a:off x="2976" y="2880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1" name="Rectangle 22"/>
            <p:cNvSpPr>
              <a:spLocks noChangeArrowheads="1"/>
            </p:cNvSpPr>
            <p:nvPr/>
          </p:nvSpPr>
          <p:spPr bwMode="auto">
            <a:xfrm>
              <a:off x="1392" y="1824"/>
              <a:ext cx="2448" cy="21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2" name="Oval 23"/>
            <p:cNvSpPr>
              <a:spLocks noChangeArrowheads="1"/>
            </p:cNvSpPr>
            <p:nvPr/>
          </p:nvSpPr>
          <p:spPr bwMode="auto">
            <a:xfrm>
              <a:off x="1584" y="2304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3" name="Oval 24"/>
            <p:cNvSpPr>
              <a:spLocks noChangeArrowheads="1"/>
            </p:cNvSpPr>
            <p:nvPr/>
          </p:nvSpPr>
          <p:spPr bwMode="auto">
            <a:xfrm>
              <a:off x="1872" y="2880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4" name="Oval 25"/>
            <p:cNvSpPr>
              <a:spLocks noChangeArrowheads="1"/>
            </p:cNvSpPr>
            <p:nvPr/>
          </p:nvSpPr>
          <p:spPr bwMode="auto">
            <a:xfrm>
              <a:off x="2688" y="1824"/>
              <a:ext cx="576" cy="62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65565" name="AutoShape 26"/>
            <p:cNvSpPr>
              <a:spLocks/>
            </p:cNvSpPr>
            <p:nvPr/>
          </p:nvSpPr>
          <p:spPr bwMode="auto">
            <a:xfrm>
              <a:off x="1094" y="3124"/>
              <a:ext cx="576" cy="360"/>
            </a:xfrm>
            <a:prstGeom prst="borderCallout1">
              <a:avLst>
                <a:gd name="adj1" fmla="val 18750"/>
                <a:gd name="adj2" fmla="val 108333"/>
                <a:gd name="adj3" fmla="val 18750"/>
                <a:gd name="adj4" fmla="val 16875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Core</a:t>
              </a:r>
            </a:p>
          </p:txBody>
        </p:sp>
        <p:sp>
          <p:nvSpPr>
            <p:cNvPr id="65566" name="AutoShape 27"/>
            <p:cNvSpPr>
              <a:spLocks/>
            </p:cNvSpPr>
            <p:nvPr/>
          </p:nvSpPr>
          <p:spPr bwMode="auto">
            <a:xfrm>
              <a:off x="672" y="2523"/>
              <a:ext cx="817" cy="359"/>
            </a:xfrm>
            <a:prstGeom prst="borderCallout1">
              <a:avLst>
                <a:gd name="adj1" fmla="val 14458"/>
                <a:gd name="adj2" fmla="val 105884"/>
                <a:gd name="adj3" fmla="val 14458"/>
                <a:gd name="adj4" fmla="val 148528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Border</a:t>
              </a:r>
            </a:p>
          </p:txBody>
        </p:sp>
        <p:sp>
          <p:nvSpPr>
            <p:cNvPr id="65567" name="AutoShape 28"/>
            <p:cNvSpPr>
              <a:spLocks/>
            </p:cNvSpPr>
            <p:nvPr/>
          </p:nvSpPr>
          <p:spPr bwMode="auto">
            <a:xfrm>
              <a:off x="3697" y="1921"/>
              <a:ext cx="824" cy="359"/>
            </a:xfrm>
            <a:prstGeom prst="borderCallout1">
              <a:avLst>
                <a:gd name="adj1" fmla="val 24491"/>
                <a:gd name="adj2" fmla="val -5810"/>
                <a:gd name="adj3" fmla="val 21431"/>
                <a:gd name="adj4" fmla="val -8281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Outlier</a:t>
              </a:r>
            </a:p>
          </p:txBody>
        </p:sp>
        <p:sp>
          <p:nvSpPr>
            <p:cNvPr id="65568" name="Text Box 29"/>
            <p:cNvSpPr txBox="1">
              <a:spLocks noChangeArrowheads="1"/>
            </p:cNvSpPr>
            <p:nvPr/>
          </p:nvSpPr>
          <p:spPr bwMode="auto">
            <a:xfrm>
              <a:off x="4081" y="2736"/>
              <a:ext cx="1199" cy="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Eps = 1cm</a:t>
              </a:r>
            </a:p>
            <a:p>
              <a:pPr algn="l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  <a:ea typeface="SimSun" pitchFamily="2" charset="-122"/>
                </a:rPr>
                <a:t>MinPts = 5</a:t>
              </a:r>
            </a:p>
          </p:txBody>
        </p:sp>
        <p:sp>
          <p:nvSpPr>
            <p:cNvPr id="65569" name="Oval 30"/>
            <p:cNvSpPr>
              <a:spLocks noChangeArrowheads="1"/>
            </p:cNvSpPr>
            <p:nvPr/>
          </p:nvSpPr>
          <p:spPr bwMode="auto">
            <a:xfrm>
              <a:off x="2400" y="3456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8924C03-EFA3-4236-8C79-0844BD73177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65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65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2D8AEFD-8D46-4406-98A0-6E13A4722C6F}" type="slidenum">
              <a:rPr lang="zh-TW" altLang="en-US" sz="1200" smtClean="0"/>
              <a:pPr eaLnBrk="1" hangingPunct="1"/>
              <a:t>54</a:t>
            </a:fld>
            <a:endParaRPr lang="en-US" altLang="zh-TW" sz="1200" smtClean="0"/>
          </a:p>
        </p:txBody>
      </p:sp>
      <p:sp>
        <p:nvSpPr>
          <p:cNvPr id="66565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92125"/>
            <a:ext cx="7437437" cy="38735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SimSun" pitchFamily="2" charset="-122"/>
              </a:rPr>
              <a:t>DBSCAN: The Algorithm</a:t>
            </a:r>
            <a:endParaRPr lang="en-US" altLang="zh-CN" sz="3200" smtClean="0">
              <a:ea typeface="SimSun" pitchFamily="2" charset="-122"/>
            </a:endParaRPr>
          </a:p>
        </p:txBody>
      </p:sp>
      <p:sp>
        <p:nvSpPr>
          <p:cNvPr id="665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305800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Arbitrary select a point </a:t>
            </a:r>
            <a:r>
              <a:rPr lang="en-US" altLang="zh-CN" sz="2400" i="1" smtClean="0">
                <a:ea typeface="SimSun" pitchFamily="2" charset="-122"/>
              </a:rPr>
              <a:t>p</a:t>
            </a:r>
            <a:endParaRPr lang="en-US" altLang="zh-CN" sz="2400" smtClean="0">
              <a:ea typeface="SimSun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Retrieve all points density-reachable from </a:t>
            </a:r>
            <a:r>
              <a:rPr lang="en-US" altLang="zh-CN" sz="2400" i="1" smtClean="0">
                <a:ea typeface="SimSun" pitchFamily="2" charset="-122"/>
              </a:rPr>
              <a:t>p</a:t>
            </a:r>
            <a:r>
              <a:rPr lang="en-US" altLang="zh-CN" sz="2400" smtClean="0">
                <a:ea typeface="SimSun" pitchFamily="2" charset="-122"/>
              </a:rPr>
              <a:t> w.r.t. </a:t>
            </a:r>
            <a:r>
              <a:rPr lang="en-US" altLang="zh-CN" sz="2400" i="1" smtClean="0">
                <a:ea typeface="SimSun" pitchFamily="2" charset="-122"/>
              </a:rPr>
              <a:t>Eps</a:t>
            </a:r>
            <a:r>
              <a:rPr lang="en-US" altLang="zh-CN" sz="2400" smtClean="0">
                <a:ea typeface="SimSun" pitchFamily="2" charset="-122"/>
              </a:rPr>
              <a:t> and </a:t>
            </a:r>
            <a:r>
              <a:rPr lang="en-US" altLang="zh-CN" sz="2400" i="1" smtClean="0">
                <a:ea typeface="SimSun" pitchFamily="2" charset="-122"/>
              </a:rPr>
              <a:t>MinPts</a:t>
            </a:r>
            <a:r>
              <a:rPr lang="en-US" altLang="zh-CN" sz="2400" smtClean="0">
                <a:ea typeface="SimSun" pitchFamily="2" charset="-122"/>
              </a:rPr>
              <a:t>.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If </a:t>
            </a:r>
            <a:r>
              <a:rPr lang="en-US" altLang="zh-CN" sz="2400" i="1" smtClean="0">
                <a:ea typeface="SimSun" pitchFamily="2" charset="-122"/>
              </a:rPr>
              <a:t>p</a:t>
            </a:r>
            <a:r>
              <a:rPr lang="en-US" altLang="zh-CN" sz="2400" smtClean="0">
                <a:ea typeface="SimSun" pitchFamily="2" charset="-122"/>
              </a:rPr>
              <a:t> is a core point, a cluster is formed.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If </a:t>
            </a:r>
            <a:r>
              <a:rPr lang="en-US" altLang="zh-CN" sz="2400" i="1" smtClean="0">
                <a:ea typeface="SimSun" pitchFamily="2" charset="-122"/>
              </a:rPr>
              <a:t>p</a:t>
            </a:r>
            <a:r>
              <a:rPr lang="en-US" altLang="zh-CN" sz="2400" smtClean="0">
                <a:ea typeface="SimSun" pitchFamily="2" charset="-122"/>
              </a:rPr>
              <a:t> is a border point, no points are density-reachable from </a:t>
            </a:r>
            <a:r>
              <a:rPr lang="en-US" altLang="zh-CN" sz="2400" i="1" smtClean="0">
                <a:ea typeface="SimSun" pitchFamily="2" charset="-122"/>
              </a:rPr>
              <a:t>p</a:t>
            </a:r>
            <a:r>
              <a:rPr lang="en-US" altLang="zh-CN" sz="2400" smtClean="0">
                <a:ea typeface="SimSun" pitchFamily="2" charset="-122"/>
              </a:rPr>
              <a:t> and DBSCAN visits the next point of the database.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smtClean="0">
                <a:ea typeface="SimSun" pitchFamily="2" charset="-122"/>
              </a:rPr>
              <a:t>Continue the process until all of the points have been processed.</a:t>
            </a:r>
            <a:endParaRPr lang="en-US" altLang="zh-CN" sz="2000" smtClean="0">
              <a:ea typeface="SimSun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C1E8F33-5B1D-4B73-AF5E-655964F0BE2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75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75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8DF7F77-35FF-4C7B-8EFF-5BD947F4DEC2}" type="slidenum">
              <a:rPr lang="zh-TW" altLang="en-US" sz="1200" smtClean="0"/>
              <a:pPr eaLnBrk="1" hangingPunct="1"/>
              <a:t>55</a:t>
            </a:fld>
            <a:endParaRPr lang="en-US" altLang="zh-TW" sz="1200" smtClean="0"/>
          </a:p>
        </p:txBody>
      </p:sp>
      <p:sp>
        <p:nvSpPr>
          <p:cNvPr id="67589" name="Rectangle 2"/>
          <p:cNvSpPr>
            <a:spLocks noGrp="1" noChangeArrowheads="1"/>
          </p:cNvSpPr>
          <p:nvPr>
            <p:ph type="title"/>
          </p:nvPr>
        </p:nvSpPr>
        <p:spPr>
          <a:xfrm>
            <a:off x="681038" y="492125"/>
            <a:ext cx="7437437" cy="387350"/>
          </a:xfrm>
        </p:spPr>
        <p:txBody>
          <a:bodyPr/>
          <a:lstStyle/>
          <a:p>
            <a:pPr eaLnBrk="1" hangingPunct="1"/>
            <a:r>
              <a:rPr lang="en-US" altLang="zh-CN" smtClean="0">
                <a:ea typeface="SimSun" pitchFamily="2" charset="-122"/>
              </a:rPr>
              <a:t>DBSCAN: Sensitive to Parameters</a:t>
            </a:r>
            <a:endParaRPr lang="en-US" altLang="zh-CN" sz="3200" smtClean="0">
              <a:ea typeface="SimSun" pitchFamily="2" charset="-122"/>
            </a:endParaRPr>
          </a:p>
        </p:txBody>
      </p:sp>
      <p:pic>
        <p:nvPicPr>
          <p:cNvPr id="67590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371600"/>
            <a:ext cx="8305800" cy="3124200"/>
          </a:xfrm>
        </p:spPr>
      </p:pic>
      <p:pic>
        <p:nvPicPr>
          <p:cNvPr id="6759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8534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455988"/>
            <a:ext cx="1524000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050D42D-8764-494B-BEB0-42E762FF9434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86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86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FE9110F-EAD4-415F-983C-A3363885D6A5}" type="slidenum">
              <a:rPr lang="zh-TW" altLang="en-US" sz="1200" smtClean="0"/>
              <a:pPr eaLnBrk="1" hangingPunct="1"/>
              <a:t>56</a:t>
            </a:fld>
            <a:endParaRPr lang="en-US" altLang="zh-TW" sz="1200" smtClean="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848600" cy="838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68615" name="AutoShape 4"/>
          <p:cNvSpPr>
            <a:spLocks noChangeArrowheads="1"/>
          </p:cNvSpPr>
          <p:nvPr/>
        </p:nvSpPr>
        <p:spPr bwMode="auto">
          <a:xfrm rot="-1466637">
            <a:off x="3352800" y="38862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A90B61B-0D01-4C25-BF38-A26B6A6236A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696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696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60E2A80-A0DC-4466-9800-99DB651D64E5}" type="slidenum">
              <a:rPr lang="zh-TW" altLang="en-US" sz="1200" smtClean="0"/>
              <a:pPr eaLnBrk="1" hangingPunct="1"/>
              <a:t>57</a:t>
            </a:fld>
            <a:endParaRPr lang="en-US" altLang="zh-TW" sz="1200" smtClean="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Grid-Based Clustering Method </a:t>
            </a:r>
          </a:p>
        </p:txBody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066088" cy="48768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Using multi-resolution grid data structure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dirty="0" smtClean="0">
                <a:ea typeface="新細明體" pitchFamily="18" charset="-120"/>
              </a:rPr>
              <a:t>Several interesting methods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dirty="0" smtClean="0">
                <a:solidFill>
                  <a:schemeClr val="hlink"/>
                </a:solidFill>
                <a:ea typeface="新細明體" pitchFamily="18" charset="-120"/>
              </a:rPr>
              <a:t>STING </a:t>
            </a:r>
            <a:r>
              <a:rPr lang="en-US" altLang="zh-TW" sz="2000" dirty="0" smtClean="0">
                <a:ea typeface="新細明體" pitchFamily="18" charset="-120"/>
              </a:rPr>
              <a:t>(a </a:t>
            </a:r>
            <a:r>
              <a:rPr lang="en-US" altLang="zh-TW" sz="2000" dirty="0" err="1" smtClean="0">
                <a:ea typeface="新細明體" pitchFamily="18" charset="-120"/>
              </a:rPr>
              <a:t>STatistical</a:t>
            </a:r>
            <a:r>
              <a:rPr lang="en-US" altLang="zh-TW" sz="2000" dirty="0" smtClean="0">
                <a:ea typeface="新細明體" pitchFamily="18" charset="-120"/>
              </a:rPr>
              <a:t> </a:t>
            </a:r>
            <a:r>
              <a:rPr lang="en-US" altLang="zh-TW" sz="2000" dirty="0" err="1" smtClean="0">
                <a:ea typeface="新細明體" pitchFamily="18" charset="-120"/>
              </a:rPr>
              <a:t>INformation</a:t>
            </a:r>
            <a:r>
              <a:rPr lang="en-US" altLang="zh-TW" sz="2000" dirty="0" smtClean="0">
                <a:ea typeface="新細明體" pitchFamily="18" charset="-120"/>
              </a:rPr>
              <a:t> Grid approach) by Wang, Yang and </a:t>
            </a:r>
            <a:r>
              <a:rPr lang="en-US" altLang="zh-TW" sz="2000" dirty="0" err="1" smtClean="0">
                <a:ea typeface="新細明體" pitchFamily="18" charset="-120"/>
              </a:rPr>
              <a:t>Muntz</a:t>
            </a:r>
            <a:r>
              <a:rPr lang="en-US" altLang="zh-TW" sz="2000" dirty="0" smtClean="0">
                <a:ea typeface="新細明體" pitchFamily="18" charset="-120"/>
              </a:rPr>
              <a:t> (1997)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TW" sz="2000" dirty="0" err="1" smtClean="0">
                <a:solidFill>
                  <a:schemeClr val="hlink"/>
                </a:solidFill>
                <a:ea typeface="新細明體" pitchFamily="18" charset="-120"/>
              </a:rPr>
              <a:t>WaveCluster</a:t>
            </a:r>
            <a:r>
              <a:rPr lang="en-US" altLang="zh-TW" sz="2000" dirty="0" smtClean="0">
                <a:ea typeface="新細明體" pitchFamily="18" charset="-120"/>
              </a:rPr>
              <a:t> by </a:t>
            </a:r>
            <a:r>
              <a:rPr lang="en-US" altLang="zh-TW" sz="2000" dirty="0" err="1" smtClean="0">
                <a:ea typeface="新細明體" pitchFamily="18" charset="-120"/>
              </a:rPr>
              <a:t>Sheikholeslami</a:t>
            </a:r>
            <a:r>
              <a:rPr lang="en-US" altLang="zh-TW" sz="2000" dirty="0" smtClean="0">
                <a:ea typeface="新細明體" pitchFamily="18" charset="-120"/>
              </a:rPr>
              <a:t>, Chatterjee, and Zhang (VLDB’98)</a:t>
            </a:r>
          </a:p>
          <a:p>
            <a:pPr lvl="2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TW" sz="2000" dirty="0" smtClean="0">
                <a:ea typeface="新細明體" pitchFamily="18" charset="-120"/>
              </a:rPr>
              <a:t>A multi-resolution clustering approach using wavelet method</a:t>
            </a:r>
            <a:r>
              <a:rPr lang="zh-TW" altLang="en-US" sz="2000" b="1" dirty="0" smtClean="0">
                <a:ea typeface="新細明體" pitchFamily="18" charset="-120"/>
              </a:rPr>
              <a:t> </a:t>
            </a:r>
            <a:r>
              <a:rPr lang="en-US" altLang="zh-TW" sz="2000" b="1" dirty="0" smtClean="0">
                <a:ea typeface="新細明體" pitchFamily="18" charset="-120"/>
              </a:rPr>
              <a:t>(dimension</a:t>
            </a:r>
            <a:r>
              <a:rPr lang="zh-TW" altLang="en-US" sz="2000" b="1" dirty="0" smtClean="0">
                <a:ea typeface="新細明體" pitchFamily="18" charset="-120"/>
              </a:rPr>
              <a:t> 越低 越粗 細節不清</a:t>
            </a:r>
            <a:r>
              <a:rPr lang="en-US" altLang="zh-TW" sz="2000" b="1" dirty="0" smtClean="0">
                <a:ea typeface="新細明體" pitchFamily="18" charset="-120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2000" dirty="0" smtClean="0">
                <a:solidFill>
                  <a:schemeClr val="hlink"/>
                </a:solidFill>
                <a:ea typeface="SimSun" pitchFamily="2" charset="-122"/>
              </a:rPr>
              <a:t>CLIQUE</a:t>
            </a:r>
            <a:r>
              <a:rPr lang="en-US" altLang="zh-CN" sz="2000" dirty="0" smtClean="0">
                <a:ea typeface="SimSun" pitchFamily="2" charset="-122"/>
              </a:rPr>
              <a:t>: Agrawal, et al. (SIGMOD</a:t>
            </a:r>
            <a:r>
              <a:rPr lang="en-US" altLang="zh-CN" sz="2000" dirty="0" smtClean="0">
                <a:latin typeface="Times New Roman" pitchFamily="18" charset="0"/>
                <a:ea typeface="SimSun" pitchFamily="2" charset="-122"/>
              </a:rPr>
              <a:t>’</a:t>
            </a:r>
            <a:r>
              <a:rPr lang="en-US" altLang="zh-CN" sz="2000" dirty="0" smtClean="0">
                <a:ea typeface="SimSun" pitchFamily="2" charset="-122"/>
              </a:rPr>
              <a:t>98)</a:t>
            </a:r>
          </a:p>
          <a:p>
            <a:pPr lvl="2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altLang="zh-CN" sz="1800" dirty="0" smtClean="0">
                <a:ea typeface="SimSun" pitchFamily="2" charset="-122"/>
              </a:rPr>
              <a:t>On high-dimensional data (thus put in the section of clustering high-dimensional data</a:t>
            </a:r>
          </a:p>
          <a:p>
            <a:pPr lvl="1" eaLnBrk="1" hangingPunct="1">
              <a:lnSpc>
                <a:spcPct val="120000"/>
              </a:lnSpc>
            </a:pPr>
            <a:endParaRPr lang="zh-TW" altLang="en-US" sz="2000" dirty="0" smtClean="0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6473BB8-8AD3-4D7E-BFB5-D60394F7D28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37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37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7E492C1-A287-4467-A082-74A035BB9022}" type="slidenum">
              <a:rPr lang="zh-TW" altLang="en-US" sz="1200" smtClean="0"/>
              <a:pPr eaLnBrk="1" hangingPunct="1"/>
              <a:t>58</a:t>
            </a:fld>
            <a:endParaRPr lang="en-US" altLang="zh-TW" sz="1200" smtClean="0"/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7630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2800" smtClean="0">
                <a:ea typeface="新細明體" pitchFamily="18" charset="-120"/>
              </a:rPr>
              <a:t>WaveCluster: Clustering by Wavelet Analysis (1998)</a:t>
            </a: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305800" cy="51054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110000"/>
              </a:lnSpc>
            </a:pPr>
            <a:r>
              <a:rPr lang="en-US" altLang="zh-TW" sz="2000" dirty="0" err="1" smtClean="0">
                <a:ea typeface="新細明體" pitchFamily="18" charset="-120"/>
              </a:rPr>
              <a:t>Sheikholeslami</a:t>
            </a:r>
            <a:r>
              <a:rPr lang="en-US" altLang="zh-TW" sz="2000" dirty="0" smtClean="0">
                <a:ea typeface="新細明體" pitchFamily="18" charset="-120"/>
              </a:rPr>
              <a:t>, Chatterjee, and Zhang (VLDB’98)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A multi-resolution clustering approach which applies wavelet transform to the feature space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zh-TW" sz="2000" dirty="0" smtClean="0">
                <a:ea typeface="新細明體" pitchFamily="18" charset="-120"/>
              </a:rPr>
              <a:t>How to apply wavelet transform to find clusters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000" dirty="0" smtClean="0">
                <a:ea typeface="新細明體" pitchFamily="18" charset="-120"/>
              </a:rPr>
              <a:t>Summarizes the data by imposing a </a:t>
            </a:r>
            <a:r>
              <a:rPr lang="en-US" altLang="zh-TW" sz="2000" b="1" dirty="0" smtClean="0">
                <a:ea typeface="新細明體" pitchFamily="18" charset="-120"/>
              </a:rPr>
              <a:t>multidimensional grid </a:t>
            </a:r>
            <a:r>
              <a:rPr lang="en-US" altLang="zh-TW" sz="2000" dirty="0" smtClean="0">
                <a:ea typeface="新細明體" pitchFamily="18" charset="-120"/>
              </a:rPr>
              <a:t>structure onto data space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000" dirty="0" smtClean="0">
                <a:ea typeface="新細明體" pitchFamily="18" charset="-120"/>
              </a:rPr>
              <a:t>These multidimensional spatial data objects are represented in a n-dimensional feature space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000" dirty="0" smtClean="0">
                <a:ea typeface="新細明體" pitchFamily="18" charset="-120"/>
              </a:rPr>
              <a:t>Apply wavelet transform on feature space to find the dense regions in the feature space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TW" sz="2000" dirty="0" smtClean="0">
                <a:ea typeface="新細明體" pitchFamily="18" charset="-120"/>
              </a:rPr>
              <a:t>Apply wavelet transform multiple times which result in clusters at different scales from fine to coarse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CCB52E5-911D-4DA2-91A9-1A9173562DD9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47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47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2E6C1F4-0C45-47B2-9E80-7F129B521EBB}" type="slidenum">
              <a:rPr lang="zh-TW" altLang="en-US" sz="1200" smtClean="0"/>
              <a:pPr eaLnBrk="1" hangingPunct="1"/>
              <a:t>59</a:t>
            </a:fld>
            <a:endParaRPr lang="en-US" altLang="zh-TW" sz="1200" smtClean="0"/>
          </a:p>
        </p:txBody>
      </p:sp>
      <p:sp>
        <p:nvSpPr>
          <p:cNvPr id="747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Wavelet Transform</a:t>
            </a:r>
          </a:p>
        </p:txBody>
      </p:sp>
      <p:sp>
        <p:nvSpPr>
          <p:cNvPr id="747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382000" cy="24384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Wavelet transform: A signal processing technique that decomposes a signal into different frequency sub-band (can be applied to n-dimensional signals)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Data are transformed to preserve relative distance between objects at different levels of resolution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Allows natural clusters to become more distinguishable</a:t>
            </a:r>
          </a:p>
        </p:txBody>
      </p:sp>
      <p:pic>
        <p:nvPicPr>
          <p:cNvPr id="74759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76675"/>
            <a:ext cx="3795713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60" name="Picture 5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854450"/>
            <a:ext cx="3852863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EBEFE1F-5CF9-4047-B6AF-F3F40AC9B57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577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578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78C056D-BA85-4DD6-A830-82EF574716ED}" type="slidenum">
              <a:rPr lang="zh-TW" altLang="en-US" sz="1200" smtClean="0"/>
              <a:pPr eaLnBrk="1" hangingPunct="1"/>
              <a:t>60</a:t>
            </a:fld>
            <a:endParaRPr lang="en-US" altLang="zh-TW" sz="1200" smtClean="0"/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>
          <a:xfrm>
            <a:off x="822325" y="381000"/>
            <a:ext cx="7580313" cy="609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The WaveCluster Algorithm</a:t>
            </a:r>
          </a:p>
        </p:txBody>
      </p:sp>
      <p:sp>
        <p:nvSpPr>
          <p:cNvPr id="757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305800" cy="5181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zh-TW" sz="2000" smtClean="0">
                <a:ea typeface="新細明體" pitchFamily="18" charset="-120"/>
              </a:rPr>
              <a:t>Input parameters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# of grid cells for each dimension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the wavelet, and the # of applications of wavelet transform</a:t>
            </a:r>
          </a:p>
          <a:p>
            <a:pPr eaLnBrk="1" hangingPunct="1"/>
            <a:r>
              <a:rPr lang="en-US" altLang="zh-TW" sz="2000" smtClean="0">
                <a:ea typeface="新細明體" pitchFamily="18" charset="-120"/>
              </a:rPr>
              <a:t>Why is wavelet transformation useful for clustering?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Use hat-shape filters to emphasize region where points cluster, but simultaneously suppress weaker information in their boundary  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Effective removal of outliers, multi-resolution, cost effective</a:t>
            </a:r>
          </a:p>
          <a:p>
            <a:pPr eaLnBrk="1" hangingPunct="1"/>
            <a:r>
              <a:rPr lang="en-US" altLang="zh-TW" sz="2000" smtClean="0">
                <a:ea typeface="新細明體" pitchFamily="18" charset="-120"/>
              </a:rPr>
              <a:t>Major features: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Complexity O(N)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Detect arbitrary shaped clusters at different scales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Not sensitive to noise, not sensitive to input order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Only applicable to low dimensional data</a:t>
            </a:r>
          </a:p>
          <a:p>
            <a:pPr eaLnBrk="1" hangingPunct="1"/>
            <a:r>
              <a:rPr lang="en-US" altLang="zh-TW" sz="2000" smtClean="0">
                <a:ea typeface="新細明體" pitchFamily="18" charset="-120"/>
              </a:rPr>
              <a:t>Both grid-based and density-based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9BE2B0D-325A-430A-8442-372961AFDEC9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680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680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E755252-44E4-4CD7-A6DB-9C81441E7153}" type="slidenum">
              <a:rPr lang="zh-TW" altLang="en-US" sz="1200" smtClean="0"/>
              <a:pPr eaLnBrk="1" hangingPunct="1"/>
              <a:t>61</a:t>
            </a:fld>
            <a:endParaRPr lang="en-US" altLang="zh-TW" sz="1200" smtClean="0"/>
          </a:p>
        </p:txBody>
      </p:sp>
      <p:pic>
        <p:nvPicPr>
          <p:cNvPr id="76805" name="Picture 2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00363"/>
            <a:ext cx="9142413" cy="411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47244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Quantization</a:t>
            </a:r>
            <a:br>
              <a:rPr lang="en-US" altLang="zh-TW" sz="3200" smtClean="0">
                <a:ea typeface="新細明體" pitchFamily="18" charset="-120"/>
              </a:rPr>
            </a:br>
            <a:r>
              <a:rPr lang="en-US" altLang="zh-TW" sz="3200" smtClean="0">
                <a:ea typeface="新細明體" pitchFamily="18" charset="-120"/>
              </a:rPr>
              <a:t>&amp; Transformation</a:t>
            </a:r>
          </a:p>
        </p:txBody>
      </p:sp>
      <p:sp>
        <p:nvSpPr>
          <p:cNvPr id="76807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5029200" cy="1981200"/>
          </a:xfrm>
        </p:spPr>
        <p:txBody>
          <a:bodyPr/>
          <a:lstStyle/>
          <a:p>
            <a:pPr eaLnBrk="1" hangingPunct="1"/>
            <a:r>
              <a:rPr lang="en-US" altLang="zh-TW" sz="2000" smtClean="0">
                <a:ea typeface="新細明體" pitchFamily="18" charset="-120"/>
              </a:rPr>
              <a:t>First, quantize data into m-D grid structure, then wavelet transform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a) scale 1: high resolution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b) scale 2: medium resolution</a:t>
            </a:r>
          </a:p>
          <a:p>
            <a:pPr lvl="1" eaLnBrk="1" hangingPunct="1"/>
            <a:r>
              <a:rPr lang="en-US" altLang="zh-TW" sz="2000" smtClean="0">
                <a:ea typeface="新細明體" pitchFamily="18" charset="-120"/>
              </a:rPr>
              <a:t>c) scale 3: low resolution</a:t>
            </a:r>
          </a:p>
        </p:txBody>
      </p:sp>
      <p:grpSp>
        <p:nvGrpSpPr>
          <p:cNvPr id="76808" name="Group 14"/>
          <p:cNvGrpSpPr>
            <a:grpSpLocks/>
          </p:cNvGrpSpPr>
          <p:nvPr/>
        </p:nvGrpSpPr>
        <p:grpSpPr bwMode="auto">
          <a:xfrm>
            <a:off x="4495800" y="0"/>
            <a:ext cx="4648200" cy="3200400"/>
            <a:chOff x="960" y="1152"/>
            <a:chExt cx="3807" cy="2750"/>
          </a:xfrm>
        </p:grpSpPr>
        <p:pic>
          <p:nvPicPr>
            <p:cNvPr id="76809" name="Picture 15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152"/>
              <a:ext cx="3807" cy="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6810" name="Group 16"/>
            <p:cNvGrpSpPr>
              <a:grpSpLocks/>
            </p:cNvGrpSpPr>
            <p:nvPr/>
          </p:nvGrpSpPr>
          <p:grpSpPr bwMode="auto">
            <a:xfrm>
              <a:off x="1728" y="1392"/>
              <a:ext cx="2016" cy="2064"/>
              <a:chOff x="1728" y="1392"/>
              <a:chExt cx="2016" cy="2064"/>
            </a:xfrm>
          </p:grpSpPr>
          <p:sp>
            <p:nvSpPr>
              <p:cNvPr id="76811" name="Line 17"/>
              <p:cNvSpPr>
                <a:spLocks noChangeShapeType="1"/>
              </p:cNvSpPr>
              <p:nvPr/>
            </p:nvSpPr>
            <p:spPr bwMode="auto">
              <a:xfrm>
                <a:off x="1728" y="1872"/>
                <a:ext cx="2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812" name="Line 18"/>
              <p:cNvSpPr>
                <a:spLocks noChangeShapeType="1"/>
              </p:cNvSpPr>
              <p:nvPr/>
            </p:nvSpPr>
            <p:spPr bwMode="auto">
              <a:xfrm>
                <a:off x="1728" y="2448"/>
                <a:ext cx="2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813" name="Line 19"/>
              <p:cNvSpPr>
                <a:spLocks noChangeShapeType="1"/>
              </p:cNvSpPr>
              <p:nvPr/>
            </p:nvSpPr>
            <p:spPr bwMode="auto">
              <a:xfrm>
                <a:off x="1728" y="2976"/>
                <a:ext cx="20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814" name="Line 20"/>
              <p:cNvSpPr>
                <a:spLocks noChangeShapeType="1"/>
              </p:cNvSpPr>
              <p:nvPr/>
            </p:nvSpPr>
            <p:spPr bwMode="auto">
              <a:xfrm>
                <a:off x="2736" y="1392"/>
                <a:ext cx="0" cy="20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815" name="Line 21"/>
              <p:cNvSpPr>
                <a:spLocks noChangeShapeType="1"/>
              </p:cNvSpPr>
              <p:nvPr/>
            </p:nvSpPr>
            <p:spPr bwMode="auto">
              <a:xfrm>
                <a:off x="3264" y="1392"/>
                <a:ext cx="0" cy="20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76816" name="Line 22"/>
              <p:cNvSpPr>
                <a:spLocks noChangeShapeType="1"/>
              </p:cNvSpPr>
              <p:nvPr/>
            </p:nvSpPr>
            <p:spPr bwMode="auto">
              <a:xfrm>
                <a:off x="2256" y="1392"/>
                <a:ext cx="0" cy="20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9C5F008-2C0D-4A9F-8F5F-EEA329CCE28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782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782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A40E78D-245B-4BA0-806B-76EB76E70C6B}" type="slidenum">
              <a:rPr lang="zh-TW" altLang="en-US" sz="1200" smtClean="0"/>
              <a:pPr eaLnBrk="1" hangingPunct="1"/>
              <a:t>62</a:t>
            </a:fld>
            <a:endParaRPr lang="en-US" altLang="zh-TW" sz="1200" smtClean="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28600"/>
            <a:ext cx="6781800" cy="762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778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77831" name="AutoShape 4"/>
          <p:cNvSpPr>
            <a:spLocks noChangeArrowheads="1"/>
          </p:cNvSpPr>
          <p:nvPr/>
        </p:nvSpPr>
        <p:spPr bwMode="auto">
          <a:xfrm rot="-1466637">
            <a:off x="3505200" y="43434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57CB399-89CA-4E8F-B9E8-8EB1E86DBA6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83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83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0CBB66F-1E99-444B-8E13-DD52AC18FAAA}" type="slidenum">
              <a:rPr lang="zh-TW" altLang="en-US" sz="1200" smtClean="0"/>
              <a:pPr eaLnBrk="1" hangingPunct="1"/>
              <a:t>63</a:t>
            </a:fld>
            <a:endParaRPr lang="en-US" altLang="zh-TW" sz="1200" smtClean="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81000"/>
            <a:ext cx="7504113" cy="554038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Model-Based Clustering</a:t>
            </a:r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610600" cy="5105400"/>
          </a:xfrm>
        </p:spPr>
        <p:txBody>
          <a:bodyPr/>
          <a:lstStyle/>
          <a:p>
            <a:pPr eaLnBrk="1" hangingPunct="1"/>
            <a:r>
              <a:rPr lang="en-US" altLang="zh-TW" sz="2400" dirty="0" smtClean="0">
                <a:ea typeface="新細明體" pitchFamily="18" charset="-120"/>
              </a:rPr>
              <a:t>What is model-based clustering?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Attempt to optimize the fit between the given data and some mathematical model 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Based on the assumption: Data are generated by a mixture of underlying probability distribution</a:t>
            </a: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</a:rPr>
              <a:t>Typical methods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Statistical approach</a:t>
            </a:r>
          </a:p>
          <a:p>
            <a:pPr lvl="2" eaLnBrk="1" hangingPunct="1"/>
            <a:r>
              <a:rPr lang="en-US" altLang="zh-TW" sz="2000" dirty="0" smtClean="0">
                <a:ea typeface="新細明體" pitchFamily="18" charset="-120"/>
              </a:rPr>
              <a:t>EM (Expectation Maximization)</a:t>
            </a:r>
          </a:p>
          <a:p>
            <a:pPr lvl="2" eaLnBrk="1" hangingPunct="1"/>
            <a:r>
              <a:rPr lang="en-US" altLang="zh-TW" sz="2000" dirty="0" smtClean="0">
                <a:ea typeface="新細明體" pitchFamily="18" charset="-120"/>
              </a:rPr>
              <a:t>LDA (Latent </a:t>
            </a:r>
            <a:r>
              <a:rPr lang="en-US" altLang="zh-TW" sz="2000" dirty="0" err="1" smtClean="0">
                <a:ea typeface="新細明體" pitchFamily="18" charset="-120"/>
              </a:rPr>
              <a:t>Dirichlet</a:t>
            </a:r>
            <a:r>
              <a:rPr lang="en-US" altLang="zh-TW" sz="2000" dirty="0" smtClean="0">
                <a:ea typeface="新細明體" pitchFamily="18" charset="-120"/>
              </a:rPr>
              <a:t> Allocation)</a:t>
            </a:r>
          </a:p>
          <a:p>
            <a:pPr lvl="1" eaLnBrk="1" hangingPunct="1"/>
            <a:r>
              <a:rPr lang="en-US" altLang="zh-TW" sz="2400" dirty="0">
                <a:ea typeface="新細明體" pitchFamily="18" charset="-120"/>
              </a:rPr>
              <a:t>Neural network approach</a:t>
            </a:r>
          </a:p>
          <a:p>
            <a:pPr lvl="2" eaLnBrk="1" hangingPunct="1"/>
            <a:r>
              <a:rPr lang="en-US" altLang="zh-TW" sz="2000" dirty="0">
                <a:ea typeface="新細明體" pitchFamily="18" charset="-120"/>
              </a:rPr>
              <a:t>SOM (Self-Organizing </a:t>
            </a:r>
            <a:r>
              <a:rPr lang="en-US" altLang="zh-TW" sz="2000" dirty="0" smtClean="0">
                <a:ea typeface="新細明體" pitchFamily="18" charset="-120"/>
              </a:rPr>
              <a:t>Map)</a:t>
            </a:r>
            <a:endParaRPr lang="en-US" altLang="zh-TW" sz="2000" dirty="0"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73241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B25C115-189A-4C04-9584-BAE2AA98B439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93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93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16794EB-7DF6-4255-BE52-C8F3A3D27160}" type="slidenum">
              <a:rPr lang="zh-TW" altLang="en-US" sz="1200" smtClean="0"/>
              <a:pPr eaLnBrk="1" hangingPunct="1"/>
              <a:t>64</a:t>
            </a:fld>
            <a:endParaRPr lang="en-US" altLang="zh-TW" sz="1200" smtClean="0"/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554038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EM </a:t>
            </a:r>
            <a:r>
              <a:rPr lang="en-US" altLang="zh-TW" sz="3200" smtClean="0">
                <a:ea typeface="新細明體" pitchFamily="18" charset="-120"/>
                <a:cs typeface="Tahoma" pitchFamily="34" charset="0"/>
              </a:rPr>
              <a:t>— </a:t>
            </a:r>
            <a:r>
              <a:rPr lang="en-US" altLang="zh-TW" sz="3200" smtClean="0">
                <a:ea typeface="新細明體" pitchFamily="18" charset="-120"/>
              </a:rPr>
              <a:t>Expectation Maximization</a:t>
            </a:r>
          </a:p>
        </p:txBody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10600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EM </a:t>
            </a:r>
            <a:r>
              <a:rPr lang="en-US" altLang="zh-TW" sz="2000" dirty="0" smtClean="0">
                <a:ea typeface="新細明體" pitchFamily="18" charset="-120"/>
                <a:cs typeface="Tahoma" pitchFamily="34" charset="0"/>
              </a:rPr>
              <a:t>— </a:t>
            </a:r>
            <a:r>
              <a:rPr lang="en-US" altLang="zh-TW" sz="2000" dirty="0" smtClean="0">
                <a:ea typeface="新細明體" pitchFamily="18" charset="-120"/>
              </a:rPr>
              <a:t>A popular iterative refinement algorithm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An extension to k-means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Assign each object to a cluster according to a weight (prob. distribution)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New means are computed based on weighted measures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General idea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Starts with an initial estimate of the parameter vector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Iteratively rescores the patterns against the mixture density produced by the parameter vector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The rescored patterns are used to update the parameters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Patterns belonging to the same cluster, if they are placed by their scores in a particular component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dirty="0" smtClean="0">
                <a:ea typeface="新細明體" pitchFamily="18" charset="-120"/>
              </a:rPr>
              <a:t>Algorithm converges fast but may not be in global optima</a:t>
            </a:r>
          </a:p>
        </p:txBody>
      </p:sp>
    </p:spTree>
    <p:extLst>
      <p:ext uri="{BB962C8B-B14F-4D97-AF65-F5344CB8AC3E}">
        <p14:creationId xmlns:p14="http://schemas.microsoft.com/office/powerpoint/2010/main" val="1177551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F0D7096-B1C9-43F0-96A3-EA3E8BED58A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035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035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CC0279C-2F43-4A1D-B828-121BA53F7CCC}" type="slidenum">
              <a:rPr lang="zh-TW" altLang="en-US" sz="1200" smtClean="0"/>
              <a:pPr eaLnBrk="1" hangingPunct="1"/>
              <a:t>65</a:t>
            </a:fld>
            <a:endParaRPr lang="en-US" altLang="zh-TW" sz="1200" smtClean="0"/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554038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The EM (Expectation Maximization)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8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371600"/>
                <a:ext cx="8610600" cy="5105400"/>
              </a:xfrm>
            </p:spPr>
            <p:txBody>
              <a:bodyPr/>
              <a:lstStyle/>
              <a:p>
                <a:pPr eaLnBrk="1" hangingPunct="1"/>
                <a:r>
                  <a:rPr lang="en-US" altLang="zh-TW" sz="2400" dirty="0" smtClean="0">
                    <a:ea typeface="新細明體" pitchFamily="18" charset="-120"/>
                  </a:rPr>
                  <a:t>Initially, randomly assign k cluster centroids</a:t>
                </a:r>
              </a:p>
              <a:p>
                <a:pPr eaLnBrk="1" hangingPunct="1"/>
                <a:r>
                  <a:rPr lang="en-US" altLang="zh-TW" sz="2400" dirty="0" smtClean="0">
                    <a:ea typeface="新細明體" pitchFamily="18" charset="-120"/>
                  </a:rPr>
                  <a:t>Iteratively refine the clusters based on two steps </a:t>
                </a: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</a:rPr>
                  <a:t>Expectation step: assign each data point X</a:t>
                </a:r>
                <a:r>
                  <a:rPr lang="en-US" altLang="zh-TW" sz="2400" baseline="-25000" dirty="0" smtClean="0">
                    <a:ea typeface="新細明體" pitchFamily="18" charset="-120"/>
                  </a:rPr>
                  <a:t>i </a:t>
                </a:r>
                <a:r>
                  <a:rPr lang="en-US" altLang="zh-TW" sz="2400" dirty="0" smtClean="0">
                    <a:ea typeface="新細明體" pitchFamily="18" charset="-120"/>
                  </a:rPr>
                  <a:t>to cluster </a:t>
                </a:r>
                <a:r>
                  <a:rPr lang="en-US" altLang="zh-TW" sz="2400" dirty="0" err="1" smtClean="0">
                    <a:ea typeface="新細明體" pitchFamily="18" charset="-120"/>
                  </a:rPr>
                  <a:t>C</a:t>
                </a:r>
                <a:r>
                  <a:rPr lang="en-US" altLang="zh-TW" sz="2400" baseline="-25000" dirty="0" err="1" smtClean="0">
                    <a:ea typeface="新細明體" pitchFamily="18" charset="-120"/>
                  </a:rPr>
                  <a:t>j</a:t>
                </a:r>
                <a:r>
                  <a:rPr lang="en-US" altLang="zh-TW" sz="2400" dirty="0" smtClean="0">
                    <a:ea typeface="新細明體" pitchFamily="18" charset="-120"/>
                  </a:rPr>
                  <a:t> with a probability distribution</a:t>
                </a:r>
              </a:p>
              <a:p>
                <a:pPr marL="45720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新細明體" pitchFamily="18" charset="-12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charset="0"/>
                              <a:ea typeface="新細明體" pitchFamily="18" charset="-12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新細明體" pitchFamily="18" charset="-12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b="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400" b="0" i="1" smtClean="0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TW" sz="2400" dirty="0" smtClean="0">
                  <a:ea typeface="新細明體" pitchFamily="18" charset="-120"/>
                </a:endParaRPr>
              </a:p>
              <a:p>
                <a:pPr lvl="1" eaLnBrk="1" hangingPunct="1"/>
                <a:r>
                  <a:rPr lang="en-US" altLang="zh-TW" sz="2400" dirty="0" smtClean="0">
                    <a:ea typeface="新細明體" pitchFamily="18" charset="-120"/>
                  </a:rPr>
                  <a:t>Maximization step: </a:t>
                </a:r>
              </a:p>
              <a:p>
                <a:pPr lvl="2" eaLnBrk="1" hangingPunct="1"/>
                <a:r>
                  <a:rPr lang="en-US" altLang="zh-TW" dirty="0" smtClean="0">
                    <a:ea typeface="新細明體" pitchFamily="18" charset="-120"/>
                  </a:rPr>
                  <a:t>Estimation of model parameters (centroids)</a:t>
                </a:r>
              </a:p>
              <a:p>
                <a:pPr marL="400050" lvl="1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charset="0"/>
                              <a:ea typeface="新細明體" pitchFamily="18" charset="-120"/>
                            </a:rPr>
                          </m:ctrlPr>
                        </m:sSubPr>
                        <m:e>
                          <m:r>
                            <a:rPr lang="zh-TW" altLang="en-US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新細明體" pitchFamily="18" charset="-12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2400" i="1" smtClean="0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𝑃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TW" sz="2400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𝑃</m:t>
                              </m:r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charset="0"/>
                                      <a:ea typeface="新細明體" pitchFamily="18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新細明體" pitchFamily="18" charset="-12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altLang="zh-TW" sz="2400" i="1"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zh-TW" altLang="en-US" sz="2400" dirty="0" smtClean="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0035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371600"/>
                <a:ext cx="8610600" cy="5105400"/>
              </a:xfrm>
              <a:blipFill rotWithShape="0">
                <a:blip r:embed="rId2"/>
                <a:stretch>
                  <a:fillRect l="-142" t="-9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436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 </a:t>
            </a:r>
            <a:r>
              <a:rPr lang="en-US" altLang="zh-CN" dirty="0"/>
              <a:t>example</a:t>
            </a: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7343775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8480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Maximize likelihood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8458200" cy="355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1079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6953250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391069" y="381661"/>
            <a:ext cx="8250238" cy="609600"/>
          </a:xfrm>
        </p:spPr>
        <p:txBody>
          <a:bodyPr/>
          <a:lstStyle/>
          <a:p>
            <a:r>
              <a:rPr lang="en-US" altLang="zh-CN" dirty="0"/>
              <a:t>Same Problem with Hidden Information</a:t>
            </a:r>
          </a:p>
        </p:txBody>
      </p:sp>
    </p:spTree>
    <p:extLst>
      <p:ext uri="{BB962C8B-B14F-4D97-AF65-F5344CB8AC3E}">
        <p14:creationId xmlns:p14="http://schemas.microsoft.com/office/powerpoint/2010/main" val="1777013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1069" y="381661"/>
            <a:ext cx="8250238" cy="609600"/>
          </a:xfrm>
        </p:spPr>
        <p:txBody>
          <a:bodyPr/>
          <a:lstStyle/>
          <a:p>
            <a:r>
              <a:rPr lang="en-US" altLang="zh-CN" dirty="0"/>
              <a:t>Same Problem with Hidden Information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21" y="1561716"/>
            <a:ext cx="755332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377421" y="3810000"/>
            <a:ext cx="8534400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5742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1069" y="381661"/>
            <a:ext cx="8250238" cy="609600"/>
          </a:xfrm>
        </p:spPr>
        <p:txBody>
          <a:bodyPr/>
          <a:lstStyle/>
          <a:p>
            <a:r>
              <a:rPr lang="en-US" altLang="zh-CN" dirty="0"/>
              <a:t>Same Problem with Hidden Information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21" y="1561716"/>
            <a:ext cx="7553325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8468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 </a:t>
            </a:r>
            <a:r>
              <a:rPr lang="en-US" altLang="zh-CN" dirty="0" smtClean="0"/>
              <a:t>Steps</a:t>
            </a:r>
            <a:endParaRPr lang="en-US" altLang="zh-CN" dirty="0"/>
          </a:p>
        </p:txBody>
      </p:sp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71" y="1752600"/>
            <a:ext cx="6781800" cy="445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600200"/>
            <a:ext cx="1476375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97044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 Convergence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8153400" cy="4621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914400" y="5334000"/>
            <a:ext cx="4267200" cy="838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93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Gaussian </a:t>
            </a:r>
            <a:r>
              <a:rPr lang="en-US" altLang="zh-CN" dirty="0" smtClean="0"/>
              <a:t>Mixtures</a:t>
            </a:r>
            <a:endParaRPr lang="en-US" altLang="zh-CN" dirty="0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80"/>
          <a:stretch>
            <a:fillRect/>
          </a:stretch>
        </p:blipFill>
        <p:spPr bwMode="auto">
          <a:xfrm>
            <a:off x="533400" y="1828800"/>
            <a:ext cx="8077200" cy="155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"/>
          <a:stretch>
            <a:fillRect/>
          </a:stretch>
        </p:blipFill>
        <p:spPr bwMode="auto">
          <a:xfrm>
            <a:off x="533400" y="3505200"/>
            <a:ext cx="78486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267200"/>
            <a:ext cx="846455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2693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Gaussian Mixtures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8077200" cy="4724400"/>
          </a:xfrm>
        </p:spPr>
        <p:txBody>
          <a:bodyPr/>
          <a:lstStyle/>
          <a:p>
            <a:r>
              <a:rPr lang="en-US" dirty="0"/>
              <a:t>Know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 -</a:t>
            </a:r>
          </a:p>
          <a:p>
            <a:pPr lvl="1"/>
            <a:r>
              <a:rPr lang="en-US" dirty="0"/>
              <a:t> -</a:t>
            </a:r>
          </a:p>
          <a:p>
            <a:r>
              <a:rPr lang="en-US" dirty="0"/>
              <a:t>Don’t know</a:t>
            </a:r>
          </a:p>
          <a:p>
            <a:pPr lvl="1"/>
            <a:r>
              <a:rPr lang="en-US" dirty="0"/>
              <a:t>Data label</a:t>
            </a:r>
          </a:p>
          <a:p>
            <a:r>
              <a:rPr lang="en-US" dirty="0" smtClean="0"/>
              <a:t>Objective</a:t>
            </a:r>
          </a:p>
          <a:p>
            <a:pPr lvl="1"/>
            <a:r>
              <a:rPr lang="en-US" dirty="0" smtClean="0"/>
              <a:t>Estimate </a:t>
            </a:r>
            <a:r>
              <a:rPr lang="en-US" dirty="0" err="1" smtClean="0">
                <a:latin typeface="Symbol" panose="05050102010706020507" pitchFamily="18" charset="2"/>
              </a:rPr>
              <a:t>m</a:t>
            </a:r>
            <a:r>
              <a:rPr lang="en-US" baseline="-25000" dirty="0" err="1" smtClean="0"/>
              <a:t>j</a:t>
            </a:r>
            <a:r>
              <a:rPr lang="en-US" dirty="0" err="1" smtClean="0"/>
              <a:t>’s</a:t>
            </a:r>
            <a:endParaRPr lang="en-US" dirty="0"/>
          </a:p>
        </p:txBody>
      </p:sp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4708" y="1707266"/>
            <a:ext cx="4113213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47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2"/>
          <a:stretch>
            <a:fillRect/>
          </a:stretch>
        </p:blipFill>
        <p:spPr bwMode="auto">
          <a:xfrm>
            <a:off x="1432719" y="2746254"/>
            <a:ext cx="685800" cy="50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473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47"/>
          <a:stretch>
            <a:fillRect/>
          </a:stretch>
        </p:blipFill>
        <p:spPr bwMode="auto">
          <a:xfrm>
            <a:off x="1432719" y="3328194"/>
            <a:ext cx="960438" cy="43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9446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GMM assumption</a:t>
            </a: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686800" cy="4586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3725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GMM assumption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28800"/>
            <a:ext cx="8389716" cy="4371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435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GMM assumption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16783"/>
            <a:ext cx="853440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2523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The GMM assumption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38" y="1828800"/>
            <a:ext cx="8458200" cy="48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8888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096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Computing the likelihood</a:t>
            </a:r>
          </a:p>
        </p:txBody>
      </p:sp>
    </p:spTree>
    <p:extLst>
      <p:ext uri="{BB962C8B-B14F-4D97-AF65-F5344CB8AC3E}">
        <p14:creationId xmlns:p14="http://schemas.microsoft.com/office/powerpoint/2010/main" val="2007568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 for GMMs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458200" cy="470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304800" y="4419600"/>
            <a:ext cx="8839200" cy="1676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658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 for GMMs</a:t>
            </a: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458200" cy="4700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4538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EM for GMMs</a:t>
            </a:r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839200" cy="467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350" y="990600"/>
            <a:ext cx="215265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228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8089900" cy="573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457200" y="4876800"/>
            <a:ext cx="3505200" cy="14478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solidFill>
                  <a:schemeClr val="bg1"/>
                </a:solidFill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293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660400"/>
            <a:ext cx="7962900" cy="553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6818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089900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0233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047038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1818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047038" cy="555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6997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004175" cy="555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35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3" y="565150"/>
            <a:ext cx="8004175" cy="572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4959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571500"/>
            <a:ext cx="8047037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1250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382000" cy="609600"/>
          </a:xfrm>
        </p:spPr>
        <p:txBody>
          <a:bodyPr/>
          <a:lstStyle/>
          <a:p>
            <a:pPr algn="ctr"/>
            <a:r>
              <a:rPr lang="en-US" altLang="zh-TW" dirty="0" smtClean="0"/>
              <a:t>LDA (Latent </a:t>
            </a:r>
            <a:r>
              <a:rPr lang="en-US" altLang="zh-TW" dirty="0" err="1"/>
              <a:t>Dirichlet</a:t>
            </a:r>
            <a:r>
              <a:rPr lang="en-US" altLang="zh-TW" dirty="0"/>
              <a:t> </a:t>
            </a:r>
            <a:r>
              <a:rPr lang="en-US" altLang="zh-TW" dirty="0" smtClean="0"/>
              <a:t>Allocation)</a:t>
            </a:r>
            <a:r>
              <a:rPr lang="zh-TW" altLang="en-US" dirty="0" smtClean="0"/>
              <a:t> </a:t>
            </a:r>
            <a:r>
              <a:rPr lang="en-US" altLang="zh-TW" sz="2400" dirty="0" smtClean="0"/>
              <a:t>see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MMF</a:t>
            </a:r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3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15118" y="1295400"/>
                <a:ext cx="8676481" cy="5105400"/>
              </a:xfrm>
            </p:spPr>
            <p:txBody>
              <a:bodyPr/>
              <a:lstStyle/>
              <a:p>
                <a:pPr algn="l" rtl="0"/>
                <a:r>
                  <a:rPr lang="en-US" altLang="zh-TW" sz="2400" dirty="0" smtClean="0"/>
                  <a:t>LDA is a generative probabilistic model of a corpus, where the documents </a:t>
                </a:r>
                <a:r>
                  <a:rPr lang="en-US" altLang="zh-TW" sz="2400" dirty="0"/>
                  <a:t>are represented as random mixtures over latent topics, </a:t>
                </a:r>
                <a:r>
                  <a:rPr lang="en-US" altLang="zh-TW" sz="2400" dirty="0" smtClean="0"/>
                  <a:t>and </a:t>
                </a:r>
                <a:r>
                  <a:rPr lang="en-US" altLang="zh-TW" sz="2400" dirty="0"/>
                  <a:t>a topic is characterized by a distribution over words</a:t>
                </a:r>
                <a:r>
                  <a:rPr lang="en-US" altLang="zh-TW" sz="2400" dirty="0" smtClean="0"/>
                  <a:t>.</a:t>
                </a:r>
              </a:p>
              <a:p>
                <a:r>
                  <a:rPr lang="zh-TW" altLang="zh-TW" sz="2400" dirty="0">
                    <a:latin typeface="Arial" panose="020B0604020202020204" pitchFamily="34" charset="0"/>
                  </a:rPr>
                  <a:t>The Dirichlet distribution of order </a:t>
                </a:r>
                <a:r>
                  <a:rPr lang="zh-TW" altLang="zh-TW" sz="2400" i="1" dirty="0">
                    <a:latin typeface="Arial" panose="020B0604020202020204" pitchFamily="34" charset="0"/>
                  </a:rPr>
                  <a:t>K</a:t>
                </a:r>
                <a:r>
                  <a:rPr lang="zh-TW" altLang="zh-TW" sz="2400" dirty="0">
                    <a:latin typeface="Arial" panose="020B0604020202020204" pitchFamily="34" charset="0"/>
                  </a:rPr>
                  <a:t> ≥ 2 with parameters </a:t>
                </a:r>
                <a:r>
                  <a:rPr lang="zh-TW" altLang="zh-TW" sz="2400" i="1" dirty="0">
                    <a:latin typeface="Arial" panose="020B0604020202020204" pitchFamily="34" charset="0"/>
                  </a:rPr>
                  <a:t>α</a:t>
                </a:r>
                <a:r>
                  <a:rPr lang="zh-TW" altLang="zh-TW" sz="2400" baseline="-30000" dirty="0">
                    <a:latin typeface="Arial" panose="020B0604020202020204" pitchFamily="34" charset="0"/>
                  </a:rPr>
                  <a:t>1</a:t>
                </a:r>
                <a:r>
                  <a:rPr lang="zh-TW" altLang="zh-TW" sz="2400" dirty="0">
                    <a:latin typeface="Arial" panose="020B0604020202020204" pitchFamily="34" charset="0"/>
                  </a:rPr>
                  <a:t>, ..., </a:t>
                </a:r>
                <a:r>
                  <a:rPr lang="zh-TW" altLang="zh-TW" sz="2400" i="1" dirty="0">
                    <a:latin typeface="Arial" panose="020B0604020202020204" pitchFamily="34" charset="0"/>
                  </a:rPr>
                  <a:t>α</a:t>
                </a:r>
                <a:r>
                  <a:rPr lang="zh-TW" altLang="zh-TW" sz="2400" i="1" baseline="-30000" dirty="0">
                    <a:latin typeface="Arial" panose="020B0604020202020204" pitchFamily="34" charset="0"/>
                  </a:rPr>
                  <a:t>K</a:t>
                </a:r>
                <a:r>
                  <a:rPr lang="zh-TW" altLang="zh-TW" sz="2400" dirty="0">
                    <a:latin typeface="Arial" panose="020B0604020202020204" pitchFamily="34" charset="0"/>
                  </a:rPr>
                  <a:t> &gt; 0 has </a:t>
                </a:r>
                <a:r>
                  <a:rPr lang="en-US" altLang="zh-TW" sz="2400" dirty="0" smtClean="0">
                    <a:latin typeface="Arial" panose="020B0604020202020204" pitchFamily="34" charset="0"/>
                  </a:rPr>
                  <a:t>the following probability density function, where the normalizing constant is (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4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 smtClean="0">
                    <a:latin typeface="Arial" panose="020B0604020202020204" pitchFamily="34" charset="0"/>
                  </a:rPr>
                  <a:t>) a multinomial Beta function.</a:t>
                </a:r>
                <a:r>
                  <a:rPr lang="zh-TW" altLang="en-US" sz="2400" dirty="0" smtClean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Γ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 smtClean="0">
                    <a:latin typeface="Arial" panose="020B0604020202020204" pitchFamily="34" charset="0"/>
                  </a:rPr>
                  <a:t> </a:t>
                </a:r>
                <a:r>
                  <a:rPr lang="en-US" altLang="zh-TW" sz="2400" dirty="0" smtClean="0">
                    <a:latin typeface="Arial" panose="020B0604020202020204" pitchFamily="34" charset="0"/>
                  </a:rPr>
                  <a:t>=</a:t>
                </a:r>
                <a:r>
                  <a:rPr lang="zh-TW" altLang="en-US" sz="2400" dirty="0" smtClean="0">
                    <a:latin typeface="Arial" panose="020B0604020202020204" pitchFamily="34" charset="0"/>
                  </a:rPr>
                  <a:t> </a:t>
                </a:r>
                <a:r>
                  <a:rPr lang="en-US" altLang="zh-TW" sz="2400" dirty="0" smtClean="0">
                    <a:latin typeface="Arial" panose="020B0604020202020204" pitchFamily="34" charset="0"/>
                  </a:rPr>
                  <a:t>(n-1)!</a:t>
                </a:r>
              </a:p>
              <a:p>
                <a:pPr marL="0" indent="0" algn="ctr">
                  <a:buNone/>
                </a:pPr>
                <a:r>
                  <a:rPr lang="en-US" altLang="zh-TW" sz="2400" dirty="0" smtClean="0">
                    <a:latin typeface="Arial" panose="020B0604020202020204" pitchFamily="34" charset="0"/>
                  </a:rPr>
                  <a:t>   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文章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Di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=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sz="2400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TW" sz="2400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TW" altLang="en-US" sz="24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sz="2400" b="1" i="1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nary>
                      <m:naryPr>
                        <m:chr m:val="∏"/>
                        <m:limLoc m:val="subSup"/>
                        <m:ctrlPr>
                          <a:rPr lang="en-US" altLang="zh-TW" sz="2400" b="0" i="1" smtClean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altLang="zh-TW" sz="2400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TW" sz="2400" dirty="0" smtClean="0">
                    <a:latin typeface="Arial" panose="020B0604020202020204" pitchFamily="34" charset="0"/>
                  </a:rPr>
                  <a:t> 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Xi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主題連乘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/>
                </a:r>
                <a:b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</a:br>
                <a:r>
                  <a:rPr lang="zh-TW" alt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文章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Di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由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Xi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主題組成</a:t>
                </a:r>
                <a:r>
                  <a:rPr lang="zh-TW" altLang="en-US" sz="2400" b="1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 為主題的分佈 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(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後面用</a:t>
                </a:r>
                <a:r>
                  <a:rPr lang="en-US" altLang="zh-TW" sz="2400" b="1" dirty="0" err="1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Ti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主題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topic</a:t>
                </a:r>
                <a:r>
                  <a:rPr lang="zh-TW" altLang="en-US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代表</a:t>
                </a:r>
                <a:r>
                  <a:rPr lang="en-US" altLang="zh-TW" sz="2400" b="1" dirty="0" smtClean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Xi)</a:t>
                </a:r>
                <a:endParaRPr lang="en-US" altLang="zh-TW" sz="2400" b="1" dirty="0" smtClean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altLang="zh-TW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TW" sz="24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zh-TW" altLang="en-US" sz="2400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i="1" smtClean="0">
                            <a:latin typeface="Cambria Math" charset="0"/>
                          </a:rPr>
                        </m:ctrlPr>
                      </m:fPr>
                      <m:num>
                        <m:nary>
                          <m:naryPr>
                            <m:chr m:val="∏"/>
                            <m:ctrlPr>
                              <a:rPr lang="en-US" altLang="zh-TW" sz="2400" i="1" smtClean="0">
                                <a:latin typeface="Cambria Math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l-GR" altLang="zh-TW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Γ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TW" sz="2400" b="0" i="1" smtClean="0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num>
                      <m:den>
                        <m:r>
                          <m:rPr>
                            <m:sty m:val="p"/>
                          </m:rPr>
                          <a:rPr lang="el-GR" altLang="zh-TW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Γ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en-US" altLang="zh-TW" sz="2400" b="0" i="1" smtClean="0">
                                <a:latin typeface="Cambria Math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latin typeface="Cambria Math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TW" sz="2400" dirty="0" smtClean="0"/>
                  <a:t>, </a:t>
                </a:r>
                <a:r>
                  <a:rPr lang="en-US" altLang="zh-TW" sz="2400" b="1" i="1" dirty="0" smtClean="0">
                    <a:latin typeface="Symbol" panose="05050102010706020507" pitchFamily="18" charset="2"/>
                  </a:rPr>
                  <a:t>a</a:t>
                </a:r>
                <a:r>
                  <a:rPr lang="en-US" altLang="zh-TW" sz="2400" dirty="0" smtClean="0"/>
                  <a:t>=(</a:t>
                </a:r>
                <a:r>
                  <a:rPr lang="en-US" altLang="zh-TW" sz="2400" i="1" dirty="0" smtClean="0">
                    <a:latin typeface="Symbol" panose="05050102010706020507" pitchFamily="18" charset="2"/>
                  </a:rPr>
                  <a:t>a</a:t>
                </a:r>
                <a:r>
                  <a:rPr lang="en-US" altLang="zh-TW" sz="2400" i="1" baseline="-25000" dirty="0" smtClean="0"/>
                  <a:t>1</a:t>
                </a:r>
                <a:r>
                  <a:rPr lang="en-US" altLang="zh-TW" sz="2400" dirty="0" smtClean="0"/>
                  <a:t>,…,</a:t>
                </a:r>
                <a:r>
                  <a:rPr lang="en-US" altLang="zh-TW" sz="2400" i="1" dirty="0" err="1" smtClean="0">
                    <a:latin typeface="Symbol" panose="05050102010706020507" pitchFamily="18" charset="2"/>
                  </a:rPr>
                  <a:t>a</a:t>
                </a:r>
                <a:r>
                  <a:rPr lang="en-US" altLang="zh-TW" sz="2400" i="1" baseline="-25000" dirty="0" err="1" smtClean="0"/>
                  <a:t>K</a:t>
                </a:r>
                <a:r>
                  <a:rPr lang="en-US" altLang="zh-TW" sz="2400" dirty="0" smtClean="0"/>
                  <a:t>)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14233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5118" y="1295400"/>
                <a:ext cx="8676481" cy="5105400"/>
              </a:xfrm>
              <a:blipFill rotWithShape="0">
                <a:blip r:embed="rId3"/>
                <a:stretch>
                  <a:fillRect l="-914" t="-956" r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377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LDA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LDA defines topics on a word level</a:t>
            </a:r>
          </a:p>
          <a:p>
            <a:r>
              <a:rPr lang="en-US" altLang="zh-TW" dirty="0" smtClean="0"/>
              <a:t>Documents</a:t>
            </a:r>
          </a:p>
          <a:p>
            <a:pPr lvl="1"/>
            <a:r>
              <a:rPr lang="en-US" altLang="zh-TW" dirty="0" smtClean="0"/>
              <a:t>D1: I </a:t>
            </a:r>
            <a:r>
              <a:rPr lang="en-US" altLang="zh-TW" b="1" dirty="0" smtClean="0">
                <a:solidFill>
                  <a:srgbClr val="C00000"/>
                </a:solidFill>
              </a:rPr>
              <a:t>eat fish </a:t>
            </a:r>
            <a:r>
              <a:rPr lang="en-US" altLang="zh-TW" dirty="0" smtClean="0"/>
              <a:t>and </a:t>
            </a:r>
            <a:r>
              <a:rPr lang="en-US" altLang="zh-TW" b="1" dirty="0" smtClean="0">
                <a:solidFill>
                  <a:srgbClr val="C00000"/>
                </a:solidFill>
              </a:rPr>
              <a:t>vegetables</a:t>
            </a:r>
          </a:p>
          <a:p>
            <a:pPr lvl="1"/>
            <a:r>
              <a:rPr lang="en-US" altLang="zh-TW" dirty="0" smtClean="0"/>
              <a:t>D2:</a:t>
            </a:r>
            <a:r>
              <a:rPr lang="en-US" altLang="zh-TW" i="1" dirty="0" smtClean="0">
                <a:solidFill>
                  <a:srgbClr val="00B0F0"/>
                </a:solidFill>
              </a:rPr>
              <a:t> Fish</a:t>
            </a:r>
            <a:r>
              <a:rPr lang="en-US" altLang="zh-TW" dirty="0" smtClean="0"/>
              <a:t> are </a:t>
            </a:r>
            <a:r>
              <a:rPr lang="en-US" altLang="zh-TW" i="1" dirty="0" smtClean="0">
                <a:solidFill>
                  <a:srgbClr val="00B0F0"/>
                </a:solidFill>
              </a:rPr>
              <a:t>pets</a:t>
            </a:r>
          </a:p>
          <a:p>
            <a:pPr lvl="1"/>
            <a:r>
              <a:rPr lang="en-US" altLang="zh-TW" dirty="0" smtClean="0"/>
              <a:t>D3: My </a:t>
            </a:r>
            <a:r>
              <a:rPr lang="en-US" altLang="zh-TW" i="1" dirty="0" smtClean="0">
                <a:solidFill>
                  <a:srgbClr val="00B0F0"/>
                </a:solidFill>
              </a:rPr>
              <a:t>kitten</a:t>
            </a:r>
            <a:r>
              <a:rPr lang="en-US" altLang="zh-TW" dirty="0" smtClean="0"/>
              <a:t> </a:t>
            </a:r>
            <a:r>
              <a:rPr lang="en-US" altLang="zh-TW" b="1" dirty="0" smtClean="0">
                <a:solidFill>
                  <a:srgbClr val="C00000"/>
                </a:solidFill>
              </a:rPr>
              <a:t>eats fish</a:t>
            </a:r>
          </a:p>
          <a:p>
            <a:r>
              <a:rPr lang="en-US" altLang="zh-TW" dirty="0" smtClean="0"/>
              <a:t>LDA may cluster the red words into topic F which might label as “</a:t>
            </a:r>
            <a:r>
              <a:rPr lang="en-US" altLang="zh-TW" dirty="0" smtClean="0">
                <a:solidFill>
                  <a:srgbClr val="C00000"/>
                </a:solidFill>
              </a:rPr>
              <a:t>food</a:t>
            </a:r>
            <a:r>
              <a:rPr lang="en-US" altLang="zh-TW" dirty="0" smtClean="0"/>
              <a:t>”, the blue words into topic P which might label as “</a:t>
            </a:r>
            <a:r>
              <a:rPr lang="en-US" altLang="zh-TW" dirty="0" smtClean="0">
                <a:solidFill>
                  <a:srgbClr val="00B0F0"/>
                </a:solidFill>
              </a:rPr>
              <a:t>pet</a:t>
            </a:r>
            <a:r>
              <a:rPr lang="en-US" altLang="zh-TW" dirty="0" smtClean="0"/>
              <a:t>”.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51483B-FD16-40DD-B694-44EA0D46ACC8}" type="datetime4">
              <a:rPr lang="zh-TW" altLang="en-US" smtClean="0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 smtClean="0"/>
              <a:t>Data Mining: Concepts and Techniques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A574F-A985-45F3-91D6-B5AC36275DF4}" type="slidenum">
              <a:rPr lang="zh-TW" altLang="en-US" smtClean="0"/>
              <a:pPr>
                <a:defRPr/>
              </a:pPr>
              <a:t>92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636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LDA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Infer the topic proportions of each document</a:t>
            </a:r>
          </a:p>
          <a:p>
            <a:pPr lvl="1"/>
            <a:r>
              <a:rPr lang="en-US" altLang="zh-TW" dirty="0" smtClean="0"/>
              <a:t>D1 </a:t>
            </a:r>
            <a:r>
              <a:rPr lang="en-US" altLang="zh-TW" dirty="0"/>
              <a:t>(100% topic F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D2 </a:t>
            </a:r>
            <a:r>
              <a:rPr lang="en-US" altLang="zh-TW" dirty="0"/>
              <a:t>(100% topic </a:t>
            </a:r>
            <a:r>
              <a:rPr lang="en-US" altLang="zh-TW" dirty="0" smtClean="0"/>
              <a:t>P)</a:t>
            </a:r>
          </a:p>
          <a:p>
            <a:pPr lvl="1"/>
            <a:r>
              <a:rPr lang="en-US" altLang="zh-TW" dirty="0" smtClean="0"/>
              <a:t>D3 </a:t>
            </a:r>
            <a:r>
              <a:rPr lang="en-US" altLang="zh-TW" dirty="0"/>
              <a:t>(67% topic F and 33% topic P)</a:t>
            </a:r>
            <a:endParaRPr lang="zh-TW" altLang="en-US" dirty="0"/>
          </a:p>
          <a:p>
            <a:r>
              <a:rPr lang="en-US" altLang="zh-TW" dirty="0" smtClean="0"/>
              <a:t>Derive the proportions that each word constitutes in given topics</a:t>
            </a:r>
          </a:p>
          <a:p>
            <a:r>
              <a:rPr lang="zh-TW" altLang="en-US" sz="2000" b="1" dirty="0" smtClean="0">
                <a:solidFill>
                  <a:srgbClr val="FF0000"/>
                </a:solidFill>
              </a:rPr>
              <a:t>文件</a:t>
            </a:r>
            <a:r>
              <a:rPr lang="zh-TW" altLang="en-US" sz="2000" dirty="0" smtClean="0">
                <a:solidFill>
                  <a:srgbClr val="FF0000"/>
                </a:solidFill>
              </a:rPr>
              <a:t>可以是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主題</a:t>
            </a:r>
            <a:r>
              <a:rPr lang="zh-TW" altLang="en-US" sz="2000" dirty="0" smtClean="0">
                <a:solidFill>
                  <a:srgbClr val="FF0000"/>
                </a:solidFill>
              </a:rPr>
              <a:t>的</a:t>
            </a:r>
            <a:r>
              <a:rPr lang="zh-TW" altLang="en-US" sz="2000" dirty="0">
                <a:solidFill>
                  <a:srgbClr val="FF0000"/>
                </a:solidFill>
              </a:rPr>
              <a:t>組成</a:t>
            </a:r>
            <a:r>
              <a:rPr lang="zh-TW" altLang="en-US" sz="2000" dirty="0" smtClean="0">
                <a:solidFill>
                  <a:srgbClr val="FF0000"/>
                </a:solidFill>
              </a:rPr>
              <a:t>分部 </a:t>
            </a:r>
            <a:r>
              <a:rPr lang="en-US" altLang="zh-TW" sz="2000" dirty="0">
                <a:solidFill>
                  <a:srgbClr val="FF0000"/>
                </a:solidFill>
              </a:rPr>
              <a:t>(</a:t>
            </a:r>
            <a:r>
              <a:rPr lang="zh-TW" altLang="zh-TW" sz="2000" dirty="0">
                <a:latin typeface="Arial" panose="020B0604020202020204" pitchFamily="34" charset="0"/>
              </a:rPr>
              <a:t>Dirichlet </a:t>
            </a:r>
            <a:r>
              <a:rPr lang="zh-TW" altLang="zh-TW" sz="2000" dirty="0" smtClean="0">
                <a:latin typeface="Arial" panose="020B0604020202020204" pitchFamily="34" charset="0"/>
              </a:rPr>
              <a:t>distribution</a:t>
            </a:r>
            <a:r>
              <a:rPr lang="en-US" altLang="zh-TW" sz="2000" dirty="0">
                <a:solidFill>
                  <a:srgbClr val="FF0000"/>
                </a:solidFill>
              </a:rPr>
              <a:t>)</a:t>
            </a:r>
            <a:endParaRPr lang="en-US" altLang="zh-TW" sz="2000" dirty="0" smtClean="0">
              <a:solidFill>
                <a:srgbClr val="FF0000"/>
              </a:solidFill>
            </a:endParaRPr>
          </a:p>
          <a:p>
            <a:r>
              <a:rPr lang="zh-TW" altLang="en-US" sz="2000" b="1" dirty="0">
                <a:solidFill>
                  <a:srgbClr val="FF0000"/>
                </a:solidFill>
              </a:rPr>
              <a:t>主題</a:t>
            </a:r>
            <a:r>
              <a:rPr lang="zh-TW" altLang="en-US" sz="2000" dirty="0">
                <a:solidFill>
                  <a:srgbClr val="FF0000"/>
                </a:solidFill>
              </a:rPr>
              <a:t>又可以是</a:t>
            </a:r>
            <a:r>
              <a:rPr lang="zh-TW" altLang="en-US" sz="2000" b="1" dirty="0">
                <a:solidFill>
                  <a:srgbClr val="FF0000"/>
                </a:solidFill>
              </a:rPr>
              <a:t>文字</a:t>
            </a:r>
            <a:r>
              <a:rPr lang="zh-TW" altLang="en-US" sz="2000" dirty="0">
                <a:solidFill>
                  <a:srgbClr val="FF0000"/>
                </a:solidFill>
              </a:rPr>
              <a:t>的組成</a:t>
            </a:r>
            <a:r>
              <a:rPr lang="zh-TW" altLang="en-US" sz="2000" dirty="0" smtClean="0">
                <a:solidFill>
                  <a:srgbClr val="FF0000"/>
                </a:solidFill>
              </a:rPr>
              <a:t>分部 </a:t>
            </a:r>
            <a:r>
              <a:rPr lang="en-US" altLang="zh-TW" sz="2000" dirty="0" smtClean="0">
                <a:solidFill>
                  <a:srgbClr val="FF0000"/>
                </a:solidFill>
              </a:rPr>
              <a:t>(</a:t>
            </a:r>
            <a:r>
              <a:rPr lang="zh-TW" altLang="zh-TW" sz="2000" dirty="0">
                <a:latin typeface="Arial" panose="020B0604020202020204" pitchFamily="34" charset="0"/>
              </a:rPr>
              <a:t>Dirichlet </a:t>
            </a:r>
            <a:r>
              <a:rPr lang="zh-TW" altLang="zh-TW" sz="2000" dirty="0" smtClean="0">
                <a:latin typeface="Arial" panose="020B0604020202020204" pitchFamily="34" charset="0"/>
              </a:rPr>
              <a:t>distribution</a:t>
            </a:r>
            <a:r>
              <a:rPr lang="en-US" altLang="zh-TW" sz="2000" dirty="0" smtClean="0">
                <a:solidFill>
                  <a:srgbClr val="FF0000"/>
                </a:solidFill>
              </a:rPr>
              <a:t>)</a:t>
            </a:r>
          </a:p>
          <a:p>
            <a:r>
              <a:rPr lang="zh-TW" altLang="en-US" sz="2000" dirty="0" smtClean="0">
                <a:solidFill>
                  <a:srgbClr val="FF0000"/>
                </a:solidFill>
              </a:rPr>
              <a:t>哪些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文字</a:t>
            </a:r>
            <a:r>
              <a:rPr lang="zh-TW" altLang="en-US" sz="2000" dirty="0" smtClean="0">
                <a:solidFill>
                  <a:srgbClr val="FF0000"/>
                </a:solidFill>
              </a:rPr>
              <a:t>屬於哪些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主題</a:t>
            </a:r>
            <a:r>
              <a:rPr lang="zh-TW" altLang="en-US" sz="2000" dirty="0" smtClean="0">
                <a:solidFill>
                  <a:srgbClr val="FF0000"/>
                </a:solidFill>
              </a:rPr>
              <a:t>是由 </a:t>
            </a:r>
            <a:r>
              <a:rPr lang="en-US" altLang="zh-TW" sz="2000" dirty="0" smtClean="0">
                <a:solidFill>
                  <a:srgbClr val="FF0000"/>
                </a:solidFill>
              </a:rPr>
              <a:t>LDA</a:t>
            </a:r>
            <a:r>
              <a:rPr lang="zh-TW" altLang="en-US" sz="2000" dirty="0" smtClean="0">
                <a:solidFill>
                  <a:srgbClr val="FF0000"/>
                </a:solidFill>
              </a:rPr>
              <a:t> 隨機開始之後調整 </a:t>
            </a:r>
            <a:r>
              <a:rPr lang="en-US" altLang="zh-TW" sz="2000" dirty="0" smtClean="0">
                <a:solidFill>
                  <a:srgbClr val="FF0000"/>
                </a:solidFill>
              </a:rPr>
              <a:t>assign</a:t>
            </a:r>
          </a:p>
          <a:p>
            <a:pPr lvl="1"/>
            <a:r>
              <a:rPr lang="en-US" altLang="zh-TW" dirty="0" smtClean="0"/>
              <a:t>Topic F: 40% eat, 40% fish, 20% vegetable</a:t>
            </a:r>
          </a:p>
          <a:p>
            <a:pPr lvl="1"/>
            <a:r>
              <a:rPr lang="en-US" altLang="zh-TW" dirty="0" smtClean="0"/>
              <a:t>Topic P: 33% fish, 33% pet, 33% kitten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51483B-FD16-40DD-B694-44EA0D46ACC8}" type="datetime4">
              <a:rPr lang="zh-TW" altLang="en-US" smtClean="0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 smtClean="0"/>
              <a:t>Data Mining: Concepts and Techniques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A574F-A985-45F3-91D6-B5AC36275DF4}" type="slidenum">
              <a:rPr lang="zh-TW" altLang="en-US" smtClean="0"/>
              <a:pPr>
                <a:defRPr/>
              </a:pPr>
              <a:t>93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85083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LDA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 smtClean="0"/>
              <a:t>In general, it </a:t>
            </a:r>
            <a:r>
              <a:rPr lang="en-US" altLang="zh-TW" sz="2400" dirty="0"/>
              <a:t>is intractable </a:t>
            </a:r>
            <a:r>
              <a:rPr lang="en-US" altLang="zh-TW" sz="2400" dirty="0" smtClean="0"/>
              <a:t>to compute </a:t>
            </a:r>
            <a:r>
              <a:rPr lang="en-US" altLang="zh-TW" sz="2400" dirty="0"/>
              <a:t>the posterior </a:t>
            </a:r>
            <a:r>
              <a:rPr lang="en-US" altLang="zh-TW" sz="2400" dirty="0" smtClean="0"/>
              <a:t>topic and word distributions.</a:t>
            </a:r>
          </a:p>
          <a:p>
            <a:r>
              <a:rPr lang="en-US" altLang="zh-TW" sz="2400" dirty="0" smtClean="0"/>
              <a:t>Use collapsed Gibbs sampling algorithm to approximate the distributions</a:t>
            </a:r>
          </a:p>
          <a:p>
            <a:r>
              <a:rPr lang="en-US" altLang="zh-TW" sz="2400" dirty="0" smtClean="0"/>
              <a:t>The topic assignment is updated based on the following criteria</a:t>
            </a:r>
            <a:r>
              <a:rPr lang="zh-TW" altLang="en-US" sz="2400" dirty="0" smtClean="0"/>
              <a:t> </a:t>
            </a:r>
            <a:endParaRPr lang="en-US" altLang="zh-TW" sz="2400" dirty="0"/>
          </a:p>
          <a:p>
            <a:r>
              <a:rPr lang="zh-TW" altLang="en-US" sz="2000" b="1" dirty="0" smtClean="0">
                <a:solidFill>
                  <a:srgbClr val="FF0000"/>
                </a:solidFill>
              </a:rPr>
              <a:t>文章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D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對主題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T</a:t>
            </a:r>
            <a:r>
              <a:rPr lang="zh-TW" altLang="en-US" sz="2000" dirty="0" smtClean="0">
                <a:solidFill>
                  <a:srgbClr val="FF0000"/>
                </a:solidFill>
              </a:rPr>
              <a:t>＆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主題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T</a:t>
            </a:r>
            <a:r>
              <a:rPr lang="zh-TW" altLang="en-US" sz="2000" b="1" dirty="0" smtClean="0">
                <a:solidFill>
                  <a:srgbClr val="FF0000"/>
                </a:solidFill>
              </a:rPr>
              <a:t>對文字</a:t>
            </a:r>
            <a:r>
              <a:rPr lang="en-US" altLang="zh-TW" sz="2000" b="1" dirty="0" smtClean="0">
                <a:solidFill>
                  <a:srgbClr val="FF0000"/>
                </a:solidFill>
              </a:rPr>
              <a:t>W</a:t>
            </a:r>
            <a:r>
              <a:rPr lang="zh-TW" altLang="en-US" sz="2000" dirty="0" smtClean="0">
                <a:solidFill>
                  <a:srgbClr val="FF0000"/>
                </a:solidFill>
              </a:rPr>
              <a:t>都是</a:t>
            </a:r>
            <a:r>
              <a:rPr lang="zh-TW" altLang="zh-TW" sz="2000" dirty="0" smtClean="0">
                <a:solidFill>
                  <a:srgbClr val="FF0000"/>
                </a:solidFill>
                <a:latin typeface="Arial" panose="020B0604020202020204" pitchFamily="34" charset="0"/>
              </a:rPr>
              <a:t>Dirichlet distribution</a:t>
            </a:r>
            <a:endParaRPr lang="en-US" altLang="zh-TW" sz="1400" dirty="0" smtClean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zh-TW" sz="1800" dirty="0" smtClean="0">
                <a:solidFill>
                  <a:srgbClr val="FF0000"/>
                </a:solidFill>
                <a:latin typeface="Arial" panose="020B0604020202020204" pitchFamily="34" charset="0"/>
              </a:rPr>
              <a:t>W row * T col </a:t>
            </a:r>
          </a:p>
          <a:p>
            <a:r>
              <a:rPr lang="en-US" altLang="zh-TW" sz="1800" dirty="0" smtClean="0">
                <a:solidFill>
                  <a:srgbClr val="FF0000"/>
                </a:solidFill>
                <a:latin typeface="Arial" panose="020B0604020202020204" pitchFamily="34" charset="0"/>
              </a:rPr>
              <a:t>T row * D col</a:t>
            </a:r>
            <a:endParaRPr lang="en-US" altLang="zh-TW" dirty="0" smtClean="0">
              <a:solidFill>
                <a:srgbClr val="FF0000"/>
              </a:solidFill>
            </a:endParaRPr>
          </a:p>
          <a:p>
            <a:pPr lvl="1"/>
            <a:r>
              <a:rPr lang="en-US" altLang="zh-TW" sz="2400" dirty="0" smtClean="0"/>
              <a:t>How prevalent is the word across topics?</a:t>
            </a:r>
          </a:p>
          <a:p>
            <a:pPr lvl="2"/>
            <a:r>
              <a:rPr lang="zh-TW" altLang="en-US" sz="2000" dirty="0" smtClean="0"/>
              <a:t>字出現在主題的頻率越高</a:t>
            </a:r>
            <a:r>
              <a:rPr lang="zh-TW" altLang="en-US" sz="2000" dirty="0"/>
              <a:t> </a:t>
            </a:r>
            <a:r>
              <a:rPr lang="zh-TW" altLang="en-US" sz="2000" dirty="0" smtClean="0"/>
              <a:t>越容易被</a:t>
            </a:r>
            <a:r>
              <a:rPr lang="en-US" altLang="zh-TW" sz="2000" dirty="0" smtClean="0"/>
              <a:t>assign</a:t>
            </a:r>
            <a:r>
              <a:rPr lang="zh-TW" altLang="en-US" sz="2000" dirty="0" smtClean="0"/>
              <a:t>到這主題</a:t>
            </a:r>
            <a:endParaRPr lang="en-US" altLang="zh-TW" sz="2000" dirty="0" smtClean="0"/>
          </a:p>
          <a:p>
            <a:pPr lvl="1"/>
            <a:r>
              <a:rPr lang="en-US" altLang="zh-TW" sz="2400" dirty="0" smtClean="0"/>
              <a:t>How prevalent are the topics in the document?</a:t>
            </a:r>
          </a:p>
          <a:p>
            <a:pPr lvl="2"/>
            <a:r>
              <a:rPr lang="zh-TW" altLang="en-US" sz="2000" dirty="0" smtClean="0"/>
              <a:t>主題出現在文章的</a:t>
            </a:r>
            <a:r>
              <a:rPr lang="zh-TW" altLang="en-US" sz="2000" dirty="0"/>
              <a:t>頻率越高 越容易被</a:t>
            </a:r>
            <a:r>
              <a:rPr lang="en-US" altLang="zh-TW" sz="2000" dirty="0"/>
              <a:t>assign</a:t>
            </a:r>
            <a:r>
              <a:rPr lang="zh-TW" altLang="en-US" sz="2000" dirty="0"/>
              <a:t>到這主題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251483B-FD16-40DD-B694-44EA0D46ACC8}" type="datetime4">
              <a:rPr lang="zh-TW" altLang="en-US" smtClean="0"/>
              <a:pPr>
                <a:defRPr/>
              </a:pPr>
              <a:t>2016年6月18日星期六</a:t>
            </a:fld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 smtClean="0"/>
              <a:t>Data Mining: Concepts and Techniques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A574F-A985-45F3-91D6-B5AC36275DF4}" type="slidenum">
              <a:rPr lang="zh-TW" altLang="en-US" smtClean="0"/>
              <a:pPr>
                <a:defRPr/>
              </a:pPr>
              <a:t>94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793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Topic clustering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D93096-5B34-4342-9326-69289CEAE4C2}" type="slidenum">
              <a:rPr lang="en-US" altLang="zh-TW" smtClean="0"/>
              <a:pPr/>
              <a:t>95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12648" y="1371600"/>
                <a:ext cx="8153400" cy="508173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altLang="zh-TW" dirty="0" smtClean="0"/>
                  <a:t>Cluster the documents with similar word distributions into a latent topic</a:t>
                </a:r>
                <a:br>
                  <a:rPr lang="en-US" altLang="zh-TW" dirty="0" smtClean="0"/>
                </a:br>
                <a:r>
                  <a:rPr lang="en-US" altLang="zh-TW" dirty="0" smtClean="0"/>
                  <a:t>			</a:t>
                </a:r>
              </a:p>
              <a:p>
                <a:endParaRPr lang="en-US" altLang="zh-TW" dirty="0" smtClean="0"/>
              </a:p>
              <a:p>
                <a:pPr lvl="1"/>
                <a:endParaRPr lang="en-US" altLang="zh-TW" dirty="0" smtClean="0"/>
              </a:p>
              <a:p>
                <a:pPr marL="685800" lvl="2" indent="0">
                  <a:buNone/>
                </a:pPr>
                <a:endParaRPr lang="en-US" altLang="zh-TW" sz="2000" dirty="0"/>
              </a:p>
              <a:p>
                <a:pPr lvl="2"/>
                <a:endParaRPr lang="en-US" altLang="zh-TW" sz="190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: a </a:t>
                </a:r>
                <a:r>
                  <a:rPr lang="en-US" altLang="zh-TW" sz="2200" dirty="0"/>
                  <a:t>document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200" dirty="0" smtClean="0"/>
                  <a:t>:</a:t>
                </a:r>
                <a14:m>
                  <m:oMath xmlns:m="http://schemas.openxmlformats.org/officeDocument/2006/math">
                    <m:r>
                      <a:rPr lang="en-US" altLang="zh-TW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sz="2200" dirty="0" err="1"/>
                  <a:t>th</a:t>
                </a:r>
                <a:r>
                  <a:rPr lang="en-US" altLang="zh-TW" sz="2200" dirty="0"/>
                  <a:t> </a:t>
                </a:r>
                <a:r>
                  <a:rPr lang="en-US" altLang="zh-TW" sz="2200" dirty="0" smtClean="0"/>
                  <a:t>topic</a:t>
                </a:r>
                <a:endParaRPr lang="en-US" altLang="zh-TW" sz="22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zh-TW" altLang="en-US" sz="22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: topic </a:t>
                </a:r>
                <a:r>
                  <a:rPr lang="en-US" altLang="zh-TW" sz="2200" dirty="0"/>
                  <a:t>assignment excluding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/>
                  <a:t>’s current </a:t>
                </a:r>
                <a:r>
                  <a:rPr lang="en-US" altLang="zh-TW" sz="2200" dirty="0" smtClean="0"/>
                  <a:t>assignment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2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TW" altLang="en-US" sz="22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sSub>
                          <m:sSubPr>
                            <m:ctrlPr>
                              <a:rPr lang="zh-TW" alt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TW" altLang="en-US" sz="22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TW" alt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TW" altLang="en-US" sz="2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en-US" altLang="zh-TW" sz="2200" dirty="0" smtClean="0"/>
                  <a:t>: </a:t>
                </a:r>
                <a:r>
                  <a:rPr lang="en-US" altLang="zh-TW" sz="2200" dirty="0"/>
                  <a:t>number of </a:t>
                </a:r>
                <a:r>
                  <a:rPr lang="en-US" altLang="zh-TW" sz="2200" dirty="0" smtClean="0"/>
                  <a:t>words in document </a:t>
                </a:r>
                <a:r>
                  <a:rPr lang="en-US" altLang="zh-TW" sz="2200" i="1" dirty="0"/>
                  <a:t>d</a:t>
                </a:r>
                <a:r>
                  <a:rPr lang="en-US" altLang="zh-TW" sz="2200" i="1" baseline="-25000" dirty="0"/>
                  <a:t>i</a:t>
                </a:r>
                <a:r>
                  <a:rPr lang="en-US" altLang="zh-TW" sz="2200" baseline="-25000" dirty="0"/>
                  <a:t> </a:t>
                </a:r>
                <a:r>
                  <a:rPr lang="en-US" altLang="zh-TW" sz="2200" dirty="0"/>
                  <a:t>that are assigned to topic </a:t>
                </a:r>
                <a:r>
                  <a:rPr lang="en-US" altLang="zh-TW" sz="2200" i="1" dirty="0"/>
                  <a:t>k</a:t>
                </a:r>
                <a:r>
                  <a:rPr lang="en-US" altLang="zh-TW" sz="2200" dirty="0"/>
                  <a:t> by excluding the current topic </a:t>
                </a:r>
                <a:r>
                  <a:rPr lang="en-US" altLang="zh-TW" sz="2200" dirty="0" smtClean="0"/>
                  <a:t>assignment </a:t>
                </a:r>
                <a:r>
                  <a:rPr lang="en-US" altLang="zh-TW" sz="2200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200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en-US" sz="2200" i="1">
                            <a:latin typeface="Cambria Math" charset="0"/>
                          </a:rPr>
                        </m:ctrlPr>
                      </m:sSubSupPr>
                      <m:e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zh-TW" altLang="en-US" sz="22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zh-TW" alt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TW" altLang="en-US" sz="22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TW" altLang="en-US" sz="220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zh-TW" altLang="en-US" sz="2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TW" alt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bSup>
                    <m:r>
                      <a:rPr lang="zh-TW" altLang="en-US" sz="2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200" dirty="0"/>
                  <a:t>: number of times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200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200" dirty="0"/>
                  <a:t> is assigned to topic </a:t>
                </a:r>
                <a:r>
                  <a:rPr lang="en-US" altLang="zh-TW" sz="2200" i="1" dirty="0"/>
                  <a:t>k</a:t>
                </a:r>
                <a:r>
                  <a:rPr lang="en-US" altLang="zh-TW" sz="2200" dirty="0"/>
                  <a:t> in the corpus by excluding the current topic assignment of </a:t>
                </a:r>
                <a:r>
                  <a:rPr lang="en-US" altLang="zh-TW" sz="2200" i="1" dirty="0" err="1"/>
                  <a:t>w</a:t>
                </a:r>
                <a:r>
                  <a:rPr lang="en-US" altLang="zh-TW" sz="2200" i="1" baseline="-25000" dirty="0" err="1"/>
                  <a:t>i</a:t>
                </a:r>
                <a:endParaRPr lang="zh-TW" altLang="en-US" sz="2200" dirty="0"/>
              </a:p>
              <a:p>
                <a:pPr marL="685800" lvl="2" indent="0">
                  <a:buNone/>
                </a:pPr>
                <a:endParaRPr lang="zh-TW" altLang="en-US" sz="20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12648" y="1371600"/>
                <a:ext cx="8153400" cy="5081736"/>
              </a:xfrm>
              <a:blipFill rotWithShape="0">
                <a:blip r:embed="rId3"/>
                <a:stretch>
                  <a:fillRect l="-299" t="-1918" r="-1645" b="-3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62000" y="2514600"/>
                <a:ext cx="8156448" cy="11086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TW" altLang="en-US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e>
                          <m:sSub>
                            <m:sSubPr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zh-TW" altLang="en-US" i="0"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zh-TW" altLang="en-US" i="1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TW" altLang="en-US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zh-TW" altLang="en-US" i="1">
                                      <a:latin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zh-TW" altLang="en-US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zh-TW" altLang="en-US" i="1">
                                          <a:latin typeface="Cambria Math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TW" altLang="en-US" i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</m:e>
                          </m:nary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TW" altLang="en-US" i="1">
                              <a:latin typeface="Cambria Math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naryPr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zh-TW" altLang="en-US" i="1">
                                      <a:latin typeface="Cambria Math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zh-TW" altLang="en-US" i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TW" altLang="en-US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514600"/>
                <a:ext cx="8156448" cy="110863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60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Graphical notation for smoothed LDA</a:t>
            </a:r>
            <a:endParaRPr lang="en-US" altLang="zh-TW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2803525" y="4722166"/>
            <a:ext cx="6645275" cy="1676400"/>
          </a:xfrm>
        </p:spPr>
        <p:txBody>
          <a:bodyPr/>
          <a:lstStyle/>
          <a:p>
            <a:pPr marL="0" lvl="0" indent="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smtClean="0">
                <a:latin typeface="Symbol" panose="05050102010706020507" pitchFamily="18" charset="2"/>
              </a:rPr>
              <a:t>a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i="1" dirty="0" smtClean="0">
                <a:latin typeface="Arial" panose="020B0604020202020204" pitchFamily="34" charset="0"/>
              </a:rPr>
              <a:t>  </a:t>
            </a:r>
            <a:r>
              <a:rPr lang="zh-TW" altLang="zh-TW" sz="2000" dirty="0" smtClean="0">
                <a:latin typeface="Arial" panose="020B0604020202020204" pitchFamily="34" charset="0"/>
              </a:rPr>
              <a:t>Dirichlet </a:t>
            </a:r>
            <a:r>
              <a:rPr lang="zh-TW" altLang="zh-TW" sz="2000" dirty="0">
                <a:latin typeface="Arial" panose="020B0604020202020204" pitchFamily="34" charset="0"/>
              </a:rPr>
              <a:t>prior on the per-document topic </a:t>
            </a:r>
            <a:r>
              <a:rPr lang="zh-TW" altLang="zh-TW" sz="2000" dirty="0" smtClean="0">
                <a:latin typeface="Arial" panose="020B0604020202020204" pitchFamily="34" charset="0"/>
              </a:rPr>
              <a:t>distribution</a:t>
            </a:r>
            <a:endParaRPr lang="zh-TW" altLang="zh-TW" sz="2000" dirty="0">
              <a:latin typeface="Arial" panose="020B0604020202020204" pitchFamily="34" charset="0"/>
            </a:endParaRPr>
          </a:p>
          <a:p>
            <a:pPr marL="457200" lvl="1" indent="-45720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smtClean="0">
                <a:latin typeface="Symbol" panose="05050102010706020507" pitchFamily="18" charset="2"/>
                <a:cs typeface="Arial" panose="020B0604020202020204" pitchFamily="34" charset="0"/>
              </a:rPr>
              <a:t>b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Dirichlet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prior on the per-topic word 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</a:t>
            </a:r>
            <a:endParaRPr lang="zh-TW" altLang="zh-TW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smtClean="0">
                <a:latin typeface="Symbol" panose="05050102010706020507" pitchFamily="18" charset="2"/>
                <a:cs typeface="Arial" panose="020B0604020202020204" pitchFamily="34" charset="0"/>
              </a:rPr>
              <a:t>q</a:t>
            </a:r>
            <a:r>
              <a:rPr lang="en-US" altLang="zh-TW" sz="2000" i="1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TW" sz="20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topic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distribution for document </a:t>
            </a:r>
            <a:r>
              <a:rPr lang="zh-TW" altLang="zh-TW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zh-TW" altLang="zh-TW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err="1" smtClean="0">
                <a:latin typeface="Symbol" panose="05050102010706020507" pitchFamily="18" charset="2"/>
                <a:cs typeface="Arial" panose="020B0604020202020204" pitchFamily="34" charset="0"/>
              </a:rPr>
              <a:t>f</a:t>
            </a:r>
            <a:r>
              <a:rPr lang="en-US" altLang="zh-TW" sz="2000" i="1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word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distribution for topic </a:t>
            </a:r>
            <a:r>
              <a:rPr lang="zh-TW" altLang="zh-TW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zh-TW" altLang="zh-TW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TW" sz="20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a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topic for the </a:t>
            </a:r>
            <a:r>
              <a:rPr lang="zh-TW" altLang="zh-TW" sz="2000" i="1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th word in document </a:t>
            </a:r>
            <a:r>
              <a:rPr lang="zh-TW" altLang="zh-TW" sz="2000" i="1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n-US" altLang="zh-TW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>
              <a:spcBef>
                <a:spcPct val="0"/>
              </a:spcBef>
              <a:buClrTx/>
              <a:buSzTx/>
              <a:buNone/>
            </a:pPr>
            <a:r>
              <a:rPr lang="en-US" altLang="zh-TW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TW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TW" altLang="zh-TW" sz="2000" dirty="0">
                <a:latin typeface="Arial" panose="020B0604020202020204" pitchFamily="34" charset="0"/>
                <a:cs typeface="Arial" panose="020B0604020202020204" pitchFamily="34" charset="0"/>
              </a:rPr>
              <a:t>specific </a:t>
            </a:r>
            <a:r>
              <a:rPr lang="zh-TW" altLang="zh-TW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word</a:t>
            </a:r>
            <a:endParaRPr lang="zh-TW" altLang="zh-TW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  <p:sp>
        <p:nvSpPr>
          <p:cNvPr id="4" name="Rectangle 13"/>
          <p:cNvSpPr>
            <a:spLocks noChangeArrowheads="1"/>
          </p:cNvSpPr>
          <p:nvPr/>
        </p:nvSpPr>
        <p:spPr bwMode="auto">
          <a:xfrm>
            <a:off x="0" y="-108040"/>
            <a:ext cx="256464" cy="21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4572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zh-TW" sz="1000" b="0" i="0" u="none" strike="noStrike" cap="none" normalizeH="0" baseline="0" dirty="0" smtClean="0">
              <a:ln>
                <a:noFill/>
              </a:ln>
              <a:solidFill>
                <a:srgbClr val="252525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AutoShape 14" descr="\theta_i"/>
          <p:cNvSpPr>
            <a:spLocks noChangeAspect="1" noChangeArrowheads="1"/>
          </p:cNvSpPr>
          <p:nvPr/>
        </p:nvSpPr>
        <p:spPr bwMode="auto">
          <a:xfrm>
            <a:off x="288925" y="-48736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" name="AutoShape 15" descr="\varphi_k"/>
          <p:cNvSpPr>
            <a:spLocks noChangeAspect="1" noChangeArrowheads="1"/>
          </p:cNvSpPr>
          <p:nvPr/>
        </p:nvSpPr>
        <p:spPr bwMode="auto">
          <a:xfrm>
            <a:off x="288925" y="-1984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" name="AutoShape 16" descr="z_{ij}"/>
          <p:cNvSpPr>
            <a:spLocks noChangeAspect="1" noChangeArrowheads="1"/>
          </p:cNvSpPr>
          <p:nvPr/>
        </p:nvSpPr>
        <p:spPr bwMode="auto">
          <a:xfrm>
            <a:off x="288925" y="9048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" name="AutoShape 17" descr="w_{ij}"/>
          <p:cNvSpPr>
            <a:spLocks noChangeAspect="1" noChangeArrowheads="1"/>
          </p:cNvSpPr>
          <p:nvPr/>
        </p:nvSpPr>
        <p:spPr bwMode="auto">
          <a:xfrm>
            <a:off x="288925" y="37941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9" name="橢圓 8"/>
          <p:cNvSpPr/>
          <p:nvPr/>
        </p:nvSpPr>
        <p:spPr bwMode="auto">
          <a:xfrm>
            <a:off x="2588307" y="3290773"/>
            <a:ext cx="609600" cy="6096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550207" y="336474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endParaRPr lang="zh-TW" altLang="en-US" dirty="0">
              <a:latin typeface="Symbol" panose="05050102010706020507" pitchFamily="18" charset="2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 bwMode="auto">
          <a:xfrm>
            <a:off x="6164263" y="3250310"/>
            <a:ext cx="609600" cy="6096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126163" y="332427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橢圓 15"/>
          <p:cNvSpPr/>
          <p:nvPr/>
        </p:nvSpPr>
        <p:spPr bwMode="auto">
          <a:xfrm>
            <a:off x="3810228" y="3286177"/>
            <a:ext cx="609600" cy="6096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3772128" y="3360144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q</a:t>
            </a:r>
            <a:endParaRPr lang="zh-TW" altLang="en-US" dirty="0">
              <a:latin typeface="Symbol" panose="05050102010706020507" pitchFamily="18" charset="2"/>
              <a:cs typeface="Times New Roman" panose="02020603050405020304" pitchFamily="18" charset="0"/>
            </a:endParaRPr>
          </a:p>
        </p:txBody>
      </p:sp>
      <p:sp>
        <p:nvSpPr>
          <p:cNvPr id="18" name="橢圓 17"/>
          <p:cNvSpPr/>
          <p:nvPr/>
        </p:nvSpPr>
        <p:spPr bwMode="auto">
          <a:xfrm>
            <a:off x="5076371" y="1941983"/>
            <a:ext cx="609600" cy="6096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038271" y="199050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endParaRPr lang="zh-TW" altLang="en-US" dirty="0">
              <a:latin typeface="Symbol" panose="05050102010706020507" pitchFamily="18" charset="2"/>
              <a:cs typeface="Times New Roman" panose="02020603050405020304" pitchFamily="18" charset="0"/>
            </a:endParaRPr>
          </a:p>
        </p:txBody>
      </p:sp>
      <p:sp>
        <p:nvSpPr>
          <p:cNvPr id="20" name="橢圓 19"/>
          <p:cNvSpPr/>
          <p:nvPr/>
        </p:nvSpPr>
        <p:spPr bwMode="auto">
          <a:xfrm>
            <a:off x="6160180" y="1916538"/>
            <a:ext cx="609600" cy="6096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122080" y="1990505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f</a:t>
            </a:r>
            <a:endParaRPr lang="zh-TW" altLang="en-US" dirty="0">
              <a:latin typeface="Symbol" panose="05050102010706020507" pitchFamily="18" charset="2"/>
              <a:cs typeface="Times New Roman" panose="02020603050405020304" pitchFamily="18" charset="0"/>
            </a:endParaRPr>
          </a:p>
        </p:txBody>
      </p:sp>
      <p:sp>
        <p:nvSpPr>
          <p:cNvPr id="22" name="橢圓 21"/>
          <p:cNvSpPr/>
          <p:nvPr/>
        </p:nvSpPr>
        <p:spPr bwMode="auto">
          <a:xfrm>
            <a:off x="5053920" y="3276600"/>
            <a:ext cx="609600" cy="6096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015820" y="335056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/>
          <p:cNvCxnSpPr>
            <a:stCxn id="19" idx="3"/>
            <a:endCxn id="21" idx="1"/>
          </p:cNvCxnSpPr>
          <p:nvPr/>
        </p:nvCxnSpPr>
        <p:spPr bwMode="auto">
          <a:xfrm>
            <a:off x="5724071" y="2221338"/>
            <a:ext cx="39800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單箭頭接點 25"/>
          <p:cNvCxnSpPr/>
          <p:nvPr/>
        </p:nvCxnSpPr>
        <p:spPr bwMode="auto">
          <a:xfrm>
            <a:off x="5682570" y="3581400"/>
            <a:ext cx="44359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單箭頭接點 26"/>
          <p:cNvCxnSpPr>
            <a:stCxn id="17" idx="3"/>
          </p:cNvCxnSpPr>
          <p:nvPr/>
        </p:nvCxnSpPr>
        <p:spPr bwMode="auto">
          <a:xfrm flipV="1">
            <a:off x="4457928" y="3581400"/>
            <a:ext cx="587828" cy="9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直線單箭頭接點 29"/>
          <p:cNvCxnSpPr/>
          <p:nvPr/>
        </p:nvCxnSpPr>
        <p:spPr bwMode="auto">
          <a:xfrm flipV="1">
            <a:off x="3222400" y="3607252"/>
            <a:ext cx="587828" cy="95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矩形 27"/>
          <p:cNvSpPr/>
          <p:nvPr/>
        </p:nvSpPr>
        <p:spPr bwMode="auto">
          <a:xfrm>
            <a:off x="4879749" y="3124200"/>
            <a:ext cx="2133600" cy="9906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3584349" y="2971800"/>
            <a:ext cx="3733800" cy="1349338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5971041" y="1778482"/>
            <a:ext cx="1066800" cy="838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488113" y="3707073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822849" y="3962642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561591" y="2253857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線單箭頭接點 12"/>
          <p:cNvCxnSpPr>
            <a:stCxn id="20" idx="4"/>
            <a:endCxn id="14" idx="0"/>
          </p:cNvCxnSpPr>
          <p:nvPr/>
        </p:nvCxnSpPr>
        <p:spPr bwMode="auto">
          <a:xfrm>
            <a:off x="6464980" y="2526138"/>
            <a:ext cx="4083" cy="7241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1692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Check-ins of San Francisco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r>
              <a:rPr lang="en-US" altLang="zh-TW" sz="2400" dirty="0"/>
              <a:t>Topic 1: </a:t>
            </a:r>
            <a:r>
              <a:rPr lang="en-US" altLang="zh-TW" sz="2400" dirty="0" err="1"/>
              <a:t>goldengatebridge</a:t>
            </a:r>
            <a:r>
              <a:rPr lang="en-US" altLang="zh-TW" sz="2400" dirty="0"/>
              <a:t> golden gate area bridge recreation national </a:t>
            </a:r>
            <a:r>
              <a:rPr lang="en-US" altLang="zh-TW" sz="2400" dirty="0" err="1"/>
              <a:t>goldengate</a:t>
            </a:r>
            <a:r>
              <a:rPr lang="en-US" altLang="zh-TW" sz="2400" dirty="0"/>
              <a:t> san Francisco</a:t>
            </a:r>
            <a:endParaRPr lang="zh-TW" altLang="zh-TW" sz="2400" dirty="0"/>
          </a:p>
          <a:p>
            <a:r>
              <a:rPr lang="en-US" altLang="zh-TW" sz="2400" dirty="0"/>
              <a:t>Topic 2: pier39 </a:t>
            </a:r>
            <a:r>
              <a:rPr lang="en-US" altLang="zh-TW" sz="2400" dirty="0" err="1"/>
              <a:t>fishermanswharf</a:t>
            </a:r>
            <a:r>
              <a:rPr lang="en-US" altLang="zh-TW" sz="2400" dirty="0"/>
              <a:t> </a:t>
            </a:r>
            <a:r>
              <a:rPr lang="en-US" altLang="zh-TW" sz="2400" dirty="0" err="1"/>
              <a:t>francisco</a:t>
            </a:r>
            <a:r>
              <a:rPr lang="en-US" altLang="zh-TW" sz="2400" dirty="0"/>
              <a:t> san travel vacation </a:t>
            </a:r>
            <a:r>
              <a:rPr lang="en-US" altLang="zh-TW" sz="2400" dirty="0" err="1"/>
              <a:t>nikon</a:t>
            </a:r>
            <a:r>
              <a:rPr lang="en-US" altLang="zh-TW" sz="2400" dirty="0"/>
              <a:t> pier</a:t>
            </a:r>
            <a:endParaRPr lang="zh-TW" altLang="zh-TW" sz="2400" dirty="0"/>
          </a:p>
          <a:p>
            <a:r>
              <a:rPr lang="en-US" altLang="zh-TW" sz="2400" dirty="0"/>
              <a:t>Topic 3: </a:t>
            </a:r>
            <a:r>
              <a:rPr lang="en-US" altLang="zh-TW" sz="2400" dirty="0" err="1"/>
              <a:t>alcatraz</a:t>
            </a:r>
            <a:r>
              <a:rPr lang="en-US" altLang="zh-TW" sz="2400" dirty="0"/>
              <a:t> date prison </a:t>
            </a:r>
            <a:r>
              <a:rPr lang="en-US" altLang="zh-TW" sz="2400" dirty="0" err="1"/>
              <a:t>september</a:t>
            </a:r>
            <a:r>
              <a:rPr lang="en-US" altLang="zh-TW" sz="2400" dirty="0"/>
              <a:t> 2015 </a:t>
            </a:r>
            <a:r>
              <a:rPr lang="en-US" altLang="zh-TW" sz="2400" dirty="0" err="1"/>
              <a:t>francisco</a:t>
            </a:r>
            <a:r>
              <a:rPr lang="en-US" altLang="zh-TW" sz="2400" dirty="0"/>
              <a:t> san </a:t>
            </a:r>
            <a:r>
              <a:rPr lang="en-US" altLang="zh-TW" sz="2400" dirty="0" err="1"/>
              <a:t>alcatrazisland</a:t>
            </a:r>
            <a:r>
              <a:rPr lang="en-US" altLang="zh-TW" sz="2400" dirty="0"/>
              <a:t> vacation island</a:t>
            </a:r>
            <a:endParaRPr lang="zh-TW" altLang="zh-TW" sz="2400" dirty="0"/>
          </a:p>
          <a:p>
            <a:r>
              <a:rPr lang="en-US" altLang="zh-TW" sz="2400" dirty="0"/>
              <a:t>Topic 4: 2015 </a:t>
            </a:r>
            <a:r>
              <a:rPr lang="en-US" altLang="zh-TW" sz="2400" dirty="0" err="1"/>
              <a:t>september</a:t>
            </a:r>
            <a:r>
              <a:rPr lang="en-US" altLang="zh-TW" sz="2400" dirty="0"/>
              <a:t> </a:t>
            </a:r>
            <a:r>
              <a:rPr lang="en-US" altLang="zh-TW" sz="2400" dirty="0" err="1"/>
              <a:t>chadmagiera</a:t>
            </a:r>
            <a:r>
              <a:rPr lang="en-US" altLang="zh-TW" sz="2400" dirty="0"/>
              <a:t> </a:t>
            </a:r>
            <a:r>
              <a:rPr lang="en-US" altLang="zh-TW" sz="2400" dirty="0" err="1"/>
              <a:t>sanfranciscocityhall</a:t>
            </a:r>
            <a:r>
              <a:rPr lang="en-US" altLang="zh-TW" sz="2400" dirty="0"/>
              <a:t> </a:t>
            </a:r>
            <a:r>
              <a:rPr lang="en-US" altLang="zh-TW" sz="2400" dirty="0" err="1"/>
              <a:t>cityhall</a:t>
            </a:r>
            <a:r>
              <a:rPr lang="en-US" altLang="zh-TW" sz="2400" dirty="0"/>
              <a:t> 47thfloorloewsregencyhotel pride </a:t>
            </a:r>
            <a:r>
              <a:rPr lang="en-US" altLang="zh-TW" sz="2400" dirty="0" err="1"/>
              <a:t>sfpride</a:t>
            </a:r>
            <a:r>
              <a:rPr lang="en-US" altLang="zh-TW" sz="2400" dirty="0"/>
              <a:t> 2014 art</a:t>
            </a:r>
            <a:endParaRPr lang="zh-TW" altLang="zh-TW" sz="2400" dirty="0"/>
          </a:p>
          <a:p>
            <a:r>
              <a:rPr lang="en-US" altLang="zh-TW" sz="2400" dirty="0"/>
              <a:t>Topic 5: race women </a:t>
            </a:r>
            <a:r>
              <a:rPr lang="en-US" altLang="zh-TW" sz="2400" dirty="0" err="1"/>
              <a:t>guerrero</a:t>
            </a:r>
            <a:r>
              <a:rPr lang="en-US" altLang="zh-TW" sz="2400" dirty="0"/>
              <a:t> market men </a:t>
            </a:r>
            <a:r>
              <a:rPr lang="en-US" altLang="zh-TW" sz="2400" dirty="0" err="1"/>
              <a:t>missiondistrict</a:t>
            </a:r>
            <a:r>
              <a:rPr lang="en-US" altLang="zh-TW" sz="2400" dirty="0"/>
              <a:t> </a:t>
            </a:r>
            <a:r>
              <a:rPr lang="en-US" altLang="zh-TW" sz="2400" dirty="0" err="1"/>
              <a:t>nikon</a:t>
            </a:r>
            <a:r>
              <a:rPr lang="en-US" altLang="zh-TW" sz="2400" dirty="0"/>
              <a:t> marathon friends nikond90</a:t>
            </a:r>
            <a:endParaRPr lang="zh-TW" altLang="zh-TW" sz="2400" dirty="0"/>
          </a:p>
          <a:p>
            <a:r>
              <a:rPr lang="en-US" altLang="zh-TW" sz="2400" dirty="0"/>
              <a:t>Topic 6: embarcadero </a:t>
            </a:r>
            <a:r>
              <a:rPr lang="en-US" altLang="zh-TW" sz="2400" dirty="0" err="1"/>
              <a:t>chinatown</a:t>
            </a:r>
            <a:r>
              <a:rPr lang="en-US" altLang="zh-TW" sz="2400" dirty="0"/>
              <a:t> restaurant </a:t>
            </a:r>
            <a:r>
              <a:rPr lang="en-US" altLang="zh-TW" sz="2400" dirty="0" err="1"/>
              <a:t>bayarea</a:t>
            </a:r>
            <a:r>
              <a:rPr lang="en-US" altLang="zh-TW" sz="2400" dirty="0"/>
              <a:t> </a:t>
            </a:r>
            <a:r>
              <a:rPr lang="en-US" altLang="zh-TW" sz="2400" dirty="0" err="1"/>
              <a:t>ferrybuilding</a:t>
            </a:r>
            <a:r>
              <a:rPr lang="en-US" altLang="zh-TW" sz="2400" dirty="0"/>
              <a:t> street city </a:t>
            </a:r>
            <a:r>
              <a:rPr lang="en-US" altLang="zh-TW" sz="2400" dirty="0" err="1"/>
              <a:t>rokaakor</a:t>
            </a:r>
            <a:r>
              <a:rPr lang="en-US" altLang="zh-TW" sz="2400" dirty="0"/>
              <a:t> 2015 2014</a:t>
            </a:r>
            <a:endParaRPr lang="zh-TW" altLang="zh-TW" sz="24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B6C58E-782F-41C1-9CDA-E0CE9F18144D}" type="datetime4">
              <a:rPr lang="zh-TW" altLang="en-US" smtClean="0"/>
              <a:pPr>
                <a:defRPr/>
              </a:pPr>
              <a:t>2016年6月18日星期六</a:t>
            </a:fld>
            <a:endParaRPr lang="en-US" altLang="zh-TW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TW" altLang="en-US" smtClean="0"/>
              <a:t>Data Mining: Concepts and Techniques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05DDE3-EF95-4605-9E23-97BFCACE31CC}" type="slidenum">
              <a:rPr lang="zh-TW" altLang="en-US" smtClean="0"/>
              <a:pPr>
                <a:defRPr/>
              </a:pPr>
              <a:t>97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142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/>
              <a:t>Dirichlet distribution	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88496"/>
            <a:ext cx="8229600" cy="3886200"/>
          </a:xfrm>
        </p:spPr>
        <p:txBody>
          <a:bodyPr/>
          <a:lstStyle/>
          <a:p>
            <a:pPr algn="l" rtl="0"/>
            <a:r>
              <a:rPr lang="en-US" altLang="zh-TW" sz="2800" dirty="0"/>
              <a:t>A </a:t>
            </a:r>
            <a:r>
              <a:rPr lang="en-US" altLang="zh-TW" sz="2800" i="1" dirty="0" smtClean="0"/>
              <a:t>K</a:t>
            </a:r>
            <a:r>
              <a:rPr lang="en-US" altLang="zh-TW" sz="2800" dirty="0" smtClean="0"/>
              <a:t>-dimensional </a:t>
            </a:r>
            <a:r>
              <a:rPr lang="en-US" altLang="zh-TW" sz="2800" dirty="0" err="1"/>
              <a:t>Dirichlet</a:t>
            </a:r>
            <a:r>
              <a:rPr lang="en-US" altLang="zh-TW" sz="2800" dirty="0"/>
              <a:t> random variable </a:t>
            </a:r>
            <a:r>
              <a:rPr lang="el-GR" altLang="zh-TW" sz="2800" i="1" dirty="0"/>
              <a:t>θ</a:t>
            </a:r>
            <a:r>
              <a:rPr lang="en-US" altLang="zh-TW" sz="2800" dirty="0"/>
              <a:t> </a:t>
            </a:r>
            <a:r>
              <a:rPr lang="en-US" altLang="zh-TW" sz="2800" dirty="0" smtClean="0"/>
              <a:t>has </a:t>
            </a:r>
            <a:r>
              <a:rPr lang="en-US" altLang="zh-TW" sz="2800" dirty="0"/>
              <a:t>the following probability </a:t>
            </a:r>
            <a:r>
              <a:rPr lang="en-US" altLang="zh-TW" sz="2800" dirty="0" smtClean="0"/>
              <a:t>density</a:t>
            </a:r>
            <a:endParaRPr lang="en-US" altLang="zh-TW" sz="2800" dirty="0"/>
          </a:p>
          <a:p>
            <a:pPr algn="l" rtl="0">
              <a:buFont typeface="Wingdings" panose="05000000000000000000" pitchFamily="2" charset="2"/>
              <a:buNone/>
            </a:pPr>
            <a:endParaRPr lang="el-GR" altLang="zh-TW" sz="2800" dirty="0"/>
          </a:p>
        </p:txBody>
      </p:sp>
      <p:graphicFrame>
        <p:nvGraphicFramePr>
          <p:cNvPr id="14848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06221988"/>
              </p:ext>
            </p:extLst>
          </p:nvPr>
        </p:nvGraphicFramePr>
        <p:xfrm>
          <a:off x="608013" y="2798535"/>
          <a:ext cx="5857875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7" name="方程式" r:id="rId4" imgW="2197080" imgH="444240" progId="Equation.3">
                  <p:embed/>
                </p:oleObj>
              </mc:Choice>
              <mc:Fallback>
                <p:oleObj name="方程式" r:id="rId4" imgW="2197080" imgH="444240" progId="Equation.3">
                  <p:embed/>
                  <p:pic>
                    <p:nvPicPr>
                      <p:cNvPr id="14848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2798535"/>
                        <a:ext cx="5857875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071391"/>
              </p:ext>
            </p:extLst>
          </p:nvPr>
        </p:nvGraphicFramePr>
        <p:xfrm>
          <a:off x="608013" y="3789363"/>
          <a:ext cx="8301037" cy="308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8" name="方程式" r:id="rId6" imgW="3924000" imgH="1460160" progId="Equation.3">
                  <p:embed/>
                </p:oleObj>
              </mc:Choice>
              <mc:Fallback>
                <p:oleObj name="方程式" r:id="rId6" imgW="3924000" imgH="1460160" progId="Equation.3">
                  <p:embed/>
                  <p:pic>
                    <p:nvPicPr>
                      <p:cNvPr id="1515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13" y="3789363"/>
                        <a:ext cx="8301037" cy="308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627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/>
              <a:t>Inference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382000" cy="3886200"/>
          </a:xfrm>
        </p:spPr>
        <p:txBody>
          <a:bodyPr/>
          <a:lstStyle/>
          <a:p>
            <a:pPr algn="l" rtl="0"/>
            <a:r>
              <a:rPr lang="en-US" altLang="zh-TW" sz="2800" dirty="0" smtClean="0"/>
              <a:t>Compute </a:t>
            </a:r>
            <a:r>
              <a:rPr lang="en-US" altLang="zh-TW" sz="2800" dirty="0"/>
              <a:t>the posterior </a:t>
            </a:r>
            <a:r>
              <a:rPr lang="en-US" altLang="zh-TW" sz="2800" dirty="0" smtClean="0"/>
              <a:t>distribution of </a:t>
            </a:r>
            <a:r>
              <a:rPr lang="en-US" altLang="zh-TW" sz="2800" dirty="0"/>
              <a:t>the hidden variables given a </a:t>
            </a:r>
            <a:r>
              <a:rPr lang="en-US" altLang="zh-TW" sz="2800" dirty="0" smtClean="0"/>
              <a:t>document</a:t>
            </a:r>
            <a:endParaRPr lang="en-US" altLang="zh-TW" sz="2800" dirty="0"/>
          </a:p>
          <a:p>
            <a:pPr algn="l" rtl="0"/>
            <a:endParaRPr lang="en-US" altLang="zh-TW" sz="2800" dirty="0"/>
          </a:p>
          <a:p>
            <a:pPr algn="l" rtl="0"/>
            <a:r>
              <a:rPr lang="en-US" altLang="zh-TW" sz="2800" dirty="0"/>
              <a:t>Unfortunately, </a:t>
            </a:r>
            <a:r>
              <a:rPr lang="en-US" altLang="zh-TW" sz="2800" dirty="0" smtClean="0"/>
              <a:t>it </a:t>
            </a:r>
            <a:r>
              <a:rPr lang="en-US" altLang="zh-TW" sz="2800" dirty="0"/>
              <a:t>is intractable </a:t>
            </a:r>
            <a:r>
              <a:rPr lang="en-US" altLang="zh-TW" sz="2800" dirty="0" smtClean="0"/>
              <a:t>in </a:t>
            </a:r>
            <a:r>
              <a:rPr lang="en-US" altLang="zh-TW" sz="2800" dirty="0"/>
              <a:t>general. </a:t>
            </a:r>
            <a:r>
              <a:rPr lang="en-US" altLang="zh-TW" sz="2800" dirty="0" smtClean="0"/>
              <a:t>Rewrite Eq. (3)</a:t>
            </a:r>
            <a:endParaRPr lang="en-US" altLang="zh-TW" sz="2800" dirty="0"/>
          </a:p>
        </p:txBody>
      </p:sp>
      <p:graphicFrame>
        <p:nvGraphicFramePr>
          <p:cNvPr id="19046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86000" y="2349500"/>
          <a:ext cx="3886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3" name="Equation" r:id="rId4" imgW="1688760" imgH="253800" progId="Equation.3">
                  <p:embed/>
                </p:oleObj>
              </mc:Choice>
              <mc:Fallback>
                <p:oleObj name="Equation" r:id="rId4" imgW="1688760" imgH="253800" progId="Equation.3">
                  <p:embed/>
                  <p:pic>
                    <p:nvPicPr>
                      <p:cNvPr id="1904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349500"/>
                        <a:ext cx="3886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0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89797088"/>
              </p:ext>
            </p:extLst>
          </p:nvPr>
        </p:nvGraphicFramePr>
        <p:xfrm>
          <a:off x="304800" y="3962400"/>
          <a:ext cx="86868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84" name="方程式" r:id="rId6" imgW="3619440" imgH="507960" progId="Equation.3">
                  <p:embed/>
                </p:oleObj>
              </mc:Choice>
              <mc:Fallback>
                <p:oleObj name="方程式" r:id="rId6" imgW="3619440" imgH="507960" progId="Equation.3">
                  <p:embed/>
                  <p:pic>
                    <p:nvPicPr>
                      <p:cNvPr id="1904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962400"/>
                        <a:ext cx="86868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5971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/>
              <a:t>Parameter estimation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1319" y="1371600"/>
            <a:ext cx="8229600" cy="2438400"/>
          </a:xfrm>
        </p:spPr>
        <p:txBody>
          <a:bodyPr/>
          <a:lstStyle/>
          <a:p>
            <a:pPr algn="l" rtl="0"/>
            <a:r>
              <a:rPr lang="en-US" altLang="zh-TW" sz="2800" dirty="0" smtClean="0"/>
              <a:t>EM</a:t>
            </a:r>
            <a:endParaRPr lang="en-US" altLang="zh-TW" sz="2800" dirty="0"/>
          </a:p>
          <a:p>
            <a:pPr lvl="1" algn="l" rtl="0"/>
            <a:r>
              <a:rPr lang="en-US" altLang="zh-TW" sz="2400" dirty="0"/>
              <a:t>(E Step) For each document, find the optimizing values of the </a:t>
            </a:r>
            <a:r>
              <a:rPr lang="en-US" altLang="zh-TW" sz="2400" dirty="0" smtClean="0"/>
              <a:t>parameters </a:t>
            </a:r>
            <a:r>
              <a:rPr lang="en-US" altLang="zh-TW" sz="2400" dirty="0"/>
              <a:t>(</a:t>
            </a:r>
            <a:r>
              <a:rPr lang="el-GR" altLang="zh-TW" sz="2400" i="1" dirty="0"/>
              <a:t>γ</a:t>
            </a:r>
            <a:r>
              <a:rPr lang="en-US" altLang="zh-TW" sz="2400" i="1" dirty="0"/>
              <a:t>, </a:t>
            </a:r>
            <a:r>
              <a:rPr lang="el-GR" altLang="zh-TW" sz="2400" i="1" dirty="0"/>
              <a:t>φ</a:t>
            </a:r>
            <a:r>
              <a:rPr lang="en-US" altLang="zh-TW" sz="2400" dirty="0"/>
              <a:t>) with </a:t>
            </a:r>
            <a:r>
              <a:rPr lang="en-US" altLang="zh-TW" sz="2400" i="1" dirty="0" smtClean="0">
                <a:latin typeface="Symbol" panose="05050102010706020507" pitchFamily="18" charset="2"/>
              </a:rPr>
              <a:t>a</a:t>
            </a:r>
            <a:r>
              <a:rPr lang="en-US" altLang="zh-TW" sz="2400" i="1" dirty="0" smtClean="0"/>
              <a:t>, </a:t>
            </a:r>
            <a:r>
              <a:rPr lang="el-GR" altLang="zh-TW" sz="2400" i="1" dirty="0"/>
              <a:t>β</a:t>
            </a:r>
            <a:r>
              <a:rPr lang="en-US" altLang="zh-TW" sz="2400" i="1" dirty="0"/>
              <a:t> </a:t>
            </a:r>
            <a:r>
              <a:rPr lang="en-US" altLang="zh-TW" sz="2400" dirty="0"/>
              <a:t>fixed.</a:t>
            </a:r>
          </a:p>
          <a:p>
            <a:pPr lvl="1"/>
            <a:r>
              <a:rPr lang="en-US" altLang="zh-TW" sz="2400" dirty="0"/>
              <a:t>(M Step) Maximize </a:t>
            </a:r>
            <a:r>
              <a:rPr lang="en-US" altLang="zh-TW" sz="2400" dirty="0" err="1"/>
              <a:t>variational</a:t>
            </a:r>
            <a:r>
              <a:rPr lang="en-US" altLang="zh-TW" sz="2400" dirty="0"/>
              <a:t> distribution w.r.t. </a:t>
            </a:r>
            <a:r>
              <a:rPr lang="en-US" altLang="zh-TW" sz="2400" i="1" dirty="0">
                <a:latin typeface="Symbol" panose="05050102010706020507" pitchFamily="18" charset="2"/>
              </a:rPr>
              <a:t>a</a:t>
            </a:r>
            <a:r>
              <a:rPr lang="en-US" altLang="zh-TW" sz="2400" i="1" dirty="0" smtClean="0"/>
              <a:t>, </a:t>
            </a:r>
            <a:r>
              <a:rPr lang="el-GR" altLang="zh-TW" sz="2400" i="1" dirty="0"/>
              <a:t>β</a:t>
            </a:r>
            <a:r>
              <a:rPr lang="en-US" altLang="zh-TW" sz="2400" i="1" dirty="0"/>
              <a:t> </a:t>
            </a:r>
            <a:r>
              <a:rPr lang="en-US" altLang="zh-TW" sz="2400" dirty="0"/>
              <a:t>for the </a:t>
            </a:r>
            <a:r>
              <a:rPr lang="el-GR" altLang="zh-TW" sz="2400" i="1" dirty="0"/>
              <a:t>γ</a:t>
            </a:r>
            <a:r>
              <a:rPr lang="en-US" altLang="zh-TW" sz="2400" i="1" dirty="0"/>
              <a:t> </a:t>
            </a:r>
            <a:r>
              <a:rPr lang="en-US" altLang="zh-TW" sz="2400" dirty="0"/>
              <a:t>and</a:t>
            </a:r>
            <a:r>
              <a:rPr lang="en-US" altLang="zh-TW" sz="2400" i="1" dirty="0"/>
              <a:t> </a:t>
            </a:r>
            <a:r>
              <a:rPr lang="el-GR" altLang="zh-TW" sz="2400" i="1" dirty="0"/>
              <a:t>φ</a:t>
            </a:r>
            <a:r>
              <a:rPr lang="en-US" altLang="zh-TW" sz="2400" i="1" dirty="0"/>
              <a:t> </a:t>
            </a:r>
            <a:r>
              <a:rPr lang="en-US" altLang="zh-TW" sz="2400" dirty="0"/>
              <a:t>values found in the E step.</a:t>
            </a:r>
          </a:p>
        </p:txBody>
      </p:sp>
      <p:graphicFrame>
        <p:nvGraphicFramePr>
          <p:cNvPr id="202756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53296125"/>
              </p:ext>
            </p:extLst>
          </p:nvPr>
        </p:nvGraphicFramePr>
        <p:xfrm>
          <a:off x="2209800" y="3733800"/>
          <a:ext cx="441960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9" name="Equation" r:id="rId4" imgW="1777680" imgH="431640" progId="Equation.3">
                  <p:embed/>
                </p:oleObj>
              </mc:Choice>
              <mc:Fallback>
                <p:oleObj name="Equation" r:id="rId4" imgW="1777680" imgH="431640" progId="Equation.3">
                  <p:embed/>
                  <p:pic>
                    <p:nvPicPr>
                      <p:cNvPr id="202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733800"/>
                        <a:ext cx="441960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127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/>
              <a:t>LDA – generative process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53219" y="1447800"/>
            <a:ext cx="8305800" cy="3200400"/>
          </a:xfrm>
        </p:spPr>
        <p:txBody>
          <a:bodyPr/>
          <a:lstStyle/>
          <a:p>
            <a:r>
              <a:rPr lang="en-US" altLang="zh-TW" sz="2800" dirty="0" smtClean="0"/>
              <a:t>Choose </a:t>
            </a:r>
            <a:r>
              <a:rPr lang="en-US" altLang="zh-TW" sz="2800" i="1" dirty="0" err="1" smtClean="0"/>
              <a:t>w</a:t>
            </a:r>
            <a:r>
              <a:rPr lang="en-US" altLang="zh-TW" sz="2800" i="1" baseline="-25000" dirty="0" err="1" smtClean="0"/>
              <a:t>i</a:t>
            </a:r>
            <a:r>
              <a:rPr lang="en-US" altLang="zh-TW" sz="2800" dirty="0" smtClean="0"/>
              <a:t> ~ Poisson(</a:t>
            </a:r>
            <a:r>
              <a:rPr lang="en-US" altLang="zh-TW" sz="2800" i="1" dirty="0" smtClean="0">
                <a:latin typeface="Symbol" panose="05050102010706020507" pitchFamily="18" charset="2"/>
              </a:rPr>
              <a:t>x</a:t>
            </a:r>
            <a:r>
              <a:rPr lang="en-US" altLang="zh-TW" sz="2800" dirty="0" smtClean="0"/>
              <a:t>)</a:t>
            </a:r>
            <a:endParaRPr lang="en-US" altLang="zh-TW" sz="2800" dirty="0"/>
          </a:p>
          <a:p>
            <a:r>
              <a:rPr lang="en-US" altLang="zh-TW" sz="2800" dirty="0" smtClean="0"/>
              <a:t>Choose </a:t>
            </a:r>
            <a:r>
              <a:rPr lang="en-US" altLang="zh-TW" sz="2800" i="1" dirty="0" smtClean="0">
                <a:latin typeface="Symbol" panose="05050102010706020507" pitchFamily="18" charset="2"/>
              </a:rPr>
              <a:t>q</a:t>
            </a:r>
            <a:r>
              <a:rPr lang="en-US" altLang="zh-TW" dirty="0"/>
              <a:t> </a:t>
            </a:r>
            <a:r>
              <a:rPr lang="en-US" altLang="zh-TW" dirty="0" smtClean="0"/>
              <a:t>~ Dir(</a:t>
            </a:r>
            <a:r>
              <a:rPr lang="en-US" altLang="zh-TW" b="1" i="1" dirty="0" smtClean="0">
                <a:latin typeface="Symbol" panose="05050102010706020507" pitchFamily="18" charset="2"/>
              </a:rPr>
              <a:t>a</a:t>
            </a:r>
            <a:r>
              <a:rPr lang="en-US" altLang="zh-TW" dirty="0" smtClean="0"/>
              <a:t>)</a:t>
            </a:r>
            <a:endParaRPr lang="en-US" altLang="zh-TW" sz="2800" dirty="0"/>
          </a:p>
          <a:p>
            <a:r>
              <a:rPr lang="en-US" altLang="zh-TW" sz="2800" dirty="0"/>
              <a:t>For each </a:t>
            </a:r>
            <a:r>
              <a:rPr lang="en-US" altLang="zh-TW" sz="2800" dirty="0" smtClean="0"/>
              <a:t>word </a:t>
            </a:r>
            <a:r>
              <a:rPr lang="en-US" altLang="zh-TW" i="1" dirty="0" err="1"/>
              <a:t>w</a:t>
            </a:r>
            <a:r>
              <a:rPr lang="en-US" altLang="zh-TW" i="1" baseline="-25000" dirty="0" err="1"/>
              <a:t>i</a:t>
            </a:r>
            <a:r>
              <a:rPr lang="en-US" altLang="zh-TW" sz="2800" dirty="0" smtClean="0"/>
              <a:t>     </a:t>
            </a:r>
          </a:p>
          <a:p>
            <a:pPr lvl="1"/>
            <a:r>
              <a:rPr lang="en-US" altLang="zh-TW" sz="2400" dirty="0" smtClean="0"/>
              <a:t>Choose </a:t>
            </a:r>
            <a:r>
              <a:rPr lang="en-US" altLang="zh-TW" sz="2400" dirty="0"/>
              <a:t>a </a:t>
            </a:r>
            <a:r>
              <a:rPr lang="en-US" altLang="zh-TW" sz="2400" dirty="0" smtClean="0"/>
              <a:t>topic </a:t>
            </a:r>
            <a:r>
              <a:rPr lang="en-US" altLang="zh-TW" sz="2400" i="1" dirty="0" err="1" smtClean="0"/>
              <a:t>z</a:t>
            </a:r>
            <a:r>
              <a:rPr lang="en-US" altLang="zh-TW" sz="2400" i="1" baseline="-25000" dirty="0" err="1" smtClean="0"/>
              <a:t>i</a:t>
            </a:r>
            <a:r>
              <a:rPr lang="en-US" altLang="zh-TW" sz="2400" i="1" baseline="-25000" dirty="0" smtClean="0"/>
              <a:t> </a:t>
            </a:r>
            <a:r>
              <a:rPr lang="en-US" altLang="zh-TW" sz="2400" dirty="0" smtClean="0"/>
              <a:t>~ Multinomial(</a:t>
            </a:r>
            <a:r>
              <a:rPr lang="en-US" altLang="zh-TW" sz="2400" i="1" dirty="0" smtClean="0">
                <a:latin typeface="Symbol" panose="05050102010706020507" pitchFamily="18" charset="2"/>
              </a:rPr>
              <a:t>q</a:t>
            </a:r>
            <a:r>
              <a:rPr lang="en-US" altLang="zh-TW" sz="2400" dirty="0" smtClean="0"/>
              <a:t>)</a:t>
            </a:r>
            <a:endParaRPr lang="en-US" altLang="zh-TW" sz="2400" dirty="0"/>
          </a:p>
          <a:p>
            <a:pPr lvl="1"/>
            <a:r>
              <a:rPr lang="en-US" altLang="zh-TW" sz="2400" dirty="0"/>
              <a:t>Choose a word </a:t>
            </a:r>
            <a:r>
              <a:rPr lang="en-US" altLang="zh-TW" sz="2400" i="1" dirty="0" err="1"/>
              <a:t>w</a:t>
            </a:r>
            <a:r>
              <a:rPr lang="en-US" altLang="zh-TW" sz="2400" i="1" baseline="-25000" dirty="0" err="1"/>
              <a:t>i</a:t>
            </a:r>
            <a:r>
              <a:rPr lang="en-US" altLang="zh-TW" sz="2400" dirty="0" smtClean="0"/>
              <a:t> from p(</a:t>
            </a:r>
            <a:r>
              <a:rPr lang="en-US" altLang="zh-TW" sz="2400" i="1" dirty="0" err="1" smtClean="0"/>
              <a:t>w</a:t>
            </a:r>
            <a:r>
              <a:rPr lang="en-US" altLang="zh-TW" sz="2400" i="1" baseline="-25000" dirty="0" err="1" smtClean="0"/>
              <a:t>i</a:t>
            </a:r>
            <a:r>
              <a:rPr lang="en-US" altLang="zh-TW" sz="2400" dirty="0" err="1" smtClean="0"/>
              <a:t>|</a:t>
            </a:r>
            <a:r>
              <a:rPr lang="en-US" altLang="zh-TW" sz="2400" i="1" dirty="0" err="1" smtClean="0"/>
              <a:t>z</a:t>
            </a:r>
            <a:r>
              <a:rPr lang="en-US" altLang="zh-TW" sz="2400" i="1" baseline="-25000" dirty="0" err="1" smtClean="0"/>
              <a:t>i</a:t>
            </a:r>
            <a:r>
              <a:rPr lang="en-US" altLang="zh-TW" sz="2400" dirty="0" err="1" smtClean="0"/>
              <a:t>,</a:t>
            </a:r>
            <a:r>
              <a:rPr lang="en-US" altLang="zh-TW" sz="2400" i="1" dirty="0" err="1" smtClean="0">
                <a:latin typeface="Symbol" panose="05050102010706020507" pitchFamily="18" charset="2"/>
              </a:rPr>
              <a:t>b</a:t>
            </a:r>
            <a:r>
              <a:rPr lang="en-US" altLang="zh-TW" sz="2400" dirty="0" smtClean="0"/>
              <a:t>), </a:t>
            </a:r>
            <a:r>
              <a:rPr lang="en-US" altLang="zh-TW" sz="2400" dirty="0"/>
              <a:t>a multinomial probability conditioned on the topic </a:t>
            </a:r>
            <a:r>
              <a:rPr lang="en-US" altLang="zh-TW" sz="2400" i="1" dirty="0" err="1" smtClean="0"/>
              <a:t>z</a:t>
            </a:r>
            <a:r>
              <a:rPr lang="en-US" altLang="zh-TW" sz="2400" i="1" baseline="-25000" dirty="0" err="1" smtClean="0"/>
              <a:t>i</a:t>
            </a:r>
            <a:r>
              <a:rPr lang="en-US" altLang="zh-TW" sz="2400" dirty="0" smtClean="0"/>
              <a:t> </a:t>
            </a:r>
            <a:endParaRPr lang="en-US" altLang="zh-TW" sz="2400" dirty="0"/>
          </a:p>
          <a:p>
            <a:pPr marL="990600" lvl="1" indent="-533400" algn="l" rtl="0">
              <a:buFont typeface="Wingdings" panose="05000000000000000000" pitchFamily="2" charset="2"/>
              <a:buNone/>
            </a:pPr>
            <a:endParaRPr lang="en-US" altLang="zh-TW" sz="2400" dirty="0"/>
          </a:p>
          <a:p>
            <a:pPr marL="990600" lvl="1" indent="-533400" algn="l" rtl="0">
              <a:buFont typeface="Wingdings" panose="05000000000000000000" pitchFamily="2" charset="2"/>
              <a:buNone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7198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786293"/>
          </a:xfrm>
        </p:spPr>
        <p:txBody>
          <a:bodyPr/>
          <a:lstStyle/>
          <a:p>
            <a:pPr algn="ctr"/>
            <a:r>
              <a:rPr lang="en-US" altLang="zh-TW" dirty="0"/>
              <a:t>A geometric interpretation</a:t>
            </a:r>
          </a:p>
        </p:txBody>
      </p:sp>
      <p:sp>
        <p:nvSpPr>
          <p:cNvPr id="175116" name="AutoShape 12"/>
          <p:cNvSpPr>
            <a:spLocks noChangeArrowheads="1"/>
          </p:cNvSpPr>
          <p:nvPr/>
        </p:nvSpPr>
        <p:spPr bwMode="auto">
          <a:xfrm rot="1147342">
            <a:off x="2362200" y="1371600"/>
            <a:ext cx="5029200" cy="43497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5119" name="Text Box 15"/>
          <p:cNvSpPr txBox="1">
            <a:spLocks noChangeArrowheads="1"/>
          </p:cNvSpPr>
          <p:nvPr/>
        </p:nvSpPr>
        <p:spPr bwMode="auto">
          <a:xfrm>
            <a:off x="7162800" y="35814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word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cxnSp>
        <p:nvCxnSpPr>
          <p:cNvPr id="175124" name="AutoShape 20"/>
          <p:cNvCxnSpPr>
            <a:cxnSpLocks noChangeShapeType="1"/>
          </p:cNvCxnSpPr>
          <p:nvPr/>
        </p:nvCxnSpPr>
        <p:spPr bwMode="auto">
          <a:xfrm rot="5400000">
            <a:off x="6882606" y="3067844"/>
            <a:ext cx="71438" cy="1708150"/>
          </a:xfrm>
          <a:prstGeom prst="curvedConnector4">
            <a:avLst>
              <a:gd name="adj1" fmla="val 475556"/>
              <a:gd name="adj2" fmla="val 5678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82173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5" name="AutoShape 3"/>
          <p:cNvSpPr>
            <a:spLocks noChangeArrowheads="1"/>
          </p:cNvSpPr>
          <p:nvPr/>
        </p:nvSpPr>
        <p:spPr bwMode="auto">
          <a:xfrm rot="1147342">
            <a:off x="2362200" y="1371600"/>
            <a:ext cx="5029200" cy="43497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7156" name="Text Box 4"/>
          <p:cNvSpPr txBox="1">
            <a:spLocks noChangeArrowheads="1"/>
          </p:cNvSpPr>
          <p:nvPr/>
        </p:nvSpPr>
        <p:spPr bwMode="auto">
          <a:xfrm>
            <a:off x="7162800" y="35814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word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cxnSp>
        <p:nvCxnSpPr>
          <p:cNvPr id="177157" name="AutoShape 5"/>
          <p:cNvCxnSpPr>
            <a:cxnSpLocks noChangeShapeType="1"/>
            <a:stCxn id="177156" idx="2"/>
            <a:endCxn id="177155" idx="5"/>
          </p:cNvCxnSpPr>
          <p:nvPr/>
        </p:nvCxnSpPr>
        <p:spPr bwMode="auto">
          <a:xfrm rot="5400000">
            <a:off x="6882606" y="3067844"/>
            <a:ext cx="71438" cy="1708150"/>
          </a:xfrm>
          <a:prstGeom prst="curvedConnector4">
            <a:avLst>
              <a:gd name="adj1" fmla="val 475556"/>
              <a:gd name="adj2" fmla="val 5678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7158" name="AutoShape 6"/>
          <p:cNvSpPr>
            <a:spLocks noChangeArrowheads="1"/>
          </p:cNvSpPr>
          <p:nvPr/>
        </p:nvSpPr>
        <p:spPr bwMode="auto">
          <a:xfrm>
            <a:off x="3200400" y="2590800"/>
            <a:ext cx="2895600" cy="25050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7159" name="Text Box 7"/>
          <p:cNvSpPr txBox="1">
            <a:spLocks noChangeArrowheads="1"/>
          </p:cNvSpPr>
          <p:nvPr/>
        </p:nvSpPr>
        <p:spPr bwMode="auto">
          <a:xfrm>
            <a:off x="2514600" y="4800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2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7160" name="Text Box 8"/>
          <p:cNvSpPr txBox="1">
            <a:spLocks noChangeArrowheads="1"/>
          </p:cNvSpPr>
          <p:nvPr/>
        </p:nvSpPr>
        <p:spPr bwMode="auto">
          <a:xfrm>
            <a:off x="4724400" y="2514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1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7161" name="Text Box 9"/>
          <p:cNvSpPr txBox="1">
            <a:spLocks noChangeArrowheads="1"/>
          </p:cNvSpPr>
          <p:nvPr/>
        </p:nvSpPr>
        <p:spPr bwMode="auto">
          <a:xfrm>
            <a:off x="5486400" y="51054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3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7163" name="Text Box 11"/>
          <p:cNvSpPr txBox="1">
            <a:spLocks noChangeArrowheads="1"/>
          </p:cNvSpPr>
          <p:nvPr/>
        </p:nvSpPr>
        <p:spPr bwMode="auto">
          <a:xfrm>
            <a:off x="6172200" y="25908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topic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sp>
        <p:nvSpPr>
          <p:cNvPr id="177165" name="AutoShape 13"/>
          <p:cNvSpPr>
            <a:spLocks noChangeArrowheads="1"/>
          </p:cNvSpPr>
          <p:nvPr/>
        </p:nvSpPr>
        <p:spPr bwMode="auto">
          <a:xfrm>
            <a:off x="4611688" y="2590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7166" name="AutoShape 14"/>
          <p:cNvSpPr>
            <a:spLocks noChangeArrowheads="1"/>
          </p:cNvSpPr>
          <p:nvPr/>
        </p:nvSpPr>
        <p:spPr bwMode="auto">
          <a:xfrm>
            <a:off x="6002338" y="5033963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7167" name="AutoShape 15"/>
          <p:cNvSpPr>
            <a:spLocks noChangeArrowheads="1"/>
          </p:cNvSpPr>
          <p:nvPr/>
        </p:nvSpPr>
        <p:spPr bwMode="auto">
          <a:xfrm>
            <a:off x="3200400" y="50292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cxnSp>
        <p:nvCxnSpPr>
          <p:cNvPr id="177168" name="AutoShape 16"/>
          <p:cNvCxnSpPr>
            <a:cxnSpLocks noChangeShapeType="1"/>
          </p:cNvCxnSpPr>
          <p:nvPr/>
        </p:nvCxnSpPr>
        <p:spPr bwMode="auto">
          <a:xfrm rot="5400000">
            <a:off x="5686425" y="2514600"/>
            <a:ext cx="714375" cy="1476375"/>
          </a:xfrm>
          <a:prstGeom prst="curvedConnector3">
            <a:avLst>
              <a:gd name="adj1" fmla="val 5155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786293"/>
          </a:xfrm>
        </p:spPr>
        <p:txBody>
          <a:bodyPr/>
          <a:lstStyle/>
          <a:p>
            <a:pPr algn="ctr"/>
            <a:r>
              <a:rPr lang="en-US" altLang="zh-TW" dirty="0"/>
              <a:t>A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44594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AutoShape 3"/>
          <p:cNvSpPr>
            <a:spLocks noChangeArrowheads="1"/>
          </p:cNvSpPr>
          <p:nvPr/>
        </p:nvSpPr>
        <p:spPr bwMode="auto">
          <a:xfrm rot="1147342">
            <a:off x="2362200" y="1371600"/>
            <a:ext cx="5029200" cy="43497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80" name="Text Box 4"/>
          <p:cNvSpPr txBox="1">
            <a:spLocks noChangeArrowheads="1"/>
          </p:cNvSpPr>
          <p:nvPr/>
        </p:nvSpPr>
        <p:spPr bwMode="auto">
          <a:xfrm>
            <a:off x="7162800" y="35814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word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cxnSp>
        <p:nvCxnSpPr>
          <p:cNvPr id="178181" name="AutoShape 5"/>
          <p:cNvCxnSpPr>
            <a:cxnSpLocks noChangeShapeType="1"/>
            <a:stCxn id="178180" idx="2"/>
            <a:endCxn id="178179" idx="5"/>
          </p:cNvCxnSpPr>
          <p:nvPr/>
        </p:nvCxnSpPr>
        <p:spPr bwMode="auto">
          <a:xfrm rot="5400000">
            <a:off x="6882606" y="3067844"/>
            <a:ext cx="71438" cy="1708150"/>
          </a:xfrm>
          <a:prstGeom prst="curvedConnector4">
            <a:avLst>
              <a:gd name="adj1" fmla="val 475556"/>
              <a:gd name="adj2" fmla="val 5678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8182" name="AutoShape 6"/>
          <p:cNvSpPr>
            <a:spLocks noChangeArrowheads="1"/>
          </p:cNvSpPr>
          <p:nvPr/>
        </p:nvSpPr>
        <p:spPr bwMode="auto">
          <a:xfrm>
            <a:off x="3200400" y="2590800"/>
            <a:ext cx="2895600" cy="25050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83" name="Text Box 7"/>
          <p:cNvSpPr txBox="1">
            <a:spLocks noChangeArrowheads="1"/>
          </p:cNvSpPr>
          <p:nvPr/>
        </p:nvSpPr>
        <p:spPr bwMode="auto">
          <a:xfrm>
            <a:off x="2514600" y="4800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2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8184" name="Text Box 8"/>
          <p:cNvSpPr txBox="1">
            <a:spLocks noChangeArrowheads="1"/>
          </p:cNvSpPr>
          <p:nvPr/>
        </p:nvSpPr>
        <p:spPr bwMode="auto">
          <a:xfrm>
            <a:off x="4724400" y="2514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1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8185" name="Text Box 9"/>
          <p:cNvSpPr txBox="1">
            <a:spLocks noChangeArrowheads="1"/>
          </p:cNvSpPr>
          <p:nvPr/>
        </p:nvSpPr>
        <p:spPr bwMode="auto">
          <a:xfrm>
            <a:off x="5486400" y="51054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3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78186" name="Text Box 10"/>
          <p:cNvSpPr txBox="1">
            <a:spLocks noChangeArrowheads="1"/>
          </p:cNvSpPr>
          <p:nvPr/>
        </p:nvSpPr>
        <p:spPr bwMode="auto">
          <a:xfrm>
            <a:off x="6172200" y="25908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topic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sp>
        <p:nvSpPr>
          <p:cNvPr id="178188" name="AutoShape 12"/>
          <p:cNvSpPr>
            <a:spLocks noChangeArrowheads="1"/>
          </p:cNvSpPr>
          <p:nvPr/>
        </p:nvSpPr>
        <p:spPr bwMode="auto">
          <a:xfrm>
            <a:off x="4724400" y="4114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89" name="AutoShape 13"/>
          <p:cNvSpPr>
            <a:spLocks noChangeArrowheads="1"/>
          </p:cNvSpPr>
          <p:nvPr/>
        </p:nvSpPr>
        <p:spPr bwMode="auto">
          <a:xfrm>
            <a:off x="4495800" y="43434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0" name="AutoShape 14"/>
          <p:cNvSpPr>
            <a:spLocks noChangeArrowheads="1"/>
          </p:cNvSpPr>
          <p:nvPr/>
        </p:nvSpPr>
        <p:spPr bwMode="auto">
          <a:xfrm>
            <a:off x="4876800" y="3733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1" name="AutoShape 15"/>
          <p:cNvSpPr>
            <a:spLocks noChangeArrowheads="1"/>
          </p:cNvSpPr>
          <p:nvPr/>
        </p:nvSpPr>
        <p:spPr bwMode="auto">
          <a:xfrm>
            <a:off x="4953000" y="48006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2" name="AutoShape 16"/>
          <p:cNvSpPr>
            <a:spLocks noChangeArrowheads="1"/>
          </p:cNvSpPr>
          <p:nvPr/>
        </p:nvSpPr>
        <p:spPr bwMode="auto">
          <a:xfrm>
            <a:off x="4114800" y="4572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3" name="AutoShape 17"/>
          <p:cNvSpPr>
            <a:spLocks noChangeArrowheads="1"/>
          </p:cNvSpPr>
          <p:nvPr/>
        </p:nvSpPr>
        <p:spPr bwMode="auto">
          <a:xfrm>
            <a:off x="4343400" y="3733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4" name="AutoShape 18"/>
          <p:cNvSpPr>
            <a:spLocks noChangeArrowheads="1"/>
          </p:cNvSpPr>
          <p:nvPr/>
        </p:nvSpPr>
        <p:spPr bwMode="auto">
          <a:xfrm>
            <a:off x="4648200" y="3048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5" name="AutoShape 19"/>
          <p:cNvSpPr>
            <a:spLocks noChangeArrowheads="1"/>
          </p:cNvSpPr>
          <p:nvPr/>
        </p:nvSpPr>
        <p:spPr bwMode="auto">
          <a:xfrm>
            <a:off x="5334000" y="4572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6" name="AutoShape 20"/>
          <p:cNvSpPr>
            <a:spLocks noChangeArrowheads="1"/>
          </p:cNvSpPr>
          <p:nvPr/>
        </p:nvSpPr>
        <p:spPr bwMode="auto">
          <a:xfrm>
            <a:off x="3810000" y="4876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7" name="AutoShape 21"/>
          <p:cNvSpPr>
            <a:spLocks noChangeArrowheads="1"/>
          </p:cNvSpPr>
          <p:nvPr/>
        </p:nvSpPr>
        <p:spPr bwMode="auto">
          <a:xfrm>
            <a:off x="4114800" y="40386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8" name="AutoShape 22"/>
          <p:cNvSpPr>
            <a:spLocks noChangeArrowheads="1"/>
          </p:cNvSpPr>
          <p:nvPr/>
        </p:nvSpPr>
        <p:spPr bwMode="auto">
          <a:xfrm>
            <a:off x="5105400" y="42672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199" name="AutoShape 23"/>
          <p:cNvSpPr>
            <a:spLocks noChangeArrowheads="1"/>
          </p:cNvSpPr>
          <p:nvPr/>
        </p:nvSpPr>
        <p:spPr bwMode="auto">
          <a:xfrm>
            <a:off x="4572000" y="47244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200" name="AutoShape 24"/>
          <p:cNvSpPr>
            <a:spLocks noChangeArrowheads="1"/>
          </p:cNvSpPr>
          <p:nvPr/>
        </p:nvSpPr>
        <p:spPr bwMode="auto">
          <a:xfrm>
            <a:off x="5791200" y="4876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201" name="AutoShape 25"/>
          <p:cNvSpPr>
            <a:spLocks noChangeArrowheads="1"/>
          </p:cNvSpPr>
          <p:nvPr/>
        </p:nvSpPr>
        <p:spPr bwMode="auto">
          <a:xfrm>
            <a:off x="4611688" y="2590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202" name="AutoShape 26"/>
          <p:cNvSpPr>
            <a:spLocks noChangeArrowheads="1"/>
          </p:cNvSpPr>
          <p:nvPr/>
        </p:nvSpPr>
        <p:spPr bwMode="auto">
          <a:xfrm>
            <a:off x="3200400" y="50292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8203" name="AutoShape 27"/>
          <p:cNvSpPr>
            <a:spLocks noChangeArrowheads="1"/>
          </p:cNvSpPr>
          <p:nvPr/>
        </p:nvSpPr>
        <p:spPr bwMode="auto">
          <a:xfrm>
            <a:off x="6002338" y="5033963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cxnSp>
        <p:nvCxnSpPr>
          <p:cNvPr id="178204" name="AutoShape 28"/>
          <p:cNvCxnSpPr>
            <a:cxnSpLocks noChangeShapeType="1"/>
          </p:cNvCxnSpPr>
          <p:nvPr/>
        </p:nvCxnSpPr>
        <p:spPr bwMode="auto">
          <a:xfrm rot="5400000">
            <a:off x="5686425" y="2514600"/>
            <a:ext cx="714375" cy="1476375"/>
          </a:xfrm>
          <a:prstGeom prst="curvedConnector3">
            <a:avLst>
              <a:gd name="adj1" fmla="val 5155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786293"/>
          </a:xfrm>
        </p:spPr>
        <p:txBody>
          <a:bodyPr/>
          <a:lstStyle/>
          <a:p>
            <a:pPr algn="ctr"/>
            <a:r>
              <a:rPr lang="en-US" altLang="zh-TW" dirty="0"/>
              <a:t>A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6008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7" name="AutoShape 3"/>
          <p:cNvSpPr>
            <a:spLocks noChangeArrowheads="1"/>
          </p:cNvSpPr>
          <p:nvPr/>
        </p:nvSpPr>
        <p:spPr bwMode="auto">
          <a:xfrm rot="1147342">
            <a:off x="2362200" y="1371600"/>
            <a:ext cx="5029200" cy="434975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28" name="Text Box 4"/>
          <p:cNvSpPr txBox="1">
            <a:spLocks noChangeArrowheads="1"/>
          </p:cNvSpPr>
          <p:nvPr/>
        </p:nvSpPr>
        <p:spPr bwMode="auto">
          <a:xfrm>
            <a:off x="7162800" y="35814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word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cxnSp>
        <p:nvCxnSpPr>
          <p:cNvPr id="180229" name="AutoShape 5"/>
          <p:cNvCxnSpPr>
            <a:cxnSpLocks noChangeShapeType="1"/>
            <a:stCxn id="180228" idx="2"/>
            <a:endCxn id="180227" idx="5"/>
          </p:cNvCxnSpPr>
          <p:nvPr/>
        </p:nvCxnSpPr>
        <p:spPr bwMode="auto">
          <a:xfrm rot="5400000">
            <a:off x="6882606" y="3067844"/>
            <a:ext cx="71438" cy="1708150"/>
          </a:xfrm>
          <a:prstGeom prst="curvedConnector4">
            <a:avLst>
              <a:gd name="adj1" fmla="val 475556"/>
              <a:gd name="adj2" fmla="val 56782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230" name="AutoShape 6"/>
          <p:cNvSpPr>
            <a:spLocks noChangeArrowheads="1"/>
          </p:cNvSpPr>
          <p:nvPr/>
        </p:nvSpPr>
        <p:spPr bwMode="auto">
          <a:xfrm>
            <a:off x="3200400" y="2590800"/>
            <a:ext cx="2895600" cy="2505075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31" name="Text Box 7"/>
          <p:cNvSpPr txBox="1">
            <a:spLocks noChangeArrowheads="1"/>
          </p:cNvSpPr>
          <p:nvPr/>
        </p:nvSpPr>
        <p:spPr bwMode="auto">
          <a:xfrm>
            <a:off x="2514600" y="4800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2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80232" name="Text Box 8"/>
          <p:cNvSpPr txBox="1">
            <a:spLocks noChangeArrowheads="1"/>
          </p:cNvSpPr>
          <p:nvPr/>
        </p:nvSpPr>
        <p:spPr bwMode="auto">
          <a:xfrm>
            <a:off x="4724400" y="25146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1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80233" name="Text Box 9"/>
          <p:cNvSpPr txBox="1">
            <a:spLocks noChangeArrowheads="1"/>
          </p:cNvSpPr>
          <p:nvPr/>
        </p:nvSpPr>
        <p:spPr bwMode="auto">
          <a:xfrm>
            <a:off x="5486400" y="5105400"/>
            <a:ext cx="685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200"/>
              <a:t>topic 3</a:t>
            </a:r>
            <a:endParaRPr lang="en-US" altLang="zh-TW" sz="1200">
              <a:ea typeface="新細明體" panose="02020500000000000000" pitchFamily="18" charset="-120"/>
            </a:endParaRPr>
          </a:p>
        </p:txBody>
      </p:sp>
      <p:sp>
        <p:nvSpPr>
          <p:cNvPr id="180234" name="Text Box 10"/>
          <p:cNvSpPr txBox="1">
            <a:spLocks noChangeArrowheads="1"/>
          </p:cNvSpPr>
          <p:nvPr/>
        </p:nvSpPr>
        <p:spPr bwMode="auto">
          <a:xfrm>
            <a:off x="6172200" y="2590800"/>
            <a:ext cx="1219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sz="1400"/>
              <a:t>topic simplex</a:t>
            </a:r>
            <a:endParaRPr lang="en-US" altLang="zh-TW" sz="1400">
              <a:ea typeface="新細明體" panose="02020500000000000000" pitchFamily="18" charset="-120"/>
            </a:endParaRPr>
          </a:p>
        </p:txBody>
      </p:sp>
      <p:sp>
        <p:nvSpPr>
          <p:cNvPr id="180236" name="AutoShape 12"/>
          <p:cNvSpPr>
            <a:spLocks noChangeArrowheads="1"/>
          </p:cNvSpPr>
          <p:nvPr/>
        </p:nvSpPr>
        <p:spPr bwMode="auto">
          <a:xfrm>
            <a:off x="4724400" y="4114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37" name="AutoShape 13"/>
          <p:cNvSpPr>
            <a:spLocks noChangeArrowheads="1"/>
          </p:cNvSpPr>
          <p:nvPr/>
        </p:nvSpPr>
        <p:spPr bwMode="auto">
          <a:xfrm>
            <a:off x="4495800" y="43434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38" name="AutoShape 14"/>
          <p:cNvSpPr>
            <a:spLocks noChangeArrowheads="1"/>
          </p:cNvSpPr>
          <p:nvPr/>
        </p:nvSpPr>
        <p:spPr bwMode="auto">
          <a:xfrm>
            <a:off x="4876800" y="3733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39" name="AutoShape 15"/>
          <p:cNvSpPr>
            <a:spLocks noChangeArrowheads="1"/>
          </p:cNvSpPr>
          <p:nvPr/>
        </p:nvSpPr>
        <p:spPr bwMode="auto">
          <a:xfrm>
            <a:off x="4953000" y="48006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0" name="AutoShape 16"/>
          <p:cNvSpPr>
            <a:spLocks noChangeArrowheads="1"/>
          </p:cNvSpPr>
          <p:nvPr/>
        </p:nvSpPr>
        <p:spPr bwMode="auto">
          <a:xfrm>
            <a:off x="4114800" y="4572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1" name="AutoShape 17"/>
          <p:cNvSpPr>
            <a:spLocks noChangeArrowheads="1"/>
          </p:cNvSpPr>
          <p:nvPr/>
        </p:nvSpPr>
        <p:spPr bwMode="auto">
          <a:xfrm>
            <a:off x="4343400" y="3733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2" name="AutoShape 18"/>
          <p:cNvSpPr>
            <a:spLocks noChangeArrowheads="1"/>
          </p:cNvSpPr>
          <p:nvPr/>
        </p:nvSpPr>
        <p:spPr bwMode="auto">
          <a:xfrm>
            <a:off x="4648200" y="3048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3" name="AutoShape 19"/>
          <p:cNvSpPr>
            <a:spLocks noChangeArrowheads="1"/>
          </p:cNvSpPr>
          <p:nvPr/>
        </p:nvSpPr>
        <p:spPr bwMode="auto">
          <a:xfrm>
            <a:off x="5334000" y="45720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4" name="AutoShape 20"/>
          <p:cNvSpPr>
            <a:spLocks noChangeArrowheads="1"/>
          </p:cNvSpPr>
          <p:nvPr/>
        </p:nvSpPr>
        <p:spPr bwMode="auto">
          <a:xfrm>
            <a:off x="3810000" y="4876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5" name="AutoShape 21"/>
          <p:cNvSpPr>
            <a:spLocks noChangeArrowheads="1"/>
          </p:cNvSpPr>
          <p:nvPr/>
        </p:nvSpPr>
        <p:spPr bwMode="auto">
          <a:xfrm>
            <a:off x="4114800" y="40386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6" name="AutoShape 22"/>
          <p:cNvSpPr>
            <a:spLocks noChangeArrowheads="1"/>
          </p:cNvSpPr>
          <p:nvPr/>
        </p:nvSpPr>
        <p:spPr bwMode="auto">
          <a:xfrm>
            <a:off x="5105400" y="42672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7" name="AutoShape 23"/>
          <p:cNvSpPr>
            <a:spLocks noChangeArrowheads="1"/>
          </p:cNvSpPr>
          <p:nvPr/>
        </p:nvSpPr>
        <p:spPr bwMode="auto">
          <a:xfrm>
            <a:off x="4572000" y="47244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8" name="AutoShape 24"/>
          <p:cNvSpPr>
            <a:spLocks noChangeArrowheads="1"/>
          </p:cNvSpPr>
          <p:nvPr/>
        </p:nvSpPr>
        <p:spPr bwMode="auto">
          <a:xfrm>
            <a:off x="5791200" y="4876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49" name="AutoShape 25"/>
          <p:cNvSpPr>
            <a:spLocks noChangeArrowheads="1"/>
          </p:cNvSpPr>
          <p:nvPr/>
        </p:nvSpPr>
        <p:spPr bwMode="auto">
          <a:xfrm>
            <a:off x="4611688" y="25908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0" name="AutoShape 26"/>
          <p:cNvSpPr>
            <a:spLocks noChangeArrowheads="1"/>
          </p:cNvSpPr>
          <p:nvPr/>
        </p:nvSpPr>
        <p:spPr bwMode="auto">
          <a:xfrm>
            <a:off x="3200400" y="5029200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0" name="Oval 36"/>
          <p:cNvSpPr>
            <a:spLocks noChangeArrowheads="1"/>
          </p:cNvSpPr>
          <p:nvPr/>
        </p:nvSpPr>
        <p:spPr bwMode="auto">
          <a:xfrm>
            <a:off x="3810000" y="3352800"/>
            <a:ext cx="1752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1" name="AutoShape 27"/>
          <p:cNvSpPr>
            <a:spLocks noChangeArrowheads="1"/>
          </p:cNvSpPr>
          <p:nvPr/>
        </p:nvSpPr>
        <p:spPr bwMode="auto">
          <a:xfrm>
            <a:off x="6002338" y="5033963"/>
            <a:ext cx="76200" cy="76200"/>
          </a:xfrm>
          <a:custGeom>
            <a:avLst/>
            <a:gdLst>
              <a:gd name="G0" fmla="+- 6480 0 0"/>
              <a:gd name="G1" fmla="+- 8640 0 0"/>
              <a:gd name="G2" fmla="+- 4320 0 0"/>
              <a:gd name="G3" fmla="+- 21600 0 6480"/>
              <a:gd name="G4" fmla="+- 21600 0 8640"/>
              <a:gd name="G5" fmla="+- 21600 0 4320"/>
              <a:gd name="G6" fmla="+- 6480 0 10800"/>
              <a:gd name="G7" fmla="+- 8640 0 10800"/>
              <a:gd name="G8" fmla="*/ G7 4320 G6"/>
              <a:gd name="G9" fmla="+- 21600 0 G8"/>
              <a:gd name="T0" fmla="*/ G8 w 21600"/>
              <a:gd name="T1" fmla="*/ G1 h 21600"/>
              <a:gd name="T2" fmla="*/ G9 w 21600"/>
              <a:gd name="T3" fmla="*/ G4 h 2160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T0" t="T1" r="T2" b="T3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2" name="Oval 28"/>
          <p:cNvSpPr>
            <a:spLocks noChangeArrowheads="1"/>
          </p:cNvSpPr>
          <p:nvPr/>
        </p:nvSpPr>
        <p:spPr bwMode="auto">
          <a:xfrm>
            <a:off x="4572000" y="4038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3" name="Oval 29"/>
          <p:cNvSpPr>
            <a:spLocks noChangeArrowheads="1"/>
          </p:cNvSpPr>
          <p:nvPr/>
        </p:nvSpPr>
        <p:spPr bwMode="auto">
          <a:xfrm>
            <a:off x="4014788" y="3506788"/>
            <a:ext cx="13716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4" name="Oval 30"/>
          <p:cNvSpPr>
            <a:spLocks noChangeArrowheads="1"/>
          </p:cNvSpPr>
          <p:nvPr/>
        </p:nvSpPr>
        <p:spPr bwMode="auto">
          <a:xfrm>
            <a:off x="4267200" y="37338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6" name="Oval 32"/>
          <p:cNvSpPr>
            <a:spLocks noChangeArrowheads="1"/>
          </p:cNvSpPr>
          <p:nvPr/>
        </p:nvSpPr>
        <p:spPr bwMode="auto">
          <a:xfrm>
            <a:off x="3505200" y="2971800"/>
            <a:ext cx="2362200" cy="2438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7" name="Rectangle 33"/>
          <p:cNvSpPr>
            <a:spLocks noChangeArrowheads="1"/>
          </p:cNvSpPr>
          <p:nvPr/>
        </p:nvSpPr>
        <p:spPr bwMode="auto">
          <a:xfrm>
            <a:off x="3886200" y="5122863"/>
            <a:ext cx="1600200" cy="3460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8" name="Rectangle 34"/>
          <p:cNvSpPr>
            <a:spLocks noChangeArrowheads="1"/>
          </p:cNvSpPr>
          <p:nvPr/>
        </p:nvSpPr>
        <p:spPr bwMode="auto">
          <a:xfrm rot="-25192516">
            <a:off x="2847975" y="3492500"/>
            <a:ext cx="1973263" cy="322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59" name="Rectangle 35"/>
          <p:cNvSpPr>
            <a:spLocks noChangeArrowheads="1"/>
          </p:cNvSpPr>
          <p:nvPr/>
        </p:nvSpPr>
        <p:spPr bwMode="auto">
          <a:xfrm rot="-3615307">
            <a:off x="3063875" y="3489325"/>
            <a:ext cx="1163638" cy="280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1" name="Rectangle 37"/>
          <p:cNvSpPr>
            <a:spLocks noChangeArrowheads="1"/>
          </p:cNvSpPr>
          <p:nvPr/>
        </p:nvSpPr>
        <p:spPr bwMode="auto">
          <a:xfrm rot="3615848">
            <a:off x="4865688" y="2987675"/>
            <a:ext cx="1055687" cy="5699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2" name="Rectangle 38"/>
          <p:cNvSpPr>
            <a:spLocks noChangeArrowheads="1"/>
          </p:cNvSpPr>
          <p:nvPr/>
        </p:nvSpPr>
        <p:spPr bwMode="auto">
          <a:xfrm rot="3615848">
            <a:off x="5360194" y="3685381"/>
            <a:ext cx="655638" cy="441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3" name="Rectangle 39"/>
          <p:cNvSpPr>
            <a:spLocks noChangeArrowheads="1"/>
          </p:cNvSpPr>
          <p:nvPr/>
        </p:nvSpPr>
        <p:spPr bwMode="auto">
          <a:xfrm rot="3615848">
            <a:off x="5530850" y="4183063"/>
            <a:ext cx="655638" cy="3095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cxnSp>
        <p:nvCxnSpPr>
          <p:cNvPr id="180264" name="AutoShape 40"/>
          <p:cNvCxnSpPr>
            <a:cxnSpLocks noChangeShapeType="1"/>
            <a:stCxn id="180234" idx="2"/>
            <a:endCxn id="180260" idx="7"/>
          </p:cNvCxnSpPr>
          <p:nvPr/>
        </p:nvCxnSpPr>
        <p:spPr bwMode="auto">
          <a:xfrm rot="5400000">
            <a:off x="5686425" y="2514600"/>
            <a:ext cx="714375" cy="1476375"/>
          </a:xfrm>
          <a:prstGeom prst="curvedConnector3">
            <a:avLst>
              <a:gd name="adj1" fmla="val 5155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0266" name="Rectangle 42"/>
          <p:cNvSpPr>
            <a:spLocks noChangeArrowheads="1"/>
          </p:cNvSpPr>
          <p:nvPr/>
        </p:nvSpPr>
        <p:spPr bwMode="auto">
          <a:xfrm>
            <a:off x="3657600" y="5118100"/>
            <a:ext cx="609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7" name="Rectangle 43"/>
          <p:cNvSpPr>
            <a:spLocks noChangeArrowheads="1"/>
          </p:cNvSpPr>
          <p:nvPr/>
        </p:nvSpPr>
        <p:spPr bwMode="auto">
          <a:xfrm>
            <a:off x="4953000" y="5116513"/>
            <a:ext cx="609600" cy="1524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0268" name="Rectangle 44"/>
          <p:cNvSpPr>
            <a:spLocks noChangeArrowheads="1"/>
          </p:cNvSpPr>
          <p:nvPr/>
        </p:nvSpPr>
        <p:spPr bwMode="auto">
          <a:xfrm rot="3673309">
            <a:off x="4788694" y="2942431"/>
            <a:ext cx="533400" cy="2238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229600" cy="786293"/>
          </a:xfrm>
        </p:spPr>
        <p:txBody>
          <a:bodyPr/>
          <a:lstStyle/>
          <a:p>
            <a:pPr algn="ctr"/>
            <a:r>
              <a:rPr lang="en-US" altLang="zh-TW" dirty="0"/>
              <a:t>A geometric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530844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4954B4A-402F-411C-B417-33A32A249F3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885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885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C1E8877-B3C7-44B2-AF40-3540B46F2971}" type="slidenum">
              <a:rPr lang="zh-TW" altLang="en-US" sz="1200" smtClean="0"/>
              <a:pPr eaLnBrk="1" hangingPunct="1"/>
              <a:t>106</a:t>
            </a:fld>
            <a:endParaRPr lang="en-US" altLang="zh-TW" sz="1200" smtClean="0"/>
          </a:p>
        </p:txBody>
      </p:sp>
      <p:sp>
        <p:nvSpPr>
          <p:cNvPr id="788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Competitive Learning (SOM)</a:t>
            </a:r>
          </a:p>
        </p:txBody>
      </p:sp>
      <p:sp>
        <p:nvSpPr>
          <p:cNvPr id="788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The </a:t>
            </a:r>
            <a:r>
              <a:rPr lang="en-US" altLang="zh-TW" sz="2400" dirty="0" err="1" smtClean="0">
                <a:ea typeface="新細明體" pitchFamily="18" charset="-120"/>
              </a:rPr>
              <a:t>Kohonen</a:t>
            </a:r>
            <a:r>
              <a:rPr lang="en-US" altLang="zh-TW" sz="2400" dirty="0" smtClean="0">
                <a:ea typeface="新細明體" pitchFamily="18" charset="-120"/>
              </a:rPr>
              <a:t> Map (Self-Organizing Map) was developed in 1981.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It uses the winner-take-all algorithm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It leads to a form of unsupervised learning known as competitive learning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Only one neuron provides the output of the network in response to a given input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The purpose is to cluster input data into a number of clusters.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It has only two layers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Input layer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dirty="0" smtClean="0">
                <a:ea typeface="新細明體" pitchFamily="18" charset="-120"/>
              </a:rPr>
              <a:t>Cluster layer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FCE6632-57E1-4BAD-B0A5-6C7BFEA5E493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79875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79876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5B3CBA4-DB99-468F-AE83-C37DE6AEBFAB}" type="slidenum">
              <a:rPr lang="zh-TW" altLang="en-US" sz="1200" smtClean="0"/>
              <a:pPr eaLnBrk="1" hangingPunct="1"/>
              <a:t>107</a:t>
            </a:fld>
            <a:endParaRPr lang="en-US" altLang="zh-TW" sz="1200" smtClean="0"/>
          </a:p>
        </p:txBody>
      </p:sp>
      <p:sp>
        <p:nvSpPr>
          <p:cNvPr id="79877" name="Text Box 3"/>
          <p:cNvSpPr txBox="1">
            <a:spLocks noChangeArrowheads="1"/>
          </p:cNvSpPr>
          <p:nvPr/>
        </p:nvSpPr>
        <p:spPr bwMode="auto">
          <a:xfrm>
            <a:off x="1116013" y="260350"/>
            <a:ext cx="8153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zh-TW" sz="3200">
                <a:solidFill>
                  <a:schemeClr val="tx2"/>
                </a:solidFill>
                <a:ea typeface="新細明體" pitchFamily="18" charset="-120"/>
              </a:rPr>
              <a:t>A layer of nodes for application of a winner-take-all algorithm.</a:t>
            </a:r>
            <a:r>
              <a:rPr lang="en-GB" altLang="zh-TW" sz="32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rPr>
              <a:t> </a:t>
            </a:r>
          </a:p>
        </p:txBody>
      </p:sp>
      <p:pic>
        <p:nvPicPr>
          <p:cNvPr id="7987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428750"/>
            <a:ext cx="5067300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9" name="Text Box 5"/>
          <p:cNvSpPr txBox="1">
            <a:spLocks noChangeArrowheads="1"/>
          </p:cNvSpPr>
          <p:nvPr/>
        </p:nvSpPr>
        <p:spPr bwMode="auto">
          <a:xfrm>
            <a:off x="8382000" y="6577013"/>
            <a:ext cx="762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zh-TW" sz="1200">
                <a:latin typeface="Times New Roman" pitchFamily="18" charset="0"/>
                <a:ea typeface="新細明體" pitchFamily="18" charset="-120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3B43D4F-501E-42E6-9901-C9F195D99DB6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08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09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5CF1FAF-903E-4CA4-862E-0246880D01C2}" type="slidenum">
              <a:rPr lang="zh-TW" altLang="en-US" sz="1200" smtClean="0"/>
              <a:pPr eaLnBrk="1" hangingPunct="1"/>
              <a:t>108</a:t>
            </a:fld>
            <a:endParaRPr lang="en-US" altLang="zh-TW" sz="1200" smtClean="0"/>
          </a:p>
        </p:txBody>
      </p:sp>
      <p:sp>
        <p:nvSpPr>
          <p:cNvPr id="809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Kohonen Map Algorithm</a:t>
            </a:r>
          </a:p>
        </p:txBody>
      </p:sp>
      <p:sp>
        <p:nvSpPr>
          <p:cNvPr id="809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Initially all weights are set to to small random values.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The learning rate is also set usually to a small positive value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An input vector is presented to the input layer of the map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This layer feeds the input data to the cluster layer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The neuron in the cluster layer that most closely matches the input data is declared the winner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mtClean="0">
                <a:ea typeface="新細明體" pitchFamily="18" charset="-120"/>
              </a:rPr>
              <a:t>This neuron provides the output classification of the map and also has its weights updated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934AB05-4539-474E-9B98-742D5042E25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19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19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293BDF5-CB6F-48EB-B18C-F6025FBFAEBA}" type="slidenum">
              <a:rPr lang="zh-TW" altLang="en-US" sz="1200" smtClean="0"/>
              <a:pPr eaLnBrk="1" hangingPunct="1"/>
              <a:t>109</a:t>
            </a:fld>
            <a:endParaRPr lang="en-US" altLang="zh-TW" sz="1200" smtClean="0"/>
          </a:p>
        </p:txBody>
      </p:sp>
      <p:sp>
        <p:nvSpPr>
          <p:cNvPr id="819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Kohonen Map Algorithm (Cont.)</a:t>
            </a:r>
          </a:p>
        </p:txBody>
      </p:sp>
      <p:sp>
        <p:nvSpPr>
          <p:cNvPr id="81926" name="Oval 3"/>
          <p:cNvSpPr>
            <a:spLocks noChangeArrowheads="1"/>
          </p:cNvSpPr>
          <p:nvPr/>
        </p:nvSpPr>
        <p:spPr bwMode="auto">
          <a:xfrm>
            <a:off x="1187450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27" name="Oval 4"/>
          <p:cNvSpPr>
            <a:spLocks noChangeArrowheads="1"/>
          </p:cNvSpPr>
          <p:nvPr/>
        </p:nvSpPr>
        <p:spPr bwMode="auto">
          <a:xfrm>
            <a:off x="1619250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28" name="Oval 5"/>
          <p:cNvSpPr>
            <a:spLocks noChangeArrowheads="1"/>
          </p:cNvSpPr>
          <p:nvPr/>
        </p:nvSpPr>
        <p:spPr bwMode="auto">
          <a:xfrm>
            <a:off x="2051050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29" name="Oval 6"/>
          <p:cNvSpPr>
            <a:spLocks noChangeArrowheads="1"/>
          </p:cNvSpPr>
          <p:nvPr/>
        </p:nvSpPr>
        <p:spPr bwMode="auto">
          <a:xfrm>
            <a:off x="24844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0" name="Oval 7"/>
          <p:cNvSpPr>
            <a:spLocks noChangeArrowheads="1"/>
          </p:cNvSpPr>
          <p:nvPr/>
        </p:nvSpPr>
        <p:spPr bwMode="auto">
          <a:xfrm>
            <a:off x="29162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1" name="Oval 8"/>
          <p:cNvSpPr>
            <a:spLocks noChangeArrowheads="1"/>
          </p:cNvSpPr>
          <p:nvPr/>
        </p:nvSpPr>
        <p:spPr bwMode="auto">
          <a:xfrm>
            <a:off x="33480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2" name="Oval 9"/>
          <p:cNvSpPr>
            <a:spLocks noChangeArrowheads="1"/>
          </p:cNvSpPr>
          <p:nvPr/>
        </p:nvSpPr>
        <p:spPr bwMode="auto">
          <a:xfrm>
            <a:off x="37798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3" name="Oval 10"/>
          <p:cNvSpPr>
            <a:spLocks noChangeArrowheads="1"/>
          </p:cNvSpPr>
          <p:nvPr/>
        </p:nvSpPr>
        <p:spPr bwMode="auto">
          <a:xfrm>
            <a:off x="42116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4" name="Oval 11"/>
          <p:cNvSpPr>
            <a:spLocks noChangeArrowheads="1"/>
          </p:cNvSpPr>
          <p:nvPr/>
        </p:nvSpPr>
        <p:spPr bwMode="auto">
          <a:xfrm>
            <a:off x="4643438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5" name="Oval 12"/>
          <p:cNvSpPr>
            <a:spLocks noChangeArrowheads="1"/>
          </p:cNvSpPr>
          <p:nvPr/>
        </p:nvSpPr>
        <p:spPr bwMode="auto">
          <a:xfrm>
            <a:off x="5076825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6" name="Oval 13"/>
          <p:cNvSpPr>
            <a:spLocks noChangeArrowheads="1"/>
          </p:cNvSpPr>
          <p:nvPr/>
        </p:nvSpPr>
        <p:spPr bwMode="auto">
          <a:xfrm>
            <a:off x="5508625" y="19891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7" name="Oval 14"/>
          <p:cNvSpPr>
            <a:spLocks noChangeArrowheads="1"/>
          </p:cNvSpPr>
          <p:nvPr/>
        </p:nvSpPr>
        <p:spPr bwMode="auto">
          <a:xfrm>
            <a:off x="1403350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8" name="Oval 15"/>
          <p:cNvSpPr>
            <a:spLocks noChangeArrowheads="1"/>
          </p:cNvSpPr>
          <p:nvPr/>
        </p:nvSpPr>
        <p:spPr bwMode="auto">
          <a:xfrm>
            <a:off x="1835150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39" name="Oval 16"/>
          <p:cNvSpPr>
            <a:spLocks noChangeArrowheads="1"/>
          </p:cNvSpPr>
          <p:nvPr/>
        </p:nvSpPr>
        <p:spPr bwMode="auto">
          <a:xfrm>
            <a:off x="2266950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0" name="Oval 17"/>
          <p:cNvSpPr>
            <a:spLocks noChangeArrowheads="1"/>
          </p:cNvSpPr>
          <p:nvPr/>
        </p:nvSpPr>
        <p:spPr bwMode="auto">
          <a:xfrm>
            <a:off x="27003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1" name="Oval 18"/>
          <p:cNvSpPr>
            <a:spLocks noChangeArrowheads="1"/>
          </p:cNvSpPr>
          <p:nvPr/>
        </p:nvSpPr>
        <p:spPr bwMode="auto">
          <a:xfrm>
            <a:off x="31321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2" name="Oval 19"/>
          <p:cNvSpPr>
            <a:spLocks noChangeArrowheads="1"/>
          </p:cNvSpPr>
          <p:nvPr/>
        </p:nvSpPr>
        <p:spPr bwMode="auto">
          <a:xfrm>
            <a:off x="35639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3" name="Oval 20"/>
          <p:cNvSpPr>
            <a:spLocks noChangeArrowheads="1"/>
          </p:cNvSpPr>
          <p:nvPr/>
        </p:nvSpPr>
        <p:spPr bwMode="auto">
          <a:xfrm>
            <a:off x="39957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4" name="Oval 21"/>
          <p:cNvSpPr>
            <a:spLocks noChangeArrowheads="1"/>
          </p:cNvSpPr>
          <p:nvPr/>
        </p:nvSpPr>
        <p:spPr bwMode="auto">
          <a:xfrm>
            <a:off x="44275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5" name="Oval 22"/>
          <p:cNvSpPr>
            <a:spLocks noChangeArrowheads="1"/>
          </p:cNvSpPr>
          <p:nvPr/>
        </p:nvSpPr>
        <p:spPr bwMode="auto">
          <a:xfrm>
            <a:off x="4859338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6" name="Oval 23"/>
          <p:cNvSpPr>
            <a:spLocks noChangeArrowheads="1"/>
          </p:cNvSpPr>
          <p:nvPr/>
        </p:nvSpPr>
        <p:spPr bwMode="auto">
          <a:xfrm>
            <a:off x="5292725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7" name="Oval 24"/>
          <p:cNvSpPr>
            <a:spLocks noChangeArrowheads="1"/>
          </p:cNvSpPr>
          <p:nvPr/>
        </p:nvSpPr>
        <p:spPr bwMode="auto">
          <a:xfrm>
            <a:off x="5724525" y="23495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8" name="Oval 25"/>
          <p:cNvSpPr>
            <a:spLocks noChangeArrowheads="1"/>
          </p:cNvSpPr>
          <p:nvPr/>
        </p:nvSpPr>
        <p:spPr bwMode="auto">
          <a:xfrm>
            <a:off x="1187450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49" name="Oval 26"/>
          <p:cNvSpPr>
            <a:spLocks noChangeArrowheads="1"/>
          </p:cNvSpPr>
          <p:nvPr/>
        </p:nvSpPr>
        <p:spPr bwMode="auto">
          <a:xfrm>
            <a:off x="1619250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0" name="Oval 27"/>
          <p:cNvSpPr>
            <a:spLocks noChangeArrowheads="1"/>
          </p:cNvSpPr>
          <p:nvPr/>
        </p:nvSpPr>
        <p:spPr bwMode="auto">
          <a:xfrm>
            <a:off x="2051050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1" name="Oval 28"/>
          <p:cNvSpPr>
            <a:spLocks noChangeArrowheads="1"/>
          </p:cNvSpPr>
          <p:nvPr/>
        </p:nvSpPr>
        <p:spPr bwMode="auto">
          <a:xfrm>
            <a:off x="24844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2" name="Oval 29"/>
          <p:cNvSpPr>
            <a:spLocks noChangeArrowheads="1"/>
          </p:cNvSpPr>
          <p:nvPr/>
        </p:nvSpPr>
        <p:spPr bwMode="auto">
          <a:xfrm>
            <a:off x="29162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3" name="Oval 30"/>
          <p:cNvSpPr>
            <a:spLocks noChangeArrowheads="1"/>
          </p:cNvSpPr>
          <p:nvPr/>
        </p:nvSpPr>
        <p:spPr bwMode="auto">
          <a:xfrm>
            <a:off x="33480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4" name="Oval 31"/>
          <p:cNvSpPr>
            <a:spLocks noChangeArrowheads="1"/>
          </p:cNvSpPr>
          <p:nvPr/>
        </p:nvSpPr>
        <p:spPr bwMode="auto">
          <a:xfrm>
            <a:off x="37798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5" name="Oval 32"/>
          <p:cNvSpPr>
            <a:spLocks noChangeArrowheads="1"/>
          </p:cNvSpPr>
          <p:nvPr/>
        </p:nvSpPr>
        <p:spPr bwMode="auto">
          <a:xfrm>
            <a:off x="42116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6" name="Oval 33"/>
          <p:cNvSpPr>
            <a:spLocks noChangeArrowheads="1"/>
          </p:cNvSpPr>
          <p:nvPr/>
        </p:nvSpPr>
        <p:spPr bwMode="auto">
          <a:xfrm>
            <a:off x="4643438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7" name="Oval 34"/>
          <p:cNvSpPr>
            <a:spLocks noChangeArrowheads="1"/>
          </p:cNvSpPr>
          <p:nvPr/>
        </p:nvSpPr>
        <p:spPr bwMode="auto">
          <a:xfrm>
            <a:off x="5076825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8" name="Oval 35"/>
          <p:cNvSpPr>
            <a:spLocks noChangeArrowheads="1"/>
          </p:cNvSpPr>
          <p:nvPr/>
        </p:nvSpPr>
        <p:spPr bwMode="auto">
          <a:xfrm>
            <a:off x="5508625" y="270827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59" name="Oval 36"/>
          <p:cNvSpPr>
            <a:spLocks noChangeArrowheads="1"/>
          </p:cNvSpPr>
          <p:nvPr/>
        </p:nvSpPr>
        <p:spPr bwMode="auto">
          <a:xfrm>
            <a:off x="1403350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0" name="Oval 37"/>
          <p:cNvSpPr>
            <a:spLocks noChangeArrowheads="1"/>
          </p:cNvSpPr>
          <p:nvPr/>
        </p:nvSpPr>
        <p:spPr bwMode="auto">
          <a:xfrm>
            <a:off x="1835150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1" name="Oval 38"/>
          <p:cNvSpPr>
            <a:spLocks noChangeArrowheads="1"/>
          </p:cNvSpPr>
          <p:nvPr/>
        </p:nvSpPr>
        <p:spPr bwMode="auto">
          <a:xfrm>
            <a:off x="2266950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2" name="Oval 39"/>
          <p:cNvSpPr>
            <a:spLocks noChangeArrowheads="1"/>
          </p:cNvSpPr>
          <p:nvPr/>
        </p:nvSpPr>
        <p:spPr bwMode="auto">
          <a:xfrm>
            <a:off x="27003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3" name="Oval 40"/>
          <p:cNvSpPr>
            <a:spLocks noChangeArrowheads="1"/>
          </p:cNvSpPr>
          <p:nvPr/>
        </p:nvSpPr>
        <p:spPr bwMode="auto">
          <a:xfrm>
            <a:off x="31321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4" name="Oval 41"/>
          <p:cNvSpPr>
            <a:spLocks noChangeArrowheads="1"/>
          </p:cNvSpPr>
          <p:nvPr/>
        </p:nvSpPr>
        <p:spPr bwMode="auto">
          <a:xfrm>
            <a:off x="35639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5" name="Oval 42"/>
          <p:cNvSpPr>
            <a:spLocks noChangeArrowheads="1"/>
          </p:cNvSpPr>
          <p:nvPr/>
        </p:nvSpPr>
        <p:spPr bwMode="auto">
          <a:xfrm>
            <a:off x="39957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6" name="Oval 43"/>
          <p:cNvSpPr>
            <a:spLocks noChangeArrowheads="1"/>
          </p:cNvSpPr>
          <p:nvPr/>
        </p:nvSpPr>
        <p:spPr bwMode="auto">
          <a:xfrm>
            <a:off x="44275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7" name="Oval 44"/>
          <p:cNvSpPr>
            <a:spLocks noChangeArrowheads="1"/>
          </p:cNvSpPr>
          <p:nvPr/>
        </p:nvSpPr>
        <p:spPr bwMode="auto">
          <a:xfrm>
            <a:off x="4859338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8" name="Oval 45"/>
          <p:cNvSpPr>
            <a:spLocks noChangeArrowheads="1"/>
          </p:cNvSpPr>
          <p:nvPr/>
        </p:nvSpPr>
        <p:spPr bwMode="auto">
          <a:xfrm>
            <a:off x="5292725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9" name="Oval 46"/>
          <p:cNvSpPr>
            <a:spLocks noChangeArrowheads="1"/>
          </p:cNvSpPr>
          <p:nvPr/>
        </p:nvSpPr>
        <p:spPr bwMode="auto">
          <a:xfrm>
            <a:off x="5724525" y="306863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0" name="Oval 47"/>
          <p:cNvSpPr>
            <a:spLocks noChangeArrowheads="1"/>
          </p:cNvSpPr>
          <p:nvPr/>
        </p:nvSpPr>
        <p:spPr bwMode="auto">
          <a:xfrm>
            <a:off x="1258888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1" name="Oval 48"/>
          <p:cNvSpPr>
            <a:spLocks noChangeArrowheads="1"/>
          </p:cNvSpPr>
          <p:nvPr/>
        </p:nvSpPr>
        <p:spPr bwMode="auto">
          <a:xfrm>
            <a:off x="1690688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2" name="Oval 49"/>
          <p:cNvSpPr>
            <a:spLocks noChangeArrowheads="1"/>
          </p:cNvSpPr>
          <p:nvPr/>
        </p:nvSpPr>
        <p:spPr bwMode="auto">
          <a:xfrm>
            <a:off x="2122488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3" name="Oval 50"/>
          <p:cNvSpPr>
            <a:spLocks noChangeArrowheads="1"/>
          </p:cNvSpPr>
          <p:nvPr/>
        </p:nvSpPr>
        <p:spPr bwMode="auto">
          <a:xfrm>
            <a:off x="25558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4" name="Oval 51"/>
          <p:cNvSpPr>
            <a:spLocks noChangeArrowheads="1"/>
          </p:cNvSpPr>
          <p:nvPr/>
        </p:nvSpPr>
        <p:spPr bwMode="auto">
          <a:xfrm>
            <a:off x="29876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5" name="Oval 52"/>
          <p:cNvSpPr>
            <a:spLocks noChangeArrowheads="1"/>
          </p:cNvSpPr>
          <p:nvPr/>
        </p:nvSpPr>
        <p:spPr bwMode="auto">
          <a:xfrm>
            <a:off x="34194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6" name="Oval 53"/>
          <p:cNvSpPr>
            <a:spLocks noChangeArrowheads="1"/>
          </p:cNvSpPr>
          <p:nvPr/>
        </p:nvSpPr>
        <p:spPr bwMode="auto">
          <a:xfrm>
            <a:off x="38512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7" name="Oval 54"/>
          <p:cNvSpPr>
            <a:spLocks noChangeArrowheads="1"/>
          </p:cNvSpPr>
          <p:nvPr/>
        </p:nvSpPr>
        <p:spPr bwMode="auto">
          <a:xfrm>
            <a:off x="42830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8" name="Oval 55"/>
          <p:cNvSpPr>
            <a:spLocks noChangeArrowheads="1"/>
          </p:cNvSpPr>
          <p:nvPr/>
        </p:nvSpPr>
        <p:spPr bwMode="auto">
          <a:xfrm>
            <a:off x="4714875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79" name="Oval 56"/>
          <p:cNvSpPr>
            <a:spLocks noChangeArrowheads="1"/>
          </p:cNvSpPr>
          <p:nvPr/>
        </p:nvSpPr>
        <p:spPr bwMode="auto">
          <a:xfrm>
            <a:off x="5148263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0" name="Oval 57"/>
          <p:cNvSpPr>
            <a:spLocks noChangeArrowheads="1"/>
          </p:cNvSpPr>
          <p:nvPr/>
        </p:nvSpPr>
        <p:spPr bwMode="auto">
          <a:xfrm>
            <a:off x="5580063" y="342900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1" name="Oval 58"/>
          <p:cNvSpPr>
            <a:spLocks noChangeArrowheads="1"/>
          </p:cNvSpPr>
          <p:nvPr/>
        </p:nvSpPr>
        <p:spPr bwMode="auto">
          <a:xfrm>
            <a:off x="1474788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2" name="Oval 59"/>
          <p:cNvSpPr>
            <a:spLocks noChangeArrowheads="1"/>
          </p:cNvSpPr>
          <p:nvPr/>
        </p:nvSpPr>
        <p:spPr bwMode="auto">
          <a:xfrm>
            <a:off x="1906588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3" name="Oval 60"/>
          <p:cNvSpPr>
            <a:spLocks noChangeArrowheads="1"/>
          </p:cNvSpPr>
          <p:nvPr/>
        </p:nvSpPr>
        <p:spPr bwMode="auto">
          <a:xfrm>
            <a:off x="2338388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4" name="Oval 61"/>
          <p:cNvSpPr>
            <a:spLocks noChangeArrowheads="1"/>
          </p:cNvSpPr>
          <p:nvPr/>
        </p:nvSpPr>
        <p:spPr bwMode="auto">
          <a:xfrm>
            <a:off x="2771775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5" name="Oval 62"/>
          <p:cNvSpPr>
            <a:spLocks noChangeArrowheads="1"/>
          </p:cNvSpPr>
          <p:nvPr/>
        </p:nvSpPr>
        <p:spPr bwMode="auto">
          <a:xfrm>
            <a:off x="3203575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6" name="Oval 63"/>
          <p:cNvSpPr>
            <a:spLocks noChangeArrowheads="1"/>
          </p:cNvSpPr>
          <p:nvPr/>
        </p:nvSpPr>
        <p:spPr bwMode="auto">
          <a:xfrm>
            <a:off x="3635375" y="3789363"/>
            <a:ext cx="215900" cy="215900"/>
          </a:xfrm>
          <a:prstGeom prst="ellipse">
            <a:avLst/>
          </a:prstGeom>
          <a:gradFill rotWithShape="1">
            <a:gsLst>
              <a:gs pos="0">
                <a:srgbClr val="740218"/>
              </a:gs>
              <a:gs pos="50000">
                <a:srgbClr val="FB0534"/>
              </a:gs>
              <a:gs pos="100000">
                <a:srgbClr val="740218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7" name="Oval 64"/>
          <p:cNvSpPr>
            <a:spLocks noChangeArrowheads="1"/>
          </p:cNvSpPr>
          <p:nvPr/>
        </p:nvSpPr>
        <p:spPr bwMode="auto">
          <a:xfrm>
            <a:off x="4067175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8" name="Oval 65"/>
          <p:cNvSpPr>
            <a:spLocks noChangeArrowheads="1"/>
          </p:cNvSpPr>
          <p:nvPr/>
        </p:nvSpPr>
        <p:spPr bwMode="auto">
          <a:xfrm>
            <a:off x="4498975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89" name="Oval 66"/>
          <p:cNvSpPr>
            <a:spLocks noChangeArrowheads="1"/>
          </p:cNvSpPr>
          <p:nvPr/>
        </p:nvSpPr>
        <p:spPr bwMode="auto">
          <a:xfrm>
            <a:off x="4930775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0" name="Oval 67"/>
          <p:cNvSpPr>
            <a:spLocks noChangeArrowheads="1"/>
          </p:cNvSpPr>
          <p:nvPr/>
        </p:nvSpPr>
        <p:spPr bwMode="auto">
          <a:xfrm>
            <a:off x="5364163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1" name="Oval 68"/>
          <p:cNvSpPr>
            <a:spLocks noChangeArrowheads="1"/>
          </p:cNvSpPr>
          <p:nvPr/>
        </p:nvSpPr>
        <p:spPr bwMode="auto">
          <a:xfrm>
            <a:off x="5795963" y="37893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2" name="Oval 69"/>
          <p:cNvSpPr>
            <a:spLocks noChangeArrowheads="1"/>
          </p:cNvSpPr>
          <p:nvPr/>
        </p:nvSpPr>
        <p:spPr bwMode="auto">
          <a:xfrm>
            <a:off x="1258888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3" name="Oval 70"/>
          <p:cNvSpPr>
            <a:spLocks noChangeArrowheads="1"/>
          </p:cNvSpPr>
          <p:nvPr/>
        </p:nvSpPr>
        <p:spPr bwMode="auto">
          <a:xfrm>
            <a:off x="1690688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4" name="Oval 71"/>
          <p:cNvSpPr>
            <a:spLocks noChangeArrowheads="1"/>
          </p:cNvSpPr>
          <p:nvPr/>
        </p:nvSpPr>
        <p:spPr bwMode="auto">
          <a:xfrm>
            <a:off x="2122488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5" name="Oval 72"/>
          <p:cNvSpPr>
            <a:spLocks noChangeArrowheads="1"/>
          </p:cNvSpPr>
          <p:nvPr/>
        </p:nvSpPr>
        <p:spPr bwMode="auto">
          <a:xfrm>
            <a:off x="25558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6" name="Oval 73"/>
          <p:cNvSpPr>
            <a:spLocks noChangeArrowheads="1"/>
          </p:cNvSpPr>
          <p:nvPr/>
        </p:nvSpPr>
        <p:spPr bwMode="auto">
          <a:xfrm>
            <a:off x="29876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7" name="Oval 74"/>
          <p:cNvSpPr>
            <a:spLocks noChangeArrowheads="1"/>
          </p:cNvSpPr>
          <p:nvPr/>
        </p:nvSpPr>
        <p:spPr bwMode="auto">
          <a:xfrm>
            <a:off x="34194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8" name="Oval 75"/>
          <p:cNvSpPr>
            <a:spLocks noChangeArrowheads="1"/>
          </p:cNvSpPr>
          <p:nvPr/>
        </p:nvSpPr>
        <p:spPr bwMode="auto">
          <a:xfrm>
            <a:off x="38512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99" name="Oval 76"/>
          <p:cNvSpPr>
            <a:spLocks noChangeArrowheads="1"/>
          </p:cNvSpPr>
          <p:nvPr/>
        </p:nvSpPr>
        <p:spPr bwMode="auto">
          <a:xfrm>
            <a:off x="42830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0" name="Oval 77"/>
          <p:cNvSpPr>
            <a:spLocks noChangeArrowheads="1"/>
          </p:cNvSpPr>
          <p:nvPr/>
        </p:nvSpPr>
        <p:spPr bwMode="auto">
          <a:xfrm>
            <a:off x="4714875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1" name="Oval 78"/>
          <p:cNvSpPr>
            <a:spLocks noChangeArrowheads="1"/>
          </p:cNvSpPr>
          <p:nvPr/>
        </p:nvSpPr>
        <p:spPr bwMode="auto">
          <a:xfrm>
            <a:off x="5148263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2" name="Oval 79"/>
          <p:cNvSpPr>
            <a:spLocks noChangeArrowheads="1"/>
          </p:cNvSpPr>
          <p:nvPr/>
        </p:nvSpPr>
        <p:spPr bwMode="auto">
          <a:xfrm>
            <a:off x="5580063" y="41497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3" name="Oval 80"/>
          <p:cNvSpPr>
            <a:spLocks noChangeArrowheads="1"/>
          </p:cNvSpPr>
          <p:nvPr/>
        </p:nvSpPr>
        <p:spPr bwMode="auto">
          <a:xfrm>
            <a:off x="1474788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4" name="Oval 81"/>
          <p:cNvSpPr>
            <a:spLocks noChangeArrowheads="1"/>
          </p:cNvSpPr>
          <p:nvPr/>
        </p:nvSpPr>
        <p:spPr bwMode="auto">
          <a:xfrm>
            <a:off x="1906588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5" name="Oval 82"/>
          <p:cNvSpPr>
            <a:spLocks noChangeArrowheads="1"/>
          </p:cNvSpPr>
          <p:nvPr/>
        </p:nvSpPr>
        <p:spPr bwMode="auto">
          <a:xfrm>
            <a:off x="2338388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6" name="Oval 83"/>
          <p:cNvSpPr>
            <a:spLocks noChangeArrowheads="1"/>
          </p:cNvSpPr>
          <p:nvPr/>
        </p:nvSpPr>
        <p:spPr bwMode="auto">
          <a:xfrm>
            <a:off x="27717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7" name="Oval 84"/>
          <p:cNvSpPr>
            <a:spLocks noChangeArrowheads="1"/>
          </p:cNvSpPr>
          <p:nvPr/>
        </p:nvSpPr>
        <p:spPr bwMode="auto">
          <a:xfrm>
            <a:off x="32035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8" name="Oval 85"/>
          <p:cNvSpPr>
            <a:spLocks noChangeArrowheads="1"/>
          </p:cNvSpPr>
          <p:nvPr/>
        </p:nvSpPr>
        <p:spPr bwMode="auto">
          <a:xfrm>
            <a:off x="36353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09" name="Oval 86"/>
          <p:cNvSpPr>
            <a:spLocks noChangeArrowheads="1"/>
          </p:cNvSpPr>
          <p:nvPr/>
        </p:nvSpPr>
        <p:spPr bwMode="auto">
          <a:xfrm>
            <a:off x="40671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0" name="Oval 87"/>
          <p:cNvSpPr>
            <a:spLocks noChangeArrowheads="1"/>
          </p:cNvSpPr>
          <p:nvPr/>
        </p:nvSpPr>
        <p:spPr bwMode="auto">
          <a:xfrm>
            <a:off x="44989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1" name="Oval 88"/>
          <p:cNvSpPr>
            <a:spLocks noChangeArrowheads="1"/>
          </p:cNvSpPr>
          <p:nvPr/>
        </p:nvSpPr>
        <p:spPr bwMode="auto">
          <a:xfrm>
            <a:off x="4930775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2" name="Oval 89"/>
          <p:cNvSpPr>
            <a:spLocks noChangeArrowheads="1"/>
          </p:cNvSpPr>
          <p:nvPr/>
        </p:nvSpPr>
        <p:spPr bwMode="auto">
          <a:xfrm>
            <a:off x="5364163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3" name="Oval 90"/>
          <p:cNvSpPr>
            <a:spLocks noChangeArrowheads="1"/>
          </p:cNvSpPr>
          <p:nvPr/>
        </p:nvSpPr>
        <p:spPr bwMode="auto">
          <a:xfrm>
            <a:off x="5795963" y="45100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4" name="Oval 91"/>
          <p:cNvSpPr>
            <a:spLocks noChangeArrowheads="1"/>
          </p:cNvSpPr>
          <p:nvPr/>
        </p:nvSpPr>
        <p:spPr bwMode="auto">
          <a:xfrm>
            <a:off x="1258888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5" name="Oval 92"/>
          <p:cNvSpPr>
            <a:spLocks noChangeArrowheads="1"/>
          </p:cNvSpPr>
          <p:nvPr/>
        </p:nvSpPr>
        <p:spPr bwMode="auto">
          <a:xfrm>
            <a:off x="1690688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6" name="Oval 93"/>
          <p:cNvSpPr>
            <a:spLocks noChangeArrowheads="1"/>
          </p:cNvSpPr>
          <p:nvPr/>
        </p:nvSpPr>
        <p:spPr bwMode="auto">
          <a:xfrm>
            <a:off x="2122488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7" name="Oval 94"/>
          <p:cNvSpPr>
            <a:spLocks noChangeArrowheads="1"/>
          </p:cNvSpPr>
          <p:nvPr/>
        </p:nvSpPr>
        <p:spPr bwMode="auto">
          <a:xfrm>
            <a:off x="25558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8" name="Oval 95"/>
          <p:cNvSpPr>
            <a:spLocks noChangeArrowheads="1"/>
          </p:cNvSpPr>
          <p:nvPr/>
        </p:nvSpPr>
        <p:spPr bwMode="auto">
          <a:xfrm>
            <a:off x="29876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19" name="Oval 96"/>
          <p:cNvSpPr>
            <a:spLocks noChangeArrowheads="1"/>
          </p:cNvSpPr>
          <p:nvPr/>
        </p:nvSpPr>
        <p:spPr bwMode="auto">
          <a:xfrm>
            <a:off x="34194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0" name="Oval 97"/>
          <p:cNvSpPr>
            <a:spLocks noChangeArrowheads="1"/>
          </p:cNvSpPr>
          <p:nvPr/>
        </p:nvSpPr>
        <p:spPr bwMode="auto">
          <a:xfrm>
            <a:off x="38512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1" name="Oval 98"/>
          <p:cNvSpPr>
            <a:spLocks noChangeArrowheads="1"/>
          </p:cNvSpPr>
          <p:nvPr/>
        </p:nvSpPr>
        <p:spPr bwMode="auto">
          <a:xfrm>
            <a:off x="42830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2" name="Oval 99"/>
          <p:cNvSpPr>
            <a:spLocks noChangeArrowheads="1"/>
          </p:cNvSpPr>
          <p:nvPr/>
        </p:nvSpPr>
        <p:spPr bwMode="auto">
          <a:xfrm>
            <a:off x="4714875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3" name="Oval 100"/>
          <p:cNvSpPr>
            <a:spLocks noChangeArrowheads="1"/>
          </p:cNvSpPr>
          <p:nvPr/>
        </p:nvSpPr>
        <p:spPr bwMode="auto">
          <a:xfrm>
            <a:off x="5148263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4" name="Oval 101"/>
          <p:cNvSpPr>
            <a:spLocks noChangeArrowheads="1"/>
          </p:cNvSpPr>
          <p:nvPr/>
        </p:nvSpPr>
        <p:spPr bwMode="auto">
          <a:xfrm>
            <a:off x="5580063" y="4868863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5" name="Oval 102"/>
          <p:cNvSpPr>
            <a:spLocks noChangeArrowheads="1"/>
          </p:cNvSpPr>
          <p:nvPr/>
        </p:nvSpPr>
        <p:spPr bwMode="auto">
          <a:xfrm>
            <a:off x="1474788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6" name="Oval 103"/>
          <p:cNvSpPr>
            <a:spLocks noChangeArrowheads="1"/>
          </p:cNvSpPr>
          <p:nvPr/>
        </p:nvSpPr>
        <p:spPr bwMode="auto">
          <a:xfrm>
            <a:off x="1906588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7" name="Oval 104"/>
          <p:cNvSpPr>
            <a:spLocks noChangeArrowheads="1"/>
          </p:cNvSpPr>
          <p:nvPr/>
        </p:nvSpPr>
        <p:spPr bwMode="auto">
          <a:xfrm>
            <a:off x="2338388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8" name="Oval 105"/>
          <p:cNvSpPr>
            <a:spLocks noChangeArrowheads="1"/>
          </p:cNvSpPr>
          <p:nvPr/>
        </p:nvSpPr>
        <p:spPr bwMode="auto">
          <a:xfrm>
            <a:off x="27717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29" name="Oval 106"/>
          <p:cNvSpPr>
            <a:spLocks noChangeArrowheads="1"/>
          </p:cNvSpPr>
          <p:nvPr/>
        </p:nvSpPr>
        <p:spPr bwMode="auto">
          <a:xfrm>
            <a:off x="32035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0" name="Oval 107"/>
          <p:cNvSpPr>
            <a:spLocks noChangeArrowheads="1"/>
          </p:cNvSpPr>
          <p:nvPr/>
        </p:nvSpPr>
        <p:spPr bwMode="auto">
          <a:xfrm>
            <a:off x="36353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1" name="Oval 108"/>
          <p:cNvSpPr>
            <a:spLocks noChangeArrowheads="1"/>
          </p:cNvSpPr>
          <p:nvPr/>
        </p:nvSpPr>
        <p:spPr bwMode="auto">
          <a:xfrm>
            <a:off x="40671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2" name="Oval 109"/>
          <p:cNvSpPr>
            <a:spLocks noChangeArrowheads="1"/>
          </p:cNvSpPr>
          <p:nvPr/>
        </p:nvSpPr>
        <p:spPr bwMode="auto">
          <a:xfrm>
            <a:off x="44989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3" name="Oval 110"/>
          <p:cNvSpPr>
            <a:spLocks noChangeArrowheads="1"/>
          </p:cNvSpPr>
          <p:nvPr/>
        </p:nvSpPr>
        <p:spPr bwMode="auto">
          <a:xfrm>
            <a:off x="4930775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4" name="Oval 111"/>
          <p:cNvSpPr>
            <a:spLocks noChangeArrowheads="1"/>
          </p:cNvSpPr>
          <p:nvPr/>
        </p:nvSpPr>
        <p:spPr bwMode="auto">
          <a:xfrm>
            <a:off x="5364163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5" name="Oval 112"/>
          <p:cNvSpPr>
            <a:spLocks noChangeArrowheads="1"/>
          </p:cNvSpPr>
          <p:nvPr/>
        </p:nvSpPr>
        <p:spPr bwMode="auto">
          <a:xfrm>
            <a:off x="5795963" y="5229225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750129" name="AutoShape 113"/>
          <p:cNvSpPr>
            <a:spLocks noChangeArrowheads="1"/>
          </p:cNvSpPr>
          <p:nvPr/>
        </p:nvSpPr>
        <p:spPr bwMode="auto">
          <a:xfrm>
            <a:off x="3059113" y="3357563"/>
            <a:ext cx="1296987" cy="1079500"/>
          </a:xfrm>
          <a:prstGeom prst="hexagon">
            <a:avLst>
              <a:gd name="adj" fmla="val 30037"/>
              <a:gd name="vf" fmla="val 115470"/>
            </a:avLst>
          </a:prstGeom>
          <a:noFill/>
          <a:ln w="285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750130" name="AutoShape 114"/>
          <p:cNvSpPr>
            <a:spLocks noChangeArrowheads="1"/>
          </p:cNvSpPr>
          <p:nvPr/>
        </p:nvSpPr>
        <p:spPr bwMode="auto">
          <a:xfrm>
            <a:off x="2195513" y="2636838"/>
            <a:ext cx="3024187" cy="2520950"/>
          </a:xfrm>
          <a:prstGeom prst="hexagon">
            <a:avLst>
              <a:gd name="adj" fmla="val 29991"/>
              <a:gd name="vf" fmla="val 115470"/>
            </a:avLst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8" name="Oval 115"/>
          <p:cNvSpPr>
            <a:spLocks noChangeArrowheads="1"/>
          </p:cNvSpPr>
          <p:nvPr/>
        </p:nvSpPr>
        <p:spPr bwMode="auto">
          <a:xfrm>
            <a:off x="1258888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39" name="Oval 116"/>
          <p:cNvSpPr>
            <a:spLocks noChangeArrowheads="1"/>
          </p:cNvSpPr>
          <p:nvPr/>
        </p:nvSpPr>
        <p:spPr bwMode="auto">
          <a:xfrm>
            <a:off x="1690688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0" name="Oval 117"/>
          <p:cNvSpPr>
            <a:spLocks noChangeArrowheads="1"/>
          </p:cNvSpPr>
          <p:nvPr/>
        </p:nvSpPr>
        <p:spPr bwMode="auto">
          <a:xfrm>
            <a:off x="2122488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1" name="Oval 118"/>
          <p:cNvSpPr>
            <a:spLocks noChangeArrowheads="1"/>
          </p:cNvSpPr>
          <p:nvPr/>
        </p:nvSpPr>
        <p:spPr bwMode="auto">
          <a:xfrm>
            <a:off x="25558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2" name="Oval 119"/>
          <p:cNvSpPr>
            <a:spLocks noChangeArrowheads="1"/>
          </p:cNvSpPr>
          <p:nvPr/>
        </p:nvSpPr>
        <p:spPr bwMode="auto">
          <a:xfrm>
            <a:off x="29876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3" name="Oval 120"/>
          <p:cNvSpPr>
            <a:spLocks noChangeArrowheads="1"/>
          </p:cNvSpPr>
          <p:nvPr/>
        </p:nvSpPr>
        <p:spPr bwMode="auto">
          <a:xfrm>
            <a:off x="34194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4" name="Oval 121"/>
          <p:cNvSpPr>
            <a:spLocks noChangeArrowheads="1"/>
          </p:cNvSpPr>
          <p:nvPr/>
        </p:nvSpPr>
        <p:spPr bwMode="auto">
          <a:xfrm>
            <a:off x="38512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5" name="Oval 122"/>
          <p:cNvSpPr>
            <a:spLocks noChangeArrowheads="1"/>
          </p:cNvSpPr>
          <p:nvPr/>
        </p:nvSpPr>
        <p:spPr bwMode="auto">
          <a:xfrm>
            <a:off x="42830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6" name="Oval 123"/>
          <p:cNvSpPr>
            <a:spLocks noChangeArrowheads="1"/>
          </p:cNvSpPr>
          <p:nvPr/>
        </p:nvSpPr>
        <p:spPr bwMode="auto">
          <a:xfrm>
            <a:off x="4714875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7" name="Oval 124"/>
          <p:cNvSpPr>
            <a:spLocks noChangeArrowheads="1"/>
          </p:cNvSpPr>
          <p:nvPr/>
        </p:nvSpPr>
        <p:spPr bwMode="auto">
          <a:xfrm>
            <a:off x="5148263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8" name="Oval 125"/>
          <p:cNvSpPr>
            <a:spLocks noChangeArrowheads="1"/>
          </p:cNvSpPr>
          <p:nvPr/>
        </p:nvSpPr>
        <p:spPr bwMode="auto">
          <a:xfrm>
            <a:off x="5580063" y="5589588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49" name="Oval 126"/>
          <p:cNvSpPr>
            <a:spLocks noChangeArrowheads="1"/>
          </p:cNvSpPr>
          <p:nvPr/>
        </p:nvSpPr>
        <p:spPr bwMode="auto">
          <a:xfrm>
            <a:off x="1474788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0" name="Oval 127"/>
          <p:cNvSpPr>
            <a:spLocks noChangeArrowheads="1"/>
          </p:cNvSpPr>
          <p:nvPr/>
        </p:nvSpPr>
        <p:spPr bwMode="auto">
          <a:xfrm>
            <a:off x="1906588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1" name="Oval 128"/>
          <p:cNvSpPr>
            <a:spLocks noChangeArrowheads="1"/>
          </p:cNvSpPr>
          <p:nvPr/>
        </p:nvSpPr>
        <p:spPr bwMode="auto">
          <a:xfrm>
            <a:off x="2338388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2" name="Oval 129"/>
          <p:cNvSpPr>
            <a:spLocks noChangeArrowheads="1"/>
          </p:cNvSpPr>
          <p:nvPr/>
        </p:nvSpPr>
        <p:spPr bwMode="auto">
          <a:xfrm>
            <a:off x="27717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3" name="Oval 130"/>
          <p:cNvSpPr>
            <a:spLocks noChangeArrowheads="1"/>
          </p:cNvSpPr>
          <p:nvPr/>
        </p:nvSpPr>
        <p:spPr bwMode="auto">
          <a:xfrm>
            <a:off x="32035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4" name="Oval 131"/>
          <p:cNvSpPr>
            <a:spLocks noChangeArrowheads="1"/>
          </p:cNvSpPr>
          <p:nvPr/>
        </p:nvSpPr>
        <p:spPr bwMode="auto">
          <a:xfrm>
            <a:off x="36353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5" name="Oval 132"/>
          <p:cNvSpPr>
            <a:spLocks noChangeArrowheads="1"/>
          </p:cNvSpPr>
          <p:nvPr/>
        </p:nvSpPr>
        <p:spPr bwMode="auto">
          <a:xfrm>
            <a:off x="40671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6" name="Oval 133"/>
          <p:cNvSpPr>
            <a:spLocks noChangeArrowheads="1"/>
          </p:cNvSpPr>
          <p:nvPr/>
        </p:nvSpPr>
        <p:spPr bwMode="auto">
          <a:xfrm>
            <a:off x="44989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7" name="Oval 134"/>
          <p:cNvSpPr>
            <a:spLocks noChangeArrowheads="1"/>
          </p:cNvSpPr>
          <p:nvPr/>
        </p:nvSpPr>
        <p:spPr bwMode="auto">
          <a:xfrm>
            <a:off x="4930775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8" name="Oval 135"/>
          <p:cNvSpPr>
            <a:spLocks noChangeArrowheads="1"/>
          </p:cNvSpPr>
          <p:nvPr/>
        </p:nvSpPr>
        <p:spPr bwMode="auto">
          <a:xfrm>
            <a:off x="5364163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2059" name="Oval 136"/>
          <p:cNvSpPr>
            <a:spLocks noChangeArrowheads="1"/>
          </p:cNvSpPr>
          <p:nvPr/>
        </p:nvSpPr>
        <p:spPr bwMode="auto">
          <a:xfrm>
            <a:off x="5795963" y="5949950"/>
            <a:ext cx="215900" cy="215900"/>
          </a:xfrm>
          <a:prstGeom prst="ellips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750153" name="AutoShape 137"/>
          <p:cNvSpPr>
            <a:spLocks noChangeArrowheads="1"/>
          </p:cNvSpPr>
          <p:nvPr/>
        </p:nvSpPr>
        <p:spPr bwMode="auto">
          <a:xfrm>
            <a:off x="1331913" y="1916113"/>
            <a:ext cx="4752975" cy="3960812"/>
          </a:xfrm>
          <a:prstGeom prst="hexagon">
            <a:avLst>
              <a:gd name="adj" fmla="val 30000"/>
              <a:gd name="vf" fmla="val 115470"/>
            </a:avLst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0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0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0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0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0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0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0129" grpId="0" animBg="1"/>
      <p:bldP spid="1750130" grpId="0" animBg="1"/>
      <p:bldP spid="175015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86C8043-4FC7-46F0-A1F0-010C40E4A73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29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29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659528C-9CA6-42F5-9FC3-3C5B89322FDD}" type="slidenum">
              <a:rPr lang="zh-TW" altLang="en-US" sz="1200" smtClean="0"/>
              <a:pPr eaLnBrk="1" hangingPunct="1"/>
              <a:t>110</a:t>
            </a:fld>
            <a:endParaRPr lang="en-US" altLang="zh-TW" sz="1200" smtClean="0"/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Kohonen Algorithm</a:t>
            </a:r>
          </a:p>
        </p:txBody>
      </p:sp>
      <p:sp>
        <p:nvSpPr>
          <p:cNvPr id="829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Kohonen learning is unsupervised</a:t>
            </a:r>
          </a:p>
          <a:p>
            <a:pPr eaLnBrk="1" hangingPunct="1"/>
            <a:r>
              <a:rPr lang="en-US" altLang="zh-TW" smtClean="0">
                <a:ea typeface="新細明體" pitchFamily="18" charset="-120"/>
              </a:rPr>
              <a:t>It is also know as a self-organizing network</a:t>
            </a:r>
          </a:p>
          <a:p>
            <a:pPr eaLnBrk="1" hangingPunct="1"/>
            <a:r>
              <a:rPr lang="en-US" altLang="zh-TW" smtClean="0">
                <a:ea typeface="新細明體" pitchFamily="18" charset="-120"/>
              </a:rPr>
              <a:t>Can use the Euclidean distance formula to compute the winner neuron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93B0649-BFC9-4316-BD4A-8786EE45F3A5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0484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0485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86C13A0-7079-4D56-8933-4B9AF3622755}" type="slidenum">
              <a:rPr lang="zh-TW" altLang="en-US" sz="1200" smtClean="0"/>
              <a:pPr eaLnBrk="1" hangingPunct="1"/>
              <a:t>111</a:t>
            </a:fld>
            <a:endParaRPr lang="en-US" altLang="zh-TW" sz="1200" smtClean="0"/>
          </a:p>
        </p:txBody>
      </p:sp>
      <p:sp>
        <p:nvSpPr>
          <p:cNvPr id="20486" name="Rectangle 2"/>
          <p:cNvSpPr>
            <a:spLocks noChangeArrowheads="1"/>
          </p:cNvSpPr>
          <p:nvPr/>
        </p:nvSpPr>
        <p:spPr bwMode="auto">
          <a:xfrm>
            <a:off x="2124075" y="3141663"/>
            <a:ext cx="5761038" cy="172878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20487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304800"/>
            <a:ext cx="7315200" cy="881063"/>
          </a:xfrm>
          <a:noFill/>
        </p:spPr>
        <p:txBody>
          <a:bodyPr/>
          <a:lstStyle/>
          <a:p>
            <a:pPr eaLnBrk="1" hangingPunct="1"/>
            <a:r>
              <a:rPr lang="pl-PL" altLang="zh-TW" sz="4000" smtClean="0"/>
              <a:t>SOM</a:t>
            </a:r>
            <a:r>
              <a:rPr lang="en-US" altLang="zh-TW" sz="4000" smtClean="0">
                <a:ea typeface="新細明體" pitchFamily="18" charset="-120"/>
              </a:rPr>
              <a:t> algorithm: competition</a:t>
            </a:r>
            <a:endParaRPr lang="pl-PL" altLang="zh-TW" sz="4000" smtClean="0"/>
          </a:p>
        </p:txBody>
      </p:sp>
      <p:sp>
        <p:nvSpPr>
          <p:cNvPr id="204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7772400" cy="1608137"/>
          </a:xfrm>
          <a:noFill/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700" dirty="0" smtClean="0">
                <a:ea typeface="新細明體" pitchFamily="18" charset="-120"/>
              </a:rPr>
              <a:t>Nodes should calculate similarity of input data to their parameters.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700" dirty="0" smtClean="0">
                <a:ea typeface="新細明體" pitchFamily="18" charset="-120"/>
              </a:rPr>
              <a:t>Input vector</a:t>
            </a:r>
            <a:r>
              <a:rPr lang="pl-PL" altLang="zh-TW" sz="1700" dirty="0" smtClean="0"/>
              <a:t> </a:t>
            </a:r>
            <a:r>
              <a:rPr lang="pl-PL" altLang="zh-TW" sz="1700" b="1" dirty="0" smtClean="0"/>
              <a:t>X</a:t>
            </a:r>
            <a:r>
              <a:rPr lang="pl-PL" altLang="zh-TW" sz="1700" dirty="0" smtClean="0"/>
              <a:t> </a:t>
            </a:r>
            <a:r>
              <a:rPr lang="en-US" altLang="zh-TW" sz="1700" dirty="0" smtClean="0">
                <a:ea typeface="新細明體" pitchFamily="18" charset="-120"/>
              </a:rPr>
              <a:t>is compared to node parameters</a:t>
            </a:r>
            <a:r>
              <a:rPr lang="pl-PL" altLang="zh-TW" sz="1700" dirty="0" smtClean="0"/>
              <a:t> </a:t>
            </a:r>
            <a:r>
              <a:rPr lang="pl-PL" altLang="zh-TW" sz="1700" b="1" dirty="0" smtClean="0"/>
              <a:t>W. </a:t>
            </a:r>
          </a:p>
          <a:p>
            <a:pPr marL="0" indent="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700" dirty="0" smtClean="0">
                <a:ea typeface="新細明體" pitchFamily="18" charset="-120"/>
              </a:rPr>
              <a:t>Similar</a:t>
            </a:r>
            <a:r>
              <a:rPr lang="pl-PL" altLang="zh-TW" sz="1700" dirty="0" smtClean="0"/>
              <a:t> = </a:t>
            </a:r>
            <a:r>
              <a:rPr lang="en-US" altLang="zh-TW" sz="1700" dirty="0" smtClean="0">
                <a:ea typeface="新細明體" pitchFamily="18" charset="-120"/>
              </a:rPr>
              <a:t>minimal distance or maximal scalar product</a:t>
            </a:r>
            <a:r>
              <a:rPr lang="pl-PL" altLang="zh-TW" sz="1700" dirty="0" smtClean="0"/>
              <a:t>. </a:t>
            </a:r>
            <a:r>
              <a:rPr lang="en-US" altLang="zh-TW" sz="1700" dirty="0" smtClean="0">
                <a:ea typeface="新細明體" pitchFamily="18" charset="-120"/>
              </a:rPr>
              <a:t/>
            </a:r>
            <a:br>
              <a:rPr lang="en-US" altLang="zh-TW" sz="1700" dirty="0" smtClean="0">
                <a:ea typeface="新細明體" pitchFamily="18" charset="-120"/>
              </a:rPr>
            </a:br>
            <a:r>
              <a:rPr lang="pl-PL" altLang="zh-TW" sz="1700" dirty="0" smtClean="0"/>
              <a:t/>
            </a:r>
            <a:br>
              <a:rPr lang="pl-PL" altLang="zh-TW" sz="1700" dirty="0" smtClean="0"/>
            </a:br>
            <a:r>
              <a:rPr lang="en-US" altLang="zh-TW" sz="1700" dirty="0" smtClean="0">
                <a:ea typeface="新細明體" pitchFamily="18" charset="-120"/>
              </a:rPr>
              <a:t>Competition: find node </a:t>
            </a:r>
            <a:r>
              <a:rPr lang="en-US" altLang="zh-TW" sz="1700" i="1" dirty="0" smtClean="0">
                <a:ea typeface="新細明體" pitchFamily="18" charset="-120"/>
              </a:rPr>
              <a:t>j</a:t>
            </a:r>
            <a:r>
              <a:rPr lang="en-US" altLang="zh-TW" sz="1700" dirty="0" smtClean="0">
                <a:ea typeface="新細明體" pitchFamily="18" charset="-120"/>
              </a:rPr>
              <a:t>=</a:t>
            </a:r>
            <a:r>
              <a:rPr lang="en-US" altLang="zh-TW" sz="1700" i="1" dirty="0" smtClean="0">
                <a:ea typeface="新細明體" pitchFamily="18" charset="-120"/>
              </a:rPr>
              <a:t>c</a:t>
            </a:r>
            <a:r>
              <a:rPr lang="en-US" altLang="zh-TW" sz="1700" dirty="0" smtClean="0">
                <a:ea typeface="新細明體" pitchFamily="18" charset="-120"/>
              </a:rPr>
              <a:t> with </a:t>
            </a:r>
            <a:r>
              <a:rPr lang="en-US" altLang="zh-TW" sz="1700" b="1" dirty="0" smtClean="0">
                <a:ea typeface="新細明體" pitchFamily="18" charset="-120"/>
              </a:rPr>
              <a:t>W</a:t>
            </a:r>
            <a:r>
              <a:rPr lang="en-US" altLang="zh-TW" sz="1700" dirty="0" smtClean="0">
                <a:ea typeface="新細明體" pitchFamily="18" charset="-120"/>
              </a:rPr>
              <a:t> most similar to </a:t>
            </a:r>
            <a:r>
              <a:rPr lang="en-US" altLang="zh-TW" sz="1700" b="1" dirty="0" smtClean="0">
                <a:ea typeface="新細明體" pitchFamily="18" charset="-120"/>
              </a:rPr>
              <a:t>X</a:t>
            </a:r>
            <a:r>
              <a:rPr lang="pl-PL" altLang="zh-TW" sz="1700" dirty="0" smtClean="0"/>
              <a:t>.</a:t>
            </a:r>
          </a:p>
        </p:txBody>
      </p:sp>
      <p:graphicFrame>
        <p:nvGraphicFramePr>
          <p:cNvPr id="20482" name="Object 5"/>
          <p:cNvGraphicFramePr>
            <a:graphicFrameLocks noChangeAspect="1"/>
          </p:cNvGraphicFramePr>
          <p:nvPr/>
        </p:nvGraphicFramePr>
        <p:xfrm>
          <a:off x="2411413" y="3141663"/>
          <a:ext cx="4464050" cy="180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9" name="Equation" r:id="rId3" imgW="1879560" imgH="761760" progId="Equation.DSMT4">
                  <p:embed/>
                </p:oleObj>
              </mc:Choice>
              <mc:Fallback>
                <p:oleObj name="Equation" r:id="rId3" imgW="1879560" imgH="761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141663"/>
                        <a:ext cx="4464050" cy="180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F8F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Rectangle 6"/>
          <p:cNvSpPr>
            <a:spLocks noChangeArrowheads="1"/>
          </p:cNvSpPr>
          <p:nvPr/>
        </p:nvSpPr>
        <p:spPr bwMode="auto">
          <a:xfrm>
            <a:off x="684213" y="4868863"/>
            <a:ext cx="7772400" cy="160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1700">
                <a:ea typeface="新細明體" pitchFamily="18" charset="-120"/>
              </a:rPr>
              <a:t>Node number c is most similar to the input vector</a:t>
            </a:r>
            <a:r>
              <a:rPr lang="pl-PL" altLang="zh-TW" sz="1700"/>
              <a:t> </a:t>
            </a:r>
            <a:r>
              <a:rPr lang="pl-PL" altLang="zh-TW" sz="1700" b="1"/>
              <a:t>X</a:t>
            </a:r>
            <a:r>
              <a:rPr lang="pl-PL" altLang="zh-TW" sz="1700"/>
              <a:t> </a:t>
            </a:r>
            <a:endParaRPr lang="en-US" altLang="zh-TW" sz="1700">
              <a:ea typeface="新細明體" pitchFamily="18" charset="-12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1700">
                <a:ea typeface="新細明體" pitchFamily="18" charset="-120"/>
              </a:rPr>
              <a:t>It is a winner, and it will learn to be more similar to </a:t>
            </a:r>
            <a:r>
              <a:rPr lang="en-US" altLang="zh-TW" sz="1700" b="1">
                <a:ea typeface="新細明體" pitchFamily="18" charset="-120"/>
              </a:rPr>
              <a:t>X</a:t>
            </a:r>
            <a:r>
              <a:rPr lang="en-US" altLang="zh-TW" sz="1700">
                <a:ea typeface="新細明體" pitchFamily="18" charset="-120"/>
              </a:rPr>
              <a:t>, hence this is a </a:t>
            </a:r>
            <a:r>
              <a:rPr lang="en-US" altLang="zh-TW" sz="1700">
                <a:latin typeface="Arial" pitchFamily="34" charset="0"/>
                <a:ea typeface="新細明體" pitchFamily="18" charset="-120"/>
              </a:rPr>
              <a:t>“</a:t>
            </a:r>
            <a:r>
              <a:rPr lang="en-US" altLang="zh-TW" sz="1700">
                <a:ea typeface="新細明體" pitchFamily="18" charset="-120"/>
              </a:rPr>
              <a:t>competitive learning</a:t>
            </a:r>
            <a:r>
              <a:rPr lang="en-US" altLang="zh-TW" sz="1700">
                <a:latin typeface="Arial" pitchFamily="34" charset="0"/>
                <a:ea typeface="新細明體" pitchFamily="18" charset="-120"/>
              </a:rPr>
              <a:t>”</a:t>
            </a:r>
            <a:r>
              <a:rPr lang="en-US" altLang="zh-TW" sz="1700">
                <a:ea typeface="新細明體" pitchFamily="18" charset="-120"/>
              </a:rPr>
              <a:t> procedure. 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TW" sz="1700">
              <a:ea typeface="新細明體" pitchFamily="18" charset="-12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1700">
                <a:ea typeface="新細明體" pitchFamily="18" charset="-120"/>
              </a:rPr>
              <a:t>Brain: those neurons that react to some signals pick it up and learn.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34ECC588-FAEA-44F6-8BDD-368148106E3B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1508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1509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85B42B1-1F46-4F8F-9165-2F1ACC8BB289}" type="slidenum">
              <a:rPr lang="zh-TW" altLang="en-US" sz="1200" smtClean="0"/>
              <a:pPr eaLnBrk="1" hangingPunct="1"/>
              <a:t>112</a:t>
            </a:fld>
            <a:endParaRPr lang="en-US" altLang="zh-TW" sz="1200" smtClean="0"/>
          </a:p>
        </p:txBody>
      </p:sp>
      <p:sp>
        <p:nvSpPr>
          <p:cNvPr id="21510" name="Rectangle 2"/>
          <p:cNvSpPr>
            <a:spLocks noChangeArrowheads="1"/>
          </p:cNvSpPr>
          <p:nvPr/>
        </p:nvSpPr>
        <p:spPr bwMode="auto">
          <a:xfrm>
            <a:off x="1689894" y="2370888"/>
            <a:ext cx="5761037" cy="1008063"/>
          </a:xfrm>
          <a:prstGeom prst="rect">
            <a:avLst/>
          </a:prstGeom>
          <a:solidFill>
            <a:srgbClr val="17098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2151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93038" cy="414338"/>
          </a:xfrm>
          <a:noFill/>
        </p:spPr>
        <p:txBody>
          <a:bodyPr/>
          <a:lstStyle/>
          <a:p>
            <a:pPr eaLnBrk="1" hangingPunct="1"/>
            <a:r>
              <a:rPr lang="pl-PL" altLang="zh-TW" smtClean="0"/>
              <a:t>SOM</a:t>
            </a:r>
            <a:r>
              <a:rPr lang="en-US" altLang="zh-TW" smtClean="0">
                <a:ea typeface="新細明體" pitchFamily="18" charset="-120"/>
              </a:rPr>
              <a:t> algorithm: cooperation</a:t>
            </a:r>
            <a:endParaRPr lang="pl-PL" altLang="zh-TW" smtClean="0"/>
          </a:p>
        </p:txBody>
      </p:sp>
      <p:sp>
        <p:nvSpPr>
          <p:cNvPr id="21512" name="Rectangle 4"/>
          <p:cNvSpPr>
            <a:spLocks noChangeArrowheads="1"/>
          </p:cNvSpPr>
          <p:nvPr/>
        </p:nvSpPr>
        <p:spPr bwMode="auto">
          <a:xfrm>
            <a:off x="684213" y="1557338"/>
            <a:ext cx="7772400" cy="687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000">
                <a:ea typeface="新細明體" pitchFamily="18" charset="-120"/>
              </a:rPr>
              <a:t>Cooperation: nodes on a grid close to the winner</a:t>
            </a:r>
            <a:r>
              <a:rPr lang="pl-PL" altLang="zh-TW" sz="2000"/>
              <a:t> </a:t>
            </a:r>
            <a:r>
              <a:rPr lang="pl-PL" altLang="zh-TW" sz="2000" i="1"/>
              <a:t>c</a:t>
            </a:r>
            <a:r>
              <a:rPr lang="pl-PL" altLang="zh-TW" sz="2000"/>
              <a:t> </a:t>
            </a:r>
            <a:r>
              <a:rPr lang="en-US" altLang="zh-TW" sz="2000">
                <a:ea typeface="新細明體" pitchFamily="18" charset="-120"/>
              </a:rPr>
              <a:t>should behave similarly. Define the </a:t>
            </a:r>
            <a:r>
              <a:rPr lang="en-US" altLang="zh-TW" sz="2000">
                <a:latin typeface="Arial" pitchFamily="34" charset="0"/>
                <a:ea typeface="新細明體" pitchFamily="18" charset="-120"/>
              </a:rPr>
              <a:t>“</a:t>
            </a:r>
            <a:r>
              <a:rPr lang="en-US" altLang="zh-TW" sz="2000">
                <a:ea typeface="新細明體" pitchFamily="18" charset="-120"/>
              </a:rPr>
              <a:t>neighborhood</a:t>
            </a:r>
            <a:r>
              <a:rPr lang="pl-PL" altLang="zh-TW" sz="2000"/>
              <a:t> </a:t>
            </a:r>
            <a:r>
              <a:rPr lang="en-US" altLang="zh-TW" sz="2000">
                <a:ea typeface="新細明體" pitchFamily="18" charset="-120"/>
              </a:rPr>
              <a:t>function</a:t>
            </a:r>
            <a:r>
              <a:rPr lang="en-US" altLang="zh-TW" sz="2000">
                <a:latin typeface="Arial" pitchFamily="34" charset="0"/>
                <a:ea typeface="新細明體" pitchFamily="18" charset="-120"/>
              </a:rPr>
              <a:t>”</a:t>
            </a:r>
            <a:r>
              <a:rPr lang="en-US" altLang="zh-TW" sz="2000">
                <a:ea typeface="新細明體" pitchFamily="18" charset="-120"/>
              </a:rPr>
              <a:t> </a:t>
            </a:r>
            <a:r>
              <a:rPr lang="pl-PL" altLang="zh-TW" sz="2000" i="1"/>
              <a:t>O</a:t>
            </a:r>
            <a:r>
              <a:rPr lang="pl-PL" altLang="zh-TW" sz="2000"/>
              <a:t>(</a:t>
            </a:r>
            <a:r>
              <a:rPr lang="pl-PL" altLang="zh-TW" sz="2000" i="1"/>
              <a:t>c</a:t>
            </a:r>
            <a:r>
              <a:rPr lang="pl-PL" altLang="zh-TW" sz="2000"/>
              <a:t>):</a:t>
            </a:r>
          </a:p>
        </p:txBody>
      </p:sp>
      <p:graphicFrame>
        <p:nvGraphicFramePr>
          <p:cNvPr id="215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3624623"/>
              </p:ext>
            </p:extLst>
          </p:nvPr>
        </p:nvGraphicFramePr>
        <p:xfrm>
          <a:off x="1866105" y="2459037"/>
          <a:ext cx="54086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3" name="Equation" r:id="rId3" imgW="2361960" imgH="330120" progId="Equation.DSMT4">
                  <p:embed/>
                </p:oleObj>
              </mc:Choice>
              <mc:Fallback>
                <p:oleObj name="Equation" r:id="rId3" imgW="2361960" imgH="33012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105" y="2459037"/>
                        <a:ext cx="54086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F8F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Rectangle 6"/>
          <p:cNvSpPr>
            <a:spLocks noChangeArrowheads="1"/>
          </p:cNvSpPr>
          <p:nvPr/>
        </p:nvSpPr>
        <p:spPr bwMode="auto">
          <a:xfrm>
            <a:off x="755650" y="3429000"/>
            <a:ext cx="8261350" cy="321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sz="2000" dirty="0">
                <a:ea typeface="新細明體" pitchFamily="18" charset="-120"/>
              </a:rPr>
              <a:t> </a:t>
            </a:r>
            <a:r>
              <a:rPr lang="en-US" altLang="zh-TW" sz="2000" dirty="0">
                <a:latin typeface="Arial" pitchFamily="34" charset="0"/>
                <a:ea typeface="新細明體" pitchFamily="18" charset="-120"/>
              </a:rPr>
              <a:t>–</a:t>
            </a:r>
            <a:r>
              <a:rPr lang="en-US" altLang="zh-TW" sz="2000" dirty="0">
                <a:ea typeface="新細明體" pitchFamily="18" charset="-120"/>
              </a:rPr>
              <a:t> iteration number (or time);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i="1" dirty="0" err="1">
                <a:latin typeface="Times New Roman" pitchFamily="18" charset="0"/>
                <a:ea typeface="新細明體" pitchFamily="18" charset="-120"/>
              </a:rPr>
              <a:t>r</a:t>
            </a:r>
            <a:r>
              <a:rPr lang="en-US" altLang="zh-TW" i="1" baseline="-25000" dirty="0" err="1">
                <a:latin typeface="Times New Roman" pitchFamily="18" charset="0"/>
                <a:ea typeface="新細明體" pitchFamily="18" charset="-120"/>
              </a:rPr>
              <a:t>c</a:t>
            </a:r>
            <a:r>
              <a:rPr lang="en-US" altLang="zh-TW" sz="2000" dirty="0">
                <a:ea typeface="新細明體" pitchFamily="18" charset="-120"/>
              </a:rPr>
              <a:t> </a:t>
            </a:r>
            <a:r>
              <a:rPr lang="en-US" altLang="zh-TW" sz="2000" dirty="0">
                <a:latin typeface="Arial" pitchFamily="34" charset="0"/>
                <a:ea typeface="新細明體" pitchFamily="18" charset="-120"/>
              </a:rPr>
              <a:t>–</a:t>
            </a:r>
            <a:r>
              <a:rPr lang="en-US" altLang="zh-TW" sz="2000" dirty="0">
                <a:ea typeface="新細明體" pitchFamily="18" charset="-120"/>
              </a:rPr>
              <a:t> position of the winning node </a:t>
            </a:r>
            <a:r>
              <a:rPr lang="en-US" altLang="zh-TW" sz="2000" i="1" dirty="0">
                <a:ea typeface="新細明體" pitchFamily="18" charset="-120"/>
              </a:rPr>
              <a:t>c</a:t>
            </a:r>
            <a:r>
              <a:rPr lang="en-US" altLang="zh-TW" sz="2000" dirty="0">
                <a:ea typeface="新細明體" pitchFamily="18" charset="-120"/>
              </a:rPr>
              <a:t> (in physical space, usually 2D).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||r-</a:t>
            </a:r>
            <a:r>
              <a:rPr lang="en-US" altLang="zh-TW" i="1" dirty="0" err="1">
                <a:latin typeface="Times New Roman" pitchFamily="18" charset="0"/>
                <a:ea typeface="新細明體" pitchFamily="18" charset="-120"/>
              </a:rPr>
              <a:t>r</a:t>
            </a:r>
            <a:r>
              <a:rPr lang="en-US" altLang="zh-TW" i="1" baseline="-25000" dirty="0" err="1">
                <a:latin typeface="Times New Roman" pitchFamily="18" charset="0"/>
                <a:ea typeface="新細明體" pitchFamily="18" charset="-120"/>
              </a:rPr>
              <a:t>c</a:t>
            </a: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||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sz="2000" dirty="0">
                <a:latin typeface="Arial" pitchFamily="34" charset="0"/>
                <a:ea typeface="新細明體" pitchFamily="18" charset="-120"/>
              </a:rPr>
              <a:t>–</a:t>
            </a:r>
            <a:r>
              <a:rPr lang="en-US" altLang="zh-TW" sz="2000" dirty="0">
                <a:ea typeface="新細明體" pitchFamily="18" charset="-120"/>
              </a:rPr>
              <a:t> distance from the winning node, scaled by </a:t>
            </a:r>
            <a:r>
              <a:rPr lang="en-US" altLang="zh-TW" i="1" dirty="0" err="1">
                <a:latin typeface="Symbol" pitchFamily="18" charset="2"/>
                <a:ea typeface="新細明體" pitchFamily="18" charset="-120"/>
              </a:rPr>
              <a:t>s</a:t>
            </a:r>
            <a:r>
              <a:rPr lang="en-US" altLang="zh-TW" baseline="-25000" dirty="0" err="1">
                <a:ea typeface="新細明體" pitchFamily="18" charset="-120"/>
              </a:rPr>
              <a:t>c</a:t>
            </a:r>
            <a:r>
              <a:rPr lang="en-US" altLang="zh-TW" dirty="0">
                <a:ea typeface="新細明體" pitchFamily="18" charset="-120"/>
              </a:rPr>
              <a:t>(</a:t>
            </a: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dirty="0">
                <a:ea typeface="新細明體" pitchFamily="18" charset="-120"/>
              </a:rPr>
              <a:t>)</a:t>
            </a:r>
            <a:r>
              <a:rPr lang="en-US" altLang="zh-TW" sz="2000" dirty="0">
                <a:ea typeface="新細明體" pitchFamily="18" charset="-120"/>
              </a:rPr>
              <a:t>.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h</a:t>
            </a:r>
            <a:r>
              <a:rPr lang="en-US" altLang="zh-TW" baseline="-25000" dirty="0"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i="1" dirty="0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dirty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2000" dirty="0"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sz="2000" dirty="0">
                <a:latin typeface="Arial" pitchFamily="34" charset="0"/>
                <a:ea typeface="新細明體" pitchFamily="18" charset="-120"/>
              </a:rPr>
              <a:t>–</a:t>
            </a:r>
            <a:r>
              <a:rPr lang="en-US" altLang="zh-TW" sz="2000" dirty="0">
                <a:ea typeface="新細明體" pitchFamily="18" charset="-120"/>
              </a:rPr>
              <a:t> slowly decreasing multiplicative factor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en-US" altLang="zh-TW" sz="2000" dirty="0">
              <a:ea typeface="新細明體" pitchFamily="18" charset="-120"/>
            </a:endParaRP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000" dirty="0">
                <a:ea typeface="新細明體" pitchFamily="18" charset="-120"/>
              </a:rPr>
              <a:t>The neighborhood function determines how strongly the parameters of the winning node and nodes in its neighborhood will be changed, making them more similar to data </a:t>
            </a:r>
            <a:r>
              <a:rPr lang="pl-PL" altLang="zh-TW" sz="2000" b="1" dirty="0"/>
              <a:t>X</a:t>
            </a:r>
            <a:r>
              <a:rPr lang="en-US" altLang="zh-TW" sz="2000" dirty="0">
                <a:ea typeface="新細明體" pitchFamily="18" charset="-120"/>
              </a:rPr>
              <a:t> </a:t>
            </a:r>
            <a:endParaRPr lang="pl-PL" altLang="zh-TW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F9889BE-DB69-40AB-B022-9AC2EE093837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2532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2533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CD4C430-F3EC-4063-BFD8-A1A3C1321B97}" type="slidenum">
              <a:rPr lang="zh-TW" altLang="en-US" sz="1200" smtClean="0"/>
              <a:pPr eaLnBrk="1" hangingPunct="1"/>
              <a:t>113</a:t>
            </a:fld>
            <a:endParaRPr lang="en-US" altLang="zh-TW" sz="1200" smtClean="0"/>
          </a:p>
        </p:txBody>
      </p:sp>
      <p:sp>
        <p:nvSpPr>
          <p:cNvPr id="22534" name="Rectangle 2"/>
          <p:cNvSpPr>
            <a:spLocks noChangeArrowheads="1"/>
          </p:cNvSpPr>
          <p:nvPr/>
        </p:nvSpPr>
        <p:spPr bwMode="auto">
          <a:xfrm>
            <a:off x="441325" y="2806700"/>
            <a:ext cx="7993063" cy="1295400"/>
          </a:xfrm>
          <a:prstGeom prst="rect">
            <a:avLst/>
          </a:prstGeom>
          <a:solidFill>
            <a:srgbClr val="17098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22535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93038" cy="414338"/>
          </a:xfrm>
          <a:noFill/>
        </p:spPr>
        <p:txBody>
          <a:bodyPr/>
          <a:lstStyle/>
          <a:p>
            <a:pPr eaLnBrk="1" hangingPunct="1"/>
            <a:r>
              <a:rPr lang="pl-PL" altLang="zh-TW" dirty="0" smtClean="0"/>
              <a:t>SOM</a:t>
            </a:r>
            <a:r>
              <a:rPr lang="en-US" altLang="zh-TW" dirty="0" smtClean="0">
                <a:ea typeface="新細明體" pitchFamily="18" charset="-120"/>
              </a:rPr>
              <a:t> algorithm: dynamics</a:t>
            </a:r>
            <a:endParaRPr lang="pl-PL" altLang="zh-TW" dirty="0" smtClean="0"/>
          </a:p>
        </p:txBody>
      </p:sp>
      <p:sp>
        <p:nvSpPr>
          <p:cNvPr id="22536" name="Rectangle 4"/>
          <p:cNvSpPr>
            <a:spLocks noChangeArrowheads="1"/>
          </p:cNvSpPr>
          <p:nvPr/>
        </p:nvSpPr>
        <p:spPr bwMode="auto">
          <a:xfrm>
            <a:off x="755650" y="1628775"/>
            <a:ext cx="7772400" cy="125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000">
                <a:ea typeface="新細明體" pitchFamily="18" charset="-120"/>
              </a:rPr>
              <a:t>Adaptation rule: take the winner node</a:t>
            </a:r>
            <a:r>
              <a:rPr lang="pl-PL" altLang="zh-TW" sz="2000"/>
              <a:t> </a:t>
            </a:r>
            <a:r>
              <a:rPr lang="pl-PL" altLang="zh-TW" sz="2000" i="1"/>
              <a:t>c</a:t>
            </a:r>
            <a:r>
              <a:rPr lang="en-US" altLang="zh-TW" sz="2000">
                <a:ea typeface="新細明體" pitchFamily="18" charset="-120"/>
              </a:rPr>
              <a:t>, and those in its neighborhood </a:t>
            </a:r>
            <a:r>
              <a:rPr lang="pl-PL" altLang="zh-TW" i="1">
                <a:latin typeface="Times New Roman" pitchFamily="18" charset="0"/>
              </a:rPr>
              <a:t>O</a:t>
            </a:r>
            <a:r>
              <a:rPr lang="pl-PL" altLang="zh-TW">
                <a:latin typeface="Times New Roman" pitchFamily="18" charset="0"/>
              </a:rPr>
              <a:t>(</a:t>
            </a:r>
            <a:r>
              <a:rPr lang="en-US" altLang="zh-TW" i="1">
                <a:latin typeface="Times New Roman" pitchFamily="18" charset="0"/>
                <a:ea typeface="新細明體" pitchFamily="18" charset="-120"/>
              </a:rPr>
              <a:t>r</a:t>
            </a:r>
            <a:r>
              <a:rPr lang="pl-PL" altLang="zh-TW" i="1" baseline="-25000">
                <a:latin typeface="Times New Roman" pitchFamily="18" charset="0"/>
              </a:rPr>
              <a:t>c</a:t>
            </a:r>
            <a:r>
              <a:rPr lang="pl-PL" altLang="zh-TW">
                <a:latin typeface="Times New Roman" pitchFamily="18" charset="0"/>
              </a:rPr>
              <a:t>)</a:t>
            </a:r>
            <a:r>
              <a:rPr lang="en-US" altLang="zh-TW" sz="2000">
                <a:ea typeface="新細明體" pitchFamily="18" charset="-120"/>
              </a:rPr>
              <a:t>, change their parameters making them more similar to the data </a:t>
            </a:r>
            <a:r>
              <a:rPr lang="en-US" altLang="zh-TW" sz="2000" b="1">
                <a:ea typeface="新細明體" pitchFamily="18" charset="-120"/>
              </a:rPr>
              <a:t>X</a:t>
            </a:r>
            <a:r>
              <a:rPr lang="en-US" altLang="zh-TW" sz="2000">
                <a:ea typeface="新細明體" pitchFamily="18" charset="-120"/>
              </a:rPr>
              <a:t> </a:t>
            </a:r>
            <a:endParaRPr lang="pl-PL" altLang="zh-TW" sz="2000"/>
          </a:p>
        </p:txBody>
      </p:sp>
      <p:graphicFrame>
        <p:nvGraphicFramePr>
          <p:cNvPr id="22530" name="Object 5"/>
          <p:cNvGraphicFramePr>
            <a:graphicFrameLocks noChangeAspect="1"/>
          </p:cNvGraphicFramePr>
          <p:nvPr/>
        </p:nvGraphicFramePr>
        <p:xfrm>
          <a:off x="827088" y="2781300"/>
          <a:ext cx="6438900" cy="113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" name="Equation" r:id="rId3" imgW="3009600" imgH="533160" progId="Equation.DSMT4">
                  <p:embed/>
                </p:oleObj>
              </mc:Choice>
              <mc:Fallback>
                <p:oleObj name="Equation" r:id="rId3" imgW="3009600" imgH="5331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781300"/>
                        <a:ext cx="6438900" cy="113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8F8F8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7" name="Rectangle 6"/>
          <p:cNvSpPr>
            <a:spLocks noChangeArrowheads="1"/>
          </p:cNvSpPr>
          <p:nvPr/>
        </p:nvSpPr>
        <p:spPr bwMode="auto">
          <a:xfrm>
            <a:off x="684213" y="4076700"/>
            <a:ext cx="7793037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000">
                <a:ea typeface="新細明體" pitchFamily="18" charset="-120"/>
              </a:rPr>
              <a:t>Select randomly new sample vector X, and repeat. 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2000">
                <a:ea typeface="新細明體" pitchFamily="18" charset="-120"/>
              </a:rPr>
              <a:t>Decrease </a:t>
            </a:r>
            <a:r>
              <a:rPr lang="en-US" altLang="zh-TW" i="1">
                <a:latin typeface="Times New Roman" pitchFamily="18" charset="0"/>
                <a:ea typeface="新細明體" pitchFamily="18" charset="-120"/>
              </a:rPr>
              <a:t>h</a:t>
            </a:r>
            <a:r>
              <a:rPr lang="en-US" altLang="zh-TW" baseline="-25000">
                <a:latin typeface="Times New Roman" pitchFamily="18" charset="0"/>
                <a:ea typeface="新細明體" pitchFamily="18" charset="-120"/>
              </a:rPr>
              <a:t>0</a:t>
            </a:r>
            <a:r>
              <a:rPr lang="en-US" altLang="zh-TW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i="1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2000">
                <a:latin typeface="Times New Roman" pitchFamily="18" charset="0"/>
                <a:ea typeface="新細明體" pitchFamily="18" charset="-120"/>
              </a:rPr>
              <a:t> </a:t>
            </a:r>
            <a:r>
              <a:rPr lang="en-US" altLang="zh-TW" sz="2000">
                <a:ea typeface="新細明體" pitchFamily="18" charset="-120"/>
              </a:rPr>
              <a:t>slowly until there will be no changes.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TW" sz="1900">
                <a:ea typeface="新細明體" pitchFamily="18" charset="-120"/>
              </a:rPr>
              <a:t>Result: </a:t>
            </a:r>
            <a:r>
              <a:rPr lang="hu-HU" altLang="zh-TW" sz="1900"/>
              <a:t> </a:t>
            </a:r>
            <a:endParaRPr lang="en-US" altLang="zh-TW" sz="1900">
              <a:ea typeface="新細明體" pitchFamily="18" charset="-120"/>
            </a:endParaRP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1900">
                <a:ea typeface="新細明體" pitchFamily="18" charset="-120"/>
              </a:rPr>
              <a:t>    W</a:t>
            </a:r>
            <a:r>
              <a:rPr lang="en-US" altLang="zh-TW" sz="1900" baseline="30000">
                <a:ea typeface="新細明體" pitchFamily="18" charset="-120"/>
              </a:rPr>
              <a:t>(i)</a:t>
            </a:r>
            <a:r>
              <a:rPr lang="en-US" altLang="zh-TW" sz="1900">
                <a:ea typeface="新細明體" pitchFamily="18" charset="-120"/>
              </a:rPr>
              <a:t> point to the center of local clusters in the X feature space</a:t>
            </a:r>
          </a:p>
          <a:p>
            <a:pPr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1900">
                <a:ea typeface="新細明體" pitchFamily="18" charset="-120"/>
              </a:rPr>
              <a:t>    Nodes in the neighborhood point to adjacent areas in X space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F130186-EC7A-4DA9-8CF1-D16181DCF149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601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602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38067BB-DAEF-4F07-A6C7-E15D5E397901}" type="slidenum">
              <a:rPr lang="zh-TW" altLang="en-US" sz="1200" smtClean="0"/>
              <a:pPr eaLnBrk="1" hangingPunct="1"/>
              <a:t>114</a:t>
            </a:fld>
            <a:endParaRPr lang="en-US" altLang="zh-TW" sz="1200" smtClean="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213" y="1700213"/>
            <a:ext cx="7759700" cy="1631950"/>
          </a:xfrm>
          <a:noFill/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pl-PL" altLang="zh-TW" sz="2100" b="1" smtClean="0">
                <a:latin typeface="Times New Roman" pitchFamily="18" charset="0"/>
                <a:cs typeface="Arial" pitchFamily="34" charset="0"/>
              </a:rPr>
              <a:t>X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  <a:cs typeface="Arial" pitchFamily="34" charset="0"/>
              </a:rPr>
              <a:t>T</a:t>
            </a:r>
            <a:r>
              <a:rPr lang="pl-PL" altLang="zh-TW" sz="2100" smtClean="0">
                <a:latin typeface="Times New Roman" pitchFamily="18" charset="0"/>
                <a:ea typeface="新細明體" pitchFamily="18" charset="-120"/>
                <a:cs typeface="Arial" pitchFamily="34" charset="0"/>
              </a:rPr>
              <a:t>=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  <a:cs typeface="Arial" pitchFamily="34" charset="0"/>
              </a:rPr>
              <a:t>(</a:t>
            </a:r>
            <a:r>
              <a:rPr lang="pl-PL" altLang="zh-TW" sz="2100" i="1" smtClean="0">
                <a:latin typeface="Times New Roman" pitchFamily="18" charset="0"/>
              </a:rPr>
              <a:t>X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1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, </a:t>
            </a:r>
            <a:r>
              <a:rPr lang="pl-PL" altLang="zh-TW" sz="2100" i="1" smtClean="0">
                <a:latin typeface="Times New Roman" pitchFamily="18" charset="0"/>
              </a:rPr>
              <a:t>X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2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 .. </a:t>
            </a:r>
            <a:r>
              <a:rPr lang="pl-PL" altLang="zh-TW" sz="2100" i="1" smtClean="0">
                <a:latin typeface="Times New Roman" pitchFamily="18" charset="0"/>
              </a:rPr>
              <a:t>X</a:t>
            </a:r>
            <a:r>
              <a:rPr lang="en-US" altLang="zh-TW" sz="2100" i="1" baseline="-30000" smtClean="0">
                <a:latin typeface="Times New Roman" pitchFamily="18" charset="0"/>
                <a:ea typeface="新細明體" pitchFamily="18" charset="-120"/>
              </a:rPr>
              <a:t>d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1900" smtClean="0">
                <a:ea typeface="新細明體" pitchFamily="18" charset="-120"/>
              </a:rPr>
              <a:t>, samples from feature space.</a:t>
            </a:r>
            <a:endParaRPr lang="pl-PL" altLang="zh-TW" sz="1900" b="1" smtClean="0">
              <a:latin typeface="PL Technical" pitchFamily="34" charset="0"/>
              <a:cs typeface="Arial" pitchFamily="34" charset="0"/>
            </a:endParaRP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1900" smtClean="0">
                <a:ea typeface="新細明體" pitchFamily="18" charset="-120"/>
              </a:rPr>
              <a:t>Create a grid with nodes</a:t>
            </a:r>
            <a:r>
              <a:rPr lang="pl-PL" altLang="zh-TW" sz="1900" smtClean="0">
                <a:cs typeface="Arial" pitchFamily="34" charset="0"/>
              </a:rPr>
              <a:t> </a:t>
            </a:r>
            <a:r>
              <a:rPr lang="pl-PL" altLang="zh-TW" sz="2100" i="1" smtClean="0">
                <a:latin typeface="Times New Roman" pitchFamily="18" charset="0"/>
                <a:cs typeface="Arial" pitchFamily="34" charset="0"/>
              </a:rPr>
              <a:t>i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 = 1 .. </a:t>
            </a:r>
            <a:r>
              <a:rPr lang="pl-PL" altLang="zh-TW" sz="2100" i="1" smtClean="0">
                <a:latin typeface="Times New Roman" pitchFamily="18" charset="0"/>
                <a:cs typeface="Arial" pitchFamily="34" charset="0"/>
              </a:rPr>
              <a:t>K</a:t>
            </a:r>
            <a:r>
              <a:rPr lang="pl-PL" altLang="zh-TW" sz="1900" smtClean="0">
                <a:cs typeface="Arial" pitchFamily="34" charset="0"/>
              </a:rPr>
              <a:t> </a:t>
            </a:r>
            <a:r>
              <a:rPr lang="pl-PL" altLang="zh-TW" sz="1900" smtClean="0"/>
              <a:t> </a:t>
            </a:r>
            <a:r>
              <a:rPr lang="en-US" altLang="zh-TW" sz="1900" smtClean="0">
                <a:ea typeface="新細明體" pitchFamily="18" charset="-120"/>
              </a:rPr>
              <a:t>in</a:t>
            </a:r>
            <a:r>
              <a:rPr lang="pl-PL" altLang="zh-TW" sz="1900" smtClean="0">
                <a:cs typeface="Arial" pitchFamily="34" charset="0"/>
              </a:rPr>
              <a:t> 1D</a:t>
            </a:r>
            <a:r>
              <a:rPr lang="en-US" altLang="zh-TW" sz="1900" smtClean="0">
                <a:ea typeface="新細明體" pitchFamily="18" charset="-120"/>
              </a:rPr>
              <a:t>, 2D or </a:t>
            </a:r>
            <a:r>
              <a:rPr lang="pl-PL" altLang="zh-TW" sz="1900" smtClean="0">
                <a:cs typeface="Arial" pitchFamily="34" charset="0"/>
              </a:rPr>
              <a:t>3D, </a:t>
            </a:r>
            <a:endParaRPr lang="en-US" altLang="zh-TW" sz="1900" smtClean="0">
              <a:ea typeface="新細明體" pitchFamily="18" charset="-120"/>
            </a:endParaRP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1900" smtClean="0">
                <a:ea typeface="新細明體" pitchFamily="18" charset="-120"/>
              </a:rPr>
              <a:t>each node with d-dimensional vector </a:t>
            </a:r>
            <a:r>
              <a:rPr lang="en-US" altLang="zh-TW" sz="2100" b="1" smtClean="0">
                <a:latin typeface="Times New Roman" pitchFamily="18" charset="0"/>
                <a:ea typeface="新細明體" pitchFamily="18" charset="-120"/>
              </a:rPr>
              <a:t>W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)T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 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= 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W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1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19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  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W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2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19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2100" baseline="-30000" smtClean="0">
                <a:latin typeface="Times New Roman" pitchFamily="18" charset="0"/>
                <a:cs typeface="Arial" pitchFamily="34" charset="0"/>
              </a:rPr>
              <a:t> 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.. W</a:t>
            </a:r>
            <a:r>
              <a:rPr lang="en-US" altLang="zh-TW" sz="2100" i="1" baseline="-30000" smtClean="0">
                <a:latin typeface="Times New Roman" pitchFamily="18" charset="0"/>
                <a:ea typeface="新細明體" pitchFamily="18" charset="-120"/>
              </a:rPr>
              <a:t>d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19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1900" baseline="300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1900" smtClean="0">
                <a:cs typeface="Arial" pitchFamily="34" charset="0"/>
              </a:rPr>
              <a:t>, </a:t>
            </a:r>
            <a:endParaRPr lang="en-US" altLang="zh-TW" sz="1900" smtClean="0">
              <a:ea typeface="新細明體" pitchFamily="18" charset="-120"/>
            </a:endParaRP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TW" sz="2100" b="1" smtClean="0">
                <a:latin typeface="Times New Roman" pitchFamily="18" charset="0"/>
                <a:ea typeface="新細明體" pitchFamily="18" charset="-120"/>
              </a:rPr>
              <a:t>W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) 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= </a:t>
            </a:r>
            <a:r>
              <a:rPr lang="en-US" altLang="zh-TW" sz="2100" b="1" smtClean="0">
                <a:latin typeface="Times New Roman" pitchFamily="18" charset="0"/>
                <a:ea typeface="新細明體" pitchFamily="18" charset="-120"/>
              </a:rPr>
              <a:t>W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 smtClean="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smtClean="0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sz="2100" smtClean="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en-US" altLang="zh-TW" sz="1900" smtClean="0">
                <a:ea typeface="新細明體" pitchFamily="18" charset="-120"/>
              </a:rPr>
              <a:t>,</a:t>
            </a:r>
            <a:r>
              <a:rPr lang="en-US" altLang="zh-TW" sz="1900" baseline="30000" smtClean="0">
                <a:ea typeface="新細明體" pitchFamily="18" charset="-120"/>
              </a:rPr>
              <a:t> </a:t>
            </a:r>
            <a:r>
              <a:rPr lang="en-US" altLang="zh-TW" sz="1900" smtClean="0">
                <a:ea typeface="新細明體" pitchFamily="18" charset="-120"/>
              </a:rPr>
              <a:t>changing with </a:t>
            </a:r>
            <a:r>
              <a:rPr lang="pl-PL" altLang="zh-TW" sz="2100" i="1" smtClean="0">
                <a:latin typeface="Times New Roman" pitchFamily="18" charset="0"/>
                <a:cs typeface="Arial" pitchFamily="34" charset="0"/>
              </a:rPr>
              <a:t>t</a:t>
            </a:r>
            <a:r>
              <a:rPr lang="pl-PL" altLang="zh-TW" sz="2100" smtClean="0">
                <a:latin typeface="Times New Roman" pitchFamily="18" charset="0"/>
                <a:cs typeface="Arial" pitchFamily="34" charset="0"/>
              </a:rPr>
              <a:t> </a:t>
            </a:r>
            <a:r>
              <a:rPr lang="pl-PL" altLang="zh-TW" sz="1900" smtClean="0">
                <a:cs typeface="Arial" pitchFamily="34" charset="0"/>
              </a:rPr>
              <a:t>– </a:t>
            </a:r>
            <a:r>
              <a:rPr lang="en-US" altLang="zh-TW" sz="1900" smtClean="0">
                <a:ea typeface="新細明體" pitchFamily="18" charset="-120"/>
              </a:rPr>
              <a:t>discrete time. </a:t>
            </a:r>
            <a:endParaRPr lang="pl-PL" altLang="zh-TW" sz="1900" smtClean="0">
              <a:cs typeface="Arial" pitchFamily="34" charset="0"/>
            </a:endParaRPr>
          </a:p>
        </p:txBody>
      </p:sp>
      <p:sp>
        <p:nvSpPr>
          <p:cNvPr id="86022" name="Rectangle 3"/>
          <p:cNvSpPr>
            <a:spLocks noChangeArrowheads="1"/>
          </p:cNvSpPr>
          <p:nvPr/>
        </p:nvSpPr>
        <p:spPr bwMode="auto">
          <a:xfrm>
            <a:off x="714375" y="3025775"/>
            <a:ext cx="746760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Initialize</a:t>
            </a:r>
            <a:r>
              <a:rPr lang="pl-PL" altLang="zh-TW" sz="1900"/>
              <a:t>: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en-US" altLang="zh-TW" sz="1900">
                <a:ea typeface="新細明體" pitchFamily="18" charset="-120"/>
                <a:cs typeface="Arial" pitchFamily="34" charset="0"/>
              </a:rPr>
              <a:t>random small </a:t>
            </a:r>
            <a:r>
              <a:rPr lang="pl-PL" altLang="zh-TW" sz="2100" b="1">
                <a:latin typeface="Times New Roman" pitchFamily="18" charset="0"/>
                <a:cs typeface="Arial" pitchFamily="34" charset="0"/>
              </a:rPr>
              <a:t>W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2100">
                <a:latin typeface="Times New Roman" pitchFamily="18" charset="0"/>
                <a:ea typeface="新細明體" pitchFamily="18" charset="-120"/>
              </a:rPr>
              <a:t>(0)</a:t>
            </a:r>
            <a:r>
              <a:rPr lang="pl-PL" altLang="zh-TW" sz="1900">
                <a:ea typeface="新細明體" pitchFamily="18" charset="-120"/>
              </a:rPr>
              <a:t> </a:t>
            </a:r>
            <a:r>
              <a:rPr lang="en-US" altLang="zh-TW" sz="1900">
                <a:ea typeface="新細明體" pitchFamily="18" charset="-120"/>
              </a:rPr>
              <a:t>for all </a:t>
            </a:r>
            <a:r>
              <a:rPr lang="pl-PL" altLang="zh-TW" sz="2100" i="1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pl-PL" altLang="zh-TW" sz="2100">
                <a:latin typeface="Times New Roman" pitchFamily="18" charset="0"/>
                <a:ea typeface="新細明體" pitchFamily="18" charset="-120"/>
              </a:rPr>
              <a:t>=1..</a:t>
            </a:r>
            <a:r>
              <a:rPr lang="en-US" altLang="zh-TW" sz="2100">
                <a:latin typeface="Times New Roman" pitchFamily="18" charset="0"/>
                <a:ea typeface="新細明體" pitchFamily="18" charset="-120"/>
              </a:rPr>
              <a:t>.</a:t>
            </a:r>
            <a:r>
              <a:rPr lang="pl-PL" altLang="zh-TW" sz="2100" i="1">
                <a:latin typeface="Times New Roman" pitchFamily="18" charset="0"/>
                <a:ea typeface="新細明體" pitchFamily="18" charset="-120"/>
              </a:rPr>
              <a:t>K</a:t>
            </a:r>
            <a:r>
              <a:rPr lang="pl-PL" altLang="zh-TW" sz="1900">
                <a:ea typeface="新細明體" pitchFamily="18" charset="-120"/>
              </a:rPr>
              <a:t>. </a:t>
            </a:r>
            <a:br>
              <a:rPr lang="pl-PL" altLang="zh-TW" sz="1900">
                <a:ea typeface="新細明體" pitchFamily="18" charset="-120"/>
              </a:rPr>
            </a:br>
            <a:r>
              <a:rPr lang="en-US" altLang="zh-TW" sz="1900">
                <a:ea typeface="新細明體" pitchFamily="18" charset="-120"/>
              </a:rPr>
              <a:t>Define parameters of neighborhood function</a:t>
            </a:r>
            <a:r>
              <a:rPr lang="pl-PL" altLang="zh-TW" sz="1900">
                <a:ea typeface="新細明體" pitchFamily="18" charset="-120"/>
              </a:rPr>
              <a:t> </a:t>
            </a:r>
            <a:r>
              <a:rPr lang="pl-PL" altLang="zh-TW" sz="2100" i="1">
                <a:latin typeface="Times New Roman" pitchFamily="18" charset="0"/>
                <a:ea typeface="新細明體" pitchFamily="18" charset="-120"/>
              </a:rPr>
              <a:t>h</a:t>
            </a:r>
            <a:r>
              <a:rPr lang="pl-PL" altLang="zh-TW" sz="2100">
                <a:latin typeface="Times New Roman" pitchFamily="18" charset="0"/>
                <a:ea typeface="新細明體" pitchFamily="18" charset="-120"/>
              </a:rPr>
              <a:t>(|</a:t>
            </a:r>
            <a:r>
              <a:rPr lang="pl-PL" altLang="zh-TW" sz="2100" i="1">
                <a:latin typeface="Times New Roman" pitchFamily="18" charset="0"/>
                <a:ea typeface="新細明體" pitchFamily="18" charset="-120"/>
              </a:rPr>
              <a:t>r</a:t>
            </a:r>
            <a:r>
              <a:rPr lang="en-US" altLang="zh-TW" sz="2100" i="1" baseline="-2500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pl-PL" altLang="zh-TW" sz="2100" i="1">
                <a:latin typeface="Symbol" pitchFamily="18" charset="2"/>
                <a:cs typeface="Arial" pitchFamily="34" charset="0"/>
              </a:rPr>
              <a:t>-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r</a:t>
            </a:r>
            <a:r>
              <a:rPr lang="pl-PL" altLang="zh-TW" sz="2100" i="1" baseline="-30000">
                <a:latin typeface="Times New Roman" pitchFamily="18" charset="0"/>
                <a:cs typeface="Arial" pitchFamily="34" charset="0"/>
              </a:rPr>
              <a:t>c</a:t>
            </a:r>
            <a:r>
              <a:rPr lang="pl-PL" altLang="zh-TW" sz="2100" i="1">
                <a:latin typeface="Times New Roman" pitchFamily="18" charset="0"/>
              </a:rPr>
              <a:t>|/</a:t>
            </a:r>
            <a:r>
              <a:rPr lang="pl-PL" altLang="zh-TW" sz="2100" i="1">
                <a:latin typeface="Symbol" pitchFamily="18" charset="2"/>
              </a:rPr>
              <a:t>s</a:t>
            </a:r>
            <a:r>
              <a:rPr lang="pl-PL" altLang="zh-TW" sz="2100">
                <a:latin typeface="Times New Roman" pitchFamily="18" charset="0"/>
              </a:rPr>
              <a:t>(</a:t>
            </a:r>
            <a:r>
              <a:rPr lang="pl-PL" altLang="zh-TW" sz="2100" i="1">
                <a:latin typeface="Times New Roman" pitchFamily="18" charset="0"/>
              </a:rPr>
              <a:t>t</a:t>
            </a:r>
            <a:r>
              <a:rPr lang="pl-PL" altLang="zh-TW" sz="2100">
                <a:latin typeface="Times New Roman" pitchFamily="18" charset="0"/>
              </a:rPr>
              <a:t>)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,t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)</a:t>
            </a:r>
            <a:r>
              <a:rPr lang="en-US" altLang="zh-TW" sz="1900">
                <a:ea typeface="新細明體" pitchFamily="18" charset="-120"/>
              </a:rPr>
              <a:t> </a:t>
            </a:r>
            <a:endParaRPr lang="pl-PL" altLang="zh-TW" sz="1900"/>
          </a:p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Iterate: select randomly input vector </a:t>
            </a:r>
            <a:r>
              <a:rPr lang="en-US" altLang="zh-TW" sz="2100" b="1">
                <a:latin typeface="Times New Roman" pitchFamily="18" charset="0"/>
                <a:ea typeface="新細明體" pitchFamily="18" charset="-120"/>
              </a:rPr>
              <a:t>X</a:t>
            </a:r>
          </a:p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Calculate distances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d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(</a:t>
            </a:r>
            <a:r>
              <a:rPr lang="pl-PL" altLang="zh-TW" sz="2100" b="1">
                <a:latin typeface="Times New Roman" pitchFamily="18" charset="0"/>
                <a:cs typeface="Arial" pitchFamily="34" charset="0"/>
              </a:rPr>
              <a:t>X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,</a:t>
            </a:r>
            <a:r>
              <a:rPr lang="pl-PL" altLang="zh-TW" sz="2100" b="1">
                <a:latin typeface="Times New Roman" pitchFamily="18" charset="0"/>
                <a:cs typeface="Arial" pitchFamily="34" charset="0"/>
              </a:rPr>
              <a:t>W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)</a:t>
            </a:r>
            <a:r>
              <a:rPr lang="pl-PL" altLang="zh-TW" sz="1900">
                <a:cs typeface="Arial" pitchFamily="34" charset="0"/>
              </a:rPr>
              <a:t>, </a:t>
            </a:r>
            <a:r>
              <a:rPr lang="en-US" altLang="zh-TW" sz="1900">
                <a:ea typeface="新細明體" pitchFamily="18" charset="-120"/>
              </a:rPr>
              <a:t>find the winner node </a:t>
            </a:r>
            <a:r>
              <a:rPr lang="pl-PL" altLang="zh-TW" sz="2100" b="1">
                <a:latin typeface="Times New Roman" pitchFamily="18" charset="0"/>
                <a:cs typeface="Arial" pitchFamily="34" charset="0"/>
              </a:rPr>
              <a:t>W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pl-PL" altLang="zh-TW" sz="2100" i="1" baseline="30000">
                <a:latin typeface="Times New Roman" pitchFamily="18" charset="0"/>
                <a:cs typeface="Arial" pitchFamily="34" charset="0"/>
              </a:rPr>
              <a:t>c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)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 </a:t>
            </a:r>
            <a:r>
              <a:rPr lang="en-US" altLang="zh-TW" sz="1900">
                <a:ea typeface="新細明體" pitchFamily="18" charset="-120"/>
              </a:rPr>
              <a:t>most similar (closest to)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en-US" altLang="zh-TW" sz="2100" b="1">
                <a:latin typeface="Times New Roman" pitchFamily="18" charset="0"/>
                <a:ea typeface="新細明體" pitchFamily="18" charset="-120"/>
              </a:rPr>
              <a:t>X</a:t>
            </a:r>
            <a:endParaRPr lang="pl-PL" altLang="zh-TW" sz="1900"/>
          </a:p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Update weights of all neurons in the neighborhood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O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(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r</a:t>
            </a:r>
            <a:r>
              <a:rPr lang="pl-PL" altLang="zh-TW" sz="2100" i="1" baseline="-30000">
                <a:latin typeface="Times New Roman" pitchFamily="18" charset="0"/>
                <a:cs typeface="Arial" pitchFamily="34" charset="0"/>
              </a:rPr>
              <a:t>c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)</a:t>
            </a:r>
            <a:endParaRPr lang="pl-PL" altLang="zh-TW" sz="2100" b="1">
              <a:latin typeface="Times New Roman" pitchFamily="18" charset="0"/>
              <a:cs typeface="Arial" pitchFamily="34" charset="0"/>
            </a:endParaRPr>
          </a:p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Decrease the influence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h</a:t>
            </a:r>
            <a:r>
              <a:rPr lang="pl-PL" altLang="zh-TW" sz="2100" i="1" baseline="-30000">
                <a:latin typeface="Times New Roman" pitchFamily="18" charset="0"/>
                <a:cs typeface="Arial" pitchFamily="34" charset="0"/>
              </a:rPr>
              <a:t>0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(</a:t>
            </a:r>
            <a:r>
              <a:rPr lang="pl-PL" altLang="zh-TW" sz="2100" i="1">
                <a:latin typeface="Times New Roman" pitchFamily="18" charset="0"/>
                <a:cs typeface="Arial" pitchFamily="34" charset="0"/>
              </a:rPr>
              <a:t>t</a:t>
            </a:r>
            <a:r>
              <a:rPr lang="pl-PL" altLang="zh-TW" sz="2100">
                <a:latin typeface="Times New Roman" pitchFamily="18" charset="0"/>
                <a:cs typeface="Arial" pitchFamily="34" charset="0"/>
              </a:rPr>
              <a:t>)</a:t>
            </a:r>
            <a:r>
              <a:rPr lang="pl-PL" altLang="zh-TW" sz="1900" i="1">
                <a:cs typeface="Arial" pitchFamily="34" charset="0"/>
              </a:rPr>
              <a:t> </a:t>
            </a:r>
            <a:r>
              <a:rPr lang="en-US" altLang="zh-TW" sz="1900">
                <a:ea typeface="新細明體" pitchFamily="18" charset="-120"/>
              </a:rPr>
              <a:t>and shrink neighborhood</a:t>
            </a:r>
            <a:r>
              <a:rPr lang="pl-PL" altLang="zh-TW" sz="1900">
                <a:cs typeface="Arial" pitchFamily="34" charset="0"/>
              </a:rPr>
              <a:t> </a:t>
            </a:r>
            <a:r>
              <a:rPr lang="pl-PL" altLang="zh-TW" sz="2100" i="1">
                <a:latin typeface="Symbol" pitchFamily="18" charset="2"/>
              </a:rPr>
              <a:t>s</a:t>
            </a:r>
            <a:r>
              <a:rPr lang="pl-PL" altLang="zh-TW" sz="2100">
                <a:latin typeface="Times New Roman" pitchFamily="18" charset="0"/>
              </a:rPr>
              <a:t>(</a:t>
            </a:r>
            <a:r>
              <a:rPr lang="pl-PL" altLang="zh-TW" sz="2100" i="1">
                <a:latin typeface="Times New Roman" pitchFamily="18" charset="0"/>
              </a:rPr>
              <a:t>t</a:t>
            </a:r>
            <a:r>
              <a:rPr lang="pl-PL" altLang="zh-TW" sz="2100">
                <a:latin typeface="Times New Roman" pitchFamily="18" charset="0"/>
              </a:rPr>
              <a:t>)</a:t>
            </a:r>
            <a:r>
              <a:rPr lang="pl-PL" altLang="zh-TW" sz="1900"/>
              <a:t>.</a:t>
            </a:r>
          </a:p>
          <a:p>
            <a:pPr marL="384175" indent="-384175" algn="l">
              <a:spcBef>
                <a:spcPct val="20000"/>
              </a:spcBef>
              <a:buClr>
                <a:schemeClr val="folHlink"/>
              </a:buClr>
              <a:buSzPct val="60000"/>
              <a:buFontTx/>
              <a:buAutoNum type="arabicPeriod"/>
            </a:pPr>
            <a:r>
              <a:rPr lang="en-US" altLang="zh-TW" sz="1900">
                <a:ea typeface="新細明體" pitchFamily="18" charset="-120"/>
              </a:rPr>
              <a:t>If in the last </a:t>
            </a:r>
            <a:r>
              <a:rPr lang="en-US" altLang="zh-TW" sz="1900" i="1">
                <a:latin typeface="Times New Roman" pitchFamily="18" charset="0"/>
                <a:ea typeface="新細明體" pitchFamily="18" charset="-120"/>
              </a:rPr>
              <a:t>T</a:t>
            </a:r>
            <a:r>
              <a:rPr lang="en-US" altLang="zh-TW" sz="1900">
                <a:ea typeface="新細明體" pitchFamily="18" charset="-120"/>
              </a:rPr>
              <a:t> steps all </a:t>
            </a:r>
            <a:r>
              <a:rPr lang="pl-PL" altLang="zh-TW" sz="2100" b="1">
                <a:latin typeface="Times New Roman" pitchFamily="18" charset="0"/>
                <a:cs typeface="Arial" pitchFamily="34" charset="0"/>
              </a:rPr>
              <a:t>W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(</a:t>
            </a:r>
            <a:r>
              <a:rPr lang="en-US" altLang="zh-TW" sz="2100" i="1" baseline="30000">
                <a:latin typeface="Times New Roman" pitchFamily="18" charset="0"/>
                <a:ea typeface="新細明體" pitchFamily="18" charset="-120"/>
              </a:rPr>
              <a:t>i</a:t>
            </a:r>
            <a:r>
              <a:rPr lang="en-US" altLang="zh-TW" sz="2100" baseline="30000">
                <a:latin typeface="Times New Roman" pitchFamily="18" charset="0"/>
                <a:ea typeface="新細明體" pitchFamily="18" charset="-120"/>
              </a:rPr>
              <a:t>) </a:t>
            </a:r>
            <a:r>
              <a:rPr lang="en-US" altLang="zh-TW" sz="1900">
                <a:ea typeface="新細明體" pitchFamily="18" charset="-120"/>
              </a:rPr>
              <a:t>changed less than </a:t>
            </a:r>
            <a:r>
              <a:rPr lang="en-US" altLang="zh-TW" sz="1900">
                <a:latin typeface="Symbol" pitchFamily="18" charset="2"/>
                <a:ea typeface="新細明體" pitchFamily="18" charset="-120"/>
              </a:rPr>
              <a:t>e</a:t>
            </a:r>
            <a:r>
              <a:rPr lang="en-US" altLang="zh-TW" sz="1900">
                <a:ea typeface="新細明體" pitchFamily="18" charset="-120"/>
              </a:rPr>
              <a:t> stop</a:t>
            </a:r>
            <a:r>
              <a:rPr lang="pl-PL" altLang="zh-TW" sz="1900"/>
              <a:t>.</a:t>
            </a:r>
          </a:p>
        </p:txBody>
      </p:sp>
      <p:sp>
        <p:nvSpPr>
          <p:cNvPr id="86023" name="Rectangle 4"/>
          <p:cNvSpPr>
            <a:spLocks noChangeArrowheads="1"/>
          </p:cNvSpPr>
          <p:nvPr/>
        </p:nvSpPr>
        <p:spPr bwMode="auto">
          <a:xfrm>
            <a:off x="990600" y="623094"/>
            <a:ext cx="7793038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pl-PL" altLang="zh-TW" sz="3600" dirty="0">
                <a:solidFill>
                  <a:schemeClr val="tx2"/>
                </a:solidFill>
              </a:rPr>
              <a:t>SOM</a:t>
            </a:r>
            <a:r>
              <a:rPr lang="en-US" altLang="zh-TW" sz="3600" dirty="0">
                <a:solidFill>
                  <a:schemeClr val="tx2"/>
                </a:solidFill>
                <a:ea typeface="新細明體" pitchFamily="18" charset="-120"/>
              </a:rPr>
              <a:t> algorithm</a:t>
            </a:r>
            <a:endParaRPr lang="pl-PL" altLang="zh-TW" sz="36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3563B2C-5FFB-49E4-B5ED-D2689118E296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704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704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29F44A0-4F0F-49E9-8BA5-719705E2CAD2}" type="slidenum">
              <a:rPr lang="zh-TW" altLang="en-US" sz="1200" smtClean="0"/>
              <a:pPr eaLnBrk="1" hangingPunct="1"/>
              <a:t>115</a:t>
            </a:fld>
            <a:endParaRPr lang="en-US" altLang="zh-TW" sz="1200" smtClean="0"/>
          </a:p>
        </p:txBody>
      </p:sp>
      <p:pic>
        <p:nvPicPr>
          <p:cNvPr id="8704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1649413"/>
            <a:ext cx="51625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Text Box 3"/>
          <p:cNvSpPr txBox="1">
            <a:spLocks noChangeArrowheads="1"/>
          </p:cNvSpPr>
          <p:nvPr/>
        </p:nvSpPr>
        <p:spPr bwMode="auto">
          <a:xfrm>
            <a:off x="5235575" y="1712913"/>
            <a:ext cx="1741488" cy="1187450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TW">
                <a:solidFill>
                  <a:schemeClr val="bg2"/>
                </a:solidFill>
                <a:latin typeface="Arial" pitchFamily="34" charset="0"/>
                <a:ea typeface="新細明體" pitchFamily="18" charset="-120"/>
              </a:rPr>
              <a:t>Position in the feature space</a:t>
            </a:r>
            <a:endParaRPr lang="pl-PL" altLang="zh-TW">
              <a:solidFill>
                <a:schemeClr val="bg2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7047" name="Text Box 4"/>
          <p:cNvSpPr txBox="1">
            <a:spLocks noChangeArrowheads="1"/>
          </p:cNvSpPr>
          <p:nvPr/>
        </p:nvSpPr>
        <p:spPr bwMode="auto">
          <a:xfrm>
            <a:off x="2309813" y="4505325"/>
            <a:ext cx="2416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endParaRPr lang="pl-PL" altLang="zh-TW"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7048" name="Text Box 5"/>
          <p:cNvSpPr txBox="1">
            <a:spLocks noChangeArrowheads="1"/>
          </p:cNvSpPr>
          <p:nvPr/>
        </p:nvSpPr>
        <p:spPr bwMode="auto">
          <a:xfrm>
            <a:off x="1905000" y="4591050"/>
            <a:ext cx="5148263" cy="457200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TW">
                <a:solidFill>
                  <a:schemeClr val="bg2"/>
                </a:solidFill>
                <a:latin typeface="Arial" pitchFamily="34" charset="0"/>
                <a:ea typeface="新細明體" pitchFamily="18" charset="-120"/>
              </a:rPr>
              <a:t>Processors in 1D array</a:t>
            </a:r>
            <a:endParaRPr lang="pl-PL" altLang="zh-TW">
              <a:solidFill>
                <a:schemeClr val="bg2"/>
              </a:solidFill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87049" name="Rectangle 6"/>
          <p:cNvSpPr>
            <a:spLocks noChangeArrowheads="1"/>
          </p:cNvSpPr>
          <p:nvPr/>
        </p:nvSpPr>
        <p:spPr bwMode="auto">
          <a:xfrm>
            <a:off x="1258888" y="836613"/>
            <a:ext cx="4752975" cy="41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pl-PL" altLang="zh-TW" sz="3600">
                <a:solidFill>
                  <a:schemeClr val="tx2"/>
                </a:solidFill>
              </a:rPr>
              <a:t>1D</a:t>
            </a:r>
            <a:r>
              <a:rPr lang="en-US" altLang="zh-TW" sz="3600">
                <a:solidFill>
                  <a:schemeClr val="tx2"/>
                </a:solidFill>
                <a:ea typeface="新細明體" pitchFamily="18" charset="-120"/>
              </a:rPr>
              <a:t> network</a:t>
            </a:r>
            <a:r>
              <a:rPr lang="pl-PL" altLang="zh-TW" sz="3600">
                <a:solidFill>
                  <a:schemeClr val="tx2"/>
                </a:solidFill>
              </a:rPr>
              <a:t>, 2D </a:t>
            </a:r>
            <a:r>
              <a:rPr lang="en-US" altLang="zh-TW" sz="3600">
                <a:solidFill>
                  <a:schemeClr val="tx2"/>
                </a:solidFill>
                <a:ea typeface="新細明體" pitchFamily="18" charset="-120"/>
              </a:rPr>
              <a:t>data</a:t>
            </a:r>
            <a:endParaRPr lang="pl-PL" altLang="zh-TW" sz="3600">
              <a:solidFill>
                <a:schemeClr val="tx2"/>
              </a:solidFill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61FE918-33C8-4B79-B220-F22F0B64CAF4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806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806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B8BF37D-2C4D-4CFA-B3C1-01F952E854EA}" type="slidenum">
              <a:rPr lang="zh-TW" altLang="en-US" sz="1200" smtClean="0"/>
              <a:pPr eaLnBrk="1" hangingPunct="1"/>
              <a:t>116</a:t>
            </a:fld>
            <a:endParaRPr lang="en-US" altLang="zh-TW" sz="1200" smtClean="0"/>
          </a:p>
        </p:txBody>
      </p:sp>
      <p:grpSp>
        <p:nvGrpSpPr>
          <p:cNvPr id="88069" name="Group 2"/>
          <p:cNvGrpSpPr>
            <a:grpSpLocks/>
          </p:cNvGrpSpPr>
          <p:nvPr/>
        </p:nvGrpSpPr>
        <p:grpSpPr bwMode="auto">
          <a:xfrm>
            <a:off x="782638" y="1557338"/>
            <a:ext cx="7300912" cy="4889500"/>
            <a:chOff x="2448" y="9849"/>
            <a:chExt cx="7965" cy="6105"/>
          </a:xfrm>
        </p:grpSpPr>
        <p:sp>
          <p:nvSpPr>
            <p:cNvPr id="88071" name="AutoShape 3"/>
            <p:cNvSpPr>
              <a:spLocks noChangeAspect="1" noChangeArrowheads="1"/>
            </p:cNvSpPr>
            <p:nvPr/>
          </p:nvSpPr>
          <p:spPr bwMode="auto">
            <a:xfrm>
              <a:off x="2448" y="9849"/>
              <a:ext cx="7965" cy="610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2" name="Freeform 4"/>
            <p:cNvSpPr>
              <a:spLocks/>
            </p:cNvSpPr>
            <p:nvPr/>
          </p:nvSpPr>
          <p:spPr bwMode="auto">
            <a:xfrm>
              <a:off x="5687" y="10208"/>
              <a:ext cx="2160" cy="2159"/>
            </a:xfrm>
            <a:custGeom>
              <a:avLst/>
              <a:gdLst>
                <a:gd name="T0" fmla="*/ 4 w 2160"/>
                <a:gd name="T1" fmla="*/ 969 h 2159"/>
                <a:gd name="T2" fmla="*/ 27 w 2160"/>
                <a:gd name="T3" fmla="*/ 828 h 2159"/>
                <a:gd name="T4" fmla="*/ 73 w 2160"/>
                <a:gd name="T5" fmla="*/ 694 h 2159"/>
                <a:gd name="T6" fmla="*/ 130 w 2160"/>
                <a:gd name="T7" fmla="*/ 568 h 2159"/>
                <a:gd name="T8" fmla="*/ 184 w 2160"/>
                <a:gd name="T9" fmla="*/ 477 h 2159"/>
                <a:gd name="T10" fmla="*/ 267 w 2160"/>
                <a:gd name="T11" fmla="*/ 370 h 2159"/>
                <a:gd name="T12" fmla="*/ 367 w 2160"/>
                <a:gd name="T13" fmla="*/ 271 h 2159"/>
                <a:gd name="T14" fmla="*/ 477 w 2160"/>
                <a:gd name="T15" fmla="*/ 187 h 2159"/>
                <a:gd name="T16" fmla="*/ 565 w 2160"/>
                <a:gd name="T17" fmla="*/ 133 h 2159"/>
                <a:gd name="T18" fmla="*/ 691 w 2160"/>
                <a:gd name="T19" fmla="*/ 72 h 2159"/>
                <a:gd name="T20" fmla="*/ 828 w 2160"/>
                <a:gd name="T21" fmla="*/ 30 h 2159"/>
                <a:gd name="T22" fmla="*/ 969 w 2160"/>
                <a:gd name="T23" fmla="*/ 7 h 2159"/>
                <a:gd name="T24" fmla="*/ 1080 w 2160"/>
                <a:gd name="T25" fmla="*/ 0 h 2159"/>
                <a:gd name="T26" fmla="*/ 1225 w 2160"/>
                <a:gd name="T27" fmla="*/ 11 h 2159"/>
                <a:gd name="T28" fmla="*/ 1366 w 2160"/>
                <a:gd name="T29" fmla="*/ 38 h 2159"/>
                <a:gd name="T30" fmla="*/ 1500 w 2160"/>
                <a:gd name="T31" fmla="*/ 87 h 2159"/>
                <a:gd name="T32" fmla="*/ 1591 w 2160"/>
                <a:gd name="T33" fmla="*/ 133 h 2159"/>
                <a:gd name="T34" fmla="*/ 1710 w 2160"/>
                <a:gd name="T35" fmla="*/ 206 h 2159"/>
                <a:gd name="T36" fmla="*/ 1817 w 2160"/>
                <a:gd name="T37" fmla="*/ 293 h 2159"/>
                <a:gd name="T38" fmla="*/ 1912 w 2160"/>
                <a:gd name="T39" fmla="*/ 393 h 2159"/>
                <a:gd name="T40" fmla="*/ 1973 w 2160"/>
                <a:gd name="T41" fmla="*/ 477 h 2159"/>
                <a:gd name="T42" fmla="*/ 2045 w 2160"/>
                <a:gd name="T43" fmla="*/ 599 h 2159"/>
                <a:gd name="T44" fmla="*/ 2099 w 2160"/>
                <a:gd name="T45" fmla="*/ 725 h 2159"/>
                <a:gd name="T46" fmla="*/ 2137 w 2160"/>
                <a:gd name="T47" fmla="*/ 862 h 2159"/>
                <a:gd name="T48" fmla="*/ 2152 w 2160"/>
                <a:gd name="T49" fmla="*/ 969 h 2159"/>
                <a:gd name="T50" fmla="*/ 2160 w 2160"/>
                <a:gd name="T51" fmla="*/ 1118 h 2159"/>
                <a:gd name="T52" fmla="*/ 2145 w 2160"/>
                <a:gd name="T53" fmla="*/ 1263 h 2159"/>
                <a:gd name="T54" fmla="*/ 2110 w 2160"/>
                <a:gd name="T55" fmla="*/ 1400 h 2159"/>
                <a:gd name="T56" fmla="*/ 2072 w 2160"/>
                <a:gd name="T57" fmla="*/ 1499 h 2159"/>
                <a:gd name="T58" fmla="*/ 2011 w 2160"/>
                <a:gd name="T59" fmla="*/ 1625 h 2159"/>
                <a:gd name="T60" fmla="*/ 1935 w 2160"/>
                <a:gd name="T61" fmla="*/ 1739 h 2159"/>
                <a:gd name="T62" fmla="*/ 1843 w 2160"/>
                <a:gd name="T63" fmla="*/ 1842 h 2159"/>
                <a:gd name="T64" fmla="*/ 1763 w 2160"/>
                <a:gd name="T65" fmla="*/ 1911 h 2159"/>
                <a:gd name="T66" fmla="*/ 1652 w 2160"/>
                <a:gd name="T67" fmla="*/ 1995 h 2159"/>
                <a:gd name="T68" fmla="*/ 1530 w 2160"/>
                <a:gd name="T69" fmla="*/ 2060 h 2159"/>
                <a:gd name="T70" fmla="*/ 1401 w 2160"/>
                <a:gd name="T71" fmla="*/ 2109 h 2159"/>
                <a:gd name="T72" fmla="*/ 1298 w 2160"/>
                <a:gd name="T73" fmla="*/ 2136 h 2159"/>
                <a:gd name="T74" fmla="*/ 1153 w 2160"/>
                <a:gd name="T75" fmla="*/ 2159 h 2159"/>
                <a:gd name="T76" fmla="*/ 1004 w 2160"/>
                <a:gd name="T77" fmla="*/ 2159 h 2159"/>
                <a:gd name="T78" fmla="*/ 863 w 2160"/>
                <a:gd name="T79" fmla="*/ 2136 h 2159"/>
                <a:gd name="T80" fmla="*/ 760 w 2160"/>
                <a:gd name="T81" fmla="*/ 2109 h 2159"/>
                <a:gd name="T82" fmla="*/ 626 w 2160"/>
                <a:gd name="T83" fmla="*/ 2060 h 2159"/>
                <a:gd name="T84" fmla="*/ 504 w 2160"/>
                <a:gd name="T85" fmla="*/ 1995 h 2159"/>
                <a:gd name="T86" fmla="*/ 393 w 2160"/>
                <a:gd name="T87" fmla="*/ 1911 h 2159"/>
                <a:gd name="T88" fmla="*/ 317 w 2160"/>
                <a:gd name="T89" fmla="*/ 1842 h 2159"/>
                <a:gd name="T90" fmla="*/ 225 w 2160"/>
                <a:gd name="T91" fmla="*/ 1739 h 2159"/>
                <a:gd name="T92" fmla="*/ 145 w 2160"/>
                <a:gd name="T93" fmla="*/ 1625 h 2159"/>
                <a:gd name="T94" fmla="*/ 84 w 2160"/>
                <a:gd name="T95" fmla="*/ 1499 h 2159"/>
                <a:gd name="T96" fmla="*/ 50 w 2160"/>
                <a:gd name="T97" fmla="*/ 1400 h 2159"/>
                <a:gd name="T98" fmla="*/ 16 w 2160"/>
                <a:gd name="T99" fmla="*/ 1263 h 2159"/>
                <a:gd name="T100" fmla="*/ 0 w 2160"/>
                <a:gd name="T101" fmla="*/ 1118 h 21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60"/>
                <a:gd name="T154" fmla="*/ 0 h 2159"/>
                <a:gd name="T155" fmla="*/ 2160 w 2160"/>
                <a:gd name="T156" fmla="*/ 2159 h 21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60" h="2159">
                  <a:moveTo>
                    <a:pt x="0" y="1079"/>
                  </a:moveTo>
                  <a:lnTo>
                    <a:pt x="0" y="1041"/>
                  </a:lnTo>
                  <a:lnTo>
                    <a:pt x="0" y="1007"/>
                  </a:lnTo>
                  <a:lnTo>
                    <a:pt x="4" y="969"/>
                  </a:lnTo>
                  <a:lnTo>
                    <a:pt x="8" y="934"/>
                  </a:lnTo>
                  <a:lnTo>
                    <a:pt x="16" y="900"/>
                  </a:lnTo>
                  <a:lnTo>
                    <a:pt x="23" y="862"/>
                  </a:lnTo>
                  <a:lnTo>
                    <a:pt x="27" y="828"/>
                  </a:lnTo>
                  <a:lnTo>
                    <a:pt x="39" y="793"/>
                  </a:lnTo>
                  <a:lnTo>
                    <a:pt x="50" y="759"/>
                  </a:lnTo>
                  <a:lnTo>
                    <a:pt x="58" y="725"/>
                  </a:lnTo>
                  <a:lnTo>
                    <a:pt x="73" y="694"/>
                  </a:lnTo>
                  <a:lnTo>
                    <a:pt x="84" y="660"/>
                  </a:lnTo>
                  <a:lnTo>
                    <a:pt x="100" y="629"/>
                  </a:lnTo>
                  <a:lnTo>
                    <a:pt x="115" y="599"/>
                  </a:lnTo>
                  <a:lnTo>
                    <a:pt x="130" y="568"/>
                  </a:lnTo>
                  <a:lnTo>
                    <a:pt x="145" y="538"/>
                  </a:lnTo>
                  <a:lnTo>
                    <a:pt x="164" y="507"/>
                  </a:lnTo>
                  <a:lnTo>
                    <a:pt x="184" y="477"/>
                  </a:lnTo>
                  <a:lnTo>
                    <a:pt x="203" y="450"/>
                  </a:lnTo>
                  <a:lnTo>
                    <a:pt x="225" y="419"/>
                  </a:lnTo>
                  <a:lnTo>
                    <a:pt x="248" y="393"/>
                  </a:lnTo>
                  <a:lnTo>
                    <a:pt x="267" y="370"/>
                  </a:lnTo>
                  <a:lnTo>
                    <a:pt x="294" y="343"/>
                  </a:lnTo>
                  <a:lnTo>
                    <a:pt x="317" y="316"/>
                  </a:lnTo>
                  <a:lnTo>
                    <a:pt x="340" y="293"/>
                  </a:lnTo>
                  <a:lnTo>
                    <a:pt x="367" y="271"/>
                  </a:lnTo>
                  <a:lnTo>
                    <a:pt x="393" y="248"/>
                  </a:lnTo>
                  <a:lnTo>
                    <a:pt x="420" y="225"/>
                  </a:lnTo>
                  <a:lnTo>
                    <a:pt x="447" y="206"/>
                  </a:lnTo>
                  <a:lnTo>
                    <a:pt x="477" y="187"/>
                  </a:lnTo>
                  <a:lnTo>
                    <a:pt x="504" y="168"/>
                  </a:lnTo>
                  <a:lnTo>
                    <a:pt x="535" y="148"/>
                  </a:lnTo>
                  <a:lnTo>
                    <a:pt x="565" y="133"/>
                  </a:lnTo>
                  <a:lnTo>
                    <a:pt x="596" y="114"/>
                  </a:lnTo>
                  <a:lnTo>
                    <a:pt x="626" y="99"/>
                  </a:lnTo>
                  <a:lnTo>
                    <a:pt x="660" y="87"/>
                  </a:lnTo>
                  <a:lnTo>
                    <a:pt x="691" y="72"/>
                  </a:lnTo>
                  <a:lnTo>
                    <a:pt x="725" y="61"/>
                  </a:lnTo>
                  <a:lnTo>
                    <a:pt x="760" y="49"/>
                  </a:lnTo>
                  <a:lnTo>
                    <a:pt x="794" y="38"/>
                  </a:lnTo>
                  <a:lnTo>
                    <a:pt x="828" y="30"/>
                  </a:lnTo>
                  <a:lnTo>
                    <a:pt x="863" y="23"/>
                  </a:lnTo>
                  <a:lnTo>
                    <a:pt x="897" y="15"/>
                  </a:lnTo>
                  <a:lnTo>
                    <a:pt x="931" y="11"/>
                  </a:lnTo>
                  <a:lnTo>
                    <a:pt x="969" y="7"/>
                  </a:lnTo>
                  <a:lnTo>
                    <a:pt x="1004" y="3"/>
                  </a:lnTo>
                  <a:lnTo>
                    <a:pt x="1042" y="0"/>
                  </a:lnTo>
                  <a:lnTo>
                    <a:pt x="1080" y="0"/>
                  </a:lnTo>
                  <a:lnTo>
                    <a:pt x="1114" y="0"/>
                  </a:lnTo>
                  <a:lnTo>
                    <a:pt x="1153" y="3"/>
                  </a:lnTo>
                  <a:lnTo>
                    <a:pt x="1191" y="7"/>
                  </a:lnTo>
                  <a:lnTo>
                    <a:pt x="1225" y="11"/>
                  </a:lnTo>
                  <a:lnTo>
                    <a:pt x="1259" y="15"/>
                  </a:lnTo>
                  <a:lnTo>
                    <a:pt x="1298" y="23"/>
                  </a:lnTo>
                  <a:lnTo>
                    <a:pt x="1332" y="30"/>
                  </a:lnTo>
                  <a:lnTo>
                    <a:pt x="1366" y="38"/>
                  </a:lnTo>
                  <a:lnTo>
                    <a:pt x="1401" y="49"/>
                  </a:lnTo>
                  <a:lnTo>
                    <a:pt x="1431" y="61"/>
                  </a:lnTo>
                  <a:lnTo>
                    <a:pt x="1466" y="72"/>
                  </a:lnTo>
                  <a:lnTo>
                    <a:pt x="1500" y="87"/>
                  </a:lnTo>
                  <a:lnTo>
                    <a:pt x="1530" y="99"/>
                  </a:lnTo>
                  <a:lnTo>
                    <a:pt x="1561" y="114"/>
                  </a:lnTo>
                  <a:lnTo>
                    <a:pt x="1591" y="133"/>
                  </a:lnTo>
                  <a:lnTo>
                    <a:pt x="1622" y="148"/>
                  </a:lnTo>
                  <a:lnTo>
                    <a:pt x="1652" y="168"/>
                  </a:lnTo>
                  <a:lnTo>
                    <a:pt x="1683" y="187"/>
                  </a:lnTo>
                  <a:lnTo>
                    <a:pt x="1710" y="206"/>
                  </a:lnTo>
                  <a:lnTo>
                    <a:pt x="1736" y="225"/>
                  </a:lnTo>
                  <a:lnTo>
                    <a:pt x="1763" y="248"/>
                  </a:lnTo>
                  <a:lnTo>
                    <a:pt x="1790" y="271"/>
                  </a:lnTo>
                  <a:lnTo>
                    <a:pt x="1817" y="293"/>
                  </a:lnTo>
                  <a:lnTo>
                    <a:pt x="1843" y="316"/>
                  </a:lnTo>
                  <a:lnTo>
                    <a:pt x="1866" y="343"/>
                  </a:lnTo>
                  <a:lnTo>
                    <a:pt x="1889" y="370"/>
                  </a:lnTo>
                  <a:lnTo>
                    <a:pt x="1912" y="393"/>
                  </a:lnTo>
                  <a:lnTo>
                    <a:pt x="1935" y="419"/>
                  </a:lnTo>
                  <a:lnTo>
                    <a:pt x="1954" y="450"/>
                  </a:lnTo>
                  <a:lnTo>
                    <a:pt x="1973" y="477"/>
                  </a:lnTo>
                  <a:lnTo>
                    <a:pt x="1992" y="507"/>
                  </a:lnTo>
                  <a:lnTo>
                    <a:pt x="2011" y="538"/>
                  </a:lnTo>
                  <a:lnTo>
                    <a:pt x="2026" y="568"/>
                  </a:lnTo>
                  <a:lnTo>
                    <a:pt x="2045" y="599"/>
                  </a:lnTo>
                  <a:lnTo>
                    <a:pt x="2061" y="629"/>
                  </a:lnTo>
                  <a:lnTo>
                    <a:pt x="2072" y="660"/>
                  </a:lnTo>
                  <a:lnTo>
                    <a:pt x="2087" y="694"/>
                  </a:lnTo>
                  <a:lnTo>
                    <a:pt x="2099" y="725"/>
                  </a:lnTo>
                  <a:lnTo>
                    <a:pt x="2110" y="759"/>
                  </a:lnTo>
                  <a:lnTo>
                    <a:pt x="2122" y="793"/>
                  </a:lnTo>
                  <a:lnTo>
                    <a:pt x="2129" y="828"/>
                  </a:lnTo>
                  <a:lnTo>
                    <a:pt x="2137" y="862"/>
                  </a:lnTo>
                  <a:lnTo>
                    <a:pt x="2145" y="900"/>
                  </a:lnTo>
                  <a:lnTo>
                    <a:pt x="2148" y="934"/>
                  </a:lnTo>
                  <a:lnTo>
                    <a:pt x="2152" y="969"/>
                  </a:lnTo>
                  <a:lnTo>
                    <a:pt x="2156" y="1007"/>
                  </a:lnTo>
                  <a:lnTo>
                    <a:pt x="2160" y="1041"/>
                  </a:lnTo>
                  <a:lnTo>
                    <a:pt x="2160" y="1079"/>
                  </a:lnTo>
                  <a:lnTo>
                    <a:pt x="2160" y="1118"/>
                  </a:lnTo>
                  <a:lnTo>
                    <a:pt x="2156" y="1152"/>
                  </a:lnTo>
                  <a:lnTo>
                    <a:pt x="2152" y="1190"/>
                  </a:lnTo>
                  <a:lnTo>
                    <a:pt x="2148" y="1224"/>
                  </a:lnTo>
                  <a:lnTo>
                    <a:pt x="2145" y="1263"/>
                  </a:lnTo>
                  <a:lnTo>
                    <a:pt x="2137" y="1297"/>
                  </a:lnTo>
                  <a:lnTo>
                    <a:pt x="2129" y="1331"/>
                  </a:lnTo>
                  <a:lnTo>
                    <a:pt x="2122" y="1366"/>
                  </a:lnTo>
                  <a:lnTo>
                    <a:pt x="2110" y="1400"/>
                  </a:lnTo>
                  <a:lnTo>
                    <a:pt x="2099" y="1434"/>
                  </a:lnTo>
                  <a:lnTo>
                    <a:pt x="2087" y="1469"/>
                  </a:lnTo>
                  <a:lnTo>
                    <a:pt x="2072" y="1499"/>
                  </a:lnTo>
                  <a:lnTo>
                    <a:pt x="2061" y="1530"/>
                  </a:lnTo>
                  <a:lnTo>
                    <a:pt x="2045" y="1564"/>
                  </a:lnTo>
                  <a:lnTo>
                    <a:pt x="2026" y="1594"/>
                  </a:lnTo>
                  <a:lnTo>
                    <a:pt x="2011" y="1625"/>
                  </a:lnTo>
                  <a:lnTo>
                    <a:pt x="1992" y="1652"/>
                  </a:lnTo>
                  <a:lnTo>
                    <a:pt x="1973" y="1682"/>
                  </a:lnTo>
                  <a:lnTo>
                    <a:pt x="1954" y="1713"/>
                  </a:lnTo>
                  <a:lnTo>
                    <a:pt x="1935" y="1739"/>
                  </a:lnTo>
                  <a:lnTo>
                    <a:pt x="1912" y="1766"/>
                  </a:lnTo>
                  <a:lnTo>
                    <a:pt x="1889" y="1793"/>
                  </a:lnTo>
                  <a:lnTo>
                    <a:pt x="1866" y="1820"/>
                  </a:lnTo>
                  <a:lnTo>
                    <a:pt x="1843" y="1842"/>
                  </a:lnTo>
                  <a:lnTo>
                    <a:pt x="1817" y="1865"/>
                  </a:lnTo>
                  <a:lnTo>
                    <a:pt x="1790" y="1888"/>
                  </a:lnTo>
                  <a:lnTo>
                    <a:pt x="1763" y="1911"/>
                  </a:lnTo>
                  <a:lnTo>
                    <a:pt x="1736" y="1934"/>
                  </a:lnTo>
                  <a:lnTo>
                    <a:pt x="1710" y="1953"/>
                  </a:lnTo>
                  <a:lnTo>
                    <a:pt x="1683" y="1976"/>
                  </a:lnTo>
                  <a:lnTo>
                    <a:pt x="1652" y="1995"/>
                  </a:lnTo>
                  <a:lnTo>
                    <a:pt x="1622" y="2010"/>
                  </a:lnTo>
                  <a:lnTo>
                    <a:pt x="1591" y="2029"/>
                  </a:lnTo>
                  <a:lnTo>
                    <a:pt x="1561" y="2045"/>
                  </a:lnTo>
                  <a:lnTo>
                    <a:pt x="1530" y="2060"/>
                  </a:lnTo>
                  <a:lnTo>
                    <a:pt x="1500" y="2075"/>
                  </a:lnTo>
                  <a:lnTo>
                    <a:pt x="1466" y="2087"/>
                  </a:lnTo>
                  <a:lnTo>
                    <a:pt x="1431" y="2098"/>
                  </a:lnTo>
                  <a:lnTo>
                    <a:pt x="1401" y="2109"/>
                  </a:lnTo>
                  <a:lnTo>
                    <a:pt x="1366" y="2121"/>
                  </a:lnTo>
                  <a:lnTo>
                    <a:pt x="1332" y="2129"/>
                  </a:lnTo>
                  <a:lnTo>
                    <a:pt x="1298" y="2136"/>
                  </a:lnTo>
                  <a:lnTo>
                    <a:pt x="1259" y="2144"/>
                  </a:lnTo>
                  <a:lnTo>
                    <a:pt x="1225" y="2151"/>
                  </a:lnTo>
                  <a:lnTo>
                    <a:pt x="1191" y="2155"/>
                  </a:lnTo>
                  <a:lnTo>
                    <a:pt x="1153" y="2159"/>
                  </a:lnTo>
                  <a:lnTo>
                    <a:pt x="1114" y="2159"/>
                  </a:lnTo>
                  <a:lnTo>
                    <a:pt x="1080" y="2159"/>
                  </a:lnTo>
                  <a:lnTo>
                    <a:pt x="1042" y="2159"/>
                  </a:lnTo>
                  <a:lnTo>
                    <a:pt x="1004" y="2159"/>
                  </a:lnTo>
                  <a:lnTo>
                    <a:pt x="969" y="2155"/>
                  </a:lnTo>
                  <a:lnTo>
                    <a:pt x="931" y="2151"/>
                  </a:lnTo>
                  <a:lnTo>
                    <a:pt x="897" y="2144"/>
                  </a:lnTo>
                  <a:lnTo>
                    <a:pt x="863" y="2136"/>
                  </a:lnTo>
                  <a:lnTo>
                    <a:pt x="828" y="2129"/>
                  </a:lnTo>
                  <a:lnTo>
                    <a:pt x="794" y="2121"/>
                  </a:lnTo>
                  <a:lnTo>
                    <a:pt x="760" y="2109"/>
                  </a:lnTo>
                  <a:lnTo>
                    <a:pt x="725" y="2098"/>
                  </a:lnTo>
                  <a:lnTo>
                    <a:pt x="691" y="2087"/>
                  </a:lnTo>
                  <a:lnTo>
                    <a:pt x="660" y="2075"/>
                  </a:lnTo>
                  <a:lnTo>
                    <a:pt x="626" y="2060"/>
                  </a:lnTo>
                  <a:lnTo>
                    <a:pt x="596" y="2045"/>
                  </a:lnTo>
                  <a:lnTo>
                    <a:pt x="565" y="2029"/>
                  </a:lnTo>
                  <a:lnTo>
                    <a:pt x="535" y="2010"/>
                  </a:lnTo>
                  <a:lnTo>
                    <a:pt x="504" y="1995"/>
                  </a:lnTo>
                  <a:lnTo>
                    <a:pt x="477" y="1976"/>
                  </a:lnTo>
                  <a:lnTo>
                    <a:pt x="447" y="1953"/>
                  </a:lnTo>
                  <a:lnTo>
                    <a:pt x="420" y="1934"/>
                  </a:lnTo>
                  <a:lnTo>
                    <a:pt x="393" y="1911"/>
                  </a:lnTo>
                  <a:lnTo>
                    <a:pt x="367" y="1888"/>
                  </a:lnTo>
                  <a:lnTo>
                    <a:pt x="340" y="1865"/>
                  </a:lnTo>
                  <a:lnTo>
                    <a:pt x="317" y="1842"/>
                  </a:lnTo>
                  <a:lnTo>
                    <a:pt x="294" y="1820"/>
                  </a:lnTo>
                  <a:lnTo>
                    <a:pt x="267" y="1793"/>
                  </a:lnTo>
                  <a:lnTo>
                    <a:pt x="248" y="1766"/>
                  </a:lnTo>
                  <a:lnTo>
                    <a:pt x="225" y="1739"/>
                  </a:lnTo>
                  <a:lnTo>
                    <a:pt x="203" y="1713"/>
                  </a:lnTo>
                  <a:lnTo>
                    <a:pt x="184" y="1682"/>
                  </a:lnTo>
                  <a:lnTo>
                    <a:pt x="164" y="1652"/>
                  </a:lnTo>
                  <a:lnTo>
                    <a:pt x="145" y="1625"/>
                  </a:lnTo>
                  <a:lnTo>
                    <a:pt x="130" y="1594"/>
                  </a:lnTo>
                  <a:lnTo>
                    <a:pt x="115" y="1564"/>
                  </a:lnTo>
                  <a:lnTo>
                    <a:pt x="100" y="1530"/>
                  </a:lnTo>
                  <a:lnTo>
                    <a:pt x="84" y="1499"/>
                  </a:lnTo>
                  <a:lnTo>
                    <a:pt x="73" y="1469"/>
                  </a:lnTo>
                  <a:lnTo>
                    <a:pt x="58" y="1434"/>
                  </a:lnTo>
                  <a:lnTo>
                    <a:pt x="50" y="1400"/>
                  </a:lnTo>
                  <a:lnTo>
                    <a:pt x="39" y="1366"/>
                  </a:lnTo>
                  <a:lnTo>
                    <a:pt x="27" y="1331"/>
                  </a:lnTo>
                  <a:lnTo>
                    <a:pt x="23" y="1297"/>
                  </a:lnTo>
                  <a:lnTo>
                    <a:pt x="16" y="1263"/>
                  </a:lnTo>
                  <a:lnTo>
                    <a:pt x="8" y="1224"/>
                  </a:lnTo>
                  <a:lnTo>
                    <a:pt x="4" y="1190"/>
                  </a:lnTo>
                  <a:lnTo>
                    <a:pt x="0" y="1152"/>
                  </a:lnTo>
                  <a:lnTo>
                    <a:pt x="0" y="1118"/>
                  </a:lnTo>
                  <a:lnTo>
                    <a:pt x="0" y="1079"/>
                  </a:lnTo>
                  <a:close/>
                </a:path>
              </a:pathLst>
            </a:cu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3" name="Freeform 5"/>
            <p:cNvSpPr>
              <a:spLocks/>
            </p:cNvSpPr>
            <p:nvPr/>
          </p:nvSpPr>
          <p:spPr bwMode="auto">
            <a:xfrm>
              <a:off x="6405" y="10208"/>
              <a:ext cx="721" cy="2159"/>
            </a:xfrm>
            <a:custGeom>
              <a:avLst/>
              <a:gdLst>
                <a:gd name="T0" fmla="*/ 3 w 721"/>
                <a:gd name="T1" fmla="*/ 969 h 2159"/>
                <a:gd name="T2" fmla="*/ 11 w 721"/>
                <a:gd name="T3" fmla="*/ 828 h 2159"/>
                <a:gd name="T4" fmla="*/ 26 w 721"/>
                <a:gd name="T5" fmla="*/ 694 h 2159"/>
                <a:gd name="T6" fmla="*/ 45 w 721"/>
                <a:gd name="T7" fmla="*/ 568 h 2159"/>
                <a:gd name="T8" fmla="*/ 65 w 721"/>
                <a:gd name="T9" fmla="*/ 477 h 2159"/>
                <a:gd name="T10" fmla="*/ 91 w 721"/>
                <a:gd name="T11" fmla="*/ 370 h 2159"/>
                <a:gd name="T12" fmla="*/ 126 w 721"/>
                <a:gd name="T13" fmla="*/ 271 h 2159"/>
                <a:gd name="T14" fmla="*/ 160 w 721"/>
                <a:gd name="T15" fmla="*/ 187 h 2159"/>
                <a:gd name="T16" fmla="*/ 190 w 721"/>
                <a:gd name="T17" fmla="*/ 133 h 2159"/>
                <a:gd name="T18" fmla="*/ 232 w 721"/>
                <a:gd name="T19" fmla="*/ 72 h 2159"/>
                <a:gd name="T20" fmla="*/ 278 w 721"/>
                <a:gd name="T21" fmla="*/ 30 h 2159"/>
                <a:gd name="T22" fmla="*/ 324 w 721"/>
                <a:gd name="T23" fmla="*/ 7 h 2159"/>
                <a:gd name="T24" fmla="*/ 362 w 721"/>
                <a:gd name="T25" fmla="*/ 0 h 2159"/>
                <a:gd name="T26" fmla="*/ 412 w 721"/>
                <a:gd name="T27" fmla="*/ 11 h 2159"/>
                <a:gd name="T28" fmla="*/ 458 w 721"/>
                <a:gd name="T29" fmla="*/ 38 h 2159"/>
                <a:gd name="T30" fmla="*/ 500 w 721"/>
                <a:gd name="T31" fmla="*/ 87 h 2159"/>
                <a:gd name="T32" fmla="*/ 534 w 721"/>
                <a:gd name="T33" fmla="*/ 133 h 2159"/>
                <a:gd name="T34" fmla="*/ 572 w 721"/>
                <a:gd name="T35" fmla="*/ 206 h 2159"/>
                <a:gd name="T36" fmla="*/ 606 w 721"/>
                <a:gd name="T37" fmla="*/ 293 h 2159"/>
                <a:gd name="T38" fmla="*/ 637 w 721"/>
                <a:gd name="T39" fmla="*/ 393 h 2159"/>
                <a:gd name="T40" fmla="*/ 660 w 721"/>
                <a:gd name="T41" fmla="*/ 477 h 2159"/>
                <a:gd name="T42" fmla="*/ 683 w 721"/>
                <a:gd name="T43" fmla="*/ 599 h 2159"/>
                <a:gd name="T44" fmla="*/ 702 w 721"/>
                <a:gd name="T45" fmla="*/ 725 h 2159"/>
                <a:gd name="T46" fmla="*/ 713 w 721"/>
                <a:gd name="T47" fmla="*/ 862 h 2159"/>
                <a:gd name="T48" fmla="*/ 721 w 721"/>
                <a:gd name="T49" fmla="*/ 969 h 2159"/>
                <a:gd name="T50" fmla="*/ 721 w 721"/>
                <a:gd name="T51" fmla="*/ 1118 h 2159"/>
                <a:gd name="T52" fmla="*/ 717 w 721"/>
                <a:gd name="T53" fmla="*/ 1263 h 2159"/>
                <a:gd name="T54" fmla="*/ 706 w 721"/>
                <a:gd name="T55" fmla="*/ 1400 h 2159"/>
                <a:gd name="T56" fmla="*/ 694 w 721"/>
                <a:gd name="T57" fmla="*/ 1499 h 2159"/>
                <a:gd name="T58" fmla="*/ 671 w 721"/>
                <a:gd name="T59" fmla="*/ 1625 h 2159"/>
                <a:gd name="T60" fmla="*/ 644 w 721"/>
                <a:gd name="T61" fmla="*/ 1739 h 2159"/>
                <a:gd name="T62" fmla="*/ 614 w 721"/>
                <a:gd name="T63" fmla="*/ 1842 h 2159"/>
                <a:gd name="T64" fmla="*/ 591 w 721"/>
                <a:gd name="T65" fmla="*/ 1911 h 2159"/>
                <a:gd name="T66" fmla="*/ 553 w 721"/>
                <a:gd name="T67" fmla="*/ 1995 h 2159"/>
                <a:gd name="T68" fmla="*/ 511 w 721"/>
                <a:gd name="T69" fmla="*/ 2060 h 2159"/>
                <a:gd name="T70" fmla="*/ 469 w 721"/>
                <a:gd name="T71" fmla="*/ 2109 h 2159"/>
                <a:gd name="T72" fmla="*/ 435 w 721"/>
                <a:gd name="T73" fmla="*/ 2136 h 2159"/>
                <a:gd name="T74" fmla="*/ 385 w 721"/>
                <a:gd name="T75" fmla="*/ 2159 h 2159"/>
                <a:gd name="T76" fmla="*/ 335 w 721"/>
                <a:gd name="T77" fmla="*/ 2159 h 2159"/>
                <a:gd name="T78" fmla="*/ 290 w 721"/>
                <a:gd name="T79" fmla="*/ 2136 h 2159"/>
                <a:gd name="T80" fmla="*/ 255 w 721"/>
                <a:gd name="T81" fmla="*/ 2109 h 2159"/>
                <a:gd name="T82" fmla="*/ 210 w 721"/>
                <a:gd name="T83" fmla="*/ 2060 h 2159"/>
                <a:gd name="T84" fmla="*/ 171 w 721"/>
                <a:gd name="T85" fmla="*/ 1995 h 2159"/>
                <a:gd name="T86" fmla="*/ 133 w 721"/>
                <a:gd name="T87" fmla="*/ 1911 h 2159"/>
                <a:gd name="T88" fmla="*/ 107 w 721"/>
                <a:gd name="T89" fmla="*/ 1842 h 2159"/>
                <a:gd name="T90" fmla="*/ 76 w 721"/>
                <a:gd name="T91" fmla="*/ 1739 h 2159"/>
                <a:gd name="T92" fmla="*/ 49 w 721"/>
                <a:gd name="T93" fmla="*/ 1625 h 2159"/>
                <a:gd name="T94" fmla="*/ 30 w 721"/>
                <a:gd name="T95" fmla="*/ 1499 h 2159"/>
                <a:gd name="T96" fmla="*/ 19 w 721"/>
                <a:gd name="T97" fmla="*/ 1400 h 2159"/>
                <a:gd name="T98" fmla="*/ 7 w 721"/>
                <a:gd name="T99" fmla="*/ 1263 h 2159"/>
                <a:gd name="T100" fmla="*/ 0 w 721"/>
                <a:gd name="T101" fmla="*/ 1118 h 21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21"/>
                <a:gd name="T154" fmla="*/ 0 h 2159"/>
                <a:gd name="T155" fmla="*/ 721 w 721"/>
                <a:gd name="T156" fmla="*/ 2159 h 21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21" h="2159">
                  <a:moveTo>
                    <a:pt x="0" y="1079"/>
                  </a:moveTo>
                  <a:lnTo>
                    <a:pt x="0" y="1041"/>
                  </a:lnTo>
                  <a:lnTo>
                    <a:pt x="3" y="1007"/>
                  </a:lnTo>
                  <a:lnTo>
                    <a:pt x="3" y="969"/>
                  </a:lnTo>
                  <a:lnTo>
                    <a:pt x="3" y="934"/>
                  </a:lnTo>
                  <a:lnTo>
                    <a:pt x="7" y="900"/>
                  </a:lnTo>
                  <a:lnTo>
                    <a:pt x="7" y="862"/>
                  </a:lnTo>
                  <a:lnTo>
                    <a:pt x="11" y="828"/>
                  </a:lnTo>
                  <a:lnTo>
                    <a:pt x="15" y="793"/>
                  </a:lnTo>
                  <a:lnTo>
                    <a:pt x="19" y="759"/>
                  </a:lnTo>
                  <a:lnTo>
                    <a:pt x="23" y="725"/>
                  </a:lnTo>
                  <a:lnTo>
                    <a:pt x="26" y="694"/>
                  </a:lnTo>
                  <a:lnTo>
                    <a:pt x="30" y="660"/>
                  </a:lnTo>
                  <a:lnTo>
                    <a:pt x="34" y="629"/>
                  </a:lnTo>
                  <a:lnTo>
                    <a:pt x="38" y="599"/>
                  </a:lnTo>
                  <a:lnTo>
                    <a:pt x="45" y="568"/>
                  </a:lnTo>
                  <a:lnTo>
                    <a:pt x="49" y="538"/>
                  </a:lnTo>
                  <a:lnTo>
                    <a:pt x="57" y="507"/>
                  </a:lnTo>
                  <a:lnTo>
                    <a:pt x="65" y="477"/>
                  </a:lnTo>
                  <a:lnTo>
                    <a:pt x="68" y="450"/>
                  </a:lnTo>
                  <a:lnTo>
                    <a:pt x="76" y="419"/>
                  </a:lnTo>
                  <a:lnTo>
                    <a:pt x="84" y="393"/>
                  </a:lnTo>
                  <a:lnTo>
                    <a:pt x="91" y="370"/>
                  </a:lnTo>
                  <a:lnTo>
                    <a:pt x="99" y="343"/>
                  </a:lnTo>
                  <a:lnTo>
                    <a:pt x="107" y="316"/>
                  </a:lnTo>
                  <a:lnTo>
                    <a:pt x="114" y="293"/>
                  </a:lnTo>
                  <a:lnTo>
                    <a:pt x="126" y="271"/>
                  </a:lnTo>
                  <a:lnTo>
                    <a:pt x="133" y="248"/>
                  </a:lnTo>
                  <a:lnTo>
                    <a:pt x="141" y="225"/>
                  </a:lnTo>
                  <a:lnTo>
                    <a:pt x="152" y="206"/>
                  </a:lnTo>
                  <a:lnTo>
                    <a:pt x="160" y="187"/>
                  </a:lnTo>
                  <a:lnTo>
                    <a:pt x="171" y="168"/>
                  </a:lnTo>
                  <a:lnTo>
                    <a:pt x="179" y="148"/>
                  </a:lnTo>
                  <a:lnTo>
                    <a:pt x="190" y="133"/>
                  </a:lnTo>
                  <a:lnTo>
                    <a:pt x="202" y="114"/>
                  </a:lnTo>
                  <a:lnTo>
                    <a:pt x="210" y="99"/>
                  </a:lnTo>
                  <a:lnTo>
                    <a:pt x="221" y="87"/>
                  </a:lnTo>
                  <a:lnTo>
                    <a:pt x="232" y="72"/>
                  </a:lnTo>
                  <a:lnTo>
                    <a:pt x="244" y="61"/>
                  </a:lnTo>
                  <a:lnTo>
                    <a:pt x="255" y="49"/>
                  </a:lnTo>
                  <a:lnTo>
                    <a:pt x="267" y="38"/>
                  </a:lnTo>
                  <a:lnTo>
                    <a:pt x="278" y="30"/>
                  </a:lnTo>
                  <a:lnTo>
                    <a:pt x="290" y="23"/>
                  </a:lnTo>
                  <a:lnTo>
                    <a:pt x="301" y="15"/>
                  </a:lnTo>
                  <a:lnTo>
                    <a:pt x="313" y="11"/>
                  </a:lnTo>
                  <a:lnTo>
                    <a:pt x="324" y="7"/>
                  </a:lnTo>
                  <a:lnTo>
                    <a:pt x="335" y="3"/>
                  </a:lnTo>
                  <a:lnTo>
                    <a:pt x="351" y="0"/>
                  </a:lnTo>
                  <a:lnTo>
                    <a:pt x="362" y="0"/>
                  </a:lnTo>
                  <a:lnTo>
                    <a:pt x="374" y="0"/>
                  </a:lnTo>
                  <a:lnTo>
                    <a:pt x="385" y="3"/>
                  </a:lnTo>
                  <a:lnTo>
                    <a:pt x="396" y="7"/>
                  </a:lnTo>
                  <a:lnTo>
                    <a:pt x="412" y="11"/>
                  </a:lnTo>
                  <a:lnTo>
                    <a:pt x="423" y="15"/>
                  </a:lnTo>
                  <a:lnTo>
                    <a:pt x="435" y="23"/>
                  </a:lnTo>
                  <a:lnTo>
                    <a:pt x="446" y="30"/>
                  </a:lnTo>
                  <a:lnTo>
                    <a:pt x="458" y="38"/>
                  </a:lnTo>
                  <a:lnTo>
                    <a:pt x="469" y="49"/>
                  </a:lnTo>
                  <a:lnTo>
                    <a:pt x="480" y="61"/>
                  </a:lnTo>
                  <a:lnTo>
                    <a:pt x="492" y="72"/>
                  </a:lnTo>
                  <a:lnTo>
                    <a:pt x="500" y="87"/>
                  </a:lnTo>
                  <a:lnTo>
                    <a:pt x="511" y="99"/>
                  </a:lnTo>
                  <a:lnTo>
                    <a:pt x="522" y="114"/>
                  </a:lnTo>
                  <a:lnTo>
                    <a:pt x="534" y="133"/>
                  </a:lnTo>
                  <a:lnTo>
                    <a:pt x="541" y="148"/>
                  </a:lnTo>
                  <a:lnTo>
                    <a:pt x="553" y="168"/>
                  </a:lnTo>
                  <a:lnTo>
                    <a:pt x="561" y="187"/>
                  </a:lnTo>
                  <a:lnTo>
                    <a:pt x="572" y="206"/>
                  </a:lnTo>
                  <a:lnTo>
                    <a:pt x="580" y="225"/>
                  </a:lnTo>
                  <a:lnTo>
                    <a:pt x="591" y="248"/>
                  </a:lnTo>
                  <a:lnTo>
                    <a:pt x="599" y="271"/>
                  </a:lnTo>
                  <a:lnTo>
                    <a:pt x="606" y="293"/>
                  </a:lnTo>
                  <a:lnTo>
                    <a:pt x="614" y="316"/>
                  </a:lnTo>
                  <a:lnTo>
                    <a:pt x="622" y="343"/>
                  </a:lnTo>
                  <a:lnTo>
                    <a:pt x="633" y="370"/>
                  </a:lnTo>
                  <a:lnTo>
                    <a:pt x="637" y="393"/>
                  </a:lnTo>
                  <a:lnTo>
                    <a:pt x="644" y="419"/>
                  </a:lnTo>
                  <a:lnTo>
                    <a:pt x="652" y="450"/>
                  </a:lnTo>
                  <a:lnTo>
                    <a:pt x="660" y="477"/>
                  </a:lnTo>
                  <a:lnTo>
                    <a:pt x="667" y="507"/>
                  </a:lnTo>
                  <a:lnTo>
                    <a:pt x="671" y="538"/>
                  </a:lnTo>
                  <a:lnTo>
                    <a:pt x="679" y="568"/>
                  </a:lnTo>
                  <a:lnTo>
                    <a:pt x="683" y="599"/>
                  </a:lnTo>
                  <a:lnTo>
                    <a:pt x="686" y="629"/>
                  </a:lnTo>
                  <a:lnTo>
                    <a:pt x="694" y="660"/>
                  </a:lnTo>
                  <a:lnTo>
                    <a:pt x="698" y="694"/>
                  </a:lnTo>
                  <a:lnTo>
                    <a:pt x="702" y="725"/>
                  </a:lnTo>
                  <a:lnTo>
                    <a:pt x="706" y="759"/>
                  </a:lnTo>
                  <a:lnTo>
                    <a:pt x="709" y="793"/>
                  </a:lnTo>
                  <a:lnTo>
                    <a:pt x="713" y="828"/>
                  </a:lnTo>
                  <a:lnTo>
                    <a:pt x="713" y="862"/>
                  </a:lnTo>
                  <a:lnTo>
                    <a:pt x="717" y="900"/>
                  </a:lnTo>
                  <a:lnTo>
                    <a:pt x="717" y="934"/>
                  </a:lnTo>
                  <a:lnTo>
                    <a:pt x="721" y="969"/>
                  </a:lnTo>
                  <a:lnTo>
                    <a:pt x="721" y="1007"/>
                  </a:lnTo>
                  <a:lnTo>
                    <a:pt x="721" y="1041"/>
                  </a:lnTo>
                  <a:lnTo>
                    <a:pt x="721" y="1079"/>
                  </a:lnTo>
                  <a:lnTo>
                    <a:pt x="721" y="1118"/>
                  </a:lnTo>
                  <a:lnTo>
                    <a:pt x="721" y="1152"/>
                  </a:lnTo>
                  <a:lnTo>
                    <a:pt x="721" y="1190"/>
                  </a:lnTo>
                  <a:lnTo>
                    <a:pt x="717" y="1224"/>
                  </a:lnTo>
                  <a:lnTo>
                    <a:pt x="717" y="1263"/>
                  </a:lnTo>
                  <a:lnTo>
                    <a:pt x="713" y="1297"/>
                  </a:lnTo>
                  <a:lnTo>
                    <a:pt x="713" y="1331"/>
                  </a:lnTo>
                  <a:lnTo>
                    <a:pt x="709" y="1366"/>
                  </a:lnTo>
                  <a:lnTo>
                    <a:pt x="706" y="1400"/>
                  </a:lnTo>
                  <a:lnTo>
                    <a:pt x="702" y="1434"/>
                  </a:lnTo>
                  <a:lnTo>
                    <a:pt x="698" y="1469"/>
                  </a:lnTo>
                  <a:lnTo>
                    <a:pt x="694" y="1499"/>
                  </a:lnTo>
                  <a:lnTo>
                    <a:pt x="686" y="1530"/>
                  </a:lnTo>
                  <a:lnTo>
                    <a:pt x="683" y="1564"/>
                  </a:lnTo>
                  <a:lnTo>
                    <a:pt x="679" y="1594"/>
                  </a:lnTo>
                  <a:lnTo>
                    <a:pt x="671" y="1625"/>
                  </a:lnTo>
                  <a:lnTo>
                    <a:pt x="667" y="1652"/>
                  </a:lnTo>
                  <a:lnTo>
                    <a:pt x="660" y="1682"/>
                  </a:lnTo>
                  <a:lnTo>
                    <a:pt x="652" y="1713"/>
                  </a:lnTo>
                  <a:lnTo>
                    <a:pt x="644" y="1739"/>
                  </a:lnTo>
                  <a:lnTo>
                    <a:pt x="637" y="1766"/>
                  </a:lnTo>
                  <a:lnTo>
                    <a:pt x="633" y="1793"/>
                  </a:lnTo>
                  <a:lnTo>
                    <a:pt x="622" y="1820"/>
                  </a:lnTo>
                  <a:lnTo>
                    <a:pt x="614" y="1842"/>
                  </a:lnTo>
                  <a:lnTo>
                    <a:pt x="606" y="1865"/>
                  </a:lnTo>
                  <a:lnTo>
                    <a:pt x="599" y="1888"/>
                  </a:lnTo>
                  <a:lnTo>
                    <a:pt x="591" y="1911"/>
                  </a:lnTo>
                  <a:lnTo>
                    <a:pt x="580" y="1934"/>
                  </a:lnTo>
                  <a:lnTo>
                    <a:pt x="572" y="1953"/>
                  </a:lnTo>
                  <a:lnTo>
                    <a:pt x="561" y="1976"/>
                  </a:lnTo>
                  <a:lnTo>
                    <a:pt x="553" y="1995"/>
                  </a:lnTo>
                  <a:lnTo>
                    <a:pt x="541" y="2010"/>
                  </a:lnTo>
                  <a:lnTo>
                    <a:pt x="534" y="2029"/>
                  </a:lnTo>
                  <a:lnTo>
                    <a:pt x="522" y="2045"/>
                  </a:lnTo>
                  <a:lnTo>
                    <a:pt x="511" y="2060"/>
                  </a:lnTo>
                  <a:lnTo>
                    <a:pt x="500" y="2075"/>
                  </a:lnTo>
                  <a:lnTo>
                    <a:pt x="492" y="2087"/>
                  </a:lnTo>
                  <a:lnTo>
                    <a:pt x="480" y="2098"/>
                  </a:lnTo>
                  <a:lnTo>
                    <a:pt x="469" y="2109"/>
                  </a:lnTo>
                  <a:lnTo>
                    <a:pt x="458" y="2121"/>
                  </a:lnTo>
                  <a:lnTo>
                    <a:pt x="446" y="2129"/>
                  </a:lnTo>
                  <a:lnTo>
                    <a:pt x="435" y="2136"/>
                  </a:lnTo>
                  <a:lnTo>
                    <a:pt x="423" y="2144"/>
                  </a:lnTo>
                  <a:lnTo>
                    <a:pt x="412" y="2151"/>
                  </a:lnTo>
                  <a:lnTo>
                    <a:pt x="396" y="2155"/>
                  </a:lnTo>
                  <a:lnTo>
                    <a:pt x="385" y="2159"/>
                  </a:lnTo>
                  <a:lnTo>
                    <a:pt x="374" y="2159"/>
                  </a:lnTo>
                  <a:lnTo>
                    <a:pt x="362" y="2159"/>
                  </a:lnTo>
                  <a:lnTo>
                    <a:pt x="351" y="2159"/>
                  </a:lnTo>
                  <a:lnTo>
                    <a:pt x="335" y="2159"/>
                  </a:lnTo>
                  <a:lnTo>
                    <a:pt x="324" y="2155"/>
                  </a:lnTo>
                  <a:lnTo>
                    <a:pt x="313" y="2151"/>
                  </a:lnTo>
                  <a:lnTo>
                    <a:pt x="301" y="2144"/>
                  </a:lnTo>
                  <a:lnTo>
                    <a:pt x="290" y="2136"/>
                  </a:lnTo>
                  <a:lnTo>
                    <a:pt x="278" y="2129"/>
                  </a:lnTo>
                  <a:lnTo>
                    <a:pt x="267" y="2121"/>
                  </a:lnTo>
                  <a:lnTo>
                    <a:pt x="255" y="2109"/>
                  </a:lnTo>
                  <a:lnTo>
                    <a:pt x="244" y="2098"/>
                  </a:lnTo>
                  <a:lnTo>
                    <a:pt x="232" y="2087"/>
                  </a:lnTo>
                  <a:lnTo>
                    <a:pt x="221" y="2075"/>
                  </a:lnTo>
                  <a:lnTo>
                    <a:pt x="210" y="2060"/>
                  </a:lnTo>
                  <a:lnTo>
                    <a:pt x="202" y="2045"/>
                  </a:lnTo>
                  <a:lnTo>
                    <a:pt x="190" y="2029"/>
                  </a:lnTo>
                  <a:lnTo>
                    <a:pt x="179" y="2010"/>
                  </a:lnTo>
                  <a:lnTo>
                    <a:pt x="171" y="1995"/>
                  </a:lnTo>
                  <a:lnTo>
                    <a:pt x="160" y="1976"/>
                  </a:lnTo>
                  <a:lnTo>
                    <a:pt x="152" y="1953"/>
                  </a:lnTo>
                  <a:lnTo>
                    <a:pt x="141" y="1934"/>
                  </a:lnTo>
                  <a:lnTo>
                    <a:pt x="133" y="1911"/>
                  </a:lnTo>
                  <a:lnTo>
                    <a:pt x="126" y="1888"/>
                  </a:lnTo>
                  <a:lnTo>
                    <a:pt x="114" y="1865"/>
                  </a:lnTo>
                  <a:lnTo>
                    <a:pt x="107" y="1842"/>
                  </a:lnTo>
                  <a:lnTo>
                    <a:pt x="99" y="1820"/>
                  </a:lnTo>
                  <a:lnTo>
                    <a:pt x="91" y="1793"/>
                  </a:lnTo>
                  <a:lnTo>
                    <a:pt x="84" y="1766"/>
                  </a:lnTo>
                  <a:lnTo>
                    <a:pt x="76" y="1739"/>
                  </a:lnTo>
                  <a:lnTo>
                    <a:pt x="68" y="1713"/>
                  </a:lnTo>
                  <a:lnTo>
                    <a:pt x="65" y="1682"/>
                  </a:lnTo>
                  <a:lnTo>
                    <a:pt x="57" y="1652"/>
                  </a:lnTo>
                  <a:lnTo>
                    <a:pt x="49" y="1625"/>
                  </a:lnTo>
                  <a:lnTo>
                    <a:pt x="45" y="1594"/>
                  </a:lnTo>
                  <a:lnTo>
                    <a:pt x="38" y="1564"/>
                  </a:lnTo>
                  <a:lnTo>
                    <a:pt x="34" y="1530"/>
                  </a:lnTo>
                  <a:lnTo>
                    <a:pt x="30" y="1499"/>
                  </a:lnTo>
                  <a:lnTo>
                    <a:pt x="26" y="1469"/>
                  </a:lnTo>
                  <a:lnTo>
                    <a:pt x="23" y="1434"/>
                  </a:lnTo>
                  <a:lnTo>
                    <a:pt x="19" y="1400"/>
                  </a:lnTo>
                  <a:lnTo>
                    <a:pt x="15" y="1366"/>
                  </a:lnTo>
                  <a:lnTo>
                    <a:pt x="11" y="1331"/>
                  </a:lnTo>
                  <a:lnTo>
                    <a:pt x="7" y="1297"/>
                  </a:lnTo>
                  <a:lnTo>
                    <a:pt x="7" y="1263"/>
                  </a:lnTo>
                  <a:lnTo>
                    <a:pt x="3" y="1224"/>
                  </a:lnTo>
                  <a:lnTo>
                    <a:pt x="3" y="1190"/>
                  </a:lnTo>
                  <a:lnTo>
                    <a:pt x="3" y="1152"/>
                  </a:lnTo>
                  <a:lnTo>
                    <a:pt x="0" y="1118"/>
                  </a:lnTo>
                  <a:lnTo>
                    <a:pt x="0" y="1079"/>
                  </a:lnTo>
                  <a:close/>
                </a:path>
              </a:pathLst>
            </a:cu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4" name="Freeform 6"/>
            <p:cNvSpPr>
              <a:spLocks/>
            </p:cNvSpPr>
            <p:nvPr/>
          </p:nvSpPr>
          <p:spPr bwMode="auto">
            <a:xfrm>
              <a:off x="5687" y="10929"/>
              <a:ext cx="2160" cy="717"/>
            </a:xfrm>
            <a:custGeom>
              <a:avLst/>
              <a:gdLst>
                <a:gd name="T0" fmla="*/ 4 w 2160"/>
                <a:gd name="T1" fmla="*/ 324 h 717"/>
                <a:gd name="T2" fmla="*/ 27 w 2160"/>
                <a:gd name="T3" fmla="*/ 274 h 717"/>
                <a:gd name="T4" fmla="*/ 73 w 2160"/>
                <a:gd name="T5" fmla="*/ 229 h 717"/>
                <a:gd name="T6" fmla="*/ 130 w 2160"/>
                <a:gd name="T7" fmla="*/ 187 h 717"/>
                <a:gd name="T8" fmla="*/ 184 w 2160"/>
                <a:gd name="T9" fmla="*/ 160 h 717"/>
                <a:gd name="T10" fmla="*/ 267 w 2160"/>
                <a:gd name="T11" fmla="*/ 122 h 717"/>
                <a:gd name="T12" fmla="*/ 367 w 2160"/>
                <a:gd name="T13" fmla="*/ 87 h 717"/>
                <a:gd name="T14" fmla="*/ 477 w 2160"/>
                <a:gd name="T15" fmla="*/ 61 h 717"/>
                <a:gd name="T16" fmla="*/ 565 w 2160"/>
                <a:gd name="T17" fmla="*/ 42 h 717"/>
                <a:gd name="T18" fmla="*/ 691 w 2160"/>
                <a:gd name="T19" fmla="*/ 23 h 717"/>
                <a:gd name="T20" fmla="*/ 828 w 2160"/>
                <a:gd name="T21" fmla="*/ 7 h 717"/>
                <a:gd name="T22" fmla="*/ 969 w 2160"/>
                <a:gd name="T23" fmla="*/ 0 h 717"/>
                <a:gd name="T24" fmla="*/ 1080 w 2160"/>
                <a:gd name="T25" fmla="*/ 0 h 717"/>
                <a:gd name="T26" fmla="*/ 1225 w 2160"/>
                <a:gd name="T27" fmla="*/ 4 h 717"/>
                <a:gd name="T28" fmla="*/ 1366 w 2160"/>
                <a:gd name="T29" fmla="*/ 11 h 717"/>
                <a:gd name="T30" fmla="*/ 1500 w 2160"/>
                <a:gd name="T31" fmla="*/ 26 h 717"/>
                <a:gd name="T32" fmla="*/ 1591 w 2160"/>
                <a:gd name="T33" fmla="*/ 42 h 717"/>
                <a:gd name="T34" fmla="*/ 1710 w 2160"/>
                <a:gd name="T35" fmla="*/ 68 h 717"/>
                <a:gd name="T36" fmla="*/ 1817 w 2160"/>
                <a:gd name="T37" fmla="*/ 95 h 717"/>
                <a:gd name="T38" fmla="*/ 1912 w 2160"/>
                <a:gd name="T39" fmla="*/ 129 h 717"/>
                <a:gd name="T40" fmla="*/ 1973 w 2160"/>
                <a:gd name="T41" fmla="*/ 160 h 717"/>
                <a:gd name="T42" fmla="*/ 2045 w 2160"/>
                <a:gd name="T43" fmla="*/ 198 h 717"/>
                <a:gd name="T44" fmla="*/ 2099 w 2160"/>
                <a:gd name="T45" fmla="*/ 240 h 717"/>
                <a:gd name="T46" fmla="*/ 2137 w 2160"/>
                <a:gd name="T47" fmla="*/ 286 h 717"/>
                <a:gd name="T48" fmla="*/ 2152 w 2160"/>
                <a:gd name="T49" fmla="*/ 324 h 717"/>
                <a:gd name="T50" fmla="*/ 2160 w 2160"/>
                <a:gd name="T51" fmla="*/ 370 h 717"/>
                <a:gd name="T52" fmla="*/ 2145 w 2160"/>
                <a:gd name="T53" fmla="*/ 419 h 717"/>
                <a:gd name="T54" fmla="*/ 2110 w 2160"/>
                <a:gd name="T55" fmla="*/ 465 h 717"/>
                <a:gd name="T56" fmla="*/ 2072 w 2160"/>
                <a:gd name="T57" fmla="*/ 500 h 717"/>
                <a:gd name="T58" fmla="*/ 2011 w 2160"/>
                <a:gd name="T59" fmla="*/ 542 h 717"/>
                <a:gd name="T60" fmla="*/ 1935 w 2160"/>
                <a:gd name="T61" fmla="*/ 580 h 717"/>
                <a:gd name="T62" fmla="*/ 1843 w 2160"/>
                <a:gd name="T63" fmla="*/ 614 h 717"/>
                <a:gd name="T64" fmla="*/ 1763 w 2160"/>
                <a:gd name="T65" fmla="*/ 637 h 717"/>
                <a:gd name="T66" fmla="*/ 1652 w 2160"/>
                <a:gd name="T67" fmla="*/ 664 h 717"/>
                <a:gd name="T68" fmla="*/ 1530 w 2160"/>
                <a:gd name="T69" fmla="*/ 686 h 717"/>
                <a:gd name="T70" fmla="*/ 1401 w 2160"/>
                <a:gd name="T71" fmla="*/ 702 h 717"/>
                <a:gd name="T72" fmla="*/ 1298 w 2160"/>
                <a:gd name="T73" fmla="*/ 713 h 717"/>
                <a:gd name="T74" fmla="*/ 1153 w 2160"/>
                <a:gd name="T75" fmla="*/ 717 h 717"/>
                <a:gd name="T76" fmla="*/ 1004 w 2160"/>
                <a:gd name="T77" fmla="*/ 717 h 717"/>
                <a:gd name="T78" fmla="*/ 863 w 2160"/>
                <a:gd name="T79" fmla="*/ 713 h 717"/>
                <a:gd name="T80" fmla="*/ 760 w 2160"/>
                <a:gd name="T81" fmla="*/ 702 h 717"/>
                <a:gd name="T82" fmla="*/ 626 w 2160"/>
                <a:gd name="T83" fmla="*/ 686 h 717"/>
                <a:gd name="T84" fmla="*/ 504 w 2160"/>
                <a:gd name="T85" fmla="*/ 664 h 717"/>
                <a:gd name="T86" fmla="*/ 393 w 2160"/>
                <a:gd name="T87" fmla="*/ 637 h 717"/>
                <a:gd name="T88" fmla="*/ 317 w 2160"/>
                <a:gd name="T89" fmla="*/ 614 h 717"/>
                <a:gd name="T90" fmla="*/ 225 w 2160"/>
                <a:gd name="T91" fmla="*/ 580 h 717"/>
                <a:gd name="T92" fmla="*/ 145 w 2160"/>
                <a:gd name="T93" fmla="*/ 542 h 717"/>
                <a:gd name="T94" fmla="*/ 84 w 2160"/>
                <a:gd name="T95" fmla="*/ 500 h 717"/>
                <a:gd name="T96" fmla="*/ 50 w 2160"/>
                <a:gd name="T97" fmla="*/ 465 h 717"/>
                <a:gd name="T98" fmla="*/ 16 w 2160"/>
                <a:gd name="T99" fmla="*/ 419 h 717"/>
                <a:gd name="T100" fmla="*/ 0 w 2160"/>
                <a:gd name="T101" fmla="*/ 370 h 71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2160"/>
                <a:gd name="T154" fmla="*/ 0 h 717"/>
                <a:gd name="T155" fmla="*/ 2160 w 2160"/>
                <a:gd name="T156" fmla="*/ 717 h 71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2160" h="717">
                  <a:moveTo>
                    <a:pt x="0" y="358"/>
                  </a:moveTo>
                  <a:lnTo>
                    <a:pt x="0" y="347"/>
                  </a:lnTo>
                  <a:lnTo>
                    <a:pt x="0" y="335"/>
                  </a:lnTo>
                  <a:lnTo>
                    <a:pt x="4" y="324"/>
                  </a:lnTo>
                  <a:lnTo>
                    <a:pt x="8" y="309"/>
                  </a:lnTo>
                  <a:lnTo>
                    <a:pt x="16" y="297"/>
                  </a:lnTo>
                  <a:lnTo>
                    <a:pt x="23" y="286"/>
                  </a:lnTo>
                  <a:lnTo>
                    <a:pt x="27" y="274"/>
                  </a:lnTo>
                  <a:lnTo>
                    <a:pt x="39" y="263"/>
                  </a:lnTo>
                  <a:lnTo>
                    <a:pt x="50" y="252"/>
                  </a:lnTo>
                  <a:lnTo>
                    <a:pt x="58" y="240"/>
                  </a:lnTo>
                  <a:lnTo>
                    <a:pt x="73" y="229"/>
                  </a:lnTo>
                  <a:lnTo>
                    <a:pt x="84" y="221"/>
                  </a:lnTo>
                  <a:lnTo>
                    <a:pt x="100" y="210"/>
                  </a:lnTo>
                  <a:lnTo>
                    <a:pt x="115" y="198"/>
                  </a:lnTo>
                  <a:lnTo>
                    <a:pt x="130" y="187"/>
                  </a:lnTo>
                  <a:lnTo>
                    <a:pt x="145" y="179"/>
                  </a:lnTo>
                  <a:lnTo>
                    <a:pt x="164" y="168"/>
                  </a:lnTo>
                  <a:lnTo>
                    <a:pt x="184" y="160"/>
                  </a:lnTo>
                  <a:lnTo>
                    <a:pt x="203" y="149"/>
                  </a:lnTo>
                  <a:lnTo>
                    <a:pt x="225" y="141"/>
                  </a:lnTo>
                  <a:lnTo>
                    <a:pt x="248" y="129"/>
                  </a:lnTo>
                  <a:lnTo>
                    <a:pt x="267" y="122"/>
                  </a:lnTo>
                  <a:lnTo>
                    <a:pt x="294" y="114"/>
                  </a:lnTo>
                  <a:lnTo>
                    <a:pt x="317" y="107"/>
                  </a:lnTo>
                  <a:lnTo>
                    <a:pt x="340" y="95"/>
                  </a:lnTo>
                  <a:lnTo>
                    <a:pt x="367" y="87"/>
                  </a:lnTo>
                  <a:lnTo>
                    <a:pt x="393" y="80"/>
                  </a:lnTo>
                  <a:lnTo>
                    <a:pt x="420" y="76"/>
                  </a:lnTo>
                  <a:lnTo>
                    <a:pt x="447" y="68"/>
                  </a:lnTo>
                  <a:lnTo>
                    <a:pt x="477" y="61"/>
                  </a:lnTo>
                  <a:lnTo>
                    <a:pt x="504" y="53"/>
                  </a:lnTo>
                  <a:lnTo>
                    <a:pt x="535" y="49"/>
                  </a:lnTo>
                  <a:lnTo>
                    <a:pt x="565" y="42"/>
                  </a:lnTo>
                  <a:lnTo>
                    <a:pt x="596" y="38"/>
                  </a:lnTo>
                  <a:lnTo>
                    <a:pt x="626" y="34"/>
                  </a:lnTo>
                  <a:lnTo>
                    <a:pt x="660" y="26"/>
                  </a:lnTo>
                  <a:lnTo>
                    <a:pt x="691" y="23"/>
                  </a:lnTo>
                  <a:lnTo>
                    <a:pt x="725" y="19"/>
                  </a:lnTo>
                  <a:lnTo>
                    <a:pt x="760" y="15"/>
                  </a:lnTo>
                  <a:lnTo>
                    <a:pt x="794" y="11"/>
                  </a:lnTo>
                  <a:lnTo>
                    <a:pt x="828" y="7"/>
                  </a:lnTo>
                  <a:lnTo>
                    <a:pt x="863" y="7"/>
                  </a:lnTo>
                  <a:lnTo>
                    <a:pt x="897" y="4"/>
                  </a:lnTo>
                  <a:lnTo>
                    <a:pt x="931" y="4"/>
                  </a:lnTo>
                  <a:lnTo>
                    <a:pt x="969" y="0"/>
                  </a:lnTo>
                  <a:lnTo>
                    <a:pt x="1004" y="0"/>
                  </a:lnTo>
                  <a:lnTo>
                    <a:pt x="1042" y="0"/>
                  </a:lnTo>
                  <a:lnTo>
                    <a:pt x="1080" y="0"/>
                  </a:lnTo>
                  <a:lnTo>
                    <a:pt x="1114" y="0"/>
                  </a:lnTo>
                  <a:lnTo>
                    <a:pt x="1153" y="0"/>
                  </a:lnTo>
                  <a:lnTo>
                    <a:pt x="1191" y="0"/>
                  </a:lnTo>
                  <a:lnTo>
                    <a:pt x="1225" y="4"/>
                  </a:lnTo>
                  <a:lnTo>
                    <a:pt x="1259" y="4"/>
                  </a:lnTo>
                  <a:lnTo>
                    <a:pt x="1298" y="7"/>
                  </a:lnTo>
                  <a:lnTo>
                    <a:pt x="1332" y="7"/>
                  </a:lnTo>
                  <a:lnTo>
                    <a:pt x="1366" y="11"/>
                  </a:lnTo>
                  <a:lnTo>
                    <a:pt x="1401" y="15"/>
                  </a:lnTo>
                  <a:lnTo>
                    <a:pt x="1431" y="19"/>
                  </a:lnTo>
                  <a:lnTo>
                    <a:pt x="1466" y="23"/>
                  </a:lnTo>
                  <a:lnTo>
                    <a:pt x="1500" y="26"/>
                  </a:lnTo>
                  <a:lnTo>
                    <a:pt x="1530" y="34"/>
                  </a:lnTo>
                  <a:lnTo>
                    <a:pt x="1561" y="38"/>
                  </a:lnTo>
                  <a:lnTo>
                    <a:pt x="1591" y="42"/>
                  </a:lnTo>
                  <a:lnTo>
                    <a:pt x="1622" y="49"/>
                  </a:lnTo>
                  <a:lnTo>
                    <a:pt x="1652" y="53"/>
                  </a:lnTo>
                  <a:lnTo>
                    <a:pt x="1683" y="61"/>
                  </a:lnTo>
                  <a:lnTo>
                    <a:pt x="1710" y="68"/>
                  </a:lnTo>
                  <a:lnTo>
                    <a:pt x="1736" y="76"/>
                  </a:lnTo>
                  <a:lnTo>
                    <a:pt x="1763" y="80"/>
                  </a:lnTo>
                  <a:lnTo>
                    <a:pt x="1790" y="87"/>
                  </a:lnTo>
                  <a:lnTo>
                    <a:pt x="1817" y="95"/>
                  </a:lnTo>
                  <a:lnTo>
                    <a:pt x="1843" y="107"/>
                  </a:lnTo>
                  <a:lnTo>
                    <a:pt x="1866" y="114"/>
                  </a:lnTo>
                  <a:lnTo>
                    <a:pt x="1889" y="122"/>
                  </a:lnTo>
                  <a:lnTo>
                    <a:pt x="1912" y="129"/>
                  </a:lnTo>
                  <a:lnTo>
                    <a:pt x="1935" y="141"/>
                  </a:lnTo>
                  <a:lnTo>
                    <a:pt x="1954" y="149"/>
                  </a:lnTo>
                  <a:lnTo>
                    <a:pt x="1973" y="160"/>
                  </a:lnTo>
                  <a:lnTo>
                    <a:pt x="1992" y="168"/>
                  </a:lnTo>
                  <a:lnTo>
                    <a:pt x="2011" y="179"/>
                  </a:lnTo>
                  <a:lnTo>
                    <a:pt x="2026" y="187"/>
                  </a:lnTo>
                  <a:lnTo>
                    <a:pt x="2045" y="198"/>
                  </a:lnTo>
                  <a:lnTo>
                    <a:pt x="2061" y="210"/>
                  </a:lnTo>
                  <a:lnTo>
                    <a:pt x="2072" y="221"/>
                  </a:lnTo>
                  <a:lnTo>
                    <a:pt x="2087" y="229"/>
                  </a:lnTo>
                  <a:lnTo>
                    <a:pt x="2099" y="240"/>
                  </a:lnTo>
                  <a:lnTo>
                    <a:pt x="2110" y="252"/>
                  </a:lnTo>
                  <a:lnTo>
                    <a:pt x="2122" y="263"/>
                  </a:lnTo>
                  <a:lnTo>
                    <a:pt x="2129" y="274"/>
                  </a:lnTo>
                  <a:lnTo>
                    <a:pt x="2137" y="286"/>
                  </a:lnTo>
                  <a:lnTo>
                    <a:pt x="2145" y="297"/>
                  </a:lnTo>
                  <a:lnTo>
                    <a:pt x="2148" y="309"/>
                  </a:lnTo>
                  <a:lnTo>
                    <a:pt x="2152" y="324"/>
                  </a:lnTo>
                  <a:lnTo>
                    <a:pt x="2156" y="335"/>
                  </a:lnTo>
                  <a:lnTo>
                    <a:pt x="2160" y="347"/>
                  </a:lnTo>
                  <a:lnTo>
                    <a:pt x="2160" y="358"/>
                  </a:lnTo>
                  <a:lnTo>
                    <a:pt x="2160" y="370"/>
                  </a:lnTo>
                  <a:lnTo>
                    <a:pt x="2156" y="385"/>
                  </a:lnTo>
                  <a:lnTo>
                    <a:pt x="2152" y="397"/>
                  </a:lnTo>
                  <a:lnTo>
                    <a:pt x="2148" y="408"/>
                  </a:lnTo>
                  <a:lnTo>
                    <a:pt x="2145" y="419"/>
                  </a:lnTo>
                  <a:lnTo>
                    <a:pt x="2137" y="431"/>
                  </a:lnTo>
                  <a:lnTo>
                    <a:pt x="2129" y="442"/>
                  </a:lnTo>
                  <a:lnTo>
                    <a:pt x="2122" y="454"/>
                  </a:lnTo>
                  <a:lnTo>
                    <a:pt x="2110" y="465"/>
                  </a:lnTo>
                  <a:lnTo>
                    <a:pt x="2099" y="477"/>
                  </a:lnTo>
                  <a:lnTo>
                    <a:pt x="2087" y="488"/>
                  </a:lnTo>
                  <a:lnTo>
                    <a:pt x="2072" y="500"/>
                  </a:lnTo>
                  <a:lnTo>
                    <a:pt x="2061" y="511"/>
                  </a:lnTo>
                  <a:lnTo>
                    <a:pt x="2045" y="519"/>
                  </a:lnTo>
                  <a:lnTo>
                    <a:pt x="2026" y="530"/>
                  </a:lnTo>
                  <a:lnTo>
                    <a:pt x="2011" y="542"/>
                  </a:lnTo>
                  <a:lnTo>
                    <a:pt x="1992" y="549"/>
                  </a:lnTo>
                  <a:lnTo>
                    <a:pt x="1973" y="561"/>
                  </a:lnTo>
                  <a:lnTo>
                    <a:pt x="1954" y="568"/>
                  </a:lnTo>
                  <a:lnTo>
                    <a:pt x="1935" y="580"/>
                  </a:lnTo>
                  <a:lnTo>
                    <a:pt x="1912" y="587"/>
                  </a:lnTo>
                  <a:lnTo>
                    <a:pt x="1889" y="595"/>
                  </a:lnTo>
                  <a:lnTo>
                    <a:pt x="1866" y="606"/>
                  </a:lnTo>
                  <a:lnTo>
                    <a:pt x="1843" y="614"/>
                  </a:lnTo>
                  <a:lnTo>
                    <a:pt x="1817" y="622"/>
                  </a:lnTo>
                  <a:lnTo>
                    <a:pt x="1790" y="629"/>
                  </a:lnTo>
                  <a:lnTo>
                    <a:pt x="1763" y="637"/>
                  </a:lnTo>
                  <a:lnTo>
                    <a:pt x="1736" y="645"/>
                  </a:lnTo>
                  <a:lnTo>
                    <a:pt x="1710" y="652"/>
                  </a:lnTo>
                  <a:lnTo>
                    <a:pt x="1683" y="656"/>
                  </a:lnTo>
                  <a:lnTo>
                    <a:pt x="1652" y="664"/>
                  </a:lnTo>
                  <a:lnTo>
                    <a:pt x="1622" y="671"/>
                  </a:lnTo>
                  <a:lnTo>
                    <a:pt x="1591" y="675"/>
                  </a:lnTo>
                  <a:lnTo>
                    <a:pt x="1561" y="679"/>
                  </a:lnTo>
                  <a:lnTo>
                    <a:pt x="1530" y="686"/>
                  </a:lnTo>
                  <a:lnTo>
                    <a:pt x="1500" y="690"/>
                  </a:lnTo>
                  <a:lnTo>
                    <a:pt x="1466" y="694"/>
                  </a:lnTo>
                  <a:lnTo>
                    <a:pt x="1431" y="698"/>
                  </a:lnTo>
                  <a:lnTo>
                    <a:pt x="1401" y="702"/>
                  </a:lnTo>
                  <a:lnTo>
                    <a:pt x="1366" y="706"/>
                  </a:lnTo>
                  <a:lnTo>
                    <a:pt x="1332" y="709"/>
                  </a:lnTo>
                  <a:lnTo>
                    <a:pt x="1298" y="713"/>
                  </a:lnTo>
                  <a:lnTo>
                    <a:pt x="1259" y="713"/>
                  </a:lnTo>
                  <a:lnTo>
                    <a:pt x="1225" y="717"/>
                  </a:lnTo>
                  <a:lnTo>
                    <a:pt x="1191" y="717"/>
                  </a:lnTo>
                  <a:lnTo>
                    <a:pt x="1153" y="717"/>
                  </a:lnTo>
                  <a:lnTo>
                    <a:pt x="1114" y="717"/>
                  </a:lnTo>
                  <a:lnTo>
                    <a:pt x="1080" y="717"/>
                  </a:lnTo>
                  <a:lnTo>
                    <a:pt x="1042" y="717"/>
                  </a:lnTo>
                  <a:lnTo>
                    <a:pt x="1004" y="717"/>
                  </a:lnTo>
                  <a:lnTo>
                    <a:pt x="969" y="717"/>
                  </a:lnTo>
                  <a:lnTo>
                    <a:pt x="931" y="717"/>
                  </a:lnTo>
                  <a:lnTo>
                    <a:pt x="897" y="713"/>
                  </a:lnTo>
                  <a:lnTo>
                    <a:pt x="863" y="713"/>
                  </a:lnTo>
                  <a:lnTo>
                    <a:pt x="828" y="709"/>
                  </a:lnTo>
                  <a:lnTo>
                    <a:pt x="794" y="706"/>
                  </a:lnTo>
                  <a:lnTo>
                    <a:pt x="760" y="702"/>
                  </a:lnTo>
                  <a:lnTo>
                    <a:pt x="725" y="698"/>
                  </a:lnTo>
                  <a:lnTo>
                    <a:pt x="691" y="694"/>
                  </a:lnTo>
                  <a:lnTo>
                    <a:pt x="660" y="690"/>
                  </a:lnTo>
                  <a:lnTo>
                    <a:pt x="626" y="686"/>
                  </a:lnTo>
                  <a:lnTo>
                    <a:pt x="596" y="679"/>
                  </a:lnTo>
                  <a:lnTo>
                    <a:pt x="565" y="675"/>
                  </a:lnTo>
                  <a:lnTo>
                    <a:pt x="535" y="671"/>
                  </a:lnTo>
                  <a:lnTo>
                    <a:pt x="504" y="664"/>
                  </a:lnTo>
                  <a:lnTo>
                    <a:pt x="477" y="656"/>
                  </a:lnTo>
                  <a:lnTo>
                    <a:pt x="447" y="652"/>
                  </a:lnTo>
                  <a:lnTo>
                    <a:pt x="420" y="645"/>
                  </a:lnTo>
                  <a:lnTo>
                    <a:pt x="393" y="637"/>
                  </a:lnTo>
                  <a:lnTo>
                    <a:pt x="367" y="629"/>
                  </a:lnTo>
                  <a:lnTo>
                    <a:pt x="340" y="622"/>
                  </a:lnTo>
                  <a:lnTo>
                    <a:pt x="317" y="614"/>
                  </a:lnTo>
                  <a:lnTo>
                    <a:pt x="294" y="606"/>
                  </a:lnTo>
                  <a:lnTo>
                    <a:pt x="267" y="595"/>
                  </a:lnTo>
                  <a:lnTo>
                    <a:pt x="248" y="587"/>
                  </a:lnTo>
                  <a:lnTo>
                    <a:pt x="225" y="580"/>
                  </a:lnTo>
                  <a:lnTo>
                    <a:pt x="203" y="568"/>
                  </a:lnTo>
                  <a:lnTo>
                    <a:pt x="184" y="561"/>
                  </a:lnTo>
                  <a:lnTo>
                    <a:pt x="164" y="549"/>
                  </a:lnTo>
                  <a:lnTo>
                    <a:pt x="145" y="542"/>
                  </a:lnTo>
                  <a:lnTo>
                    <a:pt x="130" y="530"/>
                  </a:lnTo>
                  <a:lnTo>
                    <a:pt x="115" y="519"/>
                  </a:lnTo>
                  <a:lnTo>
                    <a:pt x="100" y="511"/>
                  </a:lnTo>
                  <a:lnTo>
                    <a:pt x="84" y="500"/>
                  </a:lnTo>
                  <a:lnTo>
                    <a:pt x="73" y="488"/>
                  </a:lnTo>
                  <a:lnTo>
                    <a:pt x="58" y="477"/>
                  </a:lnTo>
                  <a:lnTo>
                    <a:pt x="50" y="465"/>
                  </a:lnTo>
                  <a:lnTo>
                    <a:pt x="39" y="454"/>
                  </a:lnTo>
                  <a:lnTo>
                    <a:pt x="27" y="442"/>
                  </a:lnTo>
                  <a:lnTo>
                    <a:pt x="23" y="431"/>
                  </a:lnTo>
                  <a:lnTo>
                    <a:pt x="16" y="419"/>
                  </a:lnTo>
                  <a:lnTo>
                    <a:pt x="8" y="408"/>
                  </a:lnTo>
                  <a:lnTo>
                    <a:pt x="4" y="397"/>
                  </a:lnTo>
                  <a:lnTo>
                    <a:pt x="0" y="385"/>
                  </a:lnTo>
                  <a:lnTo>
                    <a:pt x="0" y="370"/>
                  </a:lnTo>
                  <a:lnTo>
                    <a:pt x="0" y="358"/>
                  </a:lnTo>
                  <a:close/>
                </a:path>
              </a:pathLst>
            </a:cu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5" name="Line 7"/>
            <p:cNvSpPr>
              <a:spLocks noChangeShapeType="1"/>
            </p:cNvSpPr>
            <p:nvPr/>
          </p:nvSpPr>
          <p:spPr bwMode="auto">
            <a:xfrm flipV="1">
              <a:off x="4608" y="14885"/>
              <a:ext cx="358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76" name="Oval 8"/>
            <p:cNvSpPr>
              <a:spLocks noChangeArrowheads="1"/>
            </p:cNvSpPr>
            <p:nvPr/>
          </p:nvSpPr>
          <p:spPr bwMode="auto">
            <a:xfrm>
              <a:off x="4556" y="1519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7" name="Line 9"/>
            <p:cNvSpPr>
              <a:spLocks noChangeShapeType="1"/>
            </p:cNvSpPr>
            <p:nvPr/>
          </p:nvSpPr>
          <p:spPr bwMode="auto">
            <a:xfrm flipV="1">
              <a:off x="4966" y="14527"/>
              <a:ext cx="359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78" name="Oval 10"/>
            <p:cNvSpPr>
              <a:spLocks noChangeArrowheads="1"/>
            </p:cNvSpPr>
            <p:nvPr/>
          </p:nvSpPr>
          <p:spPr bwMode="auto">
            <a:xfrm>
              <a:off x="4914" y="14833"/>
              <a:ext cx="104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79" name="Line 11"/>
            <p:cNvSpPr>
              <a:spLocks noChangeShapeType="1"/>
            </p:cNvSpPr>
            <p:nvPr/>
          </p:nvSpPr>
          <p:spPr bwMode="auto">
            <a:xfrm flipV="1">
              <a:off x="5325" y="14164"/>
              <a:ext cx="362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80" name="Oval 12"/>
            <p:cNvSpPr>
              <a:spLocks noChangeArrowheads="1"/>
            </p:cNvSpPr>
            <p:nvPr/>
          </p:nvSpPr>
          <p:spPr bwMode="auto">
            <a:xfrm>
              <a:off x="5277" y="14475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81" name="Line 13"/>
            <p:cNvSpPr>
              <a:spLocks noChangeShapeType="1"/>
            </p:cNvSpPr>
            <p:nvPr/>
          </p:nvSpPr>
          <p:spPr bwMode="auto">
            <a:xfrm>
              <a:off x="5687" y="14164"/>
              <a:ext cx="359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82" name="Oval 14"/>
            <p:cNvSpPr>
              <a:spLocks noChangeArrowheads="1"/>
            </p:cNvSpPr>
            <p:nvPr/>
          </p:nvSpPr>
          <p:spPr bwMode="auto">
            <a:xfrm>
              <a:off x="5635" y="1411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83" name="Line 15"/>
            <p:cNvSpPr>
              <a:spLocks noChangeShapeType="1"/>
            </p:cNvSpPr>
            <p:nvPr/>
          </p:nvSpPr>
          <p:spPr bwMode="auto">
            <a:xfrm flipH="1">
              <a:off x="5687" y="14164"/>
              <a:ext cx="359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84" name="Oval 16"/>
            <p:cNvSpPr>
              <a:spLocks noChangeArrowheads="1"/>
            </p:cNvSpPr>
            <p:nvPr/>
          </p:nvSpPr>
          <p:spPr bwMode="auto">
            <a:xfrm>
              <a:off x="5994" y="1411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85" name="Line 17"/>
            <p:cNvSpPr>
              <a:spLocks noChangeShapeType="1"/>
            </p:cNvSpPr>
            <p:nvPr/>
          </p:nvSpPr>
          <p:spPr bwMode="auto">
            <a:xfrm flipH="1">
              <a:off x="5325" y="14527"/>
              <a:ext cx="362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86" name="Oval 18"/>
            <p:cNvSpPr>
              <a:spLocks noChangeArrowheads="1"/>
            </p:cNvSpPr>
            <p:nvPr/>
          </p:nvSpPr>
          <p:spPr bwMode="auto">
            <a:xfrm>
              <a:off x="5635" y="14475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87" name="Line 19"/>
            <p:cNvSpPr>
              <a:spLocks noChangeShapeType="1"/>
            </p:cNvSpPr>
            <p:nvPr/>
          </p:nvSpPr>
          <p:spPr bwMode="auto">
            <a:xfrm flipH="1">
              <a:off x="4966" y="14885"/>
              <a:ext cx="359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88" name="Oval 20"/>
            <p:cNvSpPr>
              <a:spLocks noChangeArrowheads="1"/>
            </p:cNvSpPr>
            <p:nvPr/>
          </p:nvSpPr>
          <p:spPr bwMode="auto">
            <a:xfrm>
              <a:off x="5277" y="14833"/>
              <a:ext cx="100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89" name="Line 21"/>
            <p:cNvSpPr>
              <a:spLocks noChangeShapeType="1"/>
            </p:cNvSpPr>
            <p:nvPr/>
          </p:nvSpPr>
          <p:spPr bwMode="auto">
            <a:xfrm>
              <a:off x="4966" y="15244"/>
              <a:ext cx="359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90" name="Oval 22"/>
            <p:cNvSpPr>
              <a:spLocks noChangeArrowheads="1"/>
            </p:cNvSpPr>
            <p:nvPr/>
          </p:nvSpPr>
          <p:spPr bwMode="auto">
            <a:xfrm>
              <a:off x="4914" y="1519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91" name="Line 23"/>
            <p:cNvSpPr>
              <a:spLocks noChangeShapeType="1"/>
            </p:cNvSpPr>
            <p:nvPr/>
          </p:nvSpPr>
          <p:spPr bwMode="auto">
            <a:xfrm flipV="1">
              <a:off x="5325" y="14885"/>
              <a:ext cx="362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92" name="Oval 24"/>
            <p:cNvSpPr>
              <a:spLocks noChangeArrowheads="1"/>
            </p:cNvSpPr>
            <p:nvPr/>
          </p:nvSpPr>
          <p:spPr bwMode="auto">
            <a:xfrm>
              <a:off x="5277" y="1519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93" name="Line 25"/>
            <p:cNvSpPr>
              <a:spLocks noChangeShapeType="1"/>
            </p:cNvSpPr>
            <p:nvPr/>
          </p:nvSpPr>
          <p:spPr bwMode="auto">
            <a:xfrm flipV="1">
              <a:off x="5687" y="14527"/>
              <a:ext cx="359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94" name="Oval 26"/>
            <p:cNvSpPr>
              <a:spLocks noChangeArrowheads="1"/>
            </p:cNvSpPr>
            <p:nvPr/>
          </p:nvSpPr>
          <p:spPr bwMode="auto">
            <a:xfrm>
              <a:off x="5635" y="14833"/>
              <a:ext cx="104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95" name="Line 27"/>
            <p:cNvSpPr>
              <a:spLocks noChangeShapeType="1"/>
            </p:cNvSpPr>
            <p:nvPr/>
          </p:nvSpPr>
          <p:spPr bwMode="auto">
            <a:xfrm flipV="1">
              <a:off x="6046" y="14164"/>
              <a:ext cx="359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96" name="Oval 28"/>
            <p:cNvSpPr>
              <a:spLocks noChangeArrowheads="1"/>
            </p:cNvSpPr>
            <p:nvPr/>
          </p:nvSpPr>
          <p:spPr bwMode="auto">
            <a:xfrm>
              <a:off x="5994" y="14475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97" name="Line 29"/>
            <p:cNvSpPr>
              <a:spLocks noChangeShapeType="1"/>
            </p:cNvSpPr>
            <p:nvPr/>
          </p:nvSpPr>
          <p:spPr bwMode="auto">
            <a:xfrm>
              <a:off x="6405" y="14164"/>
              <a:ext cx="362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098" name="Oval 30"/>
            <p:cNvSpPr>
              <a:spLocks noChangeArrowheads="1"/>
            </p:cNvSpPr>
            <p:nvPr/>
          </p:nvSpPr>
          <p:spPr bwMode="auto">
            <a:xfrm>
              <a:off x="6356" y="14116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099" name="Line 31"/>
            <p:cNvSpPr>
              <a:spLocks noChangeShapeType="1"/>
            </p:cNvSpPr>
            <p:nvPr/>
          </p:nvSpPr>
          <p:spPr bwMode="auto">
            <a:xfrm flipH="1">
              <a:off x="6405" y="14164"/>
              <a:ext cx="362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00" name="Oval 32"/>
            <p:cNvSpPr>
              <a:spLocks noChangeArrowheads="1"/>
            </p:cNvSpPr>
            <p:nvPr/>
          </p:nvSpPr>
          <p:spPr bwMode="auto">
            <a:xfrm>
              <a:off x="6715" y="1411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01" name="Line 33"/>
            <p:cNvSpPr>
              <a:spLocks noChangeShapeType="1"/>
            </p:cNvSpPr>
            <p:nvPr/>
          </p:nvSpPr>
          <p:spPr bwMode="auto">
            <a:xfrm flipH="1">
              <a:off x="6046" y="14527"/>
              <a:ext cx="359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02" name="Oval 34"/>
            <p:cNvSpPr>
              <a:spLocks noChangeArrowheads="1"/>
            </p:cNvSpPr>
            <p:nvPr/>
          </p:nvSpPr>
          <p:spPr bwMode="auto">
            <a:xfrm>
              <a:off x="6356" y="14475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03" name="Line 35"/>
            <p:cNvSpPr>
              <a:spLocks noChangeShapeType="1"/>
            </p:cNvSpPr>
            <p:nvPr/>
          </p:nvSpPr>
          <p:spPr bwMode="auto">
            <a:xfrm flipH="1">
              <a:off x="5687" y="14885"/>
              <a:ext cx="359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04" name="Oval 36"/>
            <p:cNvSpPr>
              <a:spLocks noChangeArrowheads="1"/>
            </p:cNvSpPr>
            <p:nvPr/>
          </p:nvSpPr>
          <p:spPr bwMode="auto">
            <a:xfrm>
              <a:off x="5994" y="14833"/>
              <a:ext cx="104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05" name="Line 37"/>
            <p:cNvSpPr>
              <a:spLocks noChangeShapeType="1"/>
            </p:cNvSpPr>
            <p:nvPr/>
          </p:nvSpPr>
          <p:spPr bwMode="auto">
            <a:xfrm>
              <a:off x="5687" y="15244"/>
              <a:ext cx="359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06" name="Oval 38"/>
            <p:cNvSpPr>
              <a:spLocks noChangeArrowheads="1"/>
            </p:cNvSpPr>
            <p:nvPr/>
          </p:nvSpPr>
          <p:spPr bwMode="auto">
            <a:xfrm>
              <a:off x="5635" y="1519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07" name="Line 39"/>
            <p:cNvSpPr>
              <a:spLocks noChangeShapeType="1"/>
            </p:cNvSpPr>
            <p:nvPr/>
          </p:nvSpPr>
          <p:spPr bwMode="auto">
            <a:xfrm flipV="1">
              <a:off x="6046" y="14885"/>
              <a:ext cx="359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08" name="Oval 40"/>
            <p:cNvSpPr>
              <a:spLocks noChangeArrowheads="1"/>
            </p:cNvSpPr>
            <p:nvPr/>
          </p:nvSpPr>
          <p:spPr bwMode="auto">
            <a:xfrm>
              <a:off x="5994" y="1519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09" name="Line 41"/>
            <p:cNvSpPr>
              <a:spLocks noChangeShapeType="1"/>
            </p:cNvSpPr>
            <p:nvPr/>
          </p:nvSpPr>
          <p:spPr bwMode="auto">
            <a:xfrm flipV="1">
              <a:off x="6405" y="14527"/>
              <a:ext cx="362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10" name="Oval 42"/>
            <p:cNvSpPr>
              <a:spLocks noChangeArrowheads="1"/>
            </p:cNvSpPr>
            <p:nvPr/>
          </p:nvSpPr>
          <p:spPr bwMode="auto">
            <a:xfrm>
              <a:off x="6356" y="14833"/>
              <a:ext cx="101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11" name="Line 43"/>
            <p:cNvSpPr>
              <a:spLocks noChangeShapeType="1"/>
            </p:cNvSpPr>
            <p:nvPr/>
          </p:nvSpPr>
          <p:spPr bwMode="auto">
            <a:xfrm flipV="1">
              <a:off x="6767" y="14164"/>
              <a:ext cx="359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12" name="Oval 44"/>
            <p:cNvSpPr>
              <a:spLocks noChangeArrowheads="1"/>
            </p:cNvSpPr>
            <p:nvPr/>
          </p:nvSpPr>
          <p:spPr bwMode="auto">
            <a:xfrm>
              <a:off x="6715" y="14475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13" name="Line 45"/>
            <p:cNvSpPr>
              <a:spLocks noChangeShapeType="1"/>
            </p:cNvSpPr>
            <p:nvPr/>
          </p:nvSpPr>
          <p:spPr bwMode="auto">
            <a:xfrm>
              <a:off x="7126" y="14164"/>
              <a:ext cx="358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14" name="Oval 46"/>
            <p:cNvSpPr>
              <a:spLocks noChangeArrowheads="1"/>
            </p:cNvSpPr>
            <p:nvPr/>
          </p:nvSpPr>
          <p:spPr bwMode="auto">
            <a:xfrm>
              <a:off x="7074" y="1411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15" name="Line 47"/>
            <p:cNvSpPr>
              <a:spLocks noChangeShapeType="1"/>
            </p:cNvSpPr>
            <p:nvPr/>
          </p:nvSpPr>
          <p:spPr bwMode="auto">
            <a:xfrm flipH="1">
              <a:off x="7126" y="14164"/>
              <a:ext cx="358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16" name="Oval 48"/>
            <p:cNvSpPr>
              <a:spLocks noChangeArrowheads="1"/>
            </p:cNvSpPr>
            <p:nvPr/>
          </p:nvSpPr>
          <p:spPr bwMode="auto">
            <a:xfrm>
              <a:off x="7436" y="14116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17" name="Line 49"/>
            <p:cNvSpPr>
              <a:spLocks noChangeShapeType="1"/>
            </p:cNvSpPr>
            <p:nvPr/>
          </p:nvSpPr>
          <p:spPr bwMode="auto">
            <a:xfrm flipH="1">
              <a:off x="6767" y="14527"/>
              <a:ext cx="359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18" name="Oval 50"/>
            <p:cNvSpPr>
              <a:spLocks noChangeArrowheads="1"/>
            </p:cNvSpPr>
            <p:nvPr/>
          </p:nvSpPr>
          <p:spPr bwMode="auto">
            <a:xfrm>
              <a:off x="7074" y="14475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19" name="Line 51"/>
            <p:cNvSpPr>
              <a:spLocks noChangeShapeType="1"/>
            </p:cNvSpPr>
            <p:nvPr/>
          </p:nvSpPr>
          <p:spPr bwMode="auto">
            <a:xfrm flipH="1">
              <a:off x="6405" y="14885"/>
              <a:ext cx="362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20" name="Oval 52"/>
            <p:cNvSpPr>
              <a:spLocks noChangeArrowheads="1"/>
            </p:cNvSpPr>
            <p:nvPr/>
          </p:nvSpPr>
          <p:spPr bwMode="auto">
            <a:xfrm>
              <a:off x="6715" y="14833"/>
              <a:ext cx="100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21" name="Line 53"/>
            <p:cNvSpPr>
              <a:spLocks noChangeShapeType="1"/>
            </p:cNvSpPr>
            <p:nvPr/>
          </p:nvSpPr>
          <p:spPr bwMode="auto">
            <a:xfrm>
              <a:off x="6405" y="15244"/>
              <a:ext cx="362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22" name="Oval 54"/>
            <p:cNvSpPr>
              <a:spLocks noChangeArrowheads="1"/>
            </p:cNvSpPr>
            <p:nvPr/>
          </p:nvSpPr>
          <p:spPr bwMode="auto">
            <a:xfrm>
              <a:off x="6356" y="15196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23" name="Line 55"/>
            <p:cNvSpPr>
              <a:spLocks noChangeShapeType="1"/>
            </p:cNvSpPr>
            <p:nvPr/>
          </p:nvSpPr>
          <p:spPr bwMode="auto">
            <a:xfrm flipV="1">
              <a:off x="6767" y="14885"/>
              <a:ext cx="359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24" name="Oval 56"/>
            <p:cNvSpPr>
              <a:spLocks noChangeArrowheads="1"/>
            </p:cNvSpPr>
            <p:nvPr/>
          </p:nvSpPr>
          <p:spPr bwMode="auto">
            <a:xfrm>
              <a:off x="6715" y="1519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25" name="Line 57"/>
            <p:cNvSpPr>
              <a:spLocks noChangeShapeType="1"/>
            </p:cNvSpPr>
            <p:nvPr/>
          </p:nvSpPr>
          <p:spPr bwMode="auto">
            <a:xfrm flipV="1">
              <a:off x="7126" y="14527"/>
              <a:ext cx="358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26" name="Oval 58"/>
            <p:cNvSpPr>
              <a:spLocks noChangeArrowheads="1"/>
            </p:cNvSpPr>
            <p:nvPr/>
          </p:nvSpPr>
          <p:spPr bwMode="auto">
            <a:xfrm>
              <a:off x="7074" y="14833"/>
              <a:ext cx="104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27" name="Line 59"/>
            <p:cNvSpPr>
              <a:spLocks noChangeShapeType="1"/>
            </p:cNvSpPr>
            <p:nvPr/>
          </p:nvSpPr>
          <p:spPr bwMode="auto">
            <a:xfrm flipV="1">
              <a:off x="7484" y="14164"/>
              <a:ext cx="363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28" name="Oval 60"/>
            <p:cNvSpPr>
              <a:spLocks noChangeArrowheads="1"/>
            </p:cNvSpPr>
            <p:nvPr/>
          </p:nvSpPr>
          <p:spPr bwMode="auto">
            <a:xfrm>
              <a:off x="7436" y="14475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29" name="Line 61"/>
            <p:cNvSpPr>
              <a:spLocks noChangeShapeType="1"/>
            </p:cNvSpPr>
            <p:nvPr/>
          </p:nvSpPr>
          <p:spPr bwMode="auto">
            <a:xfrm>
              <a:off x="7847" y="14164"/>
              <a:ext cx="359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30" name="Oval 62"/>
            <p:cNvSpPr>
              <a:spLocks noChangeArrowheads="1"/>
            </p:cNvSpPr>
            <p:nvPr/>
          </p:nvSpPr>
          <p:spPr bwMode="auto">
            <a:xfrm>
              <a:off x="7795" y="1411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31" name="Line 63"/>
            <p:cNvSpPr>
              <a:spLocks noChangeShapeType="1"/>
            </p:cNvSpPr>
            <p:nvPr/>
          </p:nvSpPr>
          <p:spPr bwMode="auto">
            <a:xfrm flipH="1">
              <a:off x="7847" y="14164"/>
              <a:ext cx="359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32" name="Oval 64"/>
            <p:cNvSpPr>
              <a:spLocks noChangeArrowheads="1"/>
            </p:cNvSpPr>
            <p:nvPr/>
          </p:nvSpPr>
          <p:spPr bwMode="auto">
            <a:xfrm>
              <a:off x="8154" y="1411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33" name="Line 65"/>
            <p:cNvSpPr>
              <a:spLocks noChangeShapeType="1"/>
            </p:cNvSpPr>
            <p:nvPr/>
          </p:nvSpPr>
          <p:spPr bwMode="auto">
            <a:xfrm flipH="1">
              <a:off x="7484" y="14527"/>
              <a:ext cx="363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34" name="Oval 66"/>
            <p:cNvSpPr>
              <a:spLocks noChangeArrowheads="1"/>
            </p:cNvSpPr>
            <p:nvPr/>
          </p:nvSpPr>
          <p:spPr bwMode="auto">
            <a:xfrm>
              <a:off x="7795" y="14475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35" name="Line 67"/>
            <p:cNvSpPr>
              <a:spLocks noChangeShapeType="1"/>
            </p:cNvSpPr>
            <p:nvPr/>
          </p:nvSpPr>
          <p:spPr bwMode="auto">
            <a:xfrm flipH="1">
              <a:off x="7126" y="14885"/>
              <a:ext cx="358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36" name="Oval 68"/>
            <p:cNvSpPr>
              <a:spLocks noChangeArrowheads="1"/>
            </p:cNvSpPr>
            <p:nvPr/>
          </p:nvSpPr>
          <p:spPr bwMode="auto">
            <a:xfrm>
              <a:off x="7436" y="14833"/>
              <a:ext cx="101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37" name="Line 69"/>
            <p:cNvSpPr>
              <a:spLocks noChangeShapeType="1"/>
            </p:cNvSpPr>
            <p:nvPr/>
          </p:nvSpPr>
          <p:spPr bwMode="auto">
            <a:xfrm flipH="1">
              <a:off x="6767" y="15244"/>
              <a:ext cx="359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38" name="Oval 70"/>
            <p:cNvSpPr>
              <a:spLocks noChangeArrowheads="1"/>
            </p:cNvSpPr>
            <p:nvPr/>
          </p:nvSpPr>
          <p:spPr bwMode="auto">
            <a:xfrm>
              <a:off x="7074" y="15196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39" name="Line 71"/>
            <p:cNvSpPr>
              <a:spLocks noChangeShapeType="1"/>
            </p:cNvSpPr>
            <p:nvPr/>
          </p:nvSpPr>
          <p:spPr bwMode="auto">
            <a:xfrm flipV="1">
              <a:off x="4249" y="14885"/>
              <a:ext cx="359" cy="3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0" name="Oval 72"/>
            <p:cNvSpPr>
              <a:spLocks noChangeArrowheads="1"/>
            </p:cNvSpPr>
            <p:nvPr/>
          </p:nvSpPr>
          <p:spPr bwMode="auto">
            <a:xfrm>
              <a:off x="4197" y="1519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41" name="Line 73"/>
            <p:cNvSpPr>
              <a:spLocks noChangeShapeType="1"/>
            </p:cNvSpPr>
            <p:nvPr/>
          </p:nvSpPr>
          <p:spPr bwMode="auto">
            <a:xfrm flipV="1">
              <a:off x="4608" y="14527"/>
              <a:ext cx="358" cy="35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2" name="Oval 74"/>
            <p:cNvSpPr>
              <a:spLocks noChangeArrowheads="1"/>
            </p:cNvSpPr>
            <p:nvPr/>
          </p:nvSpPr>
          <p:spPr bwMode="auto">
            <a:xfrm>
              <a:off x="4556" y="14833"/>
              <a:ext cx="104" cy="104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43" name="Line 75"/>
            <p:cNvSpPr>
              <a:spLocks noChangeShapeType="1"/>
            </p:cNvSpPr>
            <p:nvPr/>
          </p:nvSpPr>
          <p:spPr bwMode="auto">
            <a:xfrm flipV="1">
              <a:off x="4966" y="14164"/>
              <a:ext cx="359" cy="363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4" name="Oval 76"/>
            <p:cNvSpPr>
              <a:spLocks noChangeArrowheads="1"/>
            </p:cNvSpPr>
            <p:nvPr/>
          </p:nvSpPr>
          <p:spPr bwMode="auto">
            <a:xfrm>
              <a:off x="4914" y="14475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45" name="Line 77"/>
            <p:cNvSpPr>
              <a:spLocks noChangeShapeType="1"/>
            </p:cNvSpPr>
            <p:nvPr/>
          </p:nvSpPr>
          <p:spPr bwMode="auto">
            <a:xfrm>
              <a:off x="5325" y="14164"/>
              <a:ext cx="362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6" name="Oval 78"/>
            <p:cNvSpPr>
              <a:spLocks noChangeArrowheads="1"/>
            </p:cNvSpPr>
            <p:nvPr/>
          </p:nvSpPr>
          <p:spPr bwMode="auto">
            <a:xfrm>
              <a:off x="5277" y="14116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47" name="Line 79"/>
            <p:cNvSpPr>
              <a:spLocks noChangeShapeType="1"/>
            </p:cNvSpPr>
            <p:nvPr/>
          </p:nvSpPr>
          <p:spPr bwMode="auto">
            <a:xfrm>
              <a:off x="4249" y="15244"/>
              <a:ext cx="2877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8" name="Line 80"/>
            <p:cNvSpPr>
              <a:spLocks noChangeShapeType="1"/>
            </p:cNvSpPr>
            <p:nvPr/>
          </p:nvSpPr>
          <p:spPr bwMode="auto">
            <a:xfrm>
              <a:off x="4608" y="14885"/>
              <a:ext cx="2876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49" name="Line 81"/>
            <p:cNvSpPr>
              <a:spLocks noChangeShapeType="1"/>
            </p:cNvSpPr>
            <p:nvPr/>
          </p:nvSpPr>
          <p:spPr bwMode="auto">
            <a:xfrm>
              <a:off x="4966" y="14527"/>
              <a:ext cx="2881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50" name="Line 82"/>
            <p:cNvSpPr>
              <a:spLocks noChangeShapeType="1"/>
            </p:cNvSpPr>
            <p:nvPr/>
          </p:nvSpPr>
          <p:spPr bwMode="auto">
            <a:xfrm>
              <a:off x="5325" y="14164"/>
              <a:ext cx="2881" cy="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51" name="Line 83"/>
            <p:cNvSpPr>
              <a:spLocks noChangeShapeType="1"/>
            </p:cNvSpPr>
            <p:nvPr/>
          </p:nvSpPr>
          <p:spPr bwMode="auto">
            <a:xfrm flipH="1">
              <a:off x="5325" y="12726"/>
              <a:ext cx="721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52" name="Oval 84"/>
            <p:cNvSpPr>
              <a:spLocks noChangeArrowheads="1"/>
            </p:cNvSpPr>
            <p:nvPr/>
          </p:nvSpPr>
          <p:spPr bwMode="auto">
            <a:xfrm>
              <a:off x="5994" y="12678"/>
              <a:ext cx="104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53" name="Line 85"/>
            <p:cNvSpPr>
              <a:spLocks noChangeShapeType="1"/>
            </p:cNvSpPr>
            <p:nvPr/>
          </p:nvSpPr>
          <p:spPr bwMode="auto">
            <a:xfrm flipH="1">
              <a:off x="5325" y="12726"/>
              <a:ext cx="1442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54" name="Oval 86"/>
            <p:cNvSpPr>
              <a:spLocks noChangeArrowheads="1"/>
            </p:cNvSpPr>
            <p:nvPr/>
          </p:nvSpPr>
          <p:spPr bwMode="auto">
            <a:xfrm>
              <a:off x="6715" y="12678"/>
              <a:ext cx="100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55" name="Line 87"/>
            <p:cNvSpPr>
              <a:spLocks noChangeShapeType="1"/>
            </p:cNvSpPr>
            <p:nvPr/>
          </p:nvSpPr>
          <p:spPr bwMode="auto">
            <a:xfrm flipH="1">
              <a:off x="5325" y="12726"/>
              <a:ext cx="2159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56" name="Oval 88"/>
            <p:cNvSpPr>
              <a:spLocks noChangeArrowheads="1"/>
            </p:cNvSpPr>
            <p:nvPr/>
          </p:nvSpPr>
          <p:spPr bwMode="auto">
            <a:xfrm>
              <a:off x="7436" y="12678"/>
              <a:ext cx="101" cy="100"/>
            </a:xfrm>
            <a:prstGeom prst="ellipse">
              <a:avLst/>
            </a:prstGeom>
            <a:solidFill>
              <a:srgbClr val="F8F8F8"/>
            </a:solidFill>
            <a:ln w="1206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8157" name="Rectangle 89"/>
            <p:cNvSpPr>
              <a:spLocks noChangeArrowheads="1"/>
            </p:cNvSpPr>
            <p:nvPr/>
          </p:nvSpPr>
          <p:spPr bwMode="auto">
            <a:xfrm>
              <a:off x="5687" y="12561"/>
              <a:ext cx="97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x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58" name="Rectangle 90"/>
            <p:cNvSpPr>
              <a:spLocks noChangeArrowheads="1"/>
            </p:cNvSpPr>
            <p:nvPr/>
          </p:nvSpPr>
          <p:spPr bwMode="auto">
            <a:xfrm>
              <a:off x="6405" y="12561"/>
              <a:ext cx="97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y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59" name="Rectangle 91"/>
            <p:cNvSpPr>
              <a:spLocks noChangeArrowheads="1"/>
            </p:cNvSpPr>
            <p:nvPr/>
          </p:nvSpPr>
          <p:spPr bwMode="auto">
            <a:xfrm>
              <a:off x="7126" y="12561"/>
              <a:ext cx="97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z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0" name="Rectangle 92"/>
            <p:cNvSpPr>
              <a:spLocks noChangeArrowheads="1"/>
            </p:cNvSpPr>
            <p:nvPr/>
          </p:nvSpPr>
          <p:spPr bwMode="auto">
            <a:xfrm>
              <a:off x="6050" y="10703"/>
              <a:ext cx="215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1" name="Rectangle 93"/>
            <p:cNvSpPr>
              <a:spLocks noChangeArrowheads="1"/>
            </p:cNvSpPr>
            <p:nvPr/>
          </p:nvSpPr>
          <p:spPr bwMode="auto">
            <a:xfrm>
              <a:off x="5965" y="11562"/>
              <a:ext cx="108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2" name="Rectangle 94"/>
            <p:cNvSpPr>
              <a:spLocks noChangeArrowheads="1"/>
            </p:cNvSpPr>
            <p:nvPr/>
          </p:nvSpPr>
          <p:spPr bwMode="auto">
            <a:xfrm>
              <a:off x="7502" y="11161"/>
              <a:ext cx="107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3" name="Rectangle 95"/>
            <p:cNvSpPr>
              <a:spLocks noChangeArrowheads="1"/>
            </p:cNvSpPr>
            <p:nvPr/>
          </p:nvSpPr>
          <p:spPr bwMode="auto">
            <a:xfrm>
              <a:off x="7212" y="11901"/>
              <a:ext cx="144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4" name="Rectangle 96"/>
            <p:cNvSpPr>
              <a:spLocks noChangeArrowheads="1"/>
            </p:cNvSpPr>
            <p:nvPr/>
          </p:nvSpPr>
          <p:spPr bwMode="auto">
            <a:xfrm>
              <a:off x="6203" y="11835"/>
              <a:ext cx="144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5" name="Rectangle 97"/>
            <p:cNvSpPr>
              <a:spLocks noChangeArrowheads="1"/>
            </p:cNvSpPr>
            <p:nvPr/>
          </p:nvSpPr>
          <p:spPr bwMode="auto">
            <a:xfrm>
              <a:off x="6284" y="11532"/>
              <a:ext cx="108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6" name="Rectangle 98"/>
            <p:cNvSpPr>
              <a:spLocks noChangeArrowheads="1"/>
            </p:cNvSpPr>
            <p:nvPr/>
          </p:nvSpPr>
          <p:spPr bwMode="auto">
            <a:xfrm>
              <a:off x="6132" y="10436"/>
              <a:ext cx="107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7" name="Rectangle 99"/>
            <p:cNvSpPr>
              <a:spLocks noChangeArrowheads="1"/>
            </p:cNvSpPr>
            <p:nvPr/>
          </p:nvSpPr>
          <p:spPr bwMode="auto">
            <a:xfrm>
              <a:off x="7417" y="11042"/>
              <a:ext cx="107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8" name="Rectangle 100"/>
            <p:cNvSpPr>
              <a:spLocks noChangeArrowheads="1"/>
            </p:cNvSpPr>
            <p:nvPr/>
          </p:nvSpPr>
          <p:spPr bwMode="auto">
            <a:xfrm>
              <a:off x="2801" y="10674"/>
              <a:ext cx="1138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o=data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169" name="Line 101"/>
            <p:cNvSpPr>
              <a:spLocks noChangeShapeType="1"/>
            </p:cNvSpPr>
            <p:nvPr/>
          </p:nvSpPr>
          <p:spPr bwMode="auto">
            <a:xfrm flipH="1">
              <a:off x="5687" y="12726"/>
              <a:ext cx="359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0" name="Line 102"/>
            <p:cNvSpPr>
              <a:spLocks noChangeShapeType="1"/>
            </p:cNvSpPr>
            <p:nvPr/>
          </p:nvSpPr>
          <p:spPr bwMode="auto">
            <a:xfrm flipH="1">
              <a:off x="5687" y="12726"/>
              <a:ext cx="1080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1" name="Line 103"/>
            <p:cNvSpPr>
              <a:spLocks noChangeShapeType="1"/>
            </p:cNvSpPr>
            <p:nvPr/>
          </p:nvSpPr>
          <p:spPr bwMode="auto">
            <a:xfrm flipH="1">
              <a:off x="5687" y="12726"/>
              <a:ext cx="1797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2" name="Line 104"/>
            <p:cNvSpPr>
              <a:spLocks noChangeShapeType="1"/>
            </p:cNvSpPr>
            <p:nvPr/>
          </p:nvSpPr>
          <p:spPr bwMode="auto">
            <a:xfrm>
              <a:off x="6046" y="12726"/>
              <a:ext cx="2160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3" name="Line 105"/>
            <p:cNvSpPr>
              <a:spLocks noChangeShapeType="1"/>
            </p:cNvSpPr>
            <p:nvPr/>
          </p:nvSpPr>
          <p:spPr bwMode="auto">
            <a:xfrm>
              <a:off x="6767" y="12726"/>
              <a:ext cx="1439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4" name="Line 106"/>
            <p:cNvSpPr>
              <a:spLocks noChangeShapeType="1"/>
            </p:cNvSpPr>
            <p:nvPr/>
          </p:nvSpPr>
          <p:spPr bwMode="auto">
            <a:xfrm>
              <a:off x="7484" y="12726"/>
              <a:ext cx="722" cy="143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5" name="Line 107"/>
            <p:cNvSpPr>
              <a:spLocks noChangeShapeType="1"/>
            </p:cNvSpPr>
            <p:nvPr/>
          </p:nvSpPr>
          <p:spPr bwMode="auto">
            <a:xfrm>
              <a:off x="7484" y="12726"/>
              <a:ext cx="363" cy="180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6" name="Line 108"/>
            <p:cNvSpPr>
              <a:spLocks noChangeShapeType="1"/>
            </p:cNvSpPr>
            <p:nvPr/>
          </p:nvSpPr>
          <p:spPr bwMode="auto">
            <a:xfrm>
              <a:off x="6767" y="12726"/>
              <a:ext cx="1080" cy="180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7" name="Line 109"/>
            <p:cNvSpPr>
              <a:spLocks noChangeShapeType="1"/>
            </p:cNvSpPr>
            <p:nvPr/>
          </p:nvSpPr>
          <p:spPr bwMode="auto">
            <a:xfrm>
              <a:off x="6046" y="12726"/>
              <a:ext cx="1801" cy="1801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8" name="Line 110"/>
            <p:cNvSpPr>
              <a:spLocks noChangeShapeType="1"/>
            </p:cNvSpPr>
            <p:nvPr/>
          </p:nvSpPr>
          <p:spPr bwMode="auto">
            <a:xfrm flipH="1">
              <a:off x="4249" y="12726"/>
              <a:ext cx="1797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79" name="Line 111"/>
            <p:cNvSpPr>
              <a:spLocks noChangeShapeType="1"/>
            </p:cNvSpPr>
            <p:nvPr/>
          </p:nvSpPr>
          <p:spPr bwMode="auto">
            <a:xfrm flipH="1">
              <a:off x="4249" y="12726"/>
              <a:ext cx="2518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0" name="Line 112"/>
            <p:cNvSpPr>
              <a:spLocks noChangeShapeType="1"/>
            </p:cNvSpPr>
            <p:nvPr/>
          </p:nvSpPr>
          <p:spPr bwMode="auto">
            <a:xfrm flipH="1">
              <a:off x="4249" y="12726"/>
              <a:ext cx="3235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1" name="Line 113"/>
            <p:cNvSpPr>
              <a:spLocks noChangeShapeType="1"/>
            </p:cNvSpPr>
            <p:nvPr/>
          </p:nvSpPr>
          <p:spPr bwMode="auto">
            <a:xfrm>
              <a:off x="6046" y="12726"/>
              <a:ext cx="1080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2" name="Line 114"/>
            <p:cNvSpPr>
              <a:spLocks noChangeShapeType="1"/>
            </p:cNvSpPr>
            <p:nvPr/>
          </p:nvSpPr>
          <p:spPr bwMode="auto">
            <a:xfrm>
              <a:off x="6767" y="12726"/>
              <a:ext cx="359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3" name="Line 115"/>
            <p:cNvSpPr>
              <a:spLocks noChangeShapeType="1"/>
            </p:cNvSpPr>
            <p:nvPr/>
          </p:nvSpPr>
          <p:spPr bwMode="auto">
            <a:xfrm flipH="1">
              <a:off x="7126" y="12726"/>
              <a:ext cx="358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4" name="Line 116"/>
            <p:cNvSpPr>
              <a:spLocks noChangeShapeType="1"/>
            </p:cNvSpPr>
            <p:nvPr/>
          </p:nvSpPr>
          <p:spPr bwMode="auto">
            <a:xfrm flipH="1">
              <a:off x="5687" y="12726"/>
              <a:ext cx="1080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5" name="Line 117"/>
            <p:cNvSpPr>
              <a:spLocks noChangeShapeType="1"/>
            </p:cNvSpPr>
            <p:nvPr/>
          </p:nvSpPr>
          <p:spPr bwMode="auto">
            <a:xfrm flipH="1">
              <a:off x="5687" y="12726"/>
              <a:ext cx="359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6" name="Line 118"/>
            <p:cNvSpPr>
              <a:spLocks noChangeShapeType="1"/>
            </p:cNvSpPr>
            <p:nvPr/>
          </p:nvSpPr>
          <p:spPr bwMode="auto">
            <a:xfrm flipH="1">
              <a:off x="5687" y="12726"/>
              <a:ext cx="1797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7" name="Line 119"/>
            <p:cNvSpPr>
              <a:spLocks noChangeShapeType="1"/>
            </p:cNvSpPr>
            <p:nvPr/>
          </p:nvSpPr>
          <p:spPr bwMode="auto">
            <a:xfrm flipH="1">
              <a:off x="4608" y="12726"/>
              <a:ext cx="1438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8" name="Line 120"/>
            <p:cNvSpPr>
              <a:spLocks noChangeShapeType="1"/>
            </p:cNvSpPr>
            <p:nvPr/>
          </p:nvSpPr>
          <p:spPr bwMode="auto">
            <a:xfrm flipH="1">
              <a:off x="4966" y="12726"/>
              <a:ext cx="1080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89" name="Line 121"/>
            <p:cNvSpPr>
              <a:spLocks noChangeShapeType="1"/>
            </p:cNvSpPr>
            <p:nvPr/>
          </p:nvSpPr>
          <p:spPr bwMode="auto">
            <a:xfrm flipH="1">
              <a:off x="5325" y="12726"/>
              <a:ext cx="721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0" name="Line 122"/>
            <p:cNvSpPr>
              <a:spLocks noChangeShapeType="1"/>
            </p:cNvSpPr>
            <p:nvPr/>
          </p:nvSpPr>
          <p:spPr bwMode="auto">
            <a:xfrm>
              <a:off x="6046" y="12726"/>
              <a:ext cx="1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1" name="Line 123"/>
            <p:cNvSpPr>
              <a:spLocks noChangeShapeType="1"/>
            </p:cNvSpPr>
            <p:nvPr/>
          </p:nvSpPr>
          <p:spPr bwMode="auto">
            <a:xfrm>
              <a:off x="6046" y="12726"/>
              <a:ext cx="359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2" name="Line 124"/>
            <p:cNvSpPr>
              <a:spLocks noChangeShapeType="1"/>
            </p:cNvSpPr>
            <p:nvPr/>
          </p:nvSpPr>
          <p:spPr bwMode="auto">
            <a:xfrm>
              <a:off x="6046" y="12726"/>
              <a:ext cx="721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3" name="Line 125"/>
            <p:cNvSpPr>
              <a:spLocks noChangeShapeType="1"/>
            </p:cNvSpPr>
            <p:nvPr/>
          </p:nvSpPr>
          <p:spPr bwMode="auto">
            <a:xfrm>
              <a:off x="6046" y="12726"/>
              <a:ext cx="1438" cy="21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4" name="Line 126"/>
            <p:cNvSpPr>
              <a:spLocks noChangeShapeType="1"/>
            </p:cNvSpPr>
            <p:nvPr/>
          </p:nvSpPr>
          <p:spPr bwMode="auto">
            <a:xfrm flipH="1">
              <a:off x="6405" y="12726"/>
              <a:ext cx="362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5" name="Line 127"/>
            <p:cNvSpPr>
              <a:spLocks noChangeShapeType="1"/>
            </p:cNvSpPr>
            <p:nvPr/>
          </p:nvSpPr>
          <p:spPr bwMode="auto">
            <a:xfrm>
              <a:off x="6767" y="12726"/>
              <a:ext cx="1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6" name="Line 128"/>
            <p:cNvSpPr>
              <a:spLocks noChangeShapeType="1"/>
            </p:cNvSpPr>
            <p:nvPr/>
          </p:nvSpPr>
          <p:spPr bwMode="auto">
            <a:xfrm flipH="1">
              <a:off x="6046" y="12726"/>
              <a:ext cx="721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7" name="Line 129"/>
            <p:cNvSpPr>
              <a:spLocks noChangeShapeType="1"/>
            </p:cNvSpPr>
            <p:nvPr/>
          </p:nvSpPr>
          <p:spPr bwMode="auto">
            <a:xfrm flipH="1">
              <a:off x="5325" y="12726"/>
              <a:ext cx="1442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8" name="Line 130"/>
            <p:cNvSpPr>
              <a:spLocks noChangeShapeType="1"/>
            </p:cNvSpPr>
            <p:nvPr/>
          </p:nvSpPr>
          <p:spPr bwMode="auto">
            <a:xfrm flipH="1">
              <a:off x="6767" y="12726"/>
              <a:ext cx="717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199" name="Line 131"/>
            <p:cNvSpPr>
              <a:spLocks noChangeShapeType="1"/>
            </p:cNvSpPr>
            <p:nvPr/>
          </p:nvSpPr>
          <p:spPr bwMode="auto">
            <a:xfrm flipH="1">
              <a:off x="6405" y="12726"/>
              <a:ext cx="1079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200" name="Line 132"/>
            <p:cNvSpPr>
              <a:spLocks noChangeShapeType="1"/>
            </p:cNvSpPr>
            <p:nvPr/>
          </p:nvSpPr>
          <p:spPr bwMode="auto">
            <a:xfrm>
              <a:off x="7484" y="12726"/>
              <a:ext cx="1" cy="2159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201" name="Line 133"/>
            <p:cNvSpPr>
              <a:spLocks noChangeShapeType="1"/>
            </p:cNvSpPr>
            <p:nvPr/>
          </p:nvSpPr>
          <p:spPr bwMode="auto">
            <a:xfrm flipH="1">
              <a:off x="4966" y="12726"/>
              <a:ext cx="2518" cy="2518"/>
            </a:xfrm>
            <a:prstGeom prst="line">
              <a:avLst/>
            </a:prstGeom>
            <a:noFill/>
            <a:ln w="1206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8202" name="Rectangle 134"/>
            <p:cNvSpPr>
              <a:spLocks noChangeArrowheads="1"/>
            </p:cNvSpPr>
            <p:nvPr/>
          </p:nvSpPr>
          <p:spPr bwMode="auto">
            <a:xfrm>
              <a:off x="2808" y="14354"/>
              <a:ext cx="1140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2-D grid with 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3" name="Rectangle 135"/>
            <p:cNvSpPr>
              <a:spLocks noChangeArrowheads="1"/>
            </p:cNvSpPr>
            <p:nvPr/>
          </p:nvSpPr>
          <p:spPr bwMode="auto">
            <a:xfrm>
              <a:off x="7903" y="13013"/>
              <a:ext cx="1280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 b="1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W</a:t>
              </a:r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 assigned to 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4" name="Rectangle 136"/>
            <p:cNvSpPr>
              <a:spLocks noChangeArrowheads="1"/>
            </p:cNvSpPr>
            <p:nvPr/>
          </p:nvSpPr>
          <p:spPr bwMode="auto">
            <a:xfrm>
              <a:off x="7855" y="12487"/>
              <a:ext cx="1171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input neurons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5" name="Rectangle 137"/>
            <p:cNvSpPr>
              <a:spLocks noChangeArrowheads="1"/>
            </p:cNvSpPr>
            <p:nvPr/>
          </p:nvSpPr>
          <p:spPr bwMode="auto">
            <a:xfrm>
              <a:off x="8207" y="10400"/>
              <a:ext cx="1170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feature space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6" name="Rectangle 138"/>
            <p:cNvSpPr>
              <a:spLocks noChangeArrowheads="1"/>
            </p:cNvSpPr>
            <p:nvPr/>
          </p:nvSpPr>
          <p:spPr bwMode="auto">
            <a:xfrm>
              <a:off x="7903" y="13349"/>
              <a:ext cx="1533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         processors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7" name="Rectangle 139"/>
            <p:cNvSpPr>
              <a:spLocks noChangeArrowheads="1"/>
            </p:cNvSpPr>
            <p:nvPr/>
          </p:nvSpPr>
          <p:spPr bwMode="auto">
            <a:xfrm>
              <a:off x="2808" y="14691"/>
              <a:ext cx="1019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processors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8" name="Rectangle 140"/>
            <p:cNvSpPr>
              <a:spLocks noChangeArrowheads="1"/>
            </p:cNvSpPr>
            <p:nvPr/>
          </p:nvSpPr>
          <p:spPr bwMode="auto">
            <a:xfrm>
              <a:off x="2808" y="11118"/>
              <a:ext cx="1382" cy="57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 = network </a:t>
              </a:r>
              <a:r>
                <a:rPr lang="pl-PL" altLang="zh-TW" sz="1500" b="1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W</a:t>
              </a:r>
              <a:r>
                <a:rPr lang="pl-PL" altLang="zh-TW" sz="1500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(</a:t>
              </a:r>
              <a:r>
                <a:rPr lang="pl-PL" altLang="zh-TW" sz="1500" i="1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i</a:t>
              </a:r>
              <a:r>
                <a:rPr lang="pl-PL" altLang="zh-TW" sz="1500" baseline="300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)</a:t>
              </a:r>
            </a:p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parameters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09" name="Rectangle 141"/>
            <p:cNvSpPr>
              <a:spLocks noChangeArrowheads="1"/>
            </p:cNvSpPr>
            <p:nvPr/>
          </p:nvSpPr>
          <p:spPr bwMode="auto">
            <a:xfrm>
              <a:off x="6767" y="10400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0" name="Rectangle 142"/>
            <p:cNvSpPr>
              <a:spLocks noChangeArrowheads="1"/>
            </p:cNvSpPr>
            <p:nvPr/>
          </p:nvSpPr>
          <p:spPr bwMode="auto">
            <a:xfrm>
              <a:off x="7126" y="10400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1" name="Rectangle 143"/>
            <p:cNvSpPr>
              <a:spLocks noChangeArrowheads="1"/>
            </p:cNvSpPr>
            <p:nvPr/>
          </p:nvSpPr>
          <p:spPr bwMode="auto">
            <a:xfrm>
              <a:off x="6767" y="10757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2" name="Rectangle 144"/>
            <p:cNvSpPr>
              <a:spLocks noChangeArrowheads="1"/>
            </p:cNvSpPr>
            <p:nvPr/>
          </p:nvSpPr>
          <p:spPr bwMode="auto">
            <a:xfrm>
              <a:off x="7484" y="10757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3" name="Rectangle 145"/>
            <p:cNvSpPr>
              <a:spLocks noChangeArrowheads="1"/>
            </p:cNvSpPr>
            <p:nvPr/>
          </p:nvSpPr>
          <p:spPr bwMode="auto">
            <a:xfrm>
              <a:off x="7126" y="10757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4" name="Rectangle 146"/>
            <p:cNvSpPr>
              <a:spLocks noChangeArrowheads="1"/>
            </p:cNvSpPr>
            <p:nvPr/>
          </p:nvSpPr>
          <p:spPr bwMode="auto">
            <a:xfrm>
              <a:off x="6928" y="10588"/>
              <a:ext cx="40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5" name="Rectangle 147"/>
            <p:cNvSpPr>
              <a:spLocks noChangeArrowheads="1"/>
            </p:cNvSpPr>
            <p:nvPr/>
          </p:nvSpPr>
          <p:spPr bwMode="auto">
            <a:xfrm>
              <a:off x="6560" y="10588"/>
              <a:ext cx="39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6" name="Rectangle 148"/>
            <p:cNvSpPr>
              <a:spLocks noChangeArrowheads="1"/>
            </p:cNvSpPr>
            <p:nvPr/>
          </p:nvSpPr>
          <p:spPr bwMode="auto">
            <a:xfrm>
              <a:off x="6386" y="10400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7" name="Rectangle 149"/>
            <p:cNvSpPr>
              <a:spLocks noChangeArrowheads="1"/>
            </p:cNvSpPr>
            <p:nvPr/>
          </p:nvSpPr>
          <p:spPr bwMode="auto">
            <a:xfrm>
              <a:off x="5886" y="10794"/>
              <a:ext cx="40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8" name="Rectangle 150"/>
            <p:cNvSpPr>
              <a:spLocks noChangeArrowheads="1"/>
            </p:cNvSpPr>
            <p:nvPr/>
          </p:nvSpPr>
          <p:spPr bwMode="auto">
            <a:xfrm>
              <a:off x="5986" y="11074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19" name="Rectangle 151"/>
            <p:cNvSpPr>
              <a:spLocks noChangeArrowheads="1"/>
            </p:cNvSpPr>
            <p:nvPr/>
          </p:nvSpPr>
          <p:spPr bwMode="auto">
            <a:xfrm>
              <a:off x="5855" y="11161"/>
              <a:ext cx="79" cy="28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0" name="Rectangle 152"/>
            <p:cNvSpPr>
              <a:spLocks noChangeArrowheads="1"/>
            </p:cNvSpPr>
            <p:nvPr/>
          </p:nvSpPr>
          <p:spPr bwMode="auto">
            <a:xfrm>
              <a:off x="5886" y="11514"/>
              <a:ext cx="40" cy="28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5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1" name="Rectangle 153"/>
            <p:cNvSpPr>
              <a:spLocks noChangeArrowheads="1"/>
            </p:cNvSpPr>
            <p:nvPr/>
          </p:nvSpPr>
          <p:spPr bwMode="auto">
            <a:xfrm>
              <a:off x="6648" y="11684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2" name="Rectangle 154"/>
            <p:cNvSpPr>
              <a:spLocks noChangeArrowheads="1"/>
            </p:cNvSpPr>
            <p:nvPr/>
          </p:nvSpPr>
          <p:spPr bwMode="auto">
            <a:xfrm>
              <a:off x="6560" y="11286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3" name="Rectangle 155"/>
            <p:cNvSpPr>
              <a:spLocks noChangeArrowheads="1"/>
            </p:cNvSpPr>
            <p:nvPr/>
          </p:nvSpPr>
          <p:spPr bwMode="auto">
            <a:xfrm>
              <a:off x="6738" y="11036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4" name="Rectangle 156"/>
            <p:cNvSpPr>
              <a:spLocks noChangeArrowheads="1"/>
            </p:cNvSpPr>
            <p:nvPr/>
          </p:nvSpPr>
          <p:spPr bwMode="auto">
            <a:xfrm>
              <a:off x="6473" y="10995"/>
              <a:ext cx="36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5" name="Rectangle 157"/>
            <p:cNvSpPr>
              <a:spLocks noChangeArrowheads="1"/>
            </p:cNvSpPr>
            <p:nvPr/>
          </p:nvSpPr>
          <p:spPr bwMode="auto">
            <a:xfrm>
              <a:off x="6300" y="11272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6" name="Rectangle 158"/>
            <p:cNvSpPr>
              <a:spLocks noChangeArrowheads="1"/>
            </p:cNvSpPr>
            <p:nvPr/>
          </p:nvSpPr>
          <p:spPr bwMode="auto">
            <a:xfrm>
              <a:off x="7282" y="11316"/>
              <a:ext cx="36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7" name="Rectangle 159"/>
            <p:cNvSpPr>
              <a:spLocks noChangeArrowheads="1"/>
            </p:cNvSpPr>
            <p:nvPr/>
          </p:nvSpPr>
          <p:spPr bwMode="auto">
            <a:xfrm>
              <a:off x="7517" y="11597"/>
              <a:ext cx="37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8" name="Rectangle 160"/>
            <p:cNvSpPr>
              <a:spLocks noChangeArrowheads="1"/>
            </p:cNvSpPr>
            <p:nvPr/>
          </p:nvSpPr>
          <p:spPr bwMode="auto">
            <a:xfrm>
              <a:off x="6842" y="11946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29" name="Rectangle 161"/>
            <p:cNvSpPr>
              <a:spLocks noChangeArrowheads="1"/>
            </p:cNvSpPr>
            <p:nvPr/>
          </p:nvSpPr>
          <p:spPr bwMode="auto">
            <a:xfrm>
              <a:off x="7282" y="11627"/>
              <a:ext cx="36" cy="266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88230" name="Rectangle 162"/>
            <p:cNvSpPr>
              <a:spLocks noChangeArrowheads="1"/>
            </p:cNvSpPr>
            <p:nvPr/>
          </p:nvSpPr>
          <p:spPr bwMode="auto">
            <a:xfrm>
              <a:off x="7046" y="11306"/>
              <a:ext cx="37" cy="26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pl-PL" altLang="zh-TW" sz="1400">
                  <a:solidFill>
                    <a:srgbClr val="000000"/>
                  </a:solidFill>
                  <a:latin typeface="Arial" pitchFamily="34" charset="0"/>
                  <a:ea typeface="新細明體" pitchFamily="18" charset="-120"/>
                </a:rPr>
                <a:t>'</a:t>
              </a:r>
              <a:endParaRPr lang="pl-PL" altLang="zh-TW">
                <a:latin typeface="Arial" pitchFamily="34" charset="0"/>
                <a:ea typeface="新細明體" pitchFamily="18" charset="-120"/>
              </a:endParaRPr>
            </a:p>
          </p:txBody>
        </p:sp>
      </p:grpSp>
      <p:sp>
        <p:nvSpPr>
          <p:cNvPr id="88070" name="Rectangle 163"/>
          <p:cNvSpPr>
            <a:spLocks noChangeArrowheads="1"/>
          </p:cNvSpPr>
          <p:nvPr/>
        </p:nvSpPr>
        <p:spPr bwMode="auto">
          <a:xfrm>
            <a:off x="1476375" y="538163"/>
            <a:ext cx="4381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sz="3600">
                <a:solidFill>
                  <a:schemeClr val="tx2"/>
                </a:solidFill>
                <a:ea typeface="新細明體" pitchFamily="18" charset="-120"/>
              </a:rPr>
              <a:t>2D network, 3D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11A0A34-B75A-4433-9E60-D1CF9A28DD84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890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890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F80F19B-5858-4896-B5A8-EEB34BBE1CEC}" type="slidenum">
              <a:rPr lang="zh-TW" altLang="en-US" sz="1200" smtClean="0"/>
              <a:pPr eaLnBrk="1" hangingPunct="1"/>
              <a:t>117</a:t>
            </a:fld>
            <a:endParaRPr lang="en-US" altLang="zh-TW" sz="1200" smtClean="0"/>
          </a:p>
        </p:txBody>
      </p:sp>
      <p:pic>
        <p:nvPicPr>
          <p:cNvPr id="8909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" t="-11768" r="-7294" b="-7509"/>
          <a:stretch>
            <a:fillRect/>
          </a:stretch>
        </p:blipFill>
        <p:spPr bwMode="auto">
          <a:xfrm>
            <a:off x="1676400" y="1417638"/>
            <a:ext cx="5543550" cy="4200525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4" name="Text Box 3"/>
          <p:cNvSpPr txBox="1">
            <a:spLocks noChangeArrowheads="1"/>
          </p:cNvSpPr>
          <p:nvPr/>
        </p:nvSpPr>
        <p:spPr bwMode="auto">
          <a:xfrm>
            <a:off x="298450" y="5824538"/>
            <a:ext cx="8596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TW">
                <a:latin typeface="Arial" pitchFamily="34" charset="0"/>
                <a:ea typeface="新細明體" pitchFamily="18" charset="-120"/>
              </a:rPr>
              <a:t>Java demos: </a:t>
            </a:r>
            <a:r>
              <a:rPr lang="pl-PL" altLang="zh-TW">
                <a:latin typeface="Arial" pitchFamily="34" charset="0"/>
                <a:ea typeface="新細明體" pitchFamily="18" charset="-120"/>
              </a:rPr>
              <a:t>http://www.neuroinformatik.ruhr-uni-bochum.de/ini/VDM/research/gsn/DemoGNG/GNG.html</a:t>
            </a:r>
          </a:p>
        </p:txBody>
      </p:sp>
      <p:sp>
        <p:nvSpPr>
          <p:cNvPr id="89095" name="Rectangle 4"/>
          <p:cNvSpPr>
            <a:spLocks noChangeArrowheads="1"/>
          </p:cNvSpPr>
          <p:nvPr/>
        </p:nvSpPr>
        <p:spPr bwMode="auto">
          <a:xfrm>
            <a:off x="5505450" y="3271838"/>
            <a:ext cx="1549400" cy="1079500"/>
          </a:xfrm>
          <a:prstGeom prst="rect">
            <a:avLst/>
          </a:prstGeom>
          <a:solidFill>
            <a:srgbClr val="F8F8F8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  <p:grpSp>
        <p:nvGrpSpPr>
          <p:cNvPr id="89096" name="Group 5"/>
          <p:cNvGrpSpPr>
            <a:grpSpLocks/>
          </p:cNvGrpSpPr>
          <p:nvPr/>
        </p:nvGrpSpPr>
        <p:grpSpPr bwMode="auto">
          <a:xfrm>
            <a:off x="1800225" y="2020888"/>
            <a:ext cx="4879975" cy="3244850"/>
            <a:chOff x="1134" y="1273"/>
            <a:chExt cx="3074" cy="2044"/>
          </a:xfrm>
        </p:grpSpPr>
        <p:sp>
          <p:nvSpPr>
            <p:cNvPr id="89098" name="Rectangle 6"/>
            <p:cNvSpPr>
              <a:spLocks noChangeArrowheads="1"/>
            </p:cNvSpPr>
            <p:nvPr/>
          </p:nvSpPr>
          <p:spPr bwMode="auto">
            <a:xfrm>
              <a:off x="1134" y="1322"/>
              <a:ext cx="849" cy="739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9099" name="Rectangle 7"/>
            <p:cNvSpPr>
              <a:spLocks noChangeArrowheads="1"/>
            </p:cNvSpPr>
            <p:nvPr/>
          </p:nvSpPr>
          <p:spPr bwMode="auto">
            <a:xfrm>
              <a:off x="3317" y="1273"/>
              <a:ext cx="891" cy="534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9100" name="Rectangle 8"/>
            <p:cNvSpPr>
              <a:spLocks noChangeArrowheads="1"/>
            </p:cNvSpPr>
            <p:nvPr/>
          </p:nvSpPr>
          <p:spPr bwMode="auto">
            <a:xfrm>
              <a:off x="1134" y="2892"/>
              <a:ext cx="552" cy="42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  <p:sp>
          <p:nvSpPr>
            <p:cNvPr id="89101" name="Rectangle 9"/>
            <p:cNvSpPr>
              <a:spLocks noChangeArrowheads="1"/>
            </p:cNvSpPr>
            <p:nvPr/>
          </p:nvSpPr>
          <p:spPr bwMode="auto">
            <a:xfrm>
              <a:off x="1576" y="2929"/>
              <a:ext cx="388" cy="151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TW" altLang="en-US">
                <a:ea typeface="新細明體" pitchFamily="18" charset="-120"/>
              </a:endParaRPr>
            </a:p>
          </p:txBody>
        </p:sp>
      </p:grpSp>
      <p:sp>
        <p:nvSpPr>
          <p:cNvPr id="89097" name="Rectangle 10"/>
          <p:cNvSpPr>
            <a:spLocks noChangeArrowheads="1"/>
          </p:cNvSpPr>
          <p:nvPr/>
        </p:nvSpPr>
        <p:spPr bwMode="auto">
          <a:xfrm>
            <a:off x="1547813" y="538163"/>
            <a:ext cx="349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TW" sz="3600">
                <a:solidFill>
                  <a:schemeClr val="tx2"/>
                </a:solidFill>
                <a:ea typeface="新細明體" pitchFamily="18" charset="-120"/>
              </a:rPr>
              <a:t>Training process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2E7CC59-0A42-447E-A1F7-E3C6F8761FA6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31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31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73E8B92-9851-4D46-AEDD-48CCC4B92CF3}" type="slidenum">
              <a:rPr lang="zh-TW" altLang="en-US" sz="1200" smtClean="0"/>
              <a:pPr eaLnBrk="1" hangingPunct="1"/>
              <a:t>118</a:t>
            </a:fld>
            <a:endParaRPr lang="en-US" altLang="zh-TW" sz="1200" smtClean="0"/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7518" y="1371600"/>
            <a:ext cx="8447881" cy="4176712"/>
          </a:xfrm>
          <a:noFill/>
        </p:spPr>
        <p:txBody>
          <a:bodyPr/>
          <a:lstStyle/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How to capture the meaning of words, semantic relations?</a:t>
            </a:r>
          </a:p>
          <a:p>
            <a:pPr marL="0" indent="0" eaLnBrk="1" hangingPunct="1"/>
            <a:r>
              <a:rPr lang="en-US" altLang="zh-TW" sz="2200" dirty="0" smtClean="0"/>
              <a:t> </a:t>
            </a:r>
            <a:r>
              <a:rPr lang="pl-PL" altLang="zh-TW" sz="2200" dirty="0" smtClean="0"/>
              <a:t>16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animals</a:t>
            </a:r>
            <a:r>
              <a:rPr lang="pl-PL" altLang="zh-TW" sz="2200" dirty="0" smtClean="0">
                <a:ea typeface="新細明體" pitchFamily="18" charset="-120"/>
                <a:cs typeface="Arial" pitchFamily="34" charset="0"/>
              </a:rPr>
              <a:t>: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pigeon</a:t>
            </a:r>
            <a:r>
              <a:rPr lang="pl-PL" altLang="zh-TW" sz="2200" dirty="0" smtClean="0">
                <a:ea typeface="新細明體" pitchFamily="18" charset="-120"/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chicken</a:t>
            </a:r>
            <a:r>
              <a:rPr lang="pl-PL" altLang="zh-TW" sz="2200" dirty="0" smtClean="0">
                <a:ea typeface="新細明體" pitchFamily="18" charset="-120"/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duck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goose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owl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hawk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 eagle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cs typeface="Arial" pitchFamily="34" charset="0"/>
              </a:rPr>
              <a:t> </a:t>
            </a:r>
          </a:p>
          <a:p>
            <a:pPr marL="0" indent="0" eaLnBrk="1" hangingPunct="1">
              <a:buNone/>
            </a:pPr>
            <a:r>
              <a:rPr lang="en-US" altLang="zh-TW" sz="2200" dirty="0">
                <a:ea typeface="新細明體" pitchFamily="18" charset="-120"/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  </a:t>
            </a:r>
            <a:r>
              <a:rPr lang="en-US" altLang="zh-TW" sz="2200" dirty="0" smtClean="0">
                <a:ea typeface="新細明體" pitchFamily="18" charset="-120"/>
              </a:rPr>
              <a:t>fox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 dog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wolf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cat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tiger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lion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horse</a:t>
            </a:r>
            <a:r>
              <a:rPr lang="pl-PL" altLang="zh-TW" sz="2200" dirty="0" smtClean="0">
                <a:cs typeface="Arial" pitchFamily="34" charset="0"/>
              </a:rPr>
              <a:t>, zebra, </a:t>
            </a:r>
            <a:r>
              <a:rPr lang="en-US" altLang="zh-TW" sz="2200" dirty="0" smtClean="0">
                <a:ea typeface="新細明體" pitchFamily="18" charset="-120"/>
              </a:rPr>
              <a:t>cow</a:t>
            </a:r>
            <a:r>
              <a:rPr lang="pl-PL" altLang="zh-TW" sz="2200" dirty="0" smtClean="0">
                <a:cs typeface="Arial" pitchFamily="34" charset="0"/>
              </a:rPr>
              <a:t>. </a:t>
            </a:r>
            <a:endParaRPr lang="en-US" altLang="zh-TW" sz="2200" dirty="0" smtClean="0">
              <a:ea typeface="新細明體" pitchFamily="18" charset="-120"/>
            </a:endParaRPr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Use </a:t>
            </a:r>
            <a:r>
              <a:rPr lang="pl-PL" altLang="zh-TW" sz="2200" dirty="0" smtClean="0">
                <a:cs typeface="Arial" pitchFamily="34" charset="0"/>
              </a:rPr>
              <a:t>13 </a:t>
            </a:r>
            <a:r>
              <a:rPr lang="en-US" altLang="zh-TW" sz="2200" dirty="0" smtClean="0">
                <a:ea typeface="新細明體" pitchFamily="18" charset="-120"/>
              </a:rPr>
              <a:t>binary features</a:t>
            </a:r>
            <a:r>
              <a:rPr lang="pl-PL" altLang="zh-TW" sz="2200" dirty="0" smtClean="0">
                <a:cs typeface="Arial" pitchFamily="34" charset="0"/>
              </a:rPr>
              <a:t>: </a:t>
            </a:r>
            <a:r>
              <a:rPr lang="en-US" altLang="zh-TW" sz="2200" dirty="0" smtClean="0">
                <a:ea typeface="新細明體" pitchFamily="18" charset="-120"/>
              </a:rPr>
              <a:t>small, medium, large</a:t>
            </a:r>
            <a:r>
              <a:rPr lang="en-US" altLang="zh-TW" sz="2200" dirty="0" smtClean="0">
                <a:cs typeface="Arial" pitchFamily="34" charset="0"/>
              </a:rPr>
              <a:t>,</a:t>
            </a:r>
            <a:r>
              <a:rPr lang="pl-PL" altLang="zh-TW" sz="2200" dirty="0" smtClean="0"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</a:rPr>
              <a:t>has </a:t>
            </a:r>
            <a:r>
              <a:rPr lang="pl-PL" altLang="zh-TW" sz="2200" dirty="0" smtClean="0">
                <a:cs typeface="Arial" pitchFamily="34" charset="0"/>
              </a:rPr>
              <a:t>2 </a:t>
            </a:r>
            <a:r>
              <a:rPr lang="en-US" altLang="zh-TW" sz="2200" dirty="0" smtClean="0">
                <a:ea typeface="新細明體" pitchFamily="18" charset="-120"/>
              </a:rPr>
              <a:t>legs</a:t>
            </a:r>
            <a:r>
              <a:rPr lang="pl-PL" altLang="zh-TW" sz="2200" dirty="0" smtClean="0">
                <a:cs typeface="Arial" pitchFamily="34" charset="0"/>
              </a:rPr>
              <a:t>, 4 </a:t>
            </a:r>
            <a:endParaRPr lang="en-US" altLang="zh-TW" sz="2200" dirty="0" smtClean="0">
              <a:cs typeface="Arial" pitchFamily="34" charset="0"/>
            </a:endParaRPr>
          </a:p>
          <a:p>
            <a:pPr marL="0" indent="0" eaLnBrk="1" hangingPunct="1">
              <a:buNone/>
            </a:pPr>
            <a:r>
              <a:rPr lang="en-US" altLang="zh-TW" sz="2200" dirty="0">
                <a:ea typeface="新細明體" pitchFamily="18" charset="-120"/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  <a:cs typeface="Arial" pitchFamily="34" charset="0"/>
              </a:rPr>
              <a:t>  </a:t>
            </a:r>
            <a:r>
              <a:rPr lang="en-US" altLang="zh-TW" sz="2200" dirty="0" smtClean="0">
                <a:ea typeface="新細明體" pitchFamily="18" charset="-120"/>
              </a:rPr>
              <a:t>legs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hair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hoofs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mane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feathers</a:t>
            </a:r>
            <a:r>
              <a:rPr lang="en-US" altLang="zh-TW" sz="2200" dirty="0" smtClean="0">
                <a:cs typeface="Arial" pitchFamily="34" charset="0"/>
              </a:rPr>
              <a:t>,</a:t>
            </a:r>
            <a:r>
              <a:rPr lang="pl-PL" altLang="zh-TW" sz="2200" dirty="0" smtClean="0"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</a:rPr>
              <a:t>hunts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runs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flies</a:t>
            </a:r>
            <a:r>
              <a:rPr lang="pl-PL" altLang="zh-TW" sz="2200" dirty="0" smtClean="0">
                <a:cs typeface="Arial" pitchFamily="34" charset="0"/>
              </a:rPr>
              <a:t>, </a:t>
            </a:r>
            <a:r>
              <a:rPr lang="en-US" altLang="zh-TW" sz="2200" dirty="0" smtClean="0">
                <a:ea typeface="新細明體" pitchFamily="18" charset="-120"/>
              </a:rPr>
              <a:t>swims</a:t>
            </a:r>
            <a:r>
              <a:rPr lang="pl-PL" altLang="zh-TW" sz="2200" dirty="0" smtClean="0">
                <a:cs typeface="Arial" pitchFamily="34" charset="0"/>
              </a:rPr>
              <a:t>. </a:t>
            </a:r>
            <a:endParaRPr lang="pl-PL" altLang="zh-TW" sz="2200" dirty="0" smtClean="0"/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Form </a:t>
            </a:r>
            <a:r>
              <a:rPr lang="pl-PL" altLang="zh-TW" sz="2200" dirty="0" smtClean="0">
                <a:cs typeface="Arial" pitchFamily="34" charset="0"/>
              </a:rPr>
              <a:t>76 </a:t>
            </a:r>
            <a:r>
              <a:rPr lang="en-US" altLang="zh-TW" sz="2200" dirty="0" smtClean="0">
                <a:ea typeface="新細明體" pitchFamily="18" charset="-120"/>
              </a:rPr>
              <a:t>sentences that describe 16 animals using 13 features.</a:t>
            </a:r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Horse runs</a:t>
            </a:r>
            <a:r>
              <a:rPr lang="en-US" altLang="zh-TW" sz="2200" dirty="0" smtClean="0">
                <a:cs typeface="Arial" pitchFamily="34" charset="0"/>
              </a:rPr>
              <a:t>,</a:t>
            </a:r>
            <a:r>
              <a:rPr lang="pl-PL" altLang="zh-TW" sz="2200" dirty="0" smtClean="0"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</a:rPr>
              <a:t>horse has 4 legs</a:t>
            </a:r>
            <a:r>
              <a:rPr lang="en-US" altLang="zh-TW" sz="2200" dirty="0" smtClean="0">
                <a:cs typeface="Arial" pitchFamily="34" charset="0"/>
              </a:rPr>
              <a:t>,</a:t>
            </a:r>
            <a:r>
              <a:rPr lang="pl-PL" altLang="zh-TW" sz="2200" dirty="0" smtClean="0"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</a:rPr>
              <a:t>horse is big, </a:t>
            </a:r>
            <a:r>
              <a:rPr lang="pl-PL" altLang="zh-TW" sz="2200" dirty="0" smtClean="0">
                <a:cs typeface="Arial" pitchFamily="34" charset="0"/>
              </a:rPr>
              <a:t>.</a:t>
            </a:r>
            <a:r>
              <a:rPr lang="pl-PL" altLang="zh-TW" sz="2200" dirty="0" smtClean="0"/>
              <a:t>..</a:t>
            </a:r>
            <a:r>
              <a:rPr lang="en-US" altLang="zh-TW" sz="2200" dirty="0" smtClean="0"/>
              <a:t>,</a:t>
            </a:r>
            <a:r>
              <a:rPr lang="pl-PL" altLang="zh-TW" sz="2200" dirty="0" smtClean="0">
                <a:cs typeface="Arial" pitchFamily="34" charset="0"/>
              </a:rPr>
              <a:t> </a:t>
            </a:r>
            <a:r>
              <a:rPr lang="en-US" altLang="zh-TW" sz="2200" dirty="0" smtClean="0">
                <a:ea typeface="新細明體" pitchFamily="18" charset="-120"/>
              </a:rPr>
              <a:t>eagle fly, fox </a:t>
            </a:r>
          </a:p>
          <a:p>
            <a:pPr marL="0" indent="0" eaLnBrk="1" hangingPunct="1">
              <a:buNone/>
            </a:pPr>
            <a:r>
              <a:rPr lang="en-US" altLang="zh-TW" sz="2200" dirty="0" smtClean="0">
                <a:ea typeface="新細明體" pitchFamily="18" charset="-120"/>
              </a:rPr>
              <a:t>   hunt, ... </a:t>
            </a:r>
            <a:endParaRPr lang="pl-PL" altLang="zh-TW" sz="2200" dirty="0" smtClean="0"/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Assign a vector of properties to each animal: </a:t>
            </a:r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 V</a:t>
            </a:r>
            <a:r>
              <a:rPr lang="en-US" altLang="zh-TW" sz="2200" baseline="30000" dirty="0" smtClean="0">
                <a:ea typeface="新細明體" pitchFamily="18" charset="-120"/>
              </a:rPr>
              <a:t>(horse)</a:t>
            </a:r>
            <a:r>
              <a:rPr lang="en-US" altLang="zh-TW" sz="2200" dirty="0" smtClean="0">
                <a:ea typeface="新細明體" pitchFamily="18" charset="-120"/>
              </a:rPr>
              <a:t>= [</a:t>
            </a:r>
            <a:r>
              <a:rPr lang="en-US" altLang="zh-TW" sz="2000" dirty="0" smtClean="0">
                <a:ea typeface="新細明體" pitchFamily="18" charset="-120"/>
              </a:rPr>
              <a:t>small=0,medium=0,large=1,has 2 legs=0, 4 legs=1, ... </a:t>
            </a:r>
            <a:r>
              <a:rPr lang="en-US" altLang="zh-TW" sz="2200" dirty="0" smtClean="0">
                <a:ea typeface="新細明體" pitchFamily="18" charset="-120"/>
              </a:rPr>
              <a:t>]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200" dirty="0" smtClean="0">
                <a:ea typeface="新細明體" pitchFamily="18" charset="-120"/>
              </a:rPr>
              <a:t>           = [0,0,1,0,1,1,1,1,0,0,1,0,0]</a:t>
            </a:r>
          </a:p>
          <a:p>
            <a:pPr marL="0" indent="0" eaLnBrk="1" hangingPunct="1"/>
            <a:endParaRPr lang="en-US" altLang="zh-TW" sz="2200" dirty="0" smtClean="0">
              <a:ea typeface="新細明體" pitchFamily="18" charset="-120"/>
            </a:endParaRPr>
          </a:p>
          <a:p>
            <a:pPr marL="0" indent="0" eaLnBrk="1" hangingPunct="1"/>
            <a:r>
              <a:rPr lang="en-US" altLang="zh-TW" sz="2200" dirty="0" smtClean="0">
                <a:ea typeface="新細明體" pitchFamily="18" charset="-120"/>
              </a:rPr>
              <a:t>Map these 13D vectors in 2D</a:t>
            </a:r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Semantic maps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010B2F9-9919-4FBF-A5FE-FC955137AC90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3556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3557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7E0F80A-2CDB-4FF1-A0CD-F42E9D3A3AFF}" type="slidenum">
              <a:rPr lang="zh-TW" altLang="en-US" sz="1200" smtClean="0"/>
              <a:pPr eaLnBrk="1" hangingPunct="1"/>
              <a:t>119</a:t>
            </a:fld>
            <a:endParaRPr lang="en-US" altLang="zh-TW" sz="1200" smtClean="0"/>
          </a:p>
        </p:txBody>
      </p:sp>
      <p:graphicFrame>
        <p:nvGraphicFramePr>
          <p:cNvPr id="23554" name="Object 2"/>
          <p:cNvGraphicFramePr>
            <a:graphicFrameLocks noGrp="1" noChangeAspect="1"/>
          </p:cNvGraphicFramePr>
          <p:nvPr>
            <p:ph type="body" idx="1"/>
          </p:nvPr>
        </p:nvGraphicFramePr>
        <p:xfrm>
          <a:off x="1835150" y="1773238"/>
          <a:ext cx="412115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78" name="Document" r:id="rId3" imgW="4592160" imgH="4584600" progId="WordPro.Document">
                  <p:embed/>
                </p:oleObj>
              </mc:Choice>
              <mc:Fallback>
                <p:oleObj name="Document" r:id="rId3" imgW="4592160" imgH="4584600" progId="WordPro.Document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773238"/>
                        <a:ext cx="4121150" cy="4114800"/>
                      </a:xfrm>
                      <a:prstGeom prst="rect">
                        <a:avLst/>
                      </a:prstGeom>
                      <a:solidFill>
                        <a:srgbClr val="F8F8F8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Semantic maps</a:t>
            </a:r>
            <a:r>
              <a:rPr lang="pl-PL" altLang="zh-TW" smtClean="0"/>
              <a:t>: MDS </a:t>
            </a:r>
            <a:r>
              <a:rPr lang="en-US" altLang="zh-TW" smtClean="0">
                <a:ea typeface="新細明體" pitchFamily="18" charset="-120"/>
              </a:rPr>
              <a:t>&amp;</a:t>
            </a:r>
            <a:r>
              <a:rPr lang="pl-PL" altLang="zh-TW" smtClean="0"/>
              <a:t> SOM</a:t>
            </a:r>
            <a:endParaRPr lang="en-US" altLang="zh-TW" smtClean="0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A56F12F-F0D7-474C-9DDF-D9B2E0405424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42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42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49C8A537-271D-41FA-BA36-0CC37366B07A}" type="slidenum">
              <a:rPr lang="zh-TW" altLang="en-US" sz="1200" smtClean="0"/>
              <a:pPr eaLnBrk="1" hangingPunct="1"/>
              <a:t>120</a:t>
            </a:fld>
            <a:endParaRPr lang="en-US" altLang="zh-TW" sz="1200" smtClean="0"/>
          </a:p>
        </p:txBody>
      </p:sp>
      <p:sp>
        <p:nvSpPr>
          <p:cNvPr id="9421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09575" y="1790700"/>
            <a:ext cx="2895600" cy="4043363"/>
          </a:xfrm>
          <a:noFill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pl-PL" altLang="zh-TW" sz="1900" smtClean="0">
                <a:cs typeface="Arial" pitchFamily="34" charset="0"/>
              </a:rPr>
              <a:t>572 </a:t>
            </a:r>
            <a:r>
              <a:rPr lang="en-US" altLang="zh-TW" sz="1900" smtClean="0">
                <a:ea typeface="新細明體" pitchFamily="18" charset="-120"/>
                <a:cs typeface="Arial" pitchFamily="34" charset="0"/>
              </a:rPr>
              <a:t>samples of olive oil were collected from </a:t>
            </a:r>
            <a:r>
              <a:rPr lang="pl-PL" altLang="zh-TW" sz="1900" smtClean="0">
                <a:cs typeface="Arial" pitchFamily="34" charset="0"/>
              </a:rPr>
              <a:t>9 </a:t>
            </a:r>
            <a:r>
              <a:rPr lang="en-US" altLang="zh-TW" sz="1900" smtClean="0">
                <a:ea typeface="新細明體" pitchFamily="18" charset="-120"/>
              </a:rPr>
              <a:t>Italian provinces</a:t>
            </a:r>
            <a:r>
              <a:rPr lang="pl-PL" altLang="zh-TW" sz="1900" smtClean="0"/>
              <a:t>.</a:t>
            </a:r>
            <a:r>
              <a:rPr lang="pl-PL" altLang="zh-TW" sz="1900" smtClean="0">
                <a:cs typeface="Arial" pitchFamily="34" charset="0"/>
              </a:rPr>
              <a:t> </a:t>
            </a:r>
            <a:r>
              <a:rPr lang="pl-PL" altLang="zh-TW" sz="1900" smtClean="0"/>
              <a:t/>
            </a:r>
            <a:br>
              <a:rPr lang="pl-PL" altLang="zh-TW" sz="1900" smtClean="0"/>
            </a:br>
            <a:endParaRPr lang="en-US" altLang="zh-TW" sz="1900" smtClean="0">
              <a:ea typeface="新細明體" pitchFamily="18" charset="-120"/>
            </a:endParaRP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1900" smtClean="0">
                <a:ea typeface="新細明體" pitchFamily="18" charset="-120"/>
              </a:rPr>
              <a:t>Content of 8 fats were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1900" smtClean="0">
                <a:ea typeface="新細明體" pitchFamily="18" charset="-120"/>
              </a:rPr>
              <a:t>was determine for each oil. </a:t>
            </a:r>
            <a:endParaRPr lang="pl-PL" altLang="zh-TW" sz="1900" smtClean="0"/>
          </a:p>
          <a:p>
            <a:pPr marL="0" indent="0" eaLnBrk="1" hangingPunct="1">
              <a:buFont typeface="Wingdings" pitchFamily="2" charset="2"/>
              <a:buNone/>
            </a:pPr>
            <a:r>
              <a:rPr lang="pl-PL" altLang="zh-TW" sz="1900" smtClean="0"/>
              <a:t>SOM </a:t>
            </a:r>
            <a:r>
              <a:rPr lang="pl-PL" altLang="zh-TW" sz="1900" smtClean="0">
                <a:cs typeface="Arial" pitchFamily="34" charset="0"/>
              </a:rPr>
              <a:t>20 x 20</a:t>
            </a:r>
            <a:r>
              <a:rPr lang="en-US" altLang="zh-TW" sz="1900" smtClean="0">
                <a:ea typeface="新細明體" pitchFamily="18" charset="-120"/>
              </a:rPr>
              <a:t> network</a:t>
            </a:r>
            <a:r>
              <a:rPr lang="pl-PL" altLang="zh-TW" sz="1900" smtClean="0"/>
              <a:t>,</a:t>
            </a:r>
            <a:r>
              <a:rPr lang="pl-PL" altLang="zh-TW" sz="1900" smtClean="0">
                <a:cs typeface="Arial" pitchFamily="34" charset="0"/>
              </a:rPr>
              <a:t> </a:t>
            </a:r>
            <a:endParaRPr lang="pl-PL" altLang="zh-TW" sz="1900" smtClean="0"/>
          </a:p>
          <a:p>
            <a:pPr marL="0" indent="0" eaLnBrk="1" hangingPunct="1">
              <a:buFont typeface="Wingdings" pitchFamily="2" charset="2"/>
              <a:buNone/>
            </a:pPr>
            <a:r>
              <a:rPr lang="pl-PL" altLang="zh-TW" sz="1900" smtClean="0"/>
              <a:t>Map 8D =&gt; 2D.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pl-PL" altLang="zh-TW" sz="1900" smtClean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1900" smtClean="0">
                <a:ea typeface="新細明體" pitchFamily="18" charset="-120"/>
              </a:rPr>
              <a:t>Classification accuracy was around </a:t>
            </a:r>
            <a:r>
              <a:rPr lang="pl-PL" altLang="zh-TW" sz="1900" smtClean="0">
                <a:cs typeface="Arial" pitchFamily="34" charset="0"/>
              </a:rPr>
              <a:t>95-97%.</a:t>
            </a:r>
            <a:endParaRPr lang="pl-PL" altLang="zh-TW" sz="1900" smtClean="0"/>
          </a:p>
        </p:txBody>
      </p:sp>
      <p:pic>
        <p:nvPicPr>
          <p:cNvPr id="942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788" y="1770063"/>
            <a:ext cx="53911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5" name="Text Box 4"/>
          <p:cNvSpPr txBox="1">
            <a:spLocks noChangeArrowheads="1"/>
          </p:cNvSpPr>
          <p:nvPr/>
        </p:nvSpPr>
        <p:spPr bwMode="auto">
          <a:xfrm>
            <a:off x="414338" y="6007100"/>
            <a:ext cx="8586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TW" sz="2000">
                <a:latin typeface="Arial" pitchFamily="34" charset="0"/>
                <a:ea typeface="新細明體" pitchFamily="18" charset="-120"/>
              </a:rPr>
              <a:t>Note that topographical relations are preserve, region 3 is most diverse.</a:t>
            </a:r>
            <a:endParaRPr lang="pl-PL" altLang="zh-TW" sz="2000"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9421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Italian olive oil (example)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0B49882-03A6-49F7-AF6F-92D64AFBBE1B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52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52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BA985B0-056B-46EB-9FD6-0CD47C4547E7}" type="slidenum">
              <a:rPr lang="zh-TW" altLang="en-US" sz="1200" smtClean="0"/>
              <a:pPr eaLnBrk="1" hangingPunct="1"/>
              <a:t>121</a:t>
            </a:fld>
            <a:endParaRPr lang="en-US" altLang="zh-TW" sz="1200" smtClean="0"/>
          </a:p>
        </p:txBody>
      </p:sp>
      <p:sp>
        <p:nvSpPr>
          <p:cNvPr id="95237" name="Text Box 2"/>
          <p:cNvSpPr txBox="1">
            <a:spLocks noChangeArrowheads="1"/>
          </p:cNvSpPr>
          <p:nvPr/>
        </p:nvSpPr>
        <p:spPr bwMode="auto">
          <a:xfrm>
            <a:off x="758825" y="5794375"/>
            <a:ext cx="79803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TW" sz="2000">
                <a:latin typeface="Arial" pitchFamily="34" charset="0"/>
                <a:ea typeface="新細明體" pitchFamily="18" charset="-120"/>
              </a:rPr>
              <a:t>300 faces, similarity matrix evaluated and Sammon mapping applied (from Klock &amp; Buhmann 1997). </a:t>
            </a:r>
          </a:p>
        </p:txBody>
      </p:sp>
      <p:pic>
        <p:nvPicPr>
          <p:cNvPr id="9523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1412875"/>
            <a:ext cx="5111750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9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7793037" cy="609600"/>
          </a:xfrm>
        </p:spPr>
        <p:txBody>
          <a:bodyPr/>
          <a:lstStyle/>
          <a:p>
            <a:pPr eaLnBrk="1" hangingPunct="1"/>
            <a:r>
              <a:rPr lang="pl-PL" altLang="zh-TW" sz="3200" smtClean="0"/>
              <a:t>Similarity of faces</a:t>
            </a:r>
            <a:endParaRPr lang="en-US" altLang="zh-TW" sz="3200" smtClean="0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日期版面配置區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6628268-C3AA-4E6B-A8E2-EC6AF50A1DDF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96259" name="頁尾版面配置區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96260" name="投影片編號版面配置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24B3F43-6C13-4C91-9D44-DF68721E717A}" type="slidenum">
              <a:rPr lang="zh-TW" altLang="en-US" sz="1200" smtClean="0"/>
              <a:pPr eaLnBrk="1" hangingPunct="1"/>
              <a:t>122</a:t>
            </a:fld>
            <a:endParaRPr lang="en-US" altLang="zh-TW" sz="1200" smtClean="0"/>
          </a:p>
        </p:txBody>
      </p:sp>
      <p:sp>
        <p:nvSpPr>
          <p:cNvPr id="9626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900113" y="1628775"/>
            <a:ext cx="7910512" cy="1030288"/>
          </a:xfrm>
          <a:noFill/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US" altLang="zh-TW" sz="2000" smtClean="0">
                <a:ea typeface="新細明體" pitchFamily="18" charset="-120"/>
              </a:rPr>
              <a:t>WorldBank data </a:t>
            </a:r>
            <a:r>
              <a:rPr lang="pl-PL" altLang="zh-TW" sz="2000" smtClean="0"/>
              <a:t>1992, 39 </a:t>
            </a:r>
            <a:r>
              <a:rPr lang="en-US" altLang="zh-TW" sz="2000" smtClean="0">
                <a:ea typeface="新細明體" pitchFamily="18" charset="-120"/>
              </a:rPr>
              <a:t>quality of life indicators</a:t>
            </a:r>
            <a:r>
              <a:rPr lang="pl-PL" altLang="zh-TW" sz="2000" smtClean="0"/>
              <a:t>.</a:t>
            </a:r>
            <a:r>
              <a:rPr lang="en-US" altLang="zh-TW" sz="2000" smtClean="0">
                <a:ea typeface="新細明體" pitchFamily="18" charset="-120"/>
              </a:rPr>
              <a:t> </a:t>
            </a:r>
            <a:r>
              <a:rPr lang="pl-PL" altLang="zh-TW" sz="2000" smtClean="0"/>
              <a:t>SOM </a:t>
            </a:r>
            <a:r>
              <a:rPr lang="en-US" altLang="zh-TW" sz="2000" smtClean="0">
                <a:ea typeface="新細明體" pitchFamily="18" charset="-120"/>
              </a:rPr>
              <a:t>map and</a:t>
            </a:r>
            <a:r>
              <a:rPr lang="pl-PL" altLang="zh-TW" sz="2000" smtClean="0"/>
              <a:t> </a:t>
            </a:r>
            <a:r>
              <a:rPr lang="en-US" altLang="zh-TW" sz="2000" smtClean="0">
                <a:ea typeface="新細明體" pitchFamily="18" charset="-120"/>
              </a:rPr>
              <a:t>the same colors on the world map</a:t>
            </a:r>
            <a:r>
              <a:rPr lang="pl-PL" altLang="zh-TW" sz="2000" smtClean="0"/>
              <a:t>.</a:t>
            </a:r>
            <a:r>
              <a:rPr lang="en-US" altLang="zh-TW" sz="2000" smtClean="0">
                <a:ea typeface="新細明體" pitchFamily="18" charset="-120"/>
              </a:rPr>
              <a:t> More examples of business applications from </a:t>
            </a:r>
            <a:r>
              <a:rPr lang="pl-PL" altLang="zh-TW" sz="2000" smtClean="0">
                <a:hlinkClick r:id="rId2"/>
              </a:rPr>
              <a:t>http://www.eudaptics.com/</a:t>
            </a:r>
            <a:r>
              <a:rPr lang="en-US" altLang="zh-TW" sz="2000" smtClean="0">
                <a:ea typeface="新細明體" pitchFamily="18" charset="-120"/>
              </a:rPr>
              <a:t> </a:t>
            </a:r>
            <a:endParaRPr lang="pl-PL" altLang="zh-TW" sz="2000" smtClean="0"/>
          </a:p>
        </p:txBody>
      </p:sp>
      <p:pic>
        <p:nvPicPr>
          <p:cNvPr id="9626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81300"/>
            <a:ext cx="691515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640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17900" y="2197100"/>
            <a:ext cx="4379913" cy="2552700"/>
          </a:xfrm>
          <a:noFill/>
        </p:spPr>
      </p:pic>
      <p:sp>
        <p:nvSpPr>
          <p:cNvPr id="9626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Quality of life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66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66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76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02422AC-FC3E-46CA-B9CC-94B464FEA81E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649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650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FAEB9C7-B868-41E7-A6C1-2A80E06716B9}" type="slidenum">
              <a:rPr lang="zh-TW" altLang="en-US" sz="1200" smtClean="0"/>
              <a:pPr eaLnBrk="1" hangingPunct="1"/>
              <a:t>123</a:t>
            </a:fld>
            <a:endParaRPr lang="en-US" altLang="zh-TW" sz="1200" smtClean="0"/>
          </a:p>
        </p:txBody>
      </p:sp>
      <p:sp>
        <p:nvSpPr>
          <p:cNvPr id="10650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1065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106503" name="AutoShape 4"/>
          <p:cNvSpPr>
            <a:spLocks noChangeArrowheads="1"/>
          </p:cNvSpPr>
          <p:nvPr/>
        </p:nvSpPr>
        <p:spPr bwMode="auto">
          <a:xfrm rot="-1466637">
            <a:off x="4724400" y="47244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3616AED-917A-4D6D-BDDD-E53D2C7ACEB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752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752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1BD684F-4F70-4A0A-AA6C-731620157E75}" type="slidenum">
              <a:rPr lang="zh-TW" altLang="en-US" sz="1200" smtClean="0"/>
              <a:pPr eaLnBrk="1" hangingPunct="1"/>
              <a:t>124</a:t>
            </a:fld>
            <a:endParaRPr lang="en-US" altLang="zh-TW" sz="1200" smtClean="0"/>
          </a:p>
        </p:txBody>
      </p:sp>
      <p:sp>
        <p:nvSpPr>
          <p:cNvPr id="10752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Clustering High-Dimensional Data</a:t>
            </a:r>
          </a:p>
        </p:txBody>
      </p:sp>
      <p:sp>
        <p:nvSpPr>
          <p:cNvPr id="1075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Clustering high-dimensional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Many applications: text documents, DNA micro-array data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Major challenges: 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Many irrelevant dimensions may mask clusters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Distance measure becomes meaningless</a:t>
            </a:r>
            <a:r>
              <a:rPr lang="en-US" altLang="zh-TW" sz="1800" smtClean="0">
                <a:ea typeface="新細明體" pitchFamily="18" charset="-120"/>
                <a:cs typeface="Tahoma" pitchFamily="34" charset="0"/>
              </a:rPr>
              <a:t>—due to </a:t>
            </a:r>
            <a:r>
              <a:rPr lang="en-US" altLang="zh-TW" sz="1800" smtClean="0">
                <a:ea typeface="新細明體" pitchFamily="18" charset="-120"/>
              </a:rPr>
              <a:t>equi-distance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Clusters may exist only in some subspaces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Methods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Feature transformation: only effective if most dimensions are relevant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PCA &amp; SVD useful only when features are highly correlated/redundant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Feature selection: wrapper or filter approaches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useful to find a subspace where the data have nice clusters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Subspace-clustering: find clusters in all the possible subspaces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CLIQUE, ProClus, and frequent pattern-based clustering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05C042A6-DEBD-40AC-B2A9-6270E5E6E28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854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854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B41F40A-315B-4C86-8214-07DCEF56F028}" type="slidenum">
              <a:rPr lang="zh-TW" altLang="en-US" sz="1200" smtClean="0"/>
              <a:pPr eaLnBrk="1" hangingPunct="1"/>
              <a:t>125</a:t>
            </a:fld>
            <a:endParaRPr lang="en-US" altLang="zh-TW" sz="1200" smtClean="0"/>
          </a:p>
        </p:txBody>
      </p:sp>
      <p:pic>
        <p:nvPicPr>
          <p:cNvPr id="10854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075" y="0"/>
            <a:ext cx="2828925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5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6705600" cy="838200"/>
          </a:xfrm>
        </p:spPr>
        <p:txBody>
          <a:bodyPr/>
          <a:lstStyle/>
          <a:p>
            <a:pPr eaLnBrk="1" hangingPunct="1"/>
            <a:r>
              <a:rPr lang="en-US" altLang="zh-TW" sz="3200" dirty="0" smtClean="0">
                <a:ea typeface="新細明體" pitchFamily="18" charset="-120"/>
              </a:rPr>
              <a:t>The Curse of Dimensionality</a:t>
            </a:r>
            <a:br>
              <a:rPr lang="en-US" altLang="zh-TW" sz="3200" dirty="0" smtClean="0">
                <a:ea typeface="新細明體" pitchFamily="18" charset="-120"/>
              </a:rPr>
            </a:br>
            <a:endParaRPr lang="en-US" altLang="zh-TW" sz="1800" dirty="0" smtClean="0">
              <a:ea typeface="新細明體" pitchFamily="18" charset="-120"/>
            </a:endParaRPr>
          </a:p>
        </p:txBody>
      </p:sp>
      <p:sp>
        <p:nvSpPr>
          <p:cNvPr id="1085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5867400" cy="50292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Data in only one dimension is relatively packed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Adding a dimension “stretch” the  points across that dimension, making them further apart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Adding more dimensions will make the points further apart</a:t>
            </a:r>
            <a:r>
              <a:rPr lang="en-US" altLang="zh-TW" sz="2400" smtClean="0">
                <a:ea typeface="新細明體" pitchFamily="18" charset="-120"/>
                <a:cs typeface="Tahoma" pitchFamily="34" charset="0"/>
              </a:rPr>
              <a:t>—high dimensional data is extremely sparse</a:t>
            </a:r>
            <a:endParaRPr lang="en-US" altLang="zh-TW" sz="240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sz="2400" smtClean="0">
                <a:ea typeface="新細明體" pitchFamily="18" charset="-120"/>
              </a:rPr>
              <a:t>Distance measure becomes meaningless—due to equi-distance</a:t>
            </a:r>
          </a:p>
        </p:txBody>
      </p:sp>
      <p:pic>
        <p:nvPicPr>
          <p:cNvPr id="10855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1295400"/>
            <a:ext cx="28765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553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3924300"/>
            <a:ext cx="2743200" cy="251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C081E5D-AE49-4FBC-BBA1-8FA634CE629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0957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0957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FBEAD57-9896-4929-9F4C-5F6827486432}" type="slidenum">
              <a:rPr lang="zh-TW" altLang="en-US" sz="1200" smtClean="0"/>
              <a:pPr eaLnBrk="1" hangingPunct="1"/>
              <a:t>126</a:t>
            </a:fld>
            <a:endParaRPr lang="en-US" altLang="zh-TW" sz="1200" smtClean="0"/>
          </a:p>
        </p:txBody>
      </p:sp>
      <p:pic>
        <p:nvPicPr>
          <p:cNvPr id="10957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4625"/>
            <a:ext cx="2438400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5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04800"/>
            <a:ext cx="6172200" cy="838200"/>
          </a:xfrm>
        </p:spPr>
        <p:txBody>
          <a:bodyPr/>
          <a:lstStyle/>
          <a:p>
            <a:pPr eaLnBrk="1" hangingPunct="1"/>
            <a:r>
              <a:rPr lang="en-US" altLang="zh-TW" sz="3200" dirty="0" smtClean="0">
                <a:ea typeface="新細明體" pitchFamily="18" charset="-120"/>
              </a:rPr>
              <a:t>Why Subspace Clustering?</a:t>
            </a:r>
            <a:br>
              <a:rPr lang="en-US" altLang="zh-TW" sz="3200" dirty="0" smtClean="0">
                <a:ea typeface="新細明體" pitchFamily="18" charset="-120"/>
              </a:rPr>
            </a:br>
            <a:endParaRPr lang="en-US" altLang="zh-TW" sz="1800" dirty="0" smtClean="0">
              <a:ea typeface="新細明體" pitchFamily="18" charset="-120"/>
            </a:endParaRPr>
          </a:p>
        </p:txBody>
      </p:sp>
      <p:sp>
        <p:nvSpPr>
          <p:cNvPr id="1095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90800" y="1295400"/>
            <a:ext cx="6096000" cy="762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1800" smtClean="0">
                <a:ea typeface="新細明體" pitchFamily="18" charset="-120"/>
              </a:rPr>
              <a:t>Clusters may exist only in some subspaces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1800" smtClean="0">
                <a:ea typeface="新細明體" pitchFamily="18" charset="-120"/>
              </a:rPr>
              <a:t>Subspace-clustering: find clusters in all the subspaces</a:t>
            </a:r>
          </a:p>
        </p:txBody>
      </p:sp>
      <p:pic>
        <p:nvPicPr>
          <p:cNvPr id="10957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00288"/>
            <a:ext cx="2438400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273300"/>
            <a:ext cx="25146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2228850"/>
            <a:ext cx="2562225" cy="212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45013"/>
            <a:ext cx="2667000" cy="223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0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495800"/>
            <a:ext cx="2743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81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498975"/>
            <a:ext cx="28194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875CF4A6-2914-495D-B1CF-14169BBC513B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469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469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2548034-F917-47F8-AA71-C09722BE9E04}" type="slidenum">
              <a:rPr lang="zh-TW" altLang="en-US" sz="1200" smtClean="0"/>
              <a:pPr eaLnBrk="1" hangingPunct="1"/>
              <a:t>127</a:t>
            </a:fld>
            <a:endParaRPr lang="en-US" altLang="zh-TW" sz="1200" smtClean="0"/>
          </a:p>
        </p:txBody>
      </p:sp>
      <p:sp>
        <p:nvSpPr>
          <p:cNvPr id="11469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Frequent Pattern-Based Approach</a:t>
            </a:r>
          </a:p>
        </p:txBody>
      </p:sp>
      <p:sp>
        <p:nvSpPr>
          <p:cNvPr id="1146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Clustering high-dimensional space (e.g., clustering text documents, microarray data)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Projected subspace-clustering: which dimensions to be projected on?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CLIQUE, ProClus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Feature extraction: costly and may not be effective?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Using frequent patterns as “features”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“Frequent” are inherent features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Mining freq. patterns may not be so expensive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Typical methods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Frequent-term-based document clustering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Clustering by pattern similarity in micro-array data (pClustering)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ED30E41-03BA-4198-97F6-2B30BBF97E77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571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571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21EAB50-513F-4B5E-96C2-CEBA3A0CE717}" type="slidenum">
              <a:rPr lang="zh-TW" altLang="en-US" sz="1200" smtClean="0"/>
              <a:pPr eaLnBrk="1" hangingPunct="1"/>
              <a:t>128</a:t>
            </a:fld>
            <a:endParaRPr lang="en-US" altLang="zh-TW" sz="1200" smtClean="0"/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534400" cy="6096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Clustering by Pattern Similarity (</a:t>
            </a:r>
            <a:r>
              <a:rPr lang="en-US" altLang="zh-TW" sz="3200" i="1" smtClean="0">
                <a:ea typeface="新細明體" pitchFamily="18" charset="-120"/>
              </a:rPr>
              <a:t>p-</a:t>
            </a:r>
            <a:r>
              <a:rPr lang="en-US" altLang="zh-TW" sz="3200" smtClean="0">
                <a:ea typeface="新細明體" pitchFamily="18" charset="-120"/>
              </a:rPr>
              <a:t>Clustering)</a:t>
            </a:r>
          </a:p>
        </p:txBody>
      </p:sp>
      <p:sp>
        <p:nvSpPr>
          <p:cNvPr id="1157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5029200" cy="2514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100" smtClean="0">
                <a:ea typeface="新細明體" pitchFamily="18" charset="-120"/>
              </a:rPr>
              <a:t>Right:  The micro-array “raw” data shows 3 genes and their values in a multi-dimensional space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100" smtClean="0">
                <a:ea typeface="新細明體" pitchFamily="18" charset="-120"/>
              </a:rPr>
              <a:t>Difficult to find their patterns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100" smtClean="0">
                <a:ea typeface="新細明體" pitchFamily="18" charset="-120"/>
              </a:rPr>
              <a:t>Bottom: Some subsets of dimensions form nice </a:t>
            </a:r>
            <a:r>
              <a:rPr lang="en-US" altLang="zh-TW" sz="2100" smtClean="0">
                <a:solidFill>
                  <a:schemeClr val="hlink"/>
                </a:solidFill>
                <a:ea typeface="新細明體" pitchFamily="18" charset="-120"/>
              </a:rPr>
              <a:t>shift</a:t>
            </a:r>
            <a:r>
              <a:rPr lang="en-US" altLang="zh-TW" sz="2100" smtClean="0">
                <a:ea typeface="新細明體" pitchFamily="18" charset="-120"/>
              </a:rPr>
              <a:t> and </a:t>
            </a:r>
            <a:r>
              <a:rPr lang="en-US" altLang="zh-TW" sz="2100" smtClean="0">
                <a:solidFill>
                  <a:schemeClr val="hlink"/>
                </a:solidFill>
                <a:ea typeface="新細明體" pitchFamily="18" charset="-120"/>
              </a:rPr>
              <a:t>scaling</a:t>
            </a:r>
            <a:r>
              <a:rPr lang="en-US" altLang="zh-TW" sz="2100" smtClean="0">
                <a:ea typeface="新細明體" pitchFamily="18" charset="-120"/>
              </a:rPr>
              <a:t> patterns</a:t>
            </a:r>
          </a:p>
        </p:txBody>
      </p:sp>
      <p:pic>
        <p:nvPicPr>
          <p:cNvPr id="1157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144588"/>
            <a:ext cx="3762375" cy="274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2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950" y="3962400"/>
            <a:ext cx="382905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72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957638"/>
            <a:ext cx="3810000" cy="282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日期版面配置區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7860942-8928-4803-8843-02378F8979DF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5606" name="頁尾版面配置區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5607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B77BD230-A29A-479C-99F7-65B2A60A31CA}" type="slidenum">
              <a:rPr lang="zh-TW" altLang="en-US" sz="1200" smtClean="0"/>
              <a:pPr eaLnBrk="1" hangingPunct="1"/>
              <a:t>129</a:t>
            </a:fld>
            <a:endParaRPr lang="en-US" altLang="zh-TW" sz="1200" smtClean="0"/>
          </a:p>
        </p:txBody>
      </p:sp>
      <p:pic>
        <p:nvPicPr>
          <p:cNvPr id="256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0"/>
            <a:ext cx="2971800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Why </a:t>
            </a:r>
            <a:r>
              <a:rPr lang="en-US" altLang="zh-TW" i="1" smtClean="0">
                <a:ea typeface="新細明體" pitchFamily="18" charset="-120"/>
              </a:rPr>
              <a:t>p-</a:t>
            </a:r>
            <a:r>
              <a:rPr lang="en-US" altLang="zh-TW" smtClean="0">
                <a:ea typeface="新細明體" pitchFamily="18" charset="-120"/>
              </a:rPr>
              <a:t>Clustering?</a:t>
            </a:r>
          </a:p>
        </p:txBody>
      </p:sp>
      <p:sp>
        <p:nvSpPr>
          <p:cNvPr id="256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371600"/>
            <a:ext cx="84582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Microarray data analysis may need to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Clustering on thousands of dimensions (attributes)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Discovery of both </a:t>
            </a:r>
            <a:r>
              <a:rPr lang="en-US" altLang="zh-TW" sz="1800" smtClean="0">
                <a:solidFill>
                  <a:schemeClr val="hlink"/>
                </a:solidFill>
                <a:ea typeface="新細明體" pitchFamily="18" charset="-120"/>
              </a:rPr>
              <a:t>shift</a:t>
            </a:r>
            <a:r>
              <a:rPr lang="en-US" altLang="zh-TW" sz="1800" smtClean="0">
                <a:ea typeface="新細明體" pitchFamily="18" charset="-120"/>
              </a:rPr>
              <a:t> and </a:t>
            </a:r>
            <a:r>
              <a:rPr lang="en-US" altLang="zh-TW" sz="1800" smtClean="0">
                <a:solidFill>
                  <a:schemeClr val="hlink"/>
                </a:solidFill>
                <a:ea typeface="新細明體" pitchFamily="18" charset="-120"/>
              </a:rPr>
              <a:t>scaling</a:t>
            </a:r>
            <a:r>
              <a:rPr lang="en-US" altLang="zh-TW" sz="1800" smtClean="0">
                <a:ea typeface="新細明體" pitchFamily="18" charset="-120"/>
              </a:rPr>
              <a:t> patterns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Clustering with Euclidean distance measure? </a:t>
            </a:r>
            <a:r>
              <a:rPr lang="en-US" altLang="zh-TW" sz="1800" smtClean="0">
                <a:ea typeface="新細明體" pitchFamily="18" charset="-120"/>
                <a:cs typeface="Tahoma" pitchFamily="34" charset="0"/>
              </a:rPr>
              <a:t>— </a:t>
            </a:r>
            <a:r>
              <a:rPr lang="en-US" altLang="zh-TW" sz="1800" smtClean="0">
                <a:ea typeface="新細明體" pitchFamily="18" charset="-120"/>
              </a:rPr>
              <a:t>cannot find shift patterns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Clustering on derived attribute A</a:t>
            </a:r>
            <a:r>
              <a:rPr lang="en-US" altLang="zh-TW" sz="1800" baseline="-25000" smtClean="0">
                <a:ea typeface="新細明體" pitchFamily="18" charset="-120"/>
              </a:rPr>
              <a:t>ij</a:t>
            </a:r>
            <a:r>
              <a:rPr lang="en-US" altLang="zh-TW" sz="1800" smtClean="0">
                <a:ea typeface="新細明體" pitchFamily="18" charset="-120"/>
              </a:rPr>
              <a:t> = a</a:t>
            </a:r>
            <a:r>
              <a:rPr lang="en-US" altLang="zh-TW" sz="1800" baseline="-25000" smtClean="0">
                <a:ea typeface="新細明體" pitchFamily="18" charset="-120"/>
              </a:rPr>
              <a:t>i</a:t>
            </a:r>
            <a:r>
              <a:rPr lang="en-US" altLang="zh-TW" sz="1800" smtClean="0">
                <a:ea typeface="新細明體" pitchFamily="18" charset="-120"/>
              </a:rPr>
              <a:t> – a</a:t>
            </a:r>
            <a:r>
              <a:rPr lang="en-US" altLang="zh-TW" sz="1800" baseline="-25000" smtClean="0">
                <a:ea typeface="新細明體" pitchFamily="18" charset="-120"/>
              </a:rPr>
              <a:t>j</a:t>
            </a:r>
            <a:r>
              <a:rPr lang="en-US" altLang="zh-TW" sz="1800" smtClean="0">
                <a:ea typeface="新細明體" pitchFamily="18" charset="-120"/>
              </a:rPr>
              <a:t>? — introduces </a:t>
            </a:r>
            <a:r>
              <a:rPr lang="en-US" altLang="zh-TW" sz="1600" smtClean="0">
                <a:solidFill>
                  <a:schemeClr val="hlink"/>
                </a:solidFill>
                <a:ea typeface="新細明體" pitchFamily="18" charset="-120"/>
              </a:rPr>
              <a:t>N(N-1)</a:t>
            </a:r>
            <a:r>
              <a:rPr lang="en-US" altLang="zh-TW" sz="1800" smtClean="0">
                <a:ea typeface="新細明體" pitchFamily="18" charset="-120"/>
              </a:rPr>
              <a:t> dimensions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Bi-cluster using transformed mean-squared residue score matrix (I, J)</a:t>
            </a:r>
          </a:p>
          <a:p>
            <a:pPr eaLnBrk="1" hangingPunct="1">
              <a:lnSpc>
                <a:spcPct val="120000"/>
              </a:lnSpc>
            </a:pPr>
            <a:endParaRPr lang="en-US" altLang="zh-TW" sz="1800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endParaRPr lang="en-US" altLang="zh-TW" sz="1800" smtClean="0">
              <a:ea typeface="新細明體" pitchFamily="18" charset="-120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Where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A submatrix is a </a:t>
            </a:r>
            <a:r>
              <a:rPr lang="el-GR" altLang="zh-TW" sz="1800" smtClean="0">
                <a:cs typeface="Tahoma" pitchFamily="34" charset="0"/>
              </a:rPr>
              <a:t>δ</a:t>
            </a:r>
            <a:r>
              <a:rPr lang="en-US" altLang="zh-TW" sz="1800" smtClean="0">
                <a:ea typeface="新細明體" pitchFamily="18" charset="-120"/>
              </a:rPr>
              <a:t>-cluster if H(I, J) ≤ </a:t>
            </a:r>
            <a:r>
              <a:rPr lang="el-GR" altLang="zh-TW" sz="1800" smtClean="0">
                <a:cs typeface="Tahoma" pitchFamily="34" charset="0"/>
              </a:rPr>
              <a:t>δ</a:t>
            </a:r>
            <a:r>
              <a:rPr lang="en-US" altLang="zh-TW" sz="1800" smtClean="0">
                <a:ea typeface="新細明體" pitchFamily="18" charset="-120"/>
              </a:rPr>
              <a:t> for some </a:t>
            </a:r>
            <a:r>
              <a:rPr lang="el-GR" altLang="zh-TW" sz="1800" smtClean="0">
                <a:cs typeface="Tahoma" pitchFamily="34" charset="0"/>
              </a:rPr>
              <a:t>δ</a:t>
            </a:r>
            <a:r>
              <a:rPr lang="en-US" altLang="zh-TW" sz="1800" smtClean="0">
                <a:ea typeface="新細明體" pitchFamily="18" charset="-120"/>
              </a:rPr>
              <a:t> &gt; 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Problems with bi-cluster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No downward closure property,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1800" smtClean="0">
                <a:ea typeface="新細明體" pitchFamily="18" charset="-120"/>
              </a:rPr>
              <a:t>Due to averaging, it may contain outliers but still within </a:t>
            </a:r>
            <a:r>
              <a:rPr lang="el-GR" altLang="zh-TW" sz="1800" smtClean="0">
                <a:cs typeface="Tahoma" pitchFamily="34" charset="0"/>
              </a:rPr>
              <a:t>δ</a:t>
            </a:r>
            <a:r>
              <a:rPr lang="en-US" altLang="zh-TW" sz="1800" smtClean="0">
                <a:ea typeface="新細明體" pitchFamily="18" charset="-120"/>
              </a:rPr>
              <a:t>-threshold</a:t>
            </a:r>
          </a:p>
        </p:txBody>
      </p:sp>
      <p:graphicFrame>
        <p:nvGraphicFramePr>
          <p:cNvPr id="25602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133600" y="4191000"/>
          <a:ext cx="16002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9" name="Equation" r:id="rId4" imgW="1168200" imgH="558720" progId="Equation.3">
                  <p:embed/>
                </p:oleObj>
              </mc:Choice>
              <mc:Fallback>
                <p:oleObj name="Equation" r:id="rId4" imgW="1168200" imgH="558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191000"/>
                        <a:ext cx="16002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1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733800"/>
            <a:ext cx="48768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5603" name="Object 11"/>
          <p:cNvGraphicFramePr>
            <a:graphicFrameLocks noChangeAspect="1"/>
          </p:cNvGraphicFramePr>
          <p:nvPr/>
        </p:nvGraphicFramePr>
        <p:xfrm>
          <a:off x="4191000" y="4191000"/>
          <a:ext cx="1447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0" name="Equation" r:id="rId7" imgW="1104840" imgH="533160" progId="Equation.3">
                  <p:embed/>
                </p:oleObj>
              </mc:Choice>
              <mc:Fallback>
                <p:oleObj name="Equation" r:id="rId7" imgW="1104840" imgH="5331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191000"/>
                        <a:ext cx="1447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12"/>
          <p:cNvGraphicFramePr>
            <a:graphicFrameLocks noChangeAspect="1"/>
          </p:cNvGraphicFramePr>
          <p:nvPr/>
        </p:nvGraphicFramePr>
        <p:xfrm>
          <a:off x="6096000" y="4267200"/>
          <a:ext cx="19050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61" name="Equation" r:id="rId9" imgW="1726920" imgH="558720" progId="Equation.3">
                  <p:embed/>
                </p:oleObj>
              </mc:Choice>
              <mc:Fallback>
                <p:oleObj name="Equation" r:id="rId9" imgW="1726920" imgH="55872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267200"/>
                        <a:ext cx="19050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日期版面配置區 5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36CB6CF-DFEC-441F-A7DB-CBA405539FF2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26629" name="頁尾版面配置區 6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26630" name="投影片編號版面配置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AE0A9389-6A5C-4A24-90C4-D0C2C991E47A}" type="slidenum">
              <a:rPr lang="zh-TW" altLang="en-US" sz="1200" smtClean="0"/>
              <a:pPr eaLnBrk="1" hangingPunct="1"/>
              <a:t>130</a:t>
            </a:fld>
            <a:endParaRPr lang="en-US" altLang="zh-TW" sz="1200" smtClean="0"/>
          </a:p>
        </p:txBody>
      </p:sp>
      <p:pic>
        <p:nvPicPr>
          <p:cNvPr id="2663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0"/>
            <a:ext cx="2133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209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228600"/>
            <a:ext cx="4419600" cy="990600"/>
          </a:xfrm>
        </p:spPr>
        <p:txBody>
          <a:bodyPr/>
          <a:lstStyle/>
          <a:p>
            <a:pPr eaLnBrk="1" hangingPunct="1"/>
            <a:r>
              <a:rPr lang="en-US" altLang="zh-TW" sz="3200" i="1" smtClean="0">
                <a:ea typeface="新細明體" pitchFamily="18" charset="-120"/>
              </a:rPr>
              <a:t>p-</a:t>
            </a:r>
            <a:r>
              <a:rPr lang="en-US" altLang="zh-TW" sz="3200" smtClean="0">
                <a:ea typeface="新細明體" pitchFamily="18" charset="-120"/>
              </a:rPr>
              <a:t>Clustering: Clustering by Pattern Similarity</a:t>
            </a:r>
          </a:p>
        </p:txBody>
      </p:sp>
      <p:sp>
        <p:nvSpPr>
          <p:cNvPr id="266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8458200" cy="5105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Given object x, y in O and features a, b in T, pCluster is a 2 by 2 matrix</a:t>
            </a:r>
          </a:p>
          <a:p>
            <a:pPr eaLnBrk="1" hangingPunct="1">
              <a:lnSpc>
                <a:spcPct val="120000"/>
              </a:lnSpc>
            </a:pPr>
            <a:endParaRPr lang="en-US" altLang="zh-TW" sz="2000" smtClean="0">
              <a:ea typeface="新細明體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A pair </a:t>
            </a:r>
            <a:r>
              <a:rPr lang="en-US" altLang="zh-TW" sz="2000" smtClean="0">
                <a:ea typeface="新細明體" pitchFamily="18" charset="-120"/>
                <a:cs typeface="Tahoma" pitchFamily="34" charset="0"/>
              </a:rPr>
              <a:t>(O, T) </a:t>
            </a:r>
            <a:r>
              <a:rPr lang="en-US" altLang="zh-TW" sz="2000" smtClean="0">
                <a:ea typeface="新細明體" pitchFamily="18" charset="-120"/>
              </a:rPr>
              <a:t>is in </a:t>
            </a:r>
            <a:r>
              <a:rPr lang="el-GR" altLang="zh-TW" sz="2000" smtClean="0">
                <a:cs typeface="Tahoma" pitchFamily="34" charset="0"/>
              </a:rPr>
              <a:t>δ</a:t>
            </a:r>
            <a:r>
              <a:rPr lang="en-US" altLang="zh-TW" sz="2000" smtClean="0">
                <a:ea typeface="新細明體" pitchFamily="18" charset="-120"/>
              </a:rPr>
              <a:t>-pCluster if for any 2 by 2 matrix X in (O, T), pScore(X) ≤ </a:t>
            </a:r>
            <a:r>
              <a:rPr lang="el-GR" altLang="zh-TW" sz="2000" smtClean="0">
                <a:cs typeface="Tahoma" pitchFamily="34" charset="0"/>
              </a:rPr>
              <a:t>δ</a:t>
            </a:r>
            <a:r>
              <a:rPr lang="en-US" altLang="zh-TW" sz="2000" smtClean="0">
                <a:ea typeface="新細明體" pitchFamily="18" charset="-120"/>
              </a:rPr>
              <a:t> for some </a:t>
            </a:r>
            <a:r>
              <a:rPr lang="el-GR" altLang="zh-TW" sz="2000" smtClean="0">
                <a:cs typeface="Tahoma" pitchFamily="34" charset="0"/>
              </a:rPr>
              <a:t>δ</a:t>
            </a:r>
            <a:r>
              <a:rPr lang="en-US" altLang="zh-TW" sz="2000" smtClean="0">
                <a:ea typeface="新細明體" pitchFamily="18" charset="-120"/>
              </a:rPr>
              <a:t> &gt; 0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Properties of </a:t>
            </a:r>
            <a:r>
              <a:rPr lang="el-GR" altLang="zh-TW" sz="2000" smtClean="0">
                <a:cs typeface="Tahoma" pitchFamily="34" charset="0"/>
              </a:rPr>
              <a:t>δ</a:t>
            </a:r>
            <a:r>
              <a:rPr lang="en-US" altLang="zh-TW" sz="2000" smtClean="0">
                <a:ea typeface="新細明體" pitchFamily="18" charset="-120"/>
              </a:rPr>
              <a:t>-pCluster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Downward closure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Clusters are more homogeneous than bi-cluster (thus the name: pair-wise Cluster)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Pattern-growth algorithm has been developed for efficient mining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TW" sz="2000" smtClean="0">
                <a:ea typeface="新細明體" pitchFamily="18" charset="-120"/>
              </a:rPr>
              <a:t>For scaling patterns, one can observe, taking logarithmic on            will lead to the pScore form</a:t>
            </a:r>
          </a:p>
          <a:p>
            <a:pPr eaLnBrk="1" hangingPunct="1">
              <a:lnSpc>
                <a:spcPct val="120000"/>
              </a:lnSpc>
            </a:pPr>
            <a:endParaRPr lang="zh-TW" altLang="en-US" sz="2000" smtClean="0">
              <a:ea typeface="新細明體" pitchFamily="18" charset="-120"/>
            </a:endParaRPr>
          </a:p>
        </p:txBody>
      </p:sp>
      <p:graphicFrame>
        <p:nvGraphicFramePr>
          <p:cNvPr id="26626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62200" y="2003425"/>
          <a:ext cx="41910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8" name="Equation" r:id="rId5" imgW="2730240" imgH="482400" progId="Equation.3">
                  <p:embed/>
                </p:oleObj>
              </mc:Choice>
              <mc:Fallback>
                <p:oleObj name="Equation" r:id="rId5" imgW="273024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003425"/>
                        <a:ext cx="41910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543800" y="5568950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69" name="Equation" r:id="rId7" imgW="799920" imgH="469800" progId="Equation.3">
                  <p:embed/>
                </p:oleObj>
              </mc:Choice>
              <mc:Fallback>
                <p:oleObj name="Equation" r:id="rId7" imgW="79992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5568950"/>
                        <a:ext cx="1676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103D1E2-68B0-4FD1-917C-0B2B6859C0C3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6739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6740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1D56640-4CF1-4F42-B0A7-B16AB2E0F2F7}" type="slidenum">
              <a:rPr lang="zh-TW" altLang="en-US" sz="1200" smtClean="0"/>
              <a:pPr eaLnBrk="1" hangingPunct="1"/>
              <a:t>131</a:t>
            </a:fld>
            <a:endParaRPr lang="en-US" altLang="zh-TW" sz="1200" smtClean="0"/>
          </a:p>
        </p:txBody>
      </p:sp>
      <p:sp>
        <p:nvSpPr>
          <p:cNvPr id="116741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6781800" cy="9906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zh-TW" dirty="0" smtClean="0">
                <a:ea typeface="新細明體" pitchFamily="18" charset="-120"/>
              </a:rPr>
              <a:t>Chapters 10&amp;11: </a:t>
            </a:r>
            <a:r>
              <a:rPr lang="en-AU" altLang="zh-TW" dirty="0" smtClean="0">
                <a:ea typeface="新細明體" pitchFamily="18" charset="-120"/>
              </a:rPr>
              <a:t>Cluster Analysis</a:t>
            </a:r>
            <a:endParaRPr lang="en-US" altLang="zh-TW" dirty="0" smtClean="0">
              <a:ea typeface="新細明體" pitchFamily="18" charset="-120"/>
            </a:endParaRPr>
          </a:p>
        </p:txBody>
      </p:sp>
      <p:sp>
        <p:nvSpPr>
          <p:cNvPr id="1167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223250" cy="5181600"/>
          </a:xfrm>
          <a:noFill/>
        </p:spPr>
        <p:txBody>
          <a:bodyPr lIns="92075" tIns="46038" rIns="92075" bIns="46038"/>
          <a:lstStyle/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What is Cluster Analysis?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Types of Data in Cluster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A Categorization of Major Clustering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Partitioning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Hierarchical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Density-Based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Grid-Based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Model-Based Methods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Clustering High-Dimensional Data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Constraint-Based Clustering 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Outlier Analysis</a:t>
            </a:r>
          </a:p>
          <a:p>
            <a:pPr marL="381000" indent="-381000" eaLnBrk="1" hangingPunct="1">
              <a:lnSpc>
                <a:spcPct val="120000"/>
              </a:lnSpc>
              <a:buSzPct val="90000"/>
            </a:pPr>
            <a:r>
              <a:rPr lang="en-US" altLang="zh-TW" sz="2000" smtClean="0">
                <a:ea typeface="新細明體" pitchFamily="18" charset="-120"/>
              </a:rPr>
              <a:t>Summary </a:t>
            </a:r>
          </a:p>
        </p:txBody>
      </p:sp>
      <p:sp>
        <p:nvSpPr>
          <p:cNvPr id="116743" name="AutoShape 4"/>
          <p:cNvSpPr>
            <a:spLocks noChangeArrowheads="1"/>
          </p:cNvSpPr>
          <p:nvPr/>
        </p:nvSpPr>
        <p:spPr bwMode="auto">
          <a:xfrm rot="731409">
            <a:off x="2895600" y="5943600"/>
            <a:ext cx="609600" cy="1524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>
              <a:ea typeface="新細明體" pitchFamily="18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909425C-BF70-42E8-A01C-8EE9CD7DF9D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7763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776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809FB70-78C1-4BAB-8349-E8BEE76D3FE0}" type="slidenum">
              <a:rPr lang="zh-TW" altLang="en-US" sz="1200" smtClean="0"/>
              <a:pPr eaLnBrk="1" hangingPunct="1"/>
              <a:t>132</a:t>
            </a:fld>
            <a:endParaRPr lang="en-US" altLang="zh-TW" sz="1200" smtClean="0"/>
          </a:p>
        </p:txBody>
      </p:sp>
      <p:sp>
        <p:nvSpPr>
          <p:cNvPr id="1177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What Is Outlier Discovery?</a:t>
            </a:r>
          </a:p>
        </p:txBody>
      </p:sp>
      <p:sp>
        <p:nvSpPr>
          <p:cNvPr id="1177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What are outliers?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The set of objects are considerably dissimilar from the remainder of the data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Example:  Sports: Michael Jordon, Wayne Gretzky, ...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Problem: Define and find outliers in large data sets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Applications: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Credit card fraud detection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Telecom fraud detection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Customer segmentation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Medical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70926939-1637-494F-AF12-DA128B1C7D7A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878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878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1ED891F3-9F9B-4845-B2BD-8BDA7217C83D}" type="slidenum">
              <a:rPr lang="zh-TW" altLang="en-US" sz="1200" smtClean="0"/>
              <a:pPr eaLnBrk="1" hangingPunct="1"/>
              <a:t>133</a:t>
            </a:fld>
            <a:endParaRPr lang="en-US" altLang="zh-TW" sz="1200" smtClean="0"/>
          </a:p>
        </p:txBody>
      </p:sp>
      <p:pic>
        <p:nvPicPr>
          <p:cNvPr id="118789" name="Picture 4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2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7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648200" cy="9906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Outlier Discovery: Statistical Approaches</a:t>
            </a:r>
          </a:p>
        </p:txBody>
      </p:sp>
      <p:sp>
        <p:nvSpPr>
          <p:cNvPr id="1187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514600"/>
            <a:ext cx="8305800" cy="3962400"/>
          </a:xfrm>
        </p:spPr>
        <p:txBody>
          <a:bodyPr/>
          <a:lstStyle/>
          <a:p>
            <a:pPr eaLnBrk="1" hangingPunct="1"/>
            <a:r>
              <a:rPr lang="en-US" altLang="zh-TW" sz="2400" dirty="0" smtClean="0">
                <a:ea typeface="新細明體" pitchFamily="18" charset="-120"/>
              </a:rPr>
              <a:t>Assume a model underlying distribution that generates data set (e.g. normal distribution) </a:t>
            </a: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</a:rPr>
              <a:t>Use discordancy tests depending on 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data distribution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distribution parameter (e.g., mean, variance)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number of expected outliers</a:t>
            </a:r>
          </a:p>
          <a:p>
            <a:pPr eaLnBrk="1" hangingPunct="1"/>
            <a:r>
              <a:rPr lang="en-US" altLang="zh-TW" sz="2400" dirty="0" smtClean="0">
                <a:ea typeface="新細明體" pitchFamily="18" charset="-120"/>
              </a:rPr>
              <a:t>Drawbacks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most tests are for single attribute</a:t>
            </a:r>
          </a:p>
          <a:p>
            <a:pPr lvl="1" eaLnBrk="1" hangingPunct="1"/>
            <a:r>
              <a:rPr lang="en-US" altLang="zh-TW" sz="2400" dirty="0" smtClean="0">
                <a:ea typeface="新細明體" pitchFamily="18" charset="-120"/>
              </a:rPr>
              <a:t>In many cases, data distribution may not be known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EBD3C23D-D68A-4E3B-8880-3AB08A168DD3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1981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1981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9115DC03-C31B-4124-8F28-45E4EA3F4766}" type="slidenum">
              <a:rPr lang="zh-TW" altLang="en-US" sz="1200" smtClean="0"/>
              <a:pPr eaLnBrk="1" hangingPunct="1"/>
              <a:t>134</a:t>
            </a:fld>
            <a:endParaRPr lang="en-US" altLang="zh-TW" sz="1200" smtClean="0"/>
          </a:p>
        </p:txBody>
      </p:sp>
      <p:sp>
        <p:nvSpPr>
          <p:cNvPr id="11981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Outlier Discovery: Distance-Based Approach</a:t>
            </a:r>
          </a:p>
        </p:txBody>
      </p:sp>
      <p:sp>
        <p:nvSpPr>
          <p:cNvPr id="1198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Introduced to counter the main limitations imposed by statistical methods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We need multi-dimensional analysis without knowing data distribution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Distance-based outlier: A DB(p, D)-outlier is an object O in a dataset T such that at least a fraction p of the objects in T lies at a distance greater than D from O</a:t>
            </a:r>
          </a:p>
          <a:p>
            <a:pPr eaLnBrk="1" hangingPunct="1"/>
            <a:r>
              <a:rPr lang="en-US" altLang="zh-TW" sz="2400" smtClean="0">
                <a:ea typeface="新細明體" pitchFamily="18" charset="-120"/>
              </a:rPr>
              <a:t>Algorithms for mining distance-based outliers  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Index-based algorithm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Nested-loop algorithm </a:t>
            </a:r>
          </a:p>
          <a:p>
            <a:pPr lvl="1" eaLnBrk="1" hangingPunct="1"/>
            <a:r>
              <a:rPr lang="en-US" altLang="zh-TW" sz="2400" smtClean="0">
                <a:ea typeface="新細明體" pitchFamily="18" charset="-120"/>
              </a:rPr>
              <a:t>Cell-based algorithm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0CCE9A9-4760-406B-AF56-A2C3135F2E58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20835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20836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FBF5C5AF-01F5-4129-8738-8D756A5C4AE7}" type="slidenum">
              <a:rPr lang="zh-TW" altLang="en-US" sz="1200" smtClean="0"/>
              <a:pPr eaLnBrk="1" hangingPunct="1"/>
              <a:t>135</a:t>
            </a:fld>
            <a:endParaRPr lang="en-US" altLang="zh-TW" sz="1200" smtClean="0"/>
          </a:p>
        </p:txBody>
      </p:sp>
      <p:pic>
        <p:nvPicPr>
          <p:cNvPr id="12083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0"/>
            <a:ext cx="3962400" cy="312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4800600" cy="990600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Density-Based Local Outlier Detection</a:t>
            </a:r>
          </a:p>
        </p:txBody>
      </p:sp>
      <p:sp>
        <p:nvSpPr>
          <p:cNvPr id="1208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4953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Distance-based outlier detection is based on global distance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It encounters difficulties to identify outliers if data is not uniformly distributed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Ex. C</a:t>
            </a:r>
            <a:r>
              <a:rPr lang="en-US" altLang="zh-TW" sz="2400" baseline="-25000" smtClean="0">
                <a:ea typeface="新細明體" pitchFamily="18" charset="-120"/>
              </a:rPr>
              <a:t>1</a:t>
            </a:r>
            <a:r>
              <a:rPr lang="en-US" altLang="zh-TW" sz="2400" smtClean="0">
                <a:ea typeface="新細明體" pitchFamily="18" charset="-120"/>
              </a:rPr>
              <a:t> contains 400 loosely distributed points, C</a:t>
            </a:r>
            <a:r>
              <a:rPr lang="en-US" altLang="zh-TW" sz="2400" baseline="-25000" smtClean="0">
                <a:ea typeface="新細明體" pitchFamily="18" charset="-120"/>
              </a:rPr>
              <a:t>2</a:t>
            </a:r>
            <a:r>
              <a:rPr lang="en-US" altLang="zh-TW" sz="2400" smtClean="0">
                <a:ea typeface="新細明體" pitchFamily="18" charset="-120"/>
              </a:rPr>
              <a:t> has 100 tightly condensed points, 2 outlier points o</a:t>
            </a:r>
            <a:r>
              <a:rPr lang="en-US" altLang="zh-TW" sz="2400" baseline="-25000" smtClean="0">
                <a:ea typeface="新細明體" pitchFamily="18" charset="-120"/>
              </a:rPr>
              <a:t>1</a:t>
            </a:r>
            <a:r>
              <a:rPr lang="en-US" altLang="zh-TW" sz="2400" smtClean="0">
                <a:ea typeface="新細明體" pitchFamily="18" charset="-120"/>
              </a:rPr>
              <a:t>, o</a:t>
            </a:r>
            <a:r>
              <a:rPr lang="en-US" altLang="zh-TW" sz="2400" baseline="-25000" smtClean="0">
                <a:ea typeface="新細明體" pitchFamily="18" charset="-120"/>
              </a:rPr>
              <a:t>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Distance-based method cannot identify o</a:t>
            </a:r>
            <a:r>
              <a:rPr lang="en-US" altLang="zh-TW" sz="2400" baseline="-25000" smtClean="0">
                <a:ea typeface="新細明體" pitchFamily="18" charset="-120"/>
              </a:rPr>
              <a:t>2</a:t>
            </a:r>
            <a:r>
              <a:rPr lang="en-US" altLang="zh-TW" sz="2400" smtClean="0">
                <a:ea typeface="新細明體" pitchFamily="18" charset="-120"/>
              </a:rPr>
              <a:t> as an outlier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>
                <a:ea typeface="新細明體" pitchFamily="18" charset="-120"/>
              </a:rPr>
              <a:t>Need the concept of local outlier</a:t>
            </a:r>
          </a:p>
        </p:txBody>
      </p:sp>
      <p:sp>
        <p:nvSpPr>
          <p:cNvPr id="120840" name="Rectangle 5"/>
          <p:cNvSpPr>
            <a:spLocks noChangeArrowheads="1"/>
          </p:cNvSpPr>
          <p:nvPr/>
        </p:nvSpPr>
        <p:spPr bwMode="auto">
          <a:xfrm>
            <a:off x="5334000" y="3124200"/>
            <a:ext cx="3657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altLang="zh-TW" sz="2000">
                <a:ea typeface="新細明體" pitchFamily="18" charset="-120"/>
              </a:rPr>
              <a:t>Local outlier factor (LOF)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zh-TW" sz="2000">
                <a:ea typeface="新細明體" pitchFamily="18" charset="-120"/>
              </a:rPr>
              <a:t>Assume outlier is not crisp</a:t>
            </a:r>
          </a:p>
          <a:p>
            <a:pPr marL="742950" lvl="1" indent="-285750" algn="l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</a:pPr>
            <a:r>
              <a:rPr lang="en-US" altLang="zh-TW" sz="2000">
                <a:ea typeface="新細明體" pitchFamily="18" charset="-120"/>
              </a:rPr>
              <a:t>Each point has a LOF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2385CEA4-78B5-426D-B033-8EE0723BC4BD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23907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23908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63286A20-3D89-4BAE-9B67-A7F254AA296A}" type="slidenum">
              <a:rPr lang="zh-TW" altLang="en-US" sz="1200" smtClean="0"/>
              <a:pPr eaLnBrk="1" hangingPunct="1"/>
              <a:t>136</a:t>
            </a:fld>
            <a:endParaRPr lang="en-US" altLang="zh-TW" sz="1200" smtClean="0"/>
          </a:p>
        </p:txBody>
      </p:sp>
      <p:sp>
        <p:nvSpPr>
          <p:cNvPr id="123909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457200"/>
            <a:ext cx="3657600" cy="6096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itchFamily="18" charset="-120"/>
              </a:rPr>
              <a:t>Summary</a:t>
            </a:r>
          </a:p>
        </p:txBody>
      </p:sp>
      <p:sp>
        <p:nvSpPr>
          <p:cNvPr id="1239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9530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Cluster analysis</a:t>
            </a:r>
            <a:r>
              <a:rPr lang="en-US" altLang="zh-TW" sz="2400" smtClean="0">
                <a:ea typeface="新細明體" pitchFamily="18" charset="-120"/>
              </a:rPr>
              <a:t> groups objects based on their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similarity</a:t>
            </a:r>
            <a:r>
              <a:rPr lang="en-US" altLang="zh-TW" sz="2400" smtClean="0">
                <a:ea typeface="新細明體" pitchFamily="18" charset="-120"/>
              </a:rPr>
              <a:t>  and has wide applications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Measure of similarity can be computed for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various types of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Clustering algorithms can be </a:t>
            </a: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categorized</a:t>
            </a:r>
            <a:r>
              <a:rPr lang="en-US" altLang="zh-TW" sz="2400" smtClean="0">
                <a:ea typeface="新細明體" pitchFamily="18" charset="-120"/>
              </a:rPr>
              <a:t> into partitioning methods, hierarchical methods, density-based methods, grid-based methods, and model-based methods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solidFill>
                  <a:schemeClr val="hlink"/>
                </a:solidFill>
                <a:ea typeface="新細明體" pitchFamily="18" charset="-120"/>
              </a:rPr>
              <a:t>Outlier detection</a:t>
            </a:r>
            <a:r>
              <a:rPr lang="en-US" altLang="zh-TW" sz="2400" smtClean="0">
                <a:ea typeface="新細明體" pitchFamily="18" charset="-120"/>
              </a:rPr>
              <a:t> and analysis are very useful for fraud detection, etc. and can be performed by statistical, distance-based or deviation-based approaches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There are still lots of research issues on cluster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日期版面配置區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DFA2E8ED-6D84-428D-A98A-04EB43ACF4BF}" type="datetime4">
              <a:rPr lang="zh-TW" altLang="en-US" sz="1200" smtClean="0"/>
              <a:pPr eaLnBrk="1" hangingPunct="1"/>
              <a:t>2016年6月18日星期六</a:t>
            </a:fld>
            <a:endParaRPr lang="en-US" altLang="zh-TW" sz="1200" smtClean="0"/>
          </a:p>
        </p:txBody>
      </p:sp>
      <p:sp>
        <p:nvSpPr>
          <p:cNvPr id="124931" name="頁尾版面配置區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zh-TW" altLang="en-US" sz="1200" smtClean="0"/>
              <a:t>Data Mining: Concepts and Techniques</a:t>
            </a:r>
            <a:endParaRPr lang="en-US" altLang="zh-TW" sz="1200" smtClean="0"/>
          </a:p>
        </p:txBody>
      </p:sp>
      <p:sp>
        <p:nvSpPr>
          <p:cNvPr id="124932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C3354F9B-F357-4512-B65C-E531E99A423B}" type="slidenum">
              <a:rPr lang="zh-TW" altLang="en-US" sz="1200" smtClean="0"/>
              <a:pPr eaLnBrk="1" hangingPunct="1"/>
              <a:t>137</a:t>
            </a:fld>
            <a:endParaRPr lang="en-US" altLang="zh-TW" sz="1200" smtClean="0"/>
          </a:p>
        </p:txBody>
      </p:sp>
      <p:sp>
        <p:nvSpPr>
          <p:cNvPr id="124933" name="Rectangle 2"/>
          <p:cNvSpPr>
            <a:spLocks noGrp="1" noChangeArrowheads="1"/>
          </p:cNvSpPr>
          <p:nvPr>
            <p:ph type="title"/>
          </p:nvPr>
        </p:nvSpPr>
        <p:spPr>
          <a:xfrm>
            <a:off x="750888" y="436563"/>
            <a:ext cx="7156450" cy="498475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ea typeface="新細明體" pitchFamily="18" charset="-120"/>
              </a:rPr>
              <a:t>Problems and Challenges</a:t>
            </a:r>
            <a:endParaRPr lang="en-US" altLang="zh-TW" sz="2400" b="1" smtClean="0">
              <a:ea typeface="新細明體" pitchFamily="18" charset="-120"/>
            </a:endParaRPr>
          </a:p>
        </p:txBody>
      </p:sp>
      <p:sp>
        <p:nvSpPr>
          <p:cNvPr id="1249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Considerable progress has been made in scalable clustering methods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Partitioning: k-means, k-medoids, CLARANS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Hierarchical: BIRCH, ROCK, CHAMELEON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Density-based: DBSCAN, OPTICS, DenClue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Grid-based: STING, WaveCluster, CLIQUE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Model-based: EM, Cobweb, SOM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Frequent pattern-based: pCluster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Constraint-based: COD, constrained-clustering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400" smtClean="0">
                <a:ea typeface="新細明體" pitchFamily="18" charset="-120"/>
              </a:rPr>
              <a:t>Current clustering techniques do not </a:t>
            </a:r>
            <a:r>
              <a:rPr lang="en-US" altLang="zh-TW" sz="2400" u="sng" smtClean="0">
                <a:ea typeface="新細明體" pitchFamily="18" charset="-120"/>
              </a:rPr>
              <a:t>address</a:t>
            </a:r>
            <a:r>
              <a:rPr lang="en-US" altLang="zh-TW" sz="2400" smtClean="0">
                <a:ea typeface="新細明體" pitchFamily="18" charset="-120"/>
              </a:rPr>
              <a:t> all the requirements adequately, still an active area of research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10743</TotalTime>
  <Words>7358</Words>
  <Application>Microsoft Macintosh PowerPoint</Application>
  <PresentationFormat>On-screen Show (4:3)</PresentationFormat>
  <Paragraphs>1488</Paragraphs>
  <Slides>137</Slides>
  <Notes>55</Notes>
  <HiddenSlides>46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137</vt:i4>
      </vt:variant>
    </vt:vector>
  </HeadingPairs>
  <TitlesOfParts>
    <vt:vector size="154" baseType="lpstr">
      <vt:lpstr>Cambria Math</vt:lpstr>
      <vt:lpstr>PL Technical</vt:lpstr>
      <vt:lpstr>SimSun</vt:lpstr>
      <vt:lpstr>Small Fonts</vt:lpstr>
      <vt:lpstr>Symbol</vt:lpstr>
      <vt:lpstr>Tahoma</vt:lpstr>
      <vt:lpstr>Times New Roman</vt:lpstr>
      <vt:lpstr>Wingdings</vt:lpstr>
      <vt:lpstr>굴림</vt:lpstr>
      <vt:lpstr>宋体</vt:lpstr>
      <vt:lpstr>新細明體</vt:lpstr>
      <vt:lpstr>Arial</vt:lpstr>
      <vt:lpstr>Blends</vt:lpstr>
      <vt:lpstr>Equation</vt:lpstr>
      <vt:lpstr>方程式</vt:lpstr>
      <vt:lpstr>Document</vt:lpstr>
      <vt:lpstr>Worksheet</vt:lpstr>
      <vt:lpstr>Chapters 10&amp;11: Cluster Analysis</vt:lpstr>
      <vt:lpstr>What is Cluster Analysis?</vt:lpstr>
      <vt:lpstr>Clustering: Rich Applications and Multidisciplinary Efforts </vt:lpstr>
      <vt:lpstr>Examples of Clustering Applications</vt:lpstr>
      <vt:lpstr>Quality: What Is Good Clustering?</vt:lpstr>
      <vt:lpstr>Measure the Quality of Clustering</vt:lpstr>
      <vt:lpstr>Requirements of Clustering in Data Mining </vt:lpstr>
      <vt:lpstr>Chapters 10&amp;11: Cluster Analysis</vt:lpstr>
      <vt:lpstr>Data Structures</vt:lpstr>
      <vt:lpstr>Type of data in clustering analysis</vt:lpstr>
      <vt:lpstr>Interval-valued variables</vt:lpstr>
      <vt:lpstr>Similarity and Dissimilarity Between Objects</vt:lpstr>
      <vt:lpstr>Similarity and Dissimilarity Between Objects (Cont.)</vt:lpstr>
      <vt:lpstr>PowerPoint Presentation</vt:lpstr>
      <vt:lpstr>Binary Variables</vt:lpstr>
      <vt:lpstr>Dissimilarity between Binary Variables</vt:lpstr>
      <vt:lpstr>Nominal Variables</vt:lpstr>
      <vt:lpstr>Ordinal Variables</vt:lpstr>
      <vt:lpstr>Ratio-Scaled Variables</vt:lpstr>
      <vt:lpstr>Variables of Mixed Types</vt:lpstr>
      <vt:lpstr>Vector Objects</vt:lpstr>
      <vt:lpstr>Typical Alternatives to Calculate the Distance between Clusters</vt:lpstr>
      <vt:lpstr>Chapters 10&amp;11: Cluster Analysis</vt:lpstr>
      <vt:lpstr>Major Clustering Approaches (I)</vt:lpstr>
      <vt:lpstr>Major Clustering Approaches (II)</vt:lpstr>
      <vt:lpstr>Centroid, Radius and Diameter of a Cluster (for numerical data sets)</vt:lpstr>
      <vt:lpstr>Chapters 10&amp;11: Cluster Analysis</vt:lpstr>
      <vt:lpstr>Partitioning Algorithms: Basic Concept</vt:lpstr>
      <vt:lpstr>The K-Means Clustering Method </vt:lpstr>
      <vt:lpstr>The K-Means Clustering Method </vt:lpstr>
      <vt:lpstr>Comments on the K-Means Method</vt:lpstr>
      <vt:lpstr>Variations of the K-Means Method</vt:lpstr>
      <vt:lpstr>What Is the Problem of the K-Means Method?</vt:lpstr>
      <vt:lpstr>The K-Medoids Clustering Method</vt:lpstr>
      <vt:lpstr>A Typical K-Medoids Algorithm (PAM)</vt:lpstr>
      <vt:lpstr>Fuzzy C-Means Clustering</vt:lpstr>
      <vt:lpstr>Fuzzy C-Means Clustering (Cont.)</vt:lpstr>
      <vt:lpstr>Fuzzy C-Means Clustering (Cont.)</vt:lpstr>
      <vt:lpstr>Fuzzy C-Means Clustering (Cont.)</vt:lpstr>
      <vt:lpstr>Fuzzy C-Means Clustering (Cont.)</vt:lpstr>
      <vt:lpstr>Chapters 10&amp;11: Cluster Analysis</vt:lpstr>
      <vt:lpstr>Hierarchical Clustering</vt:lpstr>
      <vt:lpstr>AGNES (Agglomerative Nesting)</vt:lpstr>
      <vt:lpstr>PowerPoint Presentation</vt:lpstr>
      <vt:lpstr>DIANA (Divisive Analysis)</vt:lpstr>
      <vt:lpstr>CHAMELEON: Hierarchical Clustering Using Dynamic Modeling (1999)</vt:lpstr>
      <vt:lpstr>Overall Framework of CHAMELEON</vt:lpstr>
      <vt:lpstr>CHAMELEON (Clustering Complex Objects)</vt:lpstr>
      <vt:lpstr>Chapters 10&amp;11: Cluster Analysis</vt:lpstr>
      <vt:lpstr>Density-Based Clustering Methods</vt:lpstr>
      <vt:lpstr>Density-Based Clustering: Basic Concepts</vt:lpstr>
      <vt:lpstr>Density-Reachable and Density-Connected</vt:lpstr>
      <vt:lpstr>DBSCAN: Density Based Spatial Clustering of Applications with Noise</vt:lpstr>
      <vt:lpstr>DBSCAN: The Algorithm</vt:lpstr>
      <vt:lpstr>DBSCAN: Sensitive to Parameters</vt:lpstr>
      <vt:lpstr>Chapters 10&amp;11: Cluster Analysis</vt:lpstr>
      <vt:lpstr>Grid-Based Clustering Method </vt:lpstr>
      <vt:lpstr>WaveCluster: Clustering by Wavelet Analysis (1998)</vt:lpstr>
      <vt:lpstr>Wavelet Transform</vt:lpstr>
      <vt:lpstr>The WaveCluster Algorithm</vt:lpstr>
      <vt:lpstr>Quantization &amp; Transformation</vt:lpstr>
      <vt:lpstr>Chapters 10&amp;11: Cluster Analysis</vt:lpstr>
      <vt:lpstr>Model-Based Clustering</vt:lpstr>
      <vt:lpstr>EM — Expectation Maximization</vt:lpstr>
      <vt:lpstr>The EM (Expectation Maximization) Algorithm</vt:lpstr>
      <vt:lpstr>An example</vt:lpstr>
      <vt:lpstr>Maximize likelihood</vt:lpstr>
      <vt:lpstr>Same Problem with Hidden Information</vt:lpstr>
      <vt:lpstr>Same Problem with Hidden Information</vt:lpstr>
      <vt:lpstr>Same Problem with Hidden Information</vt:lpstr>
      <vt:lpstr>EM Steps</vt:lpstr>
      <vt:lpstr>EM Convergence</vt:lpstr>
      <vt:lpstr>Gaussian Mixtures</vt:lpstr>
      <vt:lpstr>Gaussian Mixtures</vt:lpstr>
      <vt:lpstr>The GMM assumption</vt:lpstr>
      <vt:lpstr>The GMM assumption</vt:lpstr>
      <vt:lpstr>The GMM assumption</vt:lpstr>
      <vt:lpstr>The GMM assumption</vt:lpstr>
      <vt:lpstr>Computing the likelihood</vt:lpstr>
      <vt:lpstr>EM for GMMs</vt:lpstr>
      <vt:lpstr>EM for GMMs</vt:lpstr>
      <vt:lpstr>EM for GMMs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LDA (Latent Dirichlet Allocation) see MMF</vt:lpstr>
      <vt:lpstr>LDA (Cont.)</vt:lpstr>
      <vt:lpstr>LDA (Cont.)</vt:lpstr>
      <vt:lpstr>LDA (Cont.)</vt:lpstr>
      <vt:lpstr>Topic clustering</vt:lpstr>
      <vt:lpstr>Graphical notation for smoothed LDA</vt:lpstr>
      <vt:lpstr>Check-ins of San Francisco</vt:lpstr>
      <vt:lpstr>Dirichlet distribution </vt:lpstr>
      <vt:lpstr>Inference</vt:lpstr>
      <vt:lpstr>Parameter estimation</vt:lpstr>
      <vt:lpstr>LDA – generative process</vt:lpstr>
      <vt:lpstr>A geometric interpretation</vt:lpstr>
      <vt:lpstr>A geometric interpretation</vt:lpstr>
      <vt:lpstr>A geometric interpretation</vt:lpstr>
      <vt:lpstr>A geometric interpretation</vt:lpstr>
      <vt:lpstr>Competitive Learning (SOM)</vt:lpstr>
      <vt:lpstr>PowerPoint Presentation</vt:lpstr>
      <vt:lpstr>Kohonen Map Algorithm</vt:lpstr>
      <vt:lpstr>Kohonen Map Algorithm (Cont.)</vt:lpstr>
      <vt:lpstr>Kohonen Algorithm</vt:lpstr>
      <vt:lpstr>SOM algorithm: competition</vt:lpstr>
      <vt:lpstr>SOM algorithm: cooperation</vt:lpstr>
      <vt:lpstr>SOM algorithm: dynamics</vt:lpstr>
      <vt:lpstr>PowerPoint Presentation</vt:lpstr>
      <vt:lpstr>PowerPoint Presentation</vt:lpstr>
      <vt:lpstr>PowerPoint Presentation</vt:lpstr>
      <vt:lpstr>PowerPoint Presentation</vt:lpstr>
      <vt:lpstr>Semantic maps</vt:lpstr>
      <vt:lpstr>Semantic maps: MDS &amp; SOM</vt:lpstr>
      <vt:lpstr>Italian olive oil (example)</vt:lpstr>
      <vt:lpstr>Similarity of faces</vt:lpstr>
      <vt:lpstr>Quality of life data</vt:lpstr>
      <vt:lpstr>Chapters 10&amp;11: Cluster Analysis</vt:lpstr>
      <vt:lpstr>Clustering High-Dimensional Data</vt:lpstr>
      <vt:lpstr>The Curse of Dimensionality </vt:lpstr>
      <vt:lpstr>Why Subspace Clustering? </vt:lpstr>
      <vt:lpstr>Frequent Pattern-Based Approach</vt:lpstr>
      <vt:lpstr>Clustering by Pattern Similarity (p-Clustering)</vt:lpstr>
      <vt:lpstr>Why p-Clustering?</vt:lpstr>
      <vt:lpstr>p-Clustering: Clustering by Pattern Similarity</vt:lpstr>
      <vt:lpstr>Chapters 10&amp;11: Cluster Analysis</vt:lpstr>
      <vt:lpstr>What Is Outlier Discovery?</vt:lpstr>
      <vt:lpstr>Outlier Discovery: Statistical Approaches</vt:lpstr>
      <vt:lpstr>Outlier Discovery: Distance-Based Approach</vt:lpstr>
      <vt:lpstr>Density-Based Local Outlier Detection</vt:lpstr>
      <vt:lpstr>Summary</vt:lpstr>
      <vt:lpstr>Problems and Challenges</vt:lpstr>
    </vt:vector>
  </TitlesOfParts>
  <Company>S.F.U.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Jeff Lee</cp:lastModifiedBy>
  <cp:revision>481</cp:revision>
  <cp:lastPrinted>1999-09-10T20:38:56Z</cp:lastPrinted>
  <dcterms:created xsi:type="dcterms:W3CDTF">1998-06-19T04:38:52Z</dcterms:created>
  <dcterms:modified xsi:type="dcterms:W3CDTF">2016-06-18T16:07:10Z</dcterms:modified>
</cp:coreProperties>
</file>