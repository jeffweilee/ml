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4" r:id="rId1"/>
  </p:sldMasterIdLst>
  <p:sldIdLst>
    <p:sldId id="256" r:id="rId2"/>
    <p:sldId id="263" r:id="rId3"/>
    <p:sldId id="273" r:id="rId4"/>
    <p:sldId id="271" r:id="rId5"/>
    <p:sldId id="272" r:id="rId6"/>
    <p:sldId id="276" r:id="rId7"/>
    <p:sldId id="258" r:id="rId8"/>
    <p:sldId id="265" r:id="rId9"/>
    <p:sldId id="270" r:id="rId10"/>
    <p:sldId id="264" r:id="rId11"/>
    <p:sldId id="266" r:id="rId12"/>
    <p:sldId id="268" r:id="rId13"/>
    <p:sldId id="267" r:id="rId14"/>
    <p:sldId id="274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65" autoAdjust="0"/>
    <p:restoredTop sz="94711" autoAdjust="0"/>
  </p:normalViewPr>
  <p:slideViewPr>
    <p:cSldViewPr snapToGrid="0">
      <p:cViewPr varScale="1">
        <p:scale>
          <a:sx n="67" d="100"/>
          <a:sy n="67" d="100"/>
        </p:scale>
        <p:origin x="780" y="60"/>
      </p:cViewPr>
      <p:guideLst/>
    </p:cSldViewPr>
  </p:slideViewPr>
  <p:outlineViewPr>
    <p:cViewPr>
      <p:scale>
        <a:sx n="33" d="100"/>
        <a:sy n="33" d="100"/>
      </p:scale>
      <p:origin x="0" y="-84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1303-17A3-48F6-B27F-21AE12F954B2}" type="datetimeFigureOut">
              <a:rPr lang="en-US" smtClean="0"/>
              <a:t>5/29/2015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E2396-F84C-4662-8309-416DB3B6C5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467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1303-17A3-48F6-B27F-21AE12F954B2}" type="datetimeFigureOut">
              <a:rPr lang="en-US" smtClean="0"/>
              <a:t>5/29/2015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E2396-F84C-4662-8309-416DB3B6C5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813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1303-17A3-48F6-B27F-21AE12F954B2}" type="datetimeFigureOut">
              <a:rPr lang="en-US" smtClean="0"/>
              <a:t>5/29/2015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E2396-F84C-4662-8309-416DB3B6C5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563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1303-17A3-48F6-B27F-21AE12F954B2}" type="datetimeFigureOut">
              <a:rPr lang="en-US" smtClean="0"/>
              <a:t>5/29/2015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E2396-F84C-4662-8309-416DB3B6C5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894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1303-17A3-48F6-B27F-21AE12F954B2}" type="datetimeFigureOut">
              <a:rPr lang="en-US" smtClean="0"/>
              <a:t>5/29/2015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E2396-F84C-4662-8309-416DB3B6C5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328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1303-17A3-48F6-B27F-21AE12F954B2}" type="datetimeFigureOut">
              <a:rPr lang="en-US" smtClean="0"/>
              <a:t>5/29/2015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E2396-F84C-4662-8309-416DB3B6C5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780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1303-17A3-48F6-B27F-21AE12F954B2}" type="datetimeFigureOut">
              <a:rPr lang="en-US" smtClean="0"/>
              <a:t>5/29/2015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E2396-F84C-4662-8309-416DB3B6C5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345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1303-17A3-48F6-B27F-21AE12F954B2}" type="datetimeFigureOut">
              <a:rPr lang="en-US" smtClean="0"/>
              <a:t>5/29/2015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E2396-F84C-4662-8309-416DB3B6C5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633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E2396-F84C-4662-8309-416DB3B6C57D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1303-17A3-48F6-B27F-21AE12F954B2}" type="datetimeFigureOut">
              <a:rPr lang="en-US" smtClean="0"/>
              <a:t>5/29/2015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007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1303-17A3-48F6-B27F-21AE12F954B2}" type="datetimeFigureOut">
              <a:rPr lang="en-US" smtClean="0"/>
              <a:t>5/29/2015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E2396-F84C-4662-8309-416DB3B6C5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109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1303-17A3-48F6-B27F-21AE12F954B2}" type="datetimeFigureOut">
              <a:rPr lang="en-US" smtClean="0"/>
              <a:t>5/29/2015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E2396-F84C-4662-8309-416DB3B6C57D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979076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1303-17A3-48F6-B27F-21AE12F954B2}" type="datetimeFigureOut">
              <a:rPr lang="en-US" smtClean="0"/>
              <a:t>5/29/2015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E2396-F84C-4662-8309-416DB3B6C5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3350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1303-17A3-48F6-B27F-21AE12F954B2}" type="datetimeFigureOut">
              <a:rPr lang="en-US" smtClean="0"/>
              <a:t>5/29/2015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E2396-F84C-4662-8309-416DB3B6C57D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73539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1303-17A3-48F6-B27F-21AE12F954B2}" type="datetimeFigureOut">
              <a:rPr lang="en-US" smtClean="0"/>
              <a:t>5/29/2015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E2396-F84C-4662-8309-416DB3B6C5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3436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1303-17A3-48F6-B27F-21AE12F954B2}" type="datetimeFigureOut">
              <a:rPr lang="en-US" smtClean="0"/>
              <a:t>5/29/2015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E2396-F84C-4662-8309-416DB3B6C5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8647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1303-17A3-48F6-B27F-21AE12F954B2}" type="datetimeFigureOut">
              <a:rPr lang="en-US" smtClean="0"/>
              <a:t>5/29/2015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E2396-F84C-4662-8309-416DB3B6C5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099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851303-17A3-48F6-B27F-21AE12F954B2}" type="datetimeFigureOut">
              <a:rPr lang="en-US" smtClean="0"/>
              <a:t>5/29/2015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B5E2396-F84C-4662-8309-416DB3B6C5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822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  <p:sldLayoutId id="2147483777" r:id="rId13"/>
    <p:sldLayoutId id="2147483778" r:id="rId14"/>
    <p:sldLayoutId id="2147483779" r:id="rId15"/>
    <p:sldLayoutId id="214748378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中</a:t>
            </a:r>
            <a:r>
              <a:rPr lang="zh-TW" altLang="en-US" dirty="0" smtClean="0"/>
              <a:t>保無限</a:t>
            </a:r>
            <a:r>
              <a:rPr lang="zh-TW" altLang="en-US" dirty="0" smtClean="0"/>
              <a:t>家 資</a:t>
            </a:r>
            <a:r>
              <a:rPr lang="zh-TW" altLang="en-US" dirty="0" smtClean="0"/>
              <a:t>料概念驗</a:t>
            </a:r>
            <a:r>
              <a:rPr lang="zh-TW" altLang="en-US" dirty="0" smtClean="0"/>
              <a:t>證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zh-TW" altLang="en-US" dirty="0" smtClean="0"/>
              <a:t>技術說明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en-US" altLang="zh-TW" dirty="0" smtClean="0"/>
              <a:t>SIGMU My-Vita Data </a:t>
            </a:r>
            <a:r>
              <a:rPr lang="en-US" altLang="zh-TW" dirty="0" smtClean="0"/>
              <a:t>POC Technical Notes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zh-TW" altLang="en-US" dirty="0"/>
              <a:t>感測</a:t>
            </a:r>
            <a:r>
              <a:rPr lang="zh-TW" altLang="en-US" dirty="0" smtClean="0"/>
              <a:t>器</a:t>
            </a:r>
            <a:r>
              <a:rPr lang="zh-TW" altLang="en-US" dirty="0"/>
              <a:t>之</a:t>
            </a:r>
            <a:r>
              <a:rPr lang="zh-TW" altLang="en-US" dirty="0" smtClean="0"/>
              <a:t>低</a:t>
            </a:r>
            <a:r>
              <a:rPr lang="zh-TW" altLang="en-US" dirty="0"/>
              <a:t>電</a:t>
            </a:r>
            <a:r>
              <a:rPr lang="zh-TW" altLang="en-US" dirty="0" smtClean="0"/>
              <a:t>量警示預測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Low </a:t>
            </a:r>
            <a:r>
              <a:rPr lang="en-US" dirty="0"/>
              <a:t>power </a:t>
            </a:r>
            <a:r>
              <a:rPr lang="en-US" dirty="0" smtClean="0"/>
              <a:t>Prediction of Devices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6112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08652"/>
          </a:xfrm>
        </p:spPr>
        <p:txBody>
          <a:bodyPr>
            <a:normAutofit/>
          </a:bodyPr>
          <a:lstStyle/>
          <a:p>
            <a:pPr lvl="1" algn="l" defTabSz="457200" rtl="0">
              <a:spcBef>
                <a:spcPct val="0"/>
              </a:spcBef>
            </a:pPr>
            <a:r>
              <a:rPr lang="en-US" sz="32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18252"/>
            <a:ext cx="10138304" cy="4926563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50000"/>
              </a:lnSpc>
            </a:pPr>
            <a:r>
              <a:rPr lang="en-US" altLang="zh-TW" sz="2400" dirty="0" smtClean="0"/>
              <a:t> Phase I : </a:t>
            </a:r>
            <a:r>
              <a:rPr lang="en-US" sz="2400" dirty="0" smtClean="0"/>
              <a:t>Data </a:t>
            </a:r>
            <a:r>
              <a:rPr lang="en-US" sz="2400" dirty="0"/>
              <a:t>Cleansing </a:t>
            </a:r>
            <a:r>
              <a:rPr lang="en-US" sz="2400" dirty="0" smtClean="0"/>
              <a:t>Step</a:t>
            </a:r>
            <a:endParaRPr lang="en-US" dirty="0" smtClean="0"/>
          </a:p>
          <a:p>
            <a:pPr lvl="1">
              <a:lnSpc>
                <a:spcPct val="150000"/>
              </a:lnSpc>
            </a:pPr>
            <a:r>
              <a:rPr lang="en-US" sz="1900" dirty="0" smtClean="0"/>
              <a:t>Extract </a:t>
            </a:r>
            <a:r>
              <a:rPr lang="en-US" sz="1900" dirty="0"/>
              <a:t>XML </a:t>
            </a:r>
            <a:r>
              <a:rPr lang="en-US" sz="1900" dirty="0" smtClean="0"/>
              <a:t>raw data from 24-days DB into SQL</a:t>
            </a:r>
          </a:p>
          <a:p>
            <a:pPr lvl="1">
              <a:lnSpc>
                <a:spcPct val="150000"/>
              </a:lnSpc>
            </a:pPr>
            <a:r>
              <a:rPr lang="en-US" sz="1900" dirty="0" smtClean="0"/>
              <a:t>A. Fetch sensor </a:t>
            </a:r>
            <a:r>
              <a:rPr lang="en-US" sz="1900" dirty="0"/>
              <a:t>types </a:t>
            </a:r>
            <a:r>
              <a:rPr lang="en-US" sz="1900" dirty="0" smtClean="0"/>
              <a:t>of which happened </a:t>
            </a:r>
            <a:r>
              <a:rPr lang="en-US" sz="1900" i="1" dirty="0" smtClean="0"/>
              <a:t>“</a:t>
            </a:r>
            <a:r>
              <a:rPr lang="en-US" sz="1900" dirty="0" err="1" smtClean="0"/>
              <a:t>get</a:t>
            </a:r>
            <a:r>
              <a:rPr lang="en-US" sz="1900" i="1" dirty="0" err="1" smtClean="0"/>
              <a:t>ReportEvent</a:t>
            </a:r>
            <a:r>
              <a:rPr lang="en-US" sz="1900" i="1" dirty="0" smtClean="0"/>
              <a:t>” </a:t>
            </a:r>
            <a:r>
              <a:rPr lang="en-US" sz="1900" dirty="0" smtClean="0"/>
              <a:t>“</a:t>
            </a:r>
            <a:r>
              <a:rPr lang="en-US" sz="1900" i="1" dirty="0" smtClean="0"/>
              <a:t>code384-</a:t>
            </a:r>
            <a:r>
              <a:rPr lang="zh-TW" altLang="en-US" sz="1900" b="1" i="1" u="sng" dirty="0">
                <a:solidFill>
                  <a:schemeClr val="tx1"/>
                </a:solidFill>
              </a:rPr>
              <a:t>電池</a:t>
            </a:r>
            <a:r>
              <a:rPr lang="zh-TW" altLang="en-US" sz="1900" b="1" i="1" u="sng" dirty="0" smtClean="0">
                <a:solidFill>
                  <a:schemeClr val="tx1"/>
                </a:solidFill>
              </a:rPr>
              <a:t>低</a:t>
            </a:r>
            <a:r>
              <a:rPr lang="zh-TW" altLang="en-US" sz="1900" b="1" i="1" u="sng" dirty="0">
                <a:solidFill>
                  <a:schemeClr val="tx1"/>
                </a:solidFill>
              </a:rPr>
              <a:t>電量</a:t>
            </a:r>
            <a:r>
              <a:rPr lang="en-US" sz="1900" i="1" dirty="0" smtClean="0"/>
              <a:t>” </a:t>
            </a:r>
          </a:p>
          <a:p>
            <a:pPr lvl="1">
              <a:lnSpc>
                <a:spcPct val="150000"/>
              </a:lnSpc>
            </a:pPr>
            <a:r>
              <a:rPr lang="en-US" sz="1900" dirty="0" smtClean="0"/>
              <a:t>B. Fetch device records which sensor type is in the types above </a:t>
            </a:r>
          </a:p>
          <a:p>
            <a:pPr lvl="1">
              <a:lnSpc>
                <a:spcPct val="150000"/>
              </a:lnSpc>
            </a:pPr>
            <a:r>
              <a:rPr lang="en-US" sz="1900" dirty="0" smtClean="0"/>
              <a:t>C. Append </a:t>
            </a:r>
            <a:r>
              <a:rPr lang="en-US" sz="1900" i="1" dirty="0" smtClean="0"/>
              <a:t>“</a:t>
            </a:r>
            <a:r>
              <a:rPr lang="en-US" sz="1900" dirty="0" err="1" smtClean="0"/>
              <a:t>get</a:t>
            </a:r>
            <a:r>
              <a:rPr lang="en-US" sz="1900" i="1" dirty="0" err="1" smtClean="0"/>
              <a:t>ReportEvent</a:t>
            </a:r>
            <a:r>
              <a:rPr lang="en-US" sz="1900" i="1" dirty="0" smtClean="0"/>
              <a:t>” </a:t>
            </a:r>
            <a:r>
              <a:rPr lang="en-US" sz="1900" dirty="0" smtClean="0"/>
              <a:t>of</a:t>
            </a:r>
            <a:r>
              <a:rPr lang="en-US" sz="1900" i="1" dirty="0" smtClean="0"/>
              <a:t> </a:t>
            </a:r>
            <a:r>
              <a:rPr lang="en-US" sz="1900" dirty="0" smtClean="0"/>
              <a:t>“</a:t>
            </a:r>
            <a:r>
              <a:rPr lang="en-US" sz="1900" i="1" dirty="0" smtClean="0"/>
              <a:t>code384-low power” </a:t>
            </a:r>
            <a:r>
              <a:rPr lang="en-US" sz="1900" dirty="0" smtClean="0"/>
              <a:t>time to device records above</a:t>
            </a:r>
          </a:p>
          <a:p>
            <a:pPr lvl="1">
              <a:lnSpc>
                <a:spcPct val="150000"/>
              </a:lnSpc>
            </a:pPr>
            <a:r>
              <a:rPr lang="en-US" sz="1900" dirty="0" smtClean="0"/>
              <a:t>D. Aggregate accumulated </a:t>
            </a:r>
            <a:r>
              <a:rPr lang="en-US" sz="2000" dirty="0"/>
              <a:t>times</a:t>
            </a:r>
            <a:r>
              <a:rPr lang="en-US" sz="1900" dirty="0" smtClean="0"/>
              <a:t> of </a:t>
            </a:r>
            <a:r>
              <a:rPr lang="en-US" altLang="zh-TW" sz="1900" dirty="0" smtClean="0"/>
              <a:t>“</a:t>
            </a:r>
            <a:r>
              <a:rPr lang="en-US" sz="1900" dirty="0" err="1" smtClean="0"/>
              <a:t>get</a:t>
            </a:r>
            <a:r>
              <a:rPr lang="en-US" sz="1900" i="1" dirty="0" err="1" smtClean="0"/>
              <a:t>ReportEvent</a:t>
            </a:r>
            <a:r>
              <a:rPr lang="en-US" altLang="zh-TW" sz="1900" i="1" dirty="0" smtClean="0"/>
              <a:t>”</a:t>
            </a:r>
          </a:p>
          <a:p>
            <a:pPr lvl="1">
              <a:lnSpc>
                <a:spcPct val="150000"/>
              </a:lnSpc>
            </a:pPr>
            <a:r>
              <a:rPr lang="en-US" sz="1900" dirty="0" smtClean="0"/>
              <a:t>E. Aggregate </a:t>
            </a:r>
            <a:r>
              <a:rPr lang="en-US" sz="1900" dirty="0"/>
              <a:t>accumulated </a:t>
            </a:r>
            <a:r>
              <a:rPr lang="en-US" sz="2000" dirty="0"/>
              <a:t>times</a:t>
            </a:r>
            <a:r>
              <a:rPr lang="en-US" sz="1900" dirty="0" smtClean="0"/>
              <a:t> </a:t>
            </a:r>
            <a:r>
              <a:rPr lang="en-US" sz="1900" dirty="0"/>
              <a:t>of “</a:t>
            </a:r>
            <a:r>
              <a:rPr lang="en-US" sz="1900" dirty="0" err="1"/>
              <a:t>getReportEvent</a:t>
            </a:r>
            <a:r>
              <a:rPr lang="en-US" sz="1900" dirty="0" smtClean="0"/>
              <a:t>” </a:t>
            </a:r>
            <a:r>
              <a:rPr lang="en-US" sz="1900" dirty="0"/>
              <a:t>“</a:t>
            </a:r>
            <a:r>
              <a:rPr lang="en-US" sz="1900" i="1" dirty="0" smtClean="0"/>
              <a:t>code147-</a:t>
            </a:r>
            <a:r>
              <a:rPr lang="zh-TW" altLang="en-US" sz="1900" i="1" dirty="0" smtClean="0"/>
              <a:t>設備回報異常</a:t>
            </a:r>
            <a:r>
              <a:rPr lang="en-US" sz="1900" i="1" dirty="0" smtClean="0"/>
              <a:t>”</a:t>
            </a:r>
            <a:endParaRPr lang="en-US" sz="1900" i="1" dirty="0"/>
          </a:p>
          <a:p>
            <a:pPr lvl="1">
              <a:lnSpc>
                <a:spcPct val="150000"/>
              </a:lnSpc>
            </a:pPr>
            <a:r>
              <a:rPr lang="en-US" sz="1900" dirty="0" smtClean="0"/>
              <a:t>F. Aggregate accumulated </a:t>
            </a:r>
            <a:r>
              <a:rPr lang="en-US" sz="2000" dirty="0"/>
              <a:t>times</a:t>
            </a:r>
            <a:r>
              <a:rPr lang="en-US" sz="1900" dirty="0" smtClean="0"/>
              <a:t> of “</a:t>
            </a:r>
            <a:r>
              <a:rPr lang="en-US" sz="1900" i="1" dirty="0" err="1" smtClean="0"/>
              <a:t>getDeviceStatus</a:t>
            </a:r>
            <a:r>
              <a:rPr lang="en-US" sz="1900" dirty="0" smtClean="0"/>
              <a:t>”</a:t>
            </a:r>
          </a:p>
          <a:p>
            <a:pPr lvl="1">
              <a:lnSpc>
                <a:spcPct val="150000"/>
              </a:lnSpc>
            </a:pPr>
            <a:r>
              <a:rPr lang="en-US" sz="1900" dirty="0"/>
              <a:t>G. </a:t>
            </a:r>
            <a:r>
              <a:rPr lang="en-US" sz="1900" dirty="0" smtClean="0"/>
              <a:t>Aggregate </a:t>
            </a:r>
            <a:r>
              <a:rPr lang="en-US" sz="1900" dirty="0"/>
              <a:t>accumulated </a:t>
            </a:r>
            <a:r>
              <a:rPr lang="en-US" sz="2000" dirty="0"/>
              <a:t>times</a:t>
            </a:r>
            <a:r>
              <a:rPr lang="en-US" sz="1900" dirty="0"/>
              <a:t> of “</a:t>
            </a:r>
            <a:r>
              <a:rPr lang="en-US" sz="1900" i="1" dirty="0" err="1"/>
              <a:t>getDevices</a:t>
            </a:r>
            <a:r>
              <a:rPr lang="en-US" sz="1900" dirty="0" smtClean="0"/>
              <a:t>”</a:t>
            </a:r>
          </a:p>
          <a:p>
            <a:pPr>
              <a:lnSpc>
                <a:spcPct val="150000"/>
              </a:lnSpc>
            </a:pPr>
            <a:r>
              <a:rPr lang="zh-TW" altLang="en-US" sz="2400" dirty="0" smtClean="0"/>
              <a:t> </a:t>
            </a:r>
            <a:r>
              <a:rPr lang="en-US" sz="2400" dirty="0" smtClean="0"/>
              <a:t>Phase II : Machine Learning Modeling</a:t>
            </a:r>
          </a:p>
          <a:p>
            <a:pPr lvl="1">
              <a:lnSpc>
                <a:spcPct val="150000"/>
              </a:lnSpc>
            </a:pPr>
            <a:r>
              <a:rPr lang="en-US" sz="1800" dirty="0" smtClean="0"/>
              <a:t>Predictive</a:t>
            </a:r>
            <a:r>
              <a:rPr lang="zh-TW" altLang="en-US" sz="1800" dirty="0" smtClean="0"/>
              <a:t> </a:t>
            </a:r>
            <a:r>
              <a:rPr lang="en-US" altLang="zh-TW" sz="1800" dirty="0" smtClean="0"/>
              <a:t>Maintenance </a:t>
            </a:r>
            <a:endParaRPr lang="en-US" altLang="zh-TW" sz="1800" dirty="0"/>
          </a:p>
          <a:p>
            <a:pPr lvl="1">
              <a:lnSpc>
                <a:spcPct val="150000"/>
              </a:lnSpc>
            </a:pPr>
            <a:r>
              <a:rPr lang="en-US" sz="1800" dirty="0" smtClean="0"/>
              <a:t>Survival Analysis  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185326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6000" dirty="0" smtClean="0">
                <a:solidFill>
                  <a:schemeClr val="bg1"/>
                </a:solidFill>
              </a:rPr>
              <a:t>Phase </a:t>
            </a:r>
            <a:r>
              <a:rPr lang="en-US" altLang="zh-TW" sz="6000" dirty="0">
                <a:solidFill>
                  <a:schemeClr val="bg1"/>
                </a:solidFill>
              </a:rPr>
              <a:t>I : </a:t>
            </a:r>
            <a:endParaRPr lang="en-US" altLang="zh-TW" sz="6000" dirty="0" smtClean="0">
              <a:solidFill>
                <a:schemeClr val="bg1"/>
              </a:solidFill>
            </a:endParaRPr>
          </a:p>
          <a:p>
            <a:r>
              <a:rPr lang="en-US" sz="6000" dirty="0" smtClean="0">
                <a:solidFill>
                  <a:schemeClr val="bg1"/>
                </a:solidFill>
              </a:rPr>
              <a:t>Data </a:t>
            </a:r>
            <a:r>
              <a:rPr lang="en-US" sz="6000" dirty="0">
                <a:solidFill>
                  <a:schemeClr val="bg1"/>
                </a:solidFill>
              </a:rPr>
              <a:t>Cleansing Step</a:t>
            </a:r>
          </a:p>
          <a:p>
            <a:endParaRPr lang="en-US" sz="6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2526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1" algn="l" defTabSz="457200" rtl="0">
              <a:spcBef>
                <a:spcPct val="0"/>
              </a:spcBef>
            </a:pPr>
            <a:r>
              <a:rPr lang="en-US" sz="3200" kern="12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Data Description </a:t>
            </a:r>
            <a:endParaRPr lang="en-US" sz="3200" kern="12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22051"/>
            <a:ext cx="8596668" cy="3880773"/>
          </a:xfrm>
        </p:spPr>
        <p:txBody>
          <a:bodyPr/>
          <a:lstStyle/>
          <a:p>
            <a:r>
              <a:rPr lang="en-US" dirty="0" smtClean="0"/>
              <a:t>SIGMU Original 24 days DB:</a:t>
            </a:r>
          </a:p>
          <a:p>
            <a:pPr lvl="1"/>
            <a:r>
              <a:rPr lang="en-US" dirty="0" smtClean="0"/>
              <a:t>un	</a:t>
            </a:r>
            <a:r>
              <a:rPr lang="zh-TW" altLang="en-US" dirty="0" smtClean="0"/>
              <a:t> </a:t>
            </a:r>
            <a:r>
              <a:rPr lang="en-US" altLang="zh-TW" dirty="0" smtClean="0"/>
              <a:t>	:</a:t>
            </a:r>
            <a:r>
              <a:rPr lang="zh-TW" altLang="en-US" dirty="0" smtClean="0"/>
              <a:t> </a:t>
            </a:r>
            <a:r>
              <a:rPr lang="en-US" altLang="zh-TW" dirty="0"/>
              <a:t>C</a:t>
            </a:r>
            <a:r>
              <a:rPr lang="en-US" altLang="zh-TW" dirty="0" smtClean="0"/>
              <a:t>lient identifier</a:t>
            </a:r>
            <a:endParaRPr lang="en-US" dirty="0" smtClean="0"/>
          </a:p>
          <a:p>
            <a:pPr lvl="1"/>
            <a:r>
              <a:rPr lang="en-US" dirty="0" smtClean="0"/>
              <a:t>mac		: </a:t>
            </a:r>
            <a:r>
              <a:rPr lang="en-US" dirty="0"/>
              <a:t>Media Access Control Address</a:t>
            </a:r>
            <a:r>
              <a:rPr lang="en-US" dirty="0" smtClean="0"/>
              <a:t>	</a:t>
            </a:r>
            <a:endParaRPr lang="en-US" dirty="0"/>
          </a:p>
          <a:p>
            <a:pPr lvl="1"/>
            <a:r>
              <a:rPr lang="en-US" dirty="0" err="1" smtClean="0"/>
              <a:t>recv_time</a:t>
            </a:r>
            <a:r>
              <a:rPr lang="en-US" dirty="0" smtClean="0"/>
              <a:t>	: </a:t>
            </a:r>
            <a:r>
              <a:rPr lang="en-US" dirty="0"/>
              <a:t>R</a:t>
            </a:r>
            <a:r>
              <a:rPr lang="en-US" dirty="0" smtClean="0"/>
              <a:t>eceive time</a:t>
            </a:r>
          </a:p>
          <a:p>
            <a:pPr lvl="1"/>
            <a:r>
              <a:rPr lang="en-US" dirty="0" err="1" smtClean="0"/>
              <a:t>data_type</a:t>
            </a:r>
            <a:r>
              <a:rPr lang="en-US" dirty="0" smtClean="0"/>
              <a:t> 	: [</a:t>
            </a:r>
            <a:r>
              <a:rPr lang="en-US" dirty="0" err="1" smtClean="0"/>
              <a:t>getDevices</a:t>
            </a:r>
            <a:r>
              <a:rPr lang="en-US" dirty="0" smtClean="0"/>
              <a:t>, </a:t>
            </a:r>
            <a:r>
              <a:rPr lang="en-US" dirty="0" err="1" smtClean="0"/>
              <a:t>getDeviceStatus</a:t>
            </a:r>
            <a:r>
              <a:rPr lang="en-US" dirty="0" smtClean="0"/>
              <a:t>”, </a:t>
            </a:r>
            <a:r>
              <a:rPr lang="en-US" dirty="0" err="1" smtClean="0"/>
              <a:t>getReportEvent</a:t>
            </a:r>
            <a:r>
              <a:rPr lang="en-US" dirty="0" smtClean="0"/>
              <a:t> …… ]</a:t>
            </a:r>
          </a:p>
          <a:p>
            <a:pPr lvl="1"/>
            <a:r>
              <a:rPr lang="en-US" b="1" dirty="0" err="1" smtClean="0"/>
              <a:t>raw_data</a:t>
            </a:r>
            <a:r>
              <a:rPr lang="en-US" dirty="0" smtClean="0"/>
              <a:t> 	: Device detail attributes or statuses</a:t>
            </a:r>
            <a:r>
              <a:rPr lang="zh-TW" altLang="en-US" dirty="0" smtClean="0"/>
              <a:t> </a:t>
            </a:r>
            <a:r>
              <a:rPr lang="en-US" altLang="zh-TW" dirty="0" smtClean="0"/>
              <a:t>in </a:t>
            </a:r>
            <a:r>
              <a:rPr lang="en-US" dirty="0" smtClean="0"/>
              <a:t>XML 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14683" t="49736" r="8333" b="35742"/>
          <a:stretch/>
        </p:blipFill>
        <p:spPr>
          <a:xfrm>
            <a:off x="1112764" y="4426858"/>
            <a:ext cx="10817980" cy="1509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881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Description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1640115"/>
            <a:ext cx="10426096" cy="2845803"/>
          </a:xfrm>
        </p:spPr>
        <p:txBody>
          <a:bodyPr>
            <a:normAutofit/>
          </a:bodyPr>
          <a:lstStyle/>
          <a:p>
            <a:r>
              <a:rPr lang="en-US" dirty="0" smtClean="0"/>
              <a:t>Parse 24-days SIGMU DB data and XML data into SQL format</a:t>
            </a:r>
          </a:p>
          <a:p>
            <a:r>
              <a:rPr lang="en-US" dirty="0" smtClean="0"/>
              <a:t>Parsing Target		: </a:t>
            </a:r>
            <a:r>
              <a:rPr lang="en-US" dirty="0" err="1" smtClean="0"/>
              <a:t>data_type</a:t>
            </a:r>
            <a:r>
              <a:rPr lang="en-US" dirty="0" smtClean="0"/>
              <a:t> in  “</a:t>
            </a:r>
            <a:r>
              <a:rPr lang="en-US" dirty="0" err="1" smtClean="0"/>
              <a:t>getDevices</a:t>
            </a:r>
            <a:r>
              <a:rPr lang="en-US" dirty="0"/>
              <a:t>, </a:t>
            </a:r>
            <a:r>
              <a:rPr lang="en-US" dirty="0" err="1"/>
              <a:t>getDeviceStatus</a:t>
            </a:r>
            <a:r>
              <a:rPr lang="en-US" dirty="0"/>
              <a:t>, </a:t>
            </a:r>
            <a:r>
              <a:rPr lang="en-US" dirty="0" err="1" smtClean="0"/>
              <a:t>getReportEvent</a:t>
            </a:r>
            <a:r>
              <a:rPr lang="en-US" dirty="0" smtClean="0"/>
              <a:t>”</a:t>
            </a:r>
          </a:p>
          <a:p>
            <a:r>
              <a:rPr lang="en-US" dirty="0" smtClean="0"/>
              <a:t>Parsing Attributes	: 	</a:t>
            </a:r>
          </a:p>
          <a:p>
            <a:pPr lvl="1"/>
            <a:r>
              <a:rPr lang="en-US" dirty="0" err="1" smtClean="0"/>
              <a:t>getDevices</a:t>
            </a:r>
            <a:r>
              <a:rPr lang="en-US" dirty="0" smtClean="0"/>
              <a:t>		: id</a:t>
            </a:r>
            <a:r>
              <a:rPr lang="en-US" dirty="0"/>
              <a:t>, </a:t>
            </a:r>
            <a:r>
              <a:rPr lang="en-US" dirty="0" smtClean="0"/>
              <a:t>ty</a:t>
            </a:r>
            <a:r>
              <a:rPr lang="en-US" dirty="0"/>
              <a:t>, </a:t>
            </a:r>
            <a:r>
              <a:rPr lang="en-US" dirty="0" err="1" smtClean="0"/>
              <a:t>status_rssi</a:t>
            </a:r>
            <a:r>
              <a:rPr lang="en-US" dirty="0" smtClean="0"/>
              <a:t>	 		</a:t>
            </a:r>
            <a:r>
              <a:rPr lang="en-US" dirty="0"/>
              <a:t>	</a:t>
            </a:r>
            <a:r>
              <a:rPr lang="en-US" dirty="0" smtClean="0"/>
              <a:t>[#records: </a:t>
            </a:r>
            <a:r>
              <a:rPr lang="en-US" dirty="0" smtClean="0"/>
              <a:t>399,760 </a:t>
            </a:r>
            <a:r>
              <a:rPr lang="en-US" dirty="0" smtClean="0"/>
              <a:t>]</a:t>
            </a:r>
          </a:p>
          <a:p>
            <a:pPr lvl="1"/>
            <a:r>
              <a:rPr lang="en-US" dirty="0" err="1" smtClean="0"/>
              <a:t>getDeviceStatus</a:t>
            </a:r>
            <a:r>
              <a:rPr lang="en-US" dirty="0" smtClean="0"/>
              <a:t>	: id (for count purpose)		</a:t>
            </a:r>
            <a:r>
              <a:rPr lang="en-US" dirty="0"/>
              <a:t>	</a:t>
            </a:r>
            <a:r>
              <a:rPr lang="en-US" dirty="0" smtClean="0"/>
              <a:t>[</a:t>
            </a:r>
            <a:r>
              <a:rPr lang="en-US" dirty="0"/>
              <a:t>#records: </a:t>
            </a:r>
            <a:r>
              <a:rPr lang="en-US" dirty="0" smtClean="0"/>
              <a:t>28,767,775]</a:t>
            </a:r>
          </a:p>
          <a:p>
            <a:pPr lvl="1"/>
            <a:r>
              <a:rPr lang="en-US" dirty="0" err="1" smtClean="0"/>
              <a:t>getReportEvent</a:t>
            </a:r>
            <a:r>
              <a:rPr lang="en-US" dirty="0" smtClean="0"/>
              <a:t>	: id, </a:t>
            </a:r>
            <a:r>
              <a:rPr lang="en-US" dirty="0" err="1" smtClean="0"/>
              <a:t>cid_event</a:t>
            </a:r>
            <a:r>
              <a:rPr lang="en-US" dirty="0"/>
              <a:t>, </a:t>
            </a:r>
            <a:r>
              <a:rPr lang="en-US" dirty="0" err="1" smtClean="0"/>
              <a:t>new_event</a:t>
            </a:r>
            <a:r>
              <a:rPr lang="en-US" dirty="0" smtClean="0"/>
              <a:t>		[#</a:t>
            </a:r>
            <a:r>
              <a:rPr lang="en-US" dirty="0"/>
              <a:t>records: </a:t>
            </a:r>
            <a:r>
              <a:rPr lang="en-US" dirty="0" smtClean="0"/>
              <a:t>68,579]</a:t>
            </a:r>
          </a:p>
          <a:p>
            <a:pPr lvl="2">
              <a:lnSpc>
                <a:spcPct val="150000"/>
              </a:lnSpc>
            </a:pPr>
            <a:r>
              <a:rPr lang="en-US" sz="1600" dirty="0" err="1" smtClean="0"/>
              <a:t>cid_event</a:t>
            </a:r>
            <a:r>
              <a:rPr lang="en-US" sz="1600" dirty="0" smtClean="0"/>
              <a:t>: </a:t>
            </a:r>
            <a:r>
              <a:rPr lang="en-US" altLang="zh-TW" b="1" dirty="0" smtClean="0"/>
              <a:t>Code 384(</a:t>
            </a:r>
            <a:r>
              <a:rPr lang="zh-TW" altLang="en-US" b="1" dirty="0" smtClean="0"/>
              <a:t>電池低電量</a:t>
            </a:r>
            <a:r>
              <a:rPr lang="en-US" altLang="zh-TW" b="1" dirty="0" smtClean="0"/>
              <a:t>)</a:t>
            </a:r>
            <a:r>
              <a:rPr lang="en-US" altLang="zh-TW" dirty="0" smtClean="0"/>
              <a:t>, </a:t>
            </a:r>
            <a:r>
              <a:rPr lang="en-US" altLang="zh-TW" dirty="0"/>
              <a:t>147(</a:t>
            </a:r>
            <a:r>
              <a:rPr lang="zh-TW" altLang="en-US" dirty="0"/>
              <a:t>設備回報異常</a:t>
            </a:r>
            <a:r>
              <a:rPr lang="en-US" altLang="zh-TW" dirty="0"/>
              <a:t>), 158(</a:t>
            </a:r>
            <a:r>
              <a:rPr lang="zh-TW" altLang="en-US" dirty="0"/>
              <a:t>高溫警報</a:t>
            </a:r>
            <a:r>
              <a:rPr lang="en-US" altLang="zh-TW" dirty="0"/>
              <a:t>), 344(</a:t>
            </a:r>
            <a:r>
              <a:rPr lang="zh-TW" altLang="en-US" dirty="0"/>
              <a:t>干擾偵測</a:t>
            </a:r>
            <a:r>
              <a:rPr lang="en-US" altLang="zh-TW" dirty="0"/>
              <a:t>), 354(</a:t>
            </a:r>
            <a:r>
              <a:rPr lang="zh-TW" altLang="en-US" dirty="0"/>
              <a:t>網路裝置錯誤</a:t>
            </a:r>
            <a:r>
              <a:rPr lang="en-US" altLang="zh-TW" dirty="0"/>
              <a:t>)” </a:t>
            </a:r>
            <a:r>
              <a:rPr lang="en-US" altLang="zh-TW" dirty="0" smtClean="0"/>
              <a:t>……</a:t>
            </a: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grpSp>
        <p:nvGrpSpPr>
          <p:cNvPr id="9" name="Group 8"/>
          <p:cNvGrpSpPr/>
          <p:nvPr/>
        </p:nvGrpSpPr>
        <p:grpSpPr>
          <a:xfrm>
            <a:off x="1292225" y="4776204"/>
            <a:ext cx="7981777" cy="1480457"/>
            <a:chOff x="677334" y="4535504"/>
            <a:chExt cx="8509129" cy="1937868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2"/>
            <a:srcRect l="23968" t="55544" r="36304" b="29406"/>
            <a:stretch/>
          </p:blipFill>
          <p:spPr>
            <a:xfrm>
              <a:off x="677334" y="4535504"/>
              <a:ext cx="8509129" cy="1937868"/>
            </a:xfrm>
            <a:prstGeom prst="rect">
              <a:avLst/>
            </a:prstGeom>
          </p:spPr>
        </p:pic>
        <p:grpSp>
          <p:nvGrpSpPr>
            <p:cNvPr id="8" name="Group 7"/>
            <p:cNvGrpSpPr/>
            <p:nvPr/>
          </p:nvGrpSpPr>
          <p:grpSpPr>
            <a:xfrm>
              <a:off x="5080001" y="4731657"/>
              <a:ext cx="1320800" cy="1672561"/>
              <a:chOff x="5080001" y="4731657"/>
              <a:chExt cx="1320800" cy="1672561"/>
            </a:xfrm>
          </p:grpSpPr>
          <p:sp>
            <p:nvSpPr>
              <p:cNvPr id="5" name="Rounded Rectangle 4"/>
              <p:cNvSpPr/>
              <p:nvPr/>
            </p:nvSpPr>
            <p:spPr>
              <a:xfrm>
                <a:off x="5080001" y="4731657"/>
                <a:ext cx="1320800" cy="362857"/>
              </a:xfrm>
              <a:prstGeom prst="roundRect">
                <a:avLst/>
              </a:prstGeom>
              <a:noFill/>
              <a:ln w="5715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ounded Rectangle 5"/>
              <p:cNvSpPr/>
              <p:nvPr/>
            </p:nvSpPr>
            <p:spPr>
              <a:xfrm>
                <a:off x="5080001" y="5386509"/>
                <a:ext cx="1320800" cy="362857"/>
              </a:xfrm>
              <a:prstGeom prst="roundRect">
                <a:avLst/>
              </a:prstGeom>
              <a:noFill/>
              <a:ln w="5715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ounded Rectangle 6"/>
              <p:cNvSpPr/>
              <p:nvPr/>
            </p:nvSpPr>
            <p:spPr>
              <a:xfrm>
                <a:off x="5080001" y="6041361"/>
                <a:ext cx="1320800" cy="362857"/>
              </a:xfrm>
              <a:prstGeom prst="roundRect">
                <a:avLst/>
              </a:prstGeom>
              <a:noFill/>
              <a:ln w="5715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0" name="Rounded Rectangle 9"/>
          <p:cNvSpPr/>
          <p:nvPr/>
        </p:nvSpPr>
        <p:spPr>
          <a:xfrm>
            <a:off x="2905882" y="4012162"/>
            <a:ext cx="1862061" cy="396265"/>
          </a:xfrm>
          <a:prstGeom prst="round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23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>
            <a:spLocks/>
          </p:cNvSpPr>
          <p:nvPr/>
        </p:nvSpPr>
        <p:spPr>
          <a:xfrm>
            <a:off x="1507067" y="2404534"/>
            <a:ext cx="7766936" cy="164630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zh-TW" b="1" dirty="0" smtClean="0"/>
              <a:t>Predict Target:</a:t>
            </a:r>
            <a:br>
              <a:rPr lang="en-US" altLang="zh-TW" b="1" dirty="0" smtClean="0"/>
            </a:br>
            <a:r>
              <a:rPr lang="en-US" altLang="zh-TW" b="1" dirty="0" smtClean="0"/>
              <a:t>Code 384(</a:t>
            </a:r>
            <a:r>
              <a:rPr lang="zh-TW" altLang="en-US" b="1" dirty="0" smtClean="0"/>
              <a:t>電池低電量</a:t>
            </a:r>
            <a:r>
              <a:rPr lang="en-US" altLang="zh-TW" b="1" dirty="0" smtClean="0"/>
              <a:t>)</a:t>
            </a:r>
            <a:endParaRPr lang="en-US" dirty="0"/>
          </a:p>
        </p:txBody>
      </p:sp>
      <p:sp>
        <p:nvSpPr>
          <p:cNvPr id="11" name="Subtitle 2"/>
          <p:cNvSpPr txBox="1">
            <a:spLocks/>
          </p:cNvSpPr>
          <p:nvPr/>
        </p:nvSpPr>
        <p:spPr>
          <a:xfrm>
            <a:off x="1507067" y="4050833"/>
            <a:ext cx="7766936" cy="10968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dirty="0" smtClean="0"/>
              <a:t>感測器之低電量警示預測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Low power Prediction of Devices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3023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9482667" cy="1320800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/>
              <a:t>Phase I-</a:t>
            </a:r>
            <a:r>
              <a:rPr lang="en-US" dirty="0" smtClean="0"/>
              <a:t>A </a:t>
            </a:r>
            <a:br>
              <a:rPr lang="en-US" dirty="0" smtClean="0"/>
            </a:br>
            <a:r>
              <a:rPr lang="en-US" altLang="zh-TW" dirty="0"/>
              <a:t>Fetch sensor types </a:t>
            </a:r>
            <a:r>
              <a:rPr lang="en-US" altLang="zh-TW" dirty="0" smtClean="0"/>
              <a:t>which happened </a:t>
            </a:r>
            <a:r>
              <a:rPr lang="en-US" dirty="0"/>
              <a:t>“</a:t>
            </a:r>
            <a:r>
              <a:rPr lang="en-US" i="1" dirty="0" err="1"/>
              <a:t>getReportEvent</a:t>
            </a:r>
            <a:r>
              <a:rPr lang="en-US" dirty="0"/>
              <a:t>”</a:t>
            </a:r>
            <a:r>
              <a:rPr lang="en-US" altLang="zh-TW" dirty="0" smtClean="0"/>
              <a:t> </a:t>
            </a:r>
            <a:r>
              <a:rPr lang="en-US" altLang="zh-TW" dirty="0"/>
              <a:t>“</a:t>
            </a:r>
            <a:r>
              <a:rPr lang="en-US" altLang="zh-TW" dirty="0" smtClean="0"/>
              <a:t>code384-</a:t>
            </a:r>
            <a:r>
              <a:rPr lang="zh-TW" altLang="en-US" dirty="0"/>
              <a:t>電池低</a:t>
            </a:r>
            <a:r>
              <a:rPr lang="zh-TW" altLang="en-US" dirty="0" smtClean="0"/>
              <a:t>電量</a:t>
            </a:r>
            <a:r>
              <a:rPr lang="en-US" altLang="zh-TW" dirty="0" smtClean="0"/>
              <a:t>” </a:t>
            </a:r>
            <a:br>
              <a:rPr lang="en-US" altLang="zh-TW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2" y="2552475"/>
            <a:ext cx="10581217" cy="3880773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Fetch sensor “id” which </a:t>
            </a:r>
            <a:r>
              <a:rPr lang="en-US" altLang="zh-TW" dirty="0" err="1" smtClean="0"/>
              <a:t>getReport</a:t>
            </a:r>
            <a:r>
              <a:rPr lang="en-US" altLang="zh-TW" dirty="0" err="1"/>
              <a:t>E</a:t>
            </a:r>
            <a:r>
              <a:rPr lang="en-US" altLang="zh-TW" dirty="0" err="1" smtClean="0"/>
              <a:t>vent</a:t>
            </a:r>
            <a:r>
              <a:rPr lang="en-US" altLang="zh-TW" dirty="0" smtClean="0"/>
              <a:t> code (</a:t>
            </a:r>
            <a:r>
              <a:rPr lang="en-US" altLang="zh-TW" dirty="0" err="1" smtClean="0"/>
              <a:t>cid</a:t>
            </a:r>
            <a:r>
              <a:rPr lang="en-US" dirty="0" err="1"/>
              <a:t>_event</a:t>
            </a:r>
            <a:r>
              <a:rPr lang="en-US" altLang="zh-TW" dirty="0" smtClean="0"/>
              <a:t>) is 384 	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-*See Notes 1.</a:t>
            </a:r>
          </a:p>
          <a:p>
            <a:r>
              <a:rPr lang="en-US" dirty="0" smtClean="0"/>
              <a:t>Fetch sensor “ty” in the sensor types </a:t>
            </a:r>
            <a:r>
              <a:rPr lang="en-US" dirty="0"/>
              <a:t>of </a:t>
            </a:r>
            <a:r>
              <a:rPr lang="en-US" dirty="0" smtClean="0"/>
              <a:t>above Id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Notes: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zh-TW" sz="1800" dirty="0"/>
              <a:t>The events above refer to its “</a:t>
            </a:r>
            <a:r>
              <a:rPr lang="en-US" altLang="zh-TW" sz="1800" dirty="0" err="1"/>
              <a:t>new_event</a:t>
            </a:r>
            <a:r>
              <a:rPr lang="en-US" altLang="zh-TW" sz="1800" dirty="0"/>
              <a:t> </a:t>
            </a:r>
            <a:r>
              <a:rPr lang="en-US" altLang="zh-TW" sz="1800" dirty="0"/>
              <a:t>= 1” (</a:t>
            </a:r>
            <a:r>
              <a:rPr lang="zh-TW" altLang="en-US" sz="1800" dirty="0"/>
              <a:t>事件發生</a:t>
            </a:r>
            <a:r>
              <a:rPr lang="en-US" altLang="zh-TW" sz="1800" dirty="0"/>
              <a:t>)</a:t>
            </a:r>
            <a:r>
              <a:rPr lang="zh-TW" altLang="en-US" sz="1800" dirty="0"/>
              <a:t> 電池低電量</a:t>
            </a:r>
            <a:r>
              <a:rPr lang="en-US" altLang="zh-TW" sz="1800" dirty="0"/>
              <a:t/>
            </a:r>
            <a:br>
              <a:rPr lang="en-US" altLang="zh-TW" sz="1800" dirty="0"/>
            </a:br>
            <a:r>
              <a:rPr lang="en-US" altLang="zh-TW" sz="1800" dirty="0"/>
              <a:t>rather than “</a:t>
            </a:r>
            <a:r>
              <a:rPr lang="en-US" altLang="zh-TW" sz="1800" dirty="0" err="1"/>
              <a:t>new_event</a:t>
            </a:r>
            <a:r>
              <a:rPr lang="en-US" altLang="zh-TW" sz="1800" dirty="0"/>
              <a:t> </a:t>
            </a:r>
            <a:r>
              <a:rPr lang="en-US" altLang="zh-TW" sz="1800" dirty="0"/>
              <a:t>= </a:t>
            </a:r>
            <a:r>
              <a:rPr lang="en-US" altLang="zh-TW" sz="1800" dirty="0"/>
              <a:t>0” (</a:t>
            </a:r>
            <a:r>
              <a:rPr lang="zh-TW" altLang="en-US" sz="1800" dirty="0"/>
              <a:t>事</a:t>
            </a:r>
            <a:r>
              <a:rPr lang="zh-TW" altLang="en-US" sz="1800" dirty="0"/>
              <a:t>件恢</a:t>
            </a:r>
            <a:r>
              <a:rPr lang="zh-TW" altLang="en-US" sz="1800" dirty="0"/>
              <a:t>復</a:t>
            </a:r>
            <a:r>
              <a:rPr lang="en-US" altLang="zh-TW" sz="1800" dirty="0"/>
              <a:t>)</a:t>
            </a:r>
            <a:r>
              <a:rPr lang="zh-TW" altLang="en-US" sz="1800" dirty="0"/>
              <a:t> 電</a:t>
            </a:r>
            <a:r>
              <a:rPr lang="zh-TW" altLang="en-US" sz="1800" dirty="0"/>
              <a:t>池</a:t>
            </a:r>
            <a:r>
              <a:rPr lang="zh-TW" altLang="en-US" sz="1800" dirty="0"/>
              <a:t>電量恢復</a:t>
            </a:r>
            <a:endParaRPr lang="en-US" sz="1800" dirty="0"/>
          </a:p>
          <a:p>
            <a:pPr marL="800100" lvl="1" indent="-342900">
              <a:buFont typeface="+mj-lt"/>
              <a:buAutoNum type="arabicPeriod"/>
            </a:pPr>
            <a:r>
              <a:rPr lang="en-US" sz="1800" dirty="0"/>
              <a:t>Same “un”, “mac”, “id” happen several times at same time in XML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/>
              <a:t>Since “</a:t>
            </a:r>
            <a:r>
              <a:rPr lang="en-US" altLang="zh-TW" sz="1800" dirty="0"/>
              <a:t>code384-</a:t>
            </a:r>
            <a:r>
              <a:rPr lang="zh-TW" altLang="en-US" sz="1800" dirty="0"/>
              <a:t>電池低電量</a:t>
            </a:r>
            <a:r>
              <a:rPr lang="en-US" sz="1800" dirty="0"/>
              <a:t>” </a:t>
            </a:r>
            <a:r>
              <a:rPr lang="en-US" altLang="zh-TW" sz="1800" dirty="0"/>
              <a:t>XML </a:t>
            </a:r>
            <a:r>
              <a:rPr lang="en-US" sz="1800" dirty="0"/>
              <a:t>has no “ty”, need go through “</a:t>
            </a:r>
            <a:r>
              <a:rPr lang="en-US" sz="1800" dirty="0" err="1"/>
              <a:t>getDevice</a:t>
            </a:r>
            <a:r>
              <a:rPr lang="en-US" sz="1800" dirty="0"/>
              <a:t>” to find out “ty”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zh-TW" sz="1800" dirty="0"/>
              <a:t>Exclude “</a:t>
            </a:r>
            <a:r>
              <a:rPr lang="en-US" sz="1800" dirty="0"/>
              <a:t>un” = 0</a:t>
            </a:r>
            <a:r>
              <a:rPr lang="zh-TW" altLang="en-US" sz="1800" dirty="0"/>
              <a:t> </a:t>
            </a:r>
            <a:r>
              <a:rPr lang="en-US" altLang="zh-TW" sz="1800" dirty="0"/>
              <a:t>records because it’s for test only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338527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9266767" cy="1320800"/>
          </a:xfrm>
        </p:spPr>
        <p:txBody>
          <a:bodyPr>
            <a:normAutofit fontScale="90000"/>
          </a:bodyPr>
          <a:lstStyle/>
          <a:p>
            <a:pPr lvl="1" algn="l" defTabSz="457200" rtl="0">
              <a:spcBef>
                <a:spcPct val="0"/>
              </a:spcBef>
            </a:pPr>
            <a:r>
              <a:rPr lang="en-US" altLang="zh-TW" sz="36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Phase I-B</a:t>
            </a:r>
            <a:br>
              <a:rPr lang="en-US" altLang="zh-TW" sz="36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</a:br>
            <a:r>
              <a:rPr lang="en-US" sz="3600" kern="12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Fetch all device </a:t>
            </a:r>
            <a:r>
              <a:rPr lang="en-US" sz="36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records in </a:t>
            </a:r>
            <a:r>
              <a:rPr lang="en-US" altLang="zh-TW" sz="36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Phase I-</a:t>
            </a:r>
            <a:r>
              <a:rPr lang="en-US" sz="36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A </a:t>
            </a:r>
            <a:r>
              <a:rPr lang="en-US" sz="3600" kern="12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sensor types</a:t>
            </a:r>
            <a:r>
              <a:rPr lang="en-US" sz="36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/>
            </a:r>
            <a:br>
              <a:rPr lang="en-US" sz="36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</a:br>
            <a:r>
              <a:rPr lang="en-US" altLang="zh-TW" sz="3200" dirty="0" smtClean="0">
                <a:solidFill>
                  <a:srgbClr val="90C226"/>
                </a:solidFill>
              </a:rPr>
              <a:t/>
            </a:r>
            <a:br>
              <a:rPr lang="en-US" altLang="zh-TW" sz="3200" dirty="0" smtClean="0">
                <a:solidFill>
                  <a:srgbClr val="90C226"/>
                </a:solidFill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370840"/>
          </a:xfrm>
        </p:spPr>
        <p:txBody>
          <a:bodyPr>
            <a:normAutofit/>
          </a:bodyPr>
          <a:lstStyle/>
          <a:p>
            <a:r>
              <a:rPr lang="en-US" dirty="0" smtClean="0"/>
              <a:t>Fetch device records </a:t>
            </a:r>
            <a:r>
              <a:rPr lang="en-US" dirty="0"/>
              <a:t>“</a:t>
            </a:r>
            <a:r>
              <a:rPr lang="en-US" dirty="0" err="1"/>
              <a:t>getDevices</a:t>
            </a:r>
            <a:r>
              <a:rPr lang="en-US" dirty="0"/>
              <a:t>” in Phase I-A sensor </a:t>
            </a:r>
            <a:r>
              <a:rPr lang="en-US" dirty="0" smtClean="0"/>
              <a:t>types over 24-days DB</a:t>
            </a:r>
          </a:p>
          <a:p>
            <a:pPr lvl="1"/>
            <a:r>
              <a:rPr lang="en-US" dirty="0"/>
              <a:t>Fetch </a:t>
            </a:r>
            <a:r>
              <a:rPr lang="en-US" dirty="0" smtClean="0"/>
              <a:t>“un, mac, id, ty, </a:t>
            </a:r>
            <a:r>
              <a:rPr lang="en-US" dirty="0" err="1" smtClean="0"/>
              <a:t>rssi</a:t>
            </a:r>
            <a:r>
              <a:rPr lang="en-US" dirty="0" smtClean="0"/>
              <a:t>, </a:t>
            </a:r>
            <a:r>
              <a:rPr lang="en-US" dirty="0" err="1" smtClean="0"/>
              <a:t>recv_time</a:t>
            </a:r>
            <a:r>
              <a:rPr lang="en-US" dirty="0" smtClean="0"/>
              <a:t>” column from </a:t>
            </a:r>
            <a:r>
              <a:rPr lang="en-US" dirty="0"/>
              <a:t>“</a:t>
            </a:r>
            <a:r>
              <a:rPr lang="en-US" dirty="0" err="1" smtClean="0"/>
              <a:t>getDevices</a:t>
            </a:r>
            <a:r>
              <a:rPr lang="en-US" dirty="0" smtClean="0"/>
              <a:t>” datatype</a:t>
            </a:r>
          </a:p>
          <a:p>
            <a:pPr marL="457200" lvl="1" indent="0">
              <a:buNone/>
            </a:pPr>
            <a:r>
              <a:rPr lang="en-US" dirty="0" smtClean="0"/>
              <a:t> </a:t>
            </a:r>
            <a:endParaRPr lang="en-US" altLang="zh-TW" dirty="0" smtClean="0"/>
          </a:p>
          <a:p>
            <a:pPr marL="342900" lvl="1" indent="-342900"/>
            <a:r>
              <a:rPr lang="en-US" altLang="zh-TW" dirty="0" smtClean="0"/>
              <a:t>Notes:</a:t>
            </a:r>
          </a:p>
          <a:p>
            <a:pPr marL="742950" lvl="2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Time value of “</a:t>
            </a:r>
            <a:r>
              <a:rPr lang="en-US" dirty="0" err="1">
                <a:solidFill>
                  <a:schemeClr val="tx1"/>
                </a:solidFill>
              </a:rPr>
              <a:t>status_time</a:t>
            </a:r>
            <a:r>
              <a:rPr lang="en-US" dirty="0">
                <a:solidFill>
                  <a:schemeClr val="tx1"/>
                </a:solidFill>
              </a:rPr>
              <a:t>” in XML is not correct in each </a:t>
            </a:r>
            <a:r>
              <a:rPr lang="en-US" dirty="0" smtClean="0">
                <a:solidFill>
                  <a:schemeClr val="tx1"/>
                </a:solidFill>
              </a:rPr>
              <a:t>record</a:t>
            </a:r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Time value of “</a:t>
            </a:r>
            <a:r>
              <a:rPr lang="en-US" dirty="0" err="1">
                <a:solidFill>
                  <a:schemeClr val="tx1"/>
                </a:solidFill>
              </a:rPr>
              <a:t>recv_time</a:t>
            </a:r>
            <a:r>
              <a:rPr lang="en-US" dirty="0">
                <a:solidFill>
                  <a:schemeClr val="tx1"/>
                </a:solidFill>
              </a:rPr>
              <a:t>” in original “</a:t>
            </a:r>
            <a:r>
              <a:rPr lang="en-US" dirty="0" err="1">
                <a:solidFill>
                  <a:schemeClr val="tx1"/>
                </a:solidFill>
              </a:rPr>
              <a:t>log_receive</a:t>
            </a:r>
            <a:r>
              <a:rPr lang="en-US" dirty="0">
                <a:solidFill>
                  <a:schemeClr val="tx1"/>
                </a:solidFill>
              </a:rPr>
              <a:t>” Table is </a:t>
            </a:r>
            <a:r>
              <a:rPr lang="en-US" dirty="0" smtClean="0">
                <a:solidFill>
                  <a:schemeClr val="tx1"/>
                </a:solidFill>
              </a:rPr>
              <a:t>correct in total </a:t>
            </a:r>
            <a:br>
              <a:rPr lang="en-US" dirty="0" smtClean="0">
                <a:solidFill>
                  <a:schemeClr val="tx1"/>
                </a:solidFill>
              </a:rPr>
            </a:br>
            <a:r>
              <a:rPr lang="en-US" dirty="0" smtClean="0">
                <a:solidFill>
                  <a:schemeClr val="tx1"/>
                </a:solidFill>
              </a:rPr>
              <a:t>So use </a:t>
            </a:r>
            <a:r>
              <a:rPr lang="en-US" dirty="0">
                <a:solidFill>
                  <a:schemeClr val="tx1"/>
                </a:solidFill>
              </a:rPr>
              <a:t>“</a:t>
            </a:r>
            <a:r>
              <a:rPr lang="en-US" dirty="0" err="1">
                <a:solidFill>
                  <a:schemeClr val="tx1"/>
                </a:solidFill>
              </a:rPr>
              <a:t>recv_time</a:t>
            </a:r>
            <a:r>
              <a:rPr lang="en-US" dirty="0">
                <a:solidFill>
                  <a:schemeClr val="tx1"/>
                </a:solidFill>
              </a:rPr>
              <a:t>” </a:t>
            </a:r>
            <a:r>
              <a:rPr lang="en-US" dirty="0" smtClean="0">
                <a:solidFill>
                  <a:schemeClr val="tx1"/>
                </a:solidFill>
              </a:rPr>
              <a:t>to </a:t>
            </a:r>
            <a:r>
              <a:rPr lang="en-US" dirty="0">
                <a:solidFill>
                  <a:schemeClr val="tx1"/>
                </a:solidFill>
              </a:rPr>
              <a:t>represent the record time instead of </a:t>
            </a:r>
            <a:r>
              <a:rPr lang="en-US" dirty="0" smtClean="0">
                <a:solidFill>
                  <a:schemeClr val="tx1"/>
                </a:solidFill>
              </a:rPr>
              <a:t>“</a:t>
            </a:r>
            <a:r>
              <a:rPr lang="en-US" dirty="0" err="1">
                <a:solidFill>
                  <a:schemeClr val="tx1"/>
                </a:solidFill>
              </a:rPr>
              <a:t>status_time</a:t>
            </a:r>
            <a:r>
              <a:rPr lang="en-US" dirty="0">
                <a:solidFill>
                  <a:schemeClr val="tx1"/>
                </a:solidFill>
              </a:rPr>
              <a:t>” </a:t>
            </a:r>
          </a:p>
          <a:p>
            <a:pPr marL="742950" lvl="2" indent="-342900">
              <a:buFont typeface="+mj-lt"/>
              <a:buAutoNum type="arabicPeriod"/>
            </a:pPr>
            <a:r>
              <a:rPr lang="en-US" altLang="zh-TW" dirty="0" smtClean="0">
                <a:solidFill>
                  <a:schemeClr val="tx1"/>
                </a:solidFill>
              </a:rPr>
              <a:t>Exclude </a:t>
            </a:r>
            <a:r>
              <a:rPr lang="en-US" altLang="zh-TW" dirty="0">
                <a:solidFill>
                  <a:schemeClr val="tx1"/>
                </a:solidFill>
              </a:rPr>
              <a:t>“</a:t>
            </a:r>
            <a:r>
              <a:rPr lang="en-US" dirty="0">
                <a:solidFill>
                  <a:schemeClr val="tx1"/>
                </a:solidFill>
              </a:rPr>
              <a:t>un” = 0</a:t>
            </a:r>
            <a:r>
              <a:rPr lang="zh-TW" altLang="en-US" dirty="0">
                <a:solidFill>
                  <a:schemeClr val="tx1"/>
                </a:solidFill>
              </a:rPr>
              <a:t> </a:t>
            </a:r>
            <a:r>
              <a:rPr lang="en-US" altLang="zh-TW" dirty="0">
                <a:solidFill>
                  <a:schemeClr val="tx1"/>
                </a:solidFill>
              </a:rPr>
              <a:t>records because it’s for test </a:t>
            </a:r>
            <a:r>
              <a:rPr lang="en-US" altLang="zh-TW" dirty="0" smtClean="0">
                <a:solidFill>
                  <a:schemeClr val="tx1"/>
                </a:solidFill>
              </a:rPr>
              <a:t>only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327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9474372" cy="1320800"/>
          </a:xfrm>
        </p:spPr>
        <p:txBody>
          <a:bodyPr>
            <a:noAutofit/>
          </a:bodyPr>
          <a:lstStyle/>
          <a:p>
            <a:r>
              <a:rPr lang="en-US" altLang="zh-TW" sz="3200" dirty="0" smtClean="0"/>
              <a:t>Phase I-C</a:t>
            </a:r>
            <a:r>
              <a:rPr lang="en-US" sz="3200" dirty="0"/>
              <a:t/>
            </a:r>
            <a:br>
              <a:rPr lang="en-US" sz="3200" dirty="0"/>
            </a:br>
            <a:r>
              <a:rPr lang="en-US" sz="3200" dirty="0"/>
              <a:t>Append “</a:t>
            </a:r>
            <a:r>
              <a:rPr lang="en-US" sz="3200" i="1" dirty="0" err="1" smtClean="0"/>
              <a:t>getReportEvent</a:t>
            </a:r>
            <a:r>
              <a:rPr lang="en-US" sz="3200" dirty="0" smtClean="0"/>
              <a:t>” “code384-</a:t>
            </a:r>
            <a:r>
              <a:rPr lang="zh-TW" altLang="en-US" sz="3200" dirty="0"/>
              <a:t>電池</a:t>
            </a:r>
            <a:r>
              <a:rPr lang="zh-TW" altLang="en-US" sz="3200" dirty="0" smtClean="0"/>
              <a:t>低電</a:t>
            </a:r>
            <a:r>
              <a:rPr lang="zh-TW" altLang="en-US" sz="3200" dirty="0"/>
              <a:t>量</a:t>
            </a:r>
            <a:r>
              <a:rPr lang="en-US" sz="3200" dirty="0" smtClean="0"/>
              <a:t>” </a:t>
            </a:r>
            <a:br>
              <a:rPr lang="en-US" sz="3200" dirty="0" smtClean="0"/>
            </a:br>
            <a:r>
              <a:rPr lang="en-US" sz="3200" b="1" dirty="0"/>
              <a:t>t</a:t>
            </a:r>
            <a:r>
              <a:rPr lang="en-US" sz="3200" b="1" dirty="0" smtClean="0"/>
              <a:t>ime</a:t>
            </a:r>
            <a:r>
              <a:rPr lang="zh-TW" altLang="en-US" sz="3200" dirty="0" smtClean="0"/>
              <a:t> </a:t>
            </a:r>
            <a:r>
              <a:rPr lang="en-US" sz="3200" dirty="0" smtClean="0"/>
              <a:t>to </a:t>
            </a:r>
            <a:r>
              <a:rPr lang="en-US" altLang="zh-TW" sz="3200" dirty="0"/>
              <a:t>Phase I-B </a:t>
            </a:r>
            <a:r>
              <a:rPr lang="en-US" altLang="zh-TW" sz="3200" dirty="0" smtClean="0"/>
              <a:t>D</a:t>
            </a:r>
            <a:r>
              <a:rPr lang="en-US" sz="3200" dirty="0" smtClean="0"/>
              <a:t>evice </a:t>
            </a:r>
            <a:r>
              <a:rPr lang="en-US" altLang="zh-TW" sz="3200" dirty="0" smtClean="0"/>
              <a:t>R</a:t>
            </a:r>
            <a:r>
              <a:rPr lang="en-US" sz="3200" dirty="0" smtClean="0"/>
              <a:t>ecords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2369976"/>
            <a:ext cx="8780991" cy="4488024"/>
          </a:xfrm>
        </p:spPr>
        <p:txBody>
          <a:bodyPr>
            <a:normAutofit fontScale="85000" lnSpcReduction="20000"/>
          </a:bodyPr>
          <a:lstStyle/>
          <a:p>
            <a:r>
              <a:rPr lang="en-US" altLang="zh-TW" dirty="0" smtClean="0"/>
              <a:t>Fetch “un, mac, </a:t>
            </a:r>
            <a:r>
              <a:rPr lang="en-US" altLang="zh-TW" dirty="0" err="1" smtClean="0"/>
              <a:t>recv_time</a:t>
            </a:r>
            <a:r>
              <a:rPr lang="en-US" altLang="zh-TW" dirty="0" smtClean="0"/>
              <a:t>, id </a:t>
            </a:r>
            <a:r>
              <a:rPr lang="en-US" altLang="zh-TW" sz="1200" dirty="0" smtClean="0"/>
              <a:t>(in XML)</a:t>
            </a:r>
            <a:r>
              <a:rPr lang="en-US" altLang="zh-TW" dirty="0" smtClean="0"/>
              <a:t>” of </a:t>
            </a:r>
            <a:r>
              <a:rPr lang="en-US" i="1" dirty="0"/>
              <a:t>“</a:t>
            </a:r>
            <a:r>
              <a:rPr lang="en-US" dirty="0" err="1"/>
              <a:t>get</a:t>
            </a:r>
            <a:r>
              <a:rPr lang="en-US" i="1" dirty="0" err="1"/>
              <a:t>ReportEvent</a:t>
            </a:r>
            <a:r>
              <a:rPr lang="en-US" i="1" dirty="0"/>
              <a:t>” </a:t>
            </a:r>
            <a:r>
              <a:rPr lang="en-US" i="1" dirty="0" smtClean="0"/>
              <a:t>	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-*</a:t>
            </a: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See Notes 1.</a:t>
            </a:r>
            <a:endParaRPr lang="en-US" altLang="zh-TW" dirty="0" smtClean="0"/>
          </a:p>
          <a:p>
            <a:r>
              <a:rPr lang="en-US" altLang="zh-TW" dirty="0" smtClean="0"/>
              <a:t>Join by “un, mac, id” </a:t>
            </a:r>
            <a:r>
              <a:rPr lang="en-US" dirty="0"/>
              <a:t>to device records </a:t>
            </a:r>
            <a:r>
              <a:rPr lang="en-US" altLang="zh-TW" dirty="0" smtClean="0"/>
              <a:t>and </a:t>
            </a:r>
            <a:br>
              <a:rPr lang="en-US" altLang="zh-TW" dirty="0" smtClean="0"/>
            </a:br>
            <a:r>
              <a:rPr lang="en-US" altLang="zh-TW" dirty="0" smtClean="0"/>
              <a:t>replace </a:t>
            </a:r>
            <a:r>
              <a:rPr lang="en-US" altLang="zh-TW" b="1" i="1" dirty="0" smtClean="0"/>
              <a:t>NULL</a:t>
            </a:r>
            <a:r>
              <a:rPr lang="en-US" altLang="zh-TW" dirty="0" smtClean="0"/>
              <a:t> </a:t>
            </a:r>
            <a:r>
              <a:rPr lang="en-US" altLang="zh-TW" b="1" dirty="0" smtClean="0"/>
              <a:t>time</a:t>
            </a:r>
            <a:r>
              <a:rPr lang="en-US" altLang="zh-TW" dirty="0" smtClean="0"/>
              <a:t> result with ‘-1’	</a:t>
            </a:r>
            <a:r>
              <a:rPr lang="en-US" altLang="zh-TW" dirty="0" smtClean="0"/>
              <a:t>					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-*</a:t>
            </a: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See Notes 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2.</a:t>
            </a:r>
            <a:endParaRPr lang="en-US" dirty="0" smtClean="0"/>
          </a:p>
          <a:p>
            <a:r>
              <a:rPr lang="en-US" dirty="0" smtClean="0"/>
              <a:t>Notes: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Time value of “</a:t>
            </a:r>
            <a:r>
              <a:rPr lang="en-US" dirty="0" err="1">
                <a:solidFill>
                  <a:schemeClr val="tx1"/>
                </a:solidFill>
              </a:rPr>
              <a:t>status_time</a:t>
            </a:r>
            <a:r>
              <a:rPr lang="en-US" dirty="0">
                <a:solidFill>
                  <a:schemeClr val="tx1"/>
                </a:solidFill>
              </a:rPr>
              <a:t>” in XML is not correct in each record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Time value of “</a:t>
            </a:r>
            <a:r>
              <a:rPr lang="en-US" dirty="0" err="1">
                <a:solidFill>
                  <a:schemeClr val="tx1"/>
                </a:solidFill>
              </a:rPr>
              <a:t>recv_time</a:t>
            </a:r>
            <a:r>
              <a:rPr lang="en-US" dirty="0">
                <a:solidFill>
                  <a:schemeClr val="tx1"/>
                </a:solidFill>
              </a:rPr>
              <a:t>” in original “</a:t>
            </a:r>
            <a:r>
              <a:rPr lang="en-US" dirty="0" err="1">
                <a:solidFill>
                  <a:schemeClr val="tx1"/>
                </a:solidFill>
              </a:rPr>
              <a:t>log_receive</a:t>
            </a:r>
            <a:r>
              <a:rPr lang="en-US" dirty="0">
                <a:solidFill>
                  <a:schemeClr val="tx1"/>
                </a:solidFill>
              </a:rPr>
              <a:t>” Table is correct in total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So use “</a:t>
            </a:r>
            <a:r>
              <a:rPr lang="en-US" dirty="0" err="1">
                <a:solidFill>
                  <a:schemeClr val="tx1"/>
                </a:solidFill>
              </a:rPr>
              <a:t>recv_time</a:t>
            </a:r>
            <a:r>
              <a:rPr lang="en-US" dirty="0">
                <a:solidFill>
                  <a:schemeClr val="tx1"/>
                </a:solidFill>
              </a:rPr>
              <a:t>” to represent the record time instead of “</a:t>
            </a:r>
            <a:r>
              <a:rPr lang="en-US" dirty="0" err="1">
                <a:solidFill>
                  <a:schemeClr val="tx1"/>
                </a:solidFill>
              </a:rPr>
              <a:t>status_time</a:t>
            </a:r>
            <a:r>
              <a:rPr lang="en-US" dirty="0">
                <a:solidFill>
                  <a:schemeClr val="tx1"/>
                </a:solidFill>
              </a:rPr>
              <a:t> </a:t>
            </a:r>
            <a:endParaRPr lang="en-US" dirty="0" smtClean="0">
              <a:solidFill>
                <a:schemeClr val="tx1"/>
              </a:solidFill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Not all device records (“</a:t>
            </a:r>
            <a:r>
              <a:rPr lang="en-US" dirty="0" err="1">
                <a:solidFill>
                  <a:schemeClr val="tx1"/>
                </a:solidFill>
              </a:rPr>
              <a:t>getDevices</a:t>
            </a:r>
            <a:r>
              <a:rPr lang="en-US" dirty="0">
                <a:solidFill>
                  <a:schemeClr val="tx1"/>
                </a:solidFill>
              </a:rPr>
              <a:t>”) have “code384-low power”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zh-TW" dirty="0">
                <a:solidFill>
                  <a:schemeClr val="tx1"/>
                </a:solidFill>
              </a:rPr>
              <a:t>“</a:t>
            </a:r>
            <a:r>
              <a:rPr lang="en-US" altLang="zh-TW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Time in Cycle</a:t>
            </a:r>
            <a:r>
              <a:rPr lang="en-US" altLang="zh-TW" dirty="0">
                <a:solidFill>
                  <a:schemeClr val="tx1"/>
                </a:solidFill>
              </a:rPr>
              <a:t>” is critical feature in </a:t>
            </a:r>
            <a:r>
              <a:rPr lang="en-US" altLang="zh-TW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Survival Analysis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In this 24-days data, we observed left censored data which start time and cycle are both unknown, so we replace </a:t>
            </a:r>
            <a:r>
              <a:rPr lang="en-US" altLang="zh-TW" dirty="0">
                <a:solidFill>
                  <a:schemeClr val="tx1"/>
                </a:solidFill>
              </a:rPr>
              <a:t>“T</a:t>
            </a:r>
            <a:r>
              <a:rPr lang="en-US" dirty="0">
                <a:solidFill>
                  <a:schemeClr val="tx1"/>
                </a:solidFill>
              </a:rPr>
              <a:t>ime</a:t>
            </a:r>
            <a:r>
              <a:rPr lang="zh-TW" altLang="en-US" dirty="0">
                <a:solidFill>
                  <a:schemeClr val="tx1"/>
                </a:solidFill>
              </a:rPr>
              <a:t> </a:t>
            </a:r>
            <a:r>
              <a:rPr lang="en-US" altLang="zh-TW" dirty="0">
                <a:solidFill>
                  <a:schemeClr val="tx1"/>
                </a:solidFill>
              </a:rPr>
              <a:t>in Cycle” with</a:t>
            </a:r>
            <a:r>
              <a:rPr lang="en-US" dirty="0">
                <a:solidFill>
                  <a:schemeClr val="tx1"/>
                </a:solidFill>
              </a:rPr>
              <a:t> “</a:t>
            </a:r>
            <a: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days remained</a:t>
            </a:r>
            <a:r>
              <a:rPr lang="en-US" dirty="0">
                <a:solidFill>
                  <a:schemeClr val="tx1"/>
                </a:solidFill>
              </a:rPr>
              <a:t>”, which is the difference between the records time and expired (“code384-</a:t>
            </a:r>
            <a:r>
              <a:rPr lang="zh-TW" altLang="en-US" dirty="0">
                <a:solidFill>
                  <a:schemeClr val="tx1"/>
                </a:solidFill>
              </a:rPr>
              <a:t>電池低電量</a:t>
            </a:r>
            <a:r>
              <a:rPr lang="en-US" dirty="0" smtClean="0">
                <a:solidFill>
                  <a:schemeClr val="tx1"/>
                </a:solidFill>
              </a:rPr>
              <a:t>”) </a:t>
            </a:r>
            <a:r>
              <a:rPr lang="en-US" dirty="0">
                <a:solidFill>
                  <a:schemeClr val="tx1"/>
                </a:solidFill>
              </a:rPr>
              <a:t>time, </a:t>
            </a:r>
            <a:r>
              <a:rPr lang="en-US" altLang="zh-TW" dirty="0">
                <a:solidFill>
                  <a:schemeClr val="tx1"/>
                </a:solidFill>
              </a:rPr>
              <a:t>for </a:t>
            </a:r>
            <a:r>
              <a:rPr lang="en-US" altLang="zh-TW" b="1" dirty="0">
                <a:solidFill>
                  <a:schemeClr val="tx1"/>
                </a:solidFill>
              </a:rPr>
              <a:t>Survival Analysis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Transform numeric “days remained” field into 5 “level”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1: 0-5 days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2: 6-10 days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 smtClean="0"/>
              <a:t>3: 11-15 days</a:t>
            </a:r>
            <a:br>
              <a:rPr lang="en-US" dirty="0" smtClean="0"/>
            </a:br>
            <a:r>
              <a:rPr lang="en-US" dirty="0" smtClean="0"/>
              <a:t>4: </a:t>
            </a:r>
            <a:r>
              <a:rPr lang="en-US" dirty="0" smtClean="0"/>
              <a:t>16–30 days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5: “</a:t>
            </a:r>
            <a:r>
              <a:rPr lang="en-US" i="1" dirty="0" smtClean="0"/>
              <a:t>code384-</a:t>
            </a:r>
            <a:r>
              <a:rPr lang="en-US" b="1" i="1" dirty="0" smtClean="0"/>
              <a:t>low </a:t>
            </a:r>
            <a:r>
              <a:rPr lang="en-US" b="1" i="1" dirty="0"/>
              <a:t>power</a:t>
            </a:r>
            <a:r>
              <a:rPr lang="en-US" i="1" dirty="0"/>
              <a:t>”</a:t>
            </a:r>
            <a:r>
              <a:rPr lang="en-US" dirty="0"/>
              <a:t> </a:t>
            </a:r>
            <a:r>
              <a:rPr lang="en-US" dirty="0" smtClean="0"/>
              <a:t>not happened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8658225" y="2219325"/>
            <a:ext cx="3280267" cy="2370363"/>
            <a:chOff x="8792612" y="3019780"/>
            <a:chExt cx="3407137" cy="2633597"/>
          </a:xfrm>
        </p:grpSpPr>
        <p:pic>
          <p:nvPicPr>
            <p:cNvPr id="1026" name="Picture 2" descr="http://pic.pimg.tw/dasanlin888/1361874590-1706977571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92612" y="3019780"/>
              <a:ext cx="3399388" cy="24339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 5"/>
            <p:cNvSpPr/>
            <p:nvPr/>
          </p:nvSpPr>
          <p:spPr>
            <a:xfrm>
              <a:off x="9913546" y="5468711"/>
              <a:ext cx="2286203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600" dirty="0" smtClean="0"/>
                <a:t>Reference: Lang </a:t>
              </a:r>
              <a:r>
                <a:rPr lang="en-US" sz="600" dirty="0"/>
                <a:t>(2006). How to Report Statistics in Medicine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85632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3200" dirty="0"/>
              <a:t>Phase </a:t>
            </a:r>
            <a:r>
              <a:rPr lang="en-US" altLang="zh-TW" sz="3200" dirty="0" smtClean="0"/>
              <a:t>I-D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>Aggregate times of all “</a:t>
            </a:r>
            <a:r>
              <a:rPr lang="en-US" sz="3200" i="1" dirty="0" err="1" smtClean="0"/>
              <a:t>getReportEvent</a:t>
            </a:r>
            <a:r>
              <a:rPr lang="en-US" sz="3200" dirty="0"/>
              <a:t>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2160589"/>
            <a:ext cx="9123891" cy="4576113"/>
          </a:xfrm>
        </p:spPr>
        <p:txBody>
          <a:bodyPr>
            <a:normAutofit fontScale="85000" lnSpcReduction="20000"/>
          </a:bodyPr>
          <a:lstStyle/>
          <a:p>
            <a:r>
              <a:rPr lang="en-US" altLang="zh-TW" dirty="0"/>
              <a:t>Fetch </a:t>
            </a:r>
            <a:r>
              <a:rPr lang="en-US" altLang="zh-TW" dirty="0" smtClean="0"/>
              <a:t>“un, mac, </a:t>
            </a:r>
            <a:r>
              <a:rPr lang="en-US" altLang="zh-TW" dirty="0" err="1" smtClean="0"/>
              <a:t>recv_time</a:t>
            </a:r>
            <a:r>
              <a:rPr lang="en-US" altLang="zh-TW" dirty="0" smtClean="0"/>
              <a:t>, </a:t>
            </a:r>
            <a:r>
              <a:rPr lang="en-US" altLang="zh-TW" dirty="0"/>
              <a:t>id</a:t>
            </a:r>
            <a:r>
              <a:rPr lang="en-US" altLang="zh-TW" sz="1050" dirty="0"/>
              <a:t> (in XML)</a:t>
            </a:r>
            <a:r>
              <a:rPr lang="en-US" altLang="zh-TW" dirty="0"/>
              <a:t>” </a:t>
            </a:r>
            <a:r>
              <a:rPr lang="en-US" altLang="zh-TW" dirty="0" smtClean="0"/>
              <a:t>of “</a:t>
            </a:r>
            <a:r>
              <a:rPr lang="en-US" altLang="zh-TW" dirty="0" err="1" smtClean="0"/>
              <a:t>getReportEvent</a:t>
            </a:r>
            <a:r>
              <a:rPr lang="en-US" altLang="zh-TW" dirty="0" smtClean="0"/>
              <a:t>”			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-*</a:t>
            </a: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See Notes 1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en-US" altLang="zh-TW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dirty="0" smtClean="0"/>
              <a:t>Calculate ‘</a:t>
            </a:r>
            <a:r>
              <a:rPr lang="en-US" dirty="0" err="1" smtClean="0"/>
              <a:t>RowNumber</a:t>
            </a:r>
            <a:r>
              <a:rPr lang="en-US" dirty="0" smtClean="0"/>
              <a:t>’ as accumulated </a:t>
            </a:r>
            <a:r>
              <a:rPr lang="en-US" dirty="0"/>
              <a:t>“</a:t>
            </a:r>
            <a:r>
              <a:rPr lang="en-US" i="1" dirty="0" err="1"/>
              <a:t>getReportEvent</a:t>
            </a:r>
            <a:r>
              <a:rPr lang="en-US" dirty="0" smtClean="0"/>
              <a:t>” times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>
                <a:solidFill>
                  <a:schemeClr val="tx1"/>
                </a:solidFill>
              </a:rPr>
              <a:t>Partition by “un, mac, id” Order by “</a:t>
            </a:r>
            <a:r>
              <a:rPr lang="en-US" dirty="0" err="1">
                <a:solidFill>
                  <a:schemeClr val="tx1"/>
                </a:solidFill>
              </a:rPr>
              <a:t>recv_time</a:t>
            </a:r>
            <a:r>
              <a:rPr lang="en-US" dirty="0">
                <a:solidFill>
                  <a:schemeClr val="tx1"/>
                </a:solidFill>
              </a:rPr>
              <a:t>” </a:t>
            </a:r>
            <a:endParaRPr lang="en-US" dirty="0" smtClean="0"/>
          </a:p>
          <a:p>
            <a:r>
              <a:rPr lang="en-US" dirty="0"/>
              <a:t>Join </a:t>
            </a:r>
            <a:r>
              <a:rPr lang="en-US" dirty="0" smtClean="0"/>
              <a:t>maximum ‘</a:t>
            </a:r>
            <a:r>
              <a:rPr lang="en-US" dirty="0" err="1" smtClean="0"/>
              <a:t>RowNumber</a:t>
            </a:r>
            <a:r>
              <a:rPr lang="en-US" dirty="0" smtClean="0"/>
              <a:t>’ to device records, </a:t>
            </a:r>
            <a:br>
              <a:rPr lang="en-US" dirty="0" smtClean="0"/>
            </a:br>
            <a:r>
              <a:rPr lang="en-US" dirty="0" smtClean="0"/>
              <a:t>By “</a:t>
            </a:r>
            <a:r>
              <a:rPr lang="en-US" altLang="zh-TW" dirty="0" smtClean="0"/>
              <a:t>un</a:t>
            </a:r>
            <a:r>
              <a:rPr lang="en-US" altLang="zh-TW" dirty="0"/>
              <a:t>, mac, </a:t>
            </a:r>
            <a:r>
              <a:rPr lang="en-US" altLang="zh-TW" dirty="0" smtClean="0"/>
              <a:t>id”, </a:t>
            </a:r>
            <a:br>
              <a:rPr lang="en-US" altLang="zh-TW" dirty="0" smtClean="0"/>
            </a:br>
            <a:r>
              <a:rPr lang="en-US" altLang="zh-TW" dirty="0" smtClean="0"/>
              <a:t>On records time &gt;= “</a:t>
            </a:r>
            <a:r>
              <a:rPr lang="en-US" altLang="zh-TW" dirty="0" err="1" smtClean="0"/>
              <a:t>recv_time</a:t>
            </a:r>
            <a:r>
              <a:rPr lang="en-US" altLang="zh-TW" dirty="0" smtClean="0"/>
              <a:t>” of </a:t>
            </a:r>
            <a:r>
              <a:rPr lang="en-US" altLang="zh-TW" dirty="0"/>
              <a:t>“</a:t>
            </a:r>
            <a:r>
              <a:rPr lang="en-US" altLang="zh-TW" dirty="0" err="1"/>
              <a:t>getReportEvent</a:t>
            </a:r>
            <a:r>
              <a:rPr lang="en-US" altLang="zh-TW" dirty="0" smtClean="0"/>
              <a:t>”</a:t>
            </a:r>
            <a:br>
              <a:rPr lang="en-US" altLang="zh-TW" dirty="0" smtClean="0"/>
            </a:br>
            <a:r>
              <a:rPr lang="en-US" altLang="zh-TW" dirty="0" smtClean="0"/>
              <a:t>Group by </a:t>
            </a:r>
            <a:r>
              <a:rPr lang="en-US" dirty="0"/>
              <a:t>“</a:t>
            </a:r>
            <a:r>
              <a:rPr lang="en-US" altLang="zh-TW" dirty="0"/>
              <a:t>un, mac, </a:t>
            </a:r>
            <a:r>
              <a:rPr lang="en-US" altLang="zh-TW" dirty="0" smtClean="0"/>
              <a:t>id, </a:t>
            </a:r>
            <a:r>
              <a:rPr lang="en-US" altLang="zh-TW" dirty="0" err="1" smtClean="0"/>
              <a:t>recv_time</a:t>
            </a:r>
            <a:r>
              <a:rPr lang="en-US" altLang="zh-TW" dirty="0" smtClean="0"/>
              <a:t>” </a:t>
            </a:r>
            <a:br>
              <a:rPr lang="en-US" altLang="zh-TW" dirty="0" smtClean="0"/>
            </a:b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>
                <a:solidFill>
                  <a:schemeClr val="tx1"/>
                </a:solidFill>
              </a:rPr>
              <a:t>Since n</a:t>
            </a:r>
            <a:r>
              <a:rPr lang="en-US" dirty="0">
                <a:solidFill>
                  <a:schemeClr val="tx1"/>
                </a:solidFill>
              </a:rPr>
              <a:t>ot all device records have  “code384-</a:t>
            </a:r>
            <a:r>
              <a:rPr lang="zh-TW" altLang="en-US" dirty="0">
                <a:solidFill>
                  <a:schemeClr val="tx1"/>
                </a:solidFill>
              </a:rPr>
              <a:t>電池低電量</a:t>
            </a:r>
            <a:r>
              <a:rPr lang="en-US" altLang="zh-TW" dirty="0">
                <a:solidFill>
                  <a:schemeClr val="tx1"/>
                </a:solidFill>
              </a:rPr>
              <a:t>, </a:t>
            </a:r>
            <a:br>
              <a:rPr lang="en-US" altLang="zh-TW" dirty="0">
                <a:solidFill>
                  <a:schemeClr val="tx1"/>
                </a:solidFill>
              </a:rPr>
            </a:br>
            <a:r>
              <a:rPr lang="en-US" altLang="zh-TW" dirty="0">
                <a:solidFill>
                  <a:schemeClr val="tx1"/>
                </a:solidFill>
              </a:rPr>
              <a:t>s</a:t>
            </a:r>
            <a:r>
              <a:rPr lang="en-US" dirty="0">
                <a:solidFill>
                  <a:schemeClr val="tx1"/>
                </a:solidFill>
              </a:rPr>
              <a:t>o there would be ‘0’ times </a:t>
            </a:r>
            <a:r>
              <a:rPr lang="en-US" dirty="0"/>
              <a:t>“</a:t>
            </a:r>
            <a:r>
              <a:rPr lang="en-US" i="1" dirty="0" err="1"/>
              <a:t>getReportEvent</a:t>
            </a:r>
            <a:r>
              <a:rPr lang="en-US" dirty="0"/>
              <a:t>” </a:t>
            </a:r>
            <a:r>
              <a:rPr lang="en-US" altLang="zh-TW" dirty="0">
                <a:solidFill>
                  <a:schemeClr val="tx1"/>
                </a:solidFill>
              </a:rPr>
              <a:t>					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-*See Notes </a:t>
            </a: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2.</a:t>
            </a:r>
            <a:endParaRPr lang="en-US" altLang="zh-TW" dirty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  <a:p>
            <a:r>
              <a:rPr lang="en-US" dirty="0"/>
              <a:t>Notes: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Time value of “</a:t>
            </a:r>
            <a:r>
              <a:rPr lang="en-US" dirty="0" err="1">
                <a:solidFill>
                  <a:schemeClr val="tx1"/>
                </a:solidFill>
              </a:rPr>
              <a:t>status_time</a:t>
            </a:r>
            <a:r>
              <a:rPr lang="en-US" dirty="0">
                <a:solidFill>
                  <a:schemeClr val="tx1"/>
                </a:solidFill>
              </a:rPr>
              <a:t>” in XML is not correct in each record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Time value of “</a:t>
            </a:r>
            <a:r>
              <a:rPr lang="en-US" dirty="0" err="1">
                <a:solidFill>
                  <a:schemeClr val="tx1"/>
                </a:solidFill>
              </a:rPr>
              <a:t>recv_time</a:t>
            </a:r>
            <a:r>
              <a:rPr lang="en-US" dirty="0">
                <a:solidFill>
                  <a:schemeClr val="tx1"/>
                </a:solidFill>
              </a:rPr>
              <a:t>” in original “</a:t>
            </a:r>
            <a:r>
              <a:rPr lang="en-US" dirty="0" err="1">
                <a:solidFill>
                  <a:schemeClr val="tx1"/>
                </a:solidFill>
              </a:rPr>
              <a:t>log_receive</a:t>
            </a:r>
            <a:r>
              <a:rPr lang="en-US" dirty="0">
                <a:solidFill>
                  <a:schemeClr val="tx1"/>
                </a:solidFill>
              </a:rPr>
              <a:t>” Table is correct in total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So use “</a:t>
            </a:r>
            <a:r>
              <a:rPr lang="en-US" dirty="0" err="1">
                <a:solidFill>
                  <a:schemeClr val="tx1"/>
                </a:solidFill>
              </a:rPr>
              <a:t>recv_time</a:t>
            </a:r>
            <a:r>
              <a:rPr lang="en-US" dirty="0">
                <a:solidFill>
                  <a:schemeClr val="tx1"/>
                </a:solidFill>
              </a:rPr>
              <a:t>” to represent the record time instead of “</a:t>
            </a:r>
            <a:r>
              <a:rPr lang="en-US" dirty="0" err="1">
                <a:solidFill>
                  <a:schemeClr val="tx1"/>
                </a:solidFill>
              </a:rPr>
              <a:t>status_time</a:t>
            </a:r>
            <a:r>
              <a:rPr lang="en-US" dirty="0">
                <a:solidFill>
                  <a:schemeClr val="tx1"/>
                </a:solidFill>
              </a:rPr>
              <a:t> </a:t>
            </a:r>
            <a:endParaRPr lang="en-US" dirty="0" smtClean="0">
              <a:solidFill>
                <a:schemeClr val="tx1"/>
              </a:solidFill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Not all device records “un, mac, id” (“</a:t>
            </a:r>
            <a:r>
              <a:rPr lang="en-US" dirty="0" err="1">
                <a:solidFill>
                  <a:schemeClr val="tx1"/>
                </a:solidFill>
              </a:rPr>
              <a:t>getDevices</a:t>
            </a:r>
            <a:r>
              <a:rPr lang="en-US" dirty="0">
                <a:solidFill>
                  <a:schemeClr val="tx1"/>
                </a:solidFill>
              </a:rPr>
              <a:t>”) have “</a:t>
            </a:r>
            <a:r>
              <a:rPr lang="en-US" dirty="0" smtClean="0">
                <a:solidFill>
                  <a:schemeClr val="tx1"/>
                </a:solidFill>
              </a:rPr>
              <a:t>code384-</a:t>
            </a:r>
            <a:r>
              <a:rPr lang="zh-TW" altLang="en-US" dirty="0">
                <a:solidFill>
                  <a:schemeClr val="tx1"/>
                </a:solidFill>
              </a:rPr>
              <a:t>電池低電量</a:t>
            </a:r>
            <a:r>
              <a:rPr lang="en-US" dirty="0" smtClean="0">
                <a:solidFill>
                  <a:schemeClr val="tx1"/>
                </a:solidFill>
              </a:rPr>
              <a:t>”, so there would be ‘0’ times </a:t>
            </a:r>
            <a:r>
              <a:rPr lang="en-US" dirty="0"/>
              <a:t>“</a:t>
            </a:r>
            <a:r>
              <a:rPr lang="en-US" i="1" dirty="0" err="1"/>
              <a:t>getReportEvent</a:t>
            </a:r>
            <a:r>
              <a:rPr lang="en-US" dirty="0"/>
              <a:t>”</a:t>
            </a:r>
            <a:endParaRPr lang="en-US" dirty="0">
              <a:solidFill>
                <a:schemeClr val="tx1"/>
              </a:solidFill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altLang="zh-TW" dirty="0">
                <a:solidFill>
                  <a:schemeClr val="tx1"/>
                </a:solidFill>
              </a:rPr>
              <a:t>Exclude “</a:t>
            </a:r>
            <a:r>
              <a:rPr lang="en-US" dirty="0">
                <a:solidFill>
                  <a:schemeClr val="tx1"/>
                </a:solidFill>
              </a:rPr>
              <a:t>un” = 0</a:t>
            </a:r>
            <a:r>
              <a:rPr lang="zh-TW" altLang="en-US" dirty="0">
                <a:solidFill>
                  <a:schemeClr val="tx1"/>
                </a:solidFill>
              </a:rPr>
              <a:t> </a:t>
            </a:r>
            <a:r>
              <a:rPr lang="en-US" altLang="zh-TW" dirty="0">
                <a:solidFill>
                  <a:schemeClr val="tx1"/>
                </a:solidFill>
              </a:rPr>
              <a:t>records because it’s for test only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1226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11514666" cy="1320800"/>
          </a:xfrm>
        </p:spPr>
        <p:txBody>
          <a:bodyPr>
            <a:noAutofit/>
          </a:bodyPr>
          <a:lstStyle/>
          <a:p>
            <a:r>
              <a:rPr lang="en-US" altLang="zh-TW" sz="3200" dirty="0"/>
              <a:t>Phase </a:t>
            </a:r>
            <a:r>
              <a:rPr lang="en-US" altLang="zh-TW" sz="3200" dirty="0" smtClean="0"/>
              <a:t>I-E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>Aggregate times of </a:t>
            </a:r>
            <a:r>
              <a:rPr lang="en-US" sz="3200" dirty="0"/>
              <a:t>“</a:t>
            </a:r>
            <a:r>
              <a:rPr lang="en-US" sz="3200" i="1" dirty="0" err="1"/>
              <a:t>getReportEvent</a:t>
            </a:r>
            <a:r>
              <a:rPr lang="en-US" sz="3200" dirty="0"/>
              <a:t>” 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>“</a:t>
            </a:r>
            <a:r>
              <a:rPr lang="en-US" sz="3200" dirty="0" smtClean="0"/>
              <a:t>code147-</a:t>
            </a:r>
            <a:r>
              <a:rPr lang="zh-TW" altLang="en-US" sz="3200" dirty="0" smtClean="0"/>
              <a:t>設備回報異常</a:t>
            </a:r>
            <a:r>
              <a:rPr lang="en-US" sz="3200" dirty="0" smtClean="0"/>
              <a:t>” 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097314"/>
            <a:ext cx="9161992" cy="4760686"/>
          </a:xfrm>
        </p:spPr>
        <p:txBody>
          <a:bodyPr>
            <a:normAutofit fontScale="77500" lnSpcReduction="20000"/>
          </a:bodyPr>
          <a:lstStyle/>
          <a:p>
            <a:r>
              <a:rPr lang="en-US" altLang="zh-TW" dirty="0">
                <a:solidFill>
                  <a:schemeClr val="tx1"/>
                </a:solidFill>
              </a:rPr>
              <a:t>Fetch “un, mac, </a:t>
            </a:r>
            <a:r>
              <a:rPr lang="en-US" altLang="zh-TW" dirty="0" err="1">
                <a:solidFill>
                  <a:schemeClr val="tx1"/>
                </a:solidFill>
              </a:rPr>
              <a:t>recv_time</a:t>
            </a:r>
            <a:r>
              <a:rPr lang="en-US" altLang="zh-TW" dirty="0">
                <a:solidFill>
                  <a:schemeClr val="tx1"/>
                </a:solidFill>
              </a:rPr>
              <a:t>, id </a:t>
            </a:r>
            <a:r>
              <a:rPr lang="en-US" altLang="zh-TW" sz="1200" dirty="0">
                <a:solidFill>
                  <a:schemeClr val="tx1"/>
                </a:solidFill>
              </a:rPr>
              <a:t>(in XML)</a:t>
            </a:r>
            <a:r>
              <a:rPr lang="en-US" altLang="zh-TW" dirty="0">
                <a:solidFill>
                  <a:schemeClr val="tx1"/>
                </a:solidFill>
              </a:rPr>
              <a:t>” of “</a:t>
            </a:r>
            <a:r>
              <a:rPr lang="en-US" altLang="zh-TW" dirty="0" err="1">
                <a:solidFill>
                  <a:schemeClr val="tx1"/>
                </a:solidFill>
              </a:rPr>
              <a:t>getReportEvent</a:t>
            </a:r>
            <a:r>
              <a:rPr lang="en-US" altLang="zh-TW" dirty="0" smtClean="0">
                <a:solidFill>
                  <a:schemeClr val="tx1"/>
                </a:solidFill>
              </a:rPr>
              <a:t>”			</a:t>
            </a: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-*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See Notes 1</a:t>
            </a: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., 2.</a:t>
            </a:r>
            <a:endParaRPr lang="en-US" altLang="zh-TW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Calculate ‘</a:t>
            </a:r>
            <a:r>
              <a:rPr lang="en-US" dirty="0" err="1">
                <a:solidFill>
                  <a:schemeClr val="tx1"/>
                </a:solidFill>
              </a:rPr>
              <a:t>RowNumber</a:t>
            </a:r>
            <a:r>
              <a:rPr lang="en-US" dirty="0">
                <a:solidFill>
                  <a:schemeClr val="tx1"/>
                </a:solidFill>
              </a:rPr>
              <a:t>’ as accumulated “</a:t>
            </a:r>
            <a:r>
              <a:rPr lang="en-US" i="1" dirty="0" err="1">
                <a:solidFill>
                  <a:schemeClr val="tx1"/>
                </a:solidFill>
              </a:rPr>
              <a:t>getReportEvent</a:t>
            </a:r>
            <a:r>
              <a:rPr lang="en-US" dirty="0">
                <a:solidFill>
                  <a:schemeClr val="tx1"/>
                </a:solidFill>
              </a:rPr>
              <a:t>” </a:t>
            </a:r>
            <a:r>
              <a:rPr lang="en-US" dirty="0" smtClean="0">
                <a:solidFill>
                  <a:schemeClr val="tx1"/>
                </a:solidFill>
              </a:rPr>
              <a:t>times</a:t>
            </a:r>
            <a:br>
              <a:rPr lang="en-US" dirty="0" smtClean="0">
                <a:solidFill>
                  <a:schemeClr val="tx1"/>
                </a:solidFill>
              </a:rPr>
            </a:br>
            <a:r>
              <a:rPr lang="en-US" dirty="0" smtClean="0">
                <a:solidFill>
                  <a:schemeClr val="tx1"/>
                </a:solidFill>
              </a:rPr>
              <a:t>Partition by “un, mac, id” Order by “</a:t>
            </a:r>
            <a:r>
              <a:rPr lang="en-US" dirty="0" err="1" smtClean="0">
                <a:solidFill>
                  <a:schemeClr val="tx1"/>
                </a:solidFill>
              </a:rPr>
              <a:t>recv_time</a:t>
            </a:r>
            <a:r>
              <a:rPr lang="en-US" dirty="0" smtClean="0">
                <a:solidFill>
                  <a:schemeClr val="tx1"/>
                </a:solidFill>
              </a:rPr>
              <a:t>” 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Join maximum ‘</a:t>
            </a:r>
            <a:r>
              <a:rPr lang="en-US" dirty="0" err="1" smtClean="0">
                <a:solidFill>
                  <a:schemeClr val="tx1"/>
                </a:solidFill>
              </a:rPr>
              <a:t>RowNumber</a:t>
            </a:r>
            <a:r>
              <a:rPr lang="en-US" dirty="0" smtClean="0">
                <a:solidFill>
                  <a:schemeClr val="tx1"/>
                </a:solidFill>
              </a:rPr>
              <a:t>’ to device records, </a:t>
            </a:r>
            <a:br>
              <a:rPr lang="en-US" dirty="0" smtClean="0">
                <a:solidFill>
                  <a:schemeClr val="tx1"/>
                </a:solidFill>
              </a:rPr>
            </a:br>
            <a:r>
              <a:rPr lang="en-US" dirty="0" smtClean="0">
                <a:solidFill>
                  <a:schemeClr val="tx1"/>
                </a:solidFill>
              </a:rPr>
              <a:t>By “</a:t>
            </a:r>
            <a:r>
              <a:rPr lang="en-US" altLang="zh-TW" dirty="0" smtClean="0">
                <a:solidFill>
                  <a:schemeClr val="tx1"/>
                </a:solidFill>
              </a:rPr>
              <a:t>un, mac, id”, </a:t>
            </a:r>
            <a:br>
              <a:rPr lang="en-US" altLang="zh-TW" dirty="0" smtClean="0">
                <a:solidFill>
                  <a:schemeClr val="tx1"/>
                </a:solidFill>
              </a:rPr>
            </a:br>
            <a:r>
              <a:rPr lang="en-US" altLang="zh-TW" dirty="0" smtClean="0">
                <a:solidFill>
                  <a:schemeClr val="tx1"/>
                </a:solidFill>
              </a:rPr>
              <a:t>On records time &gt;= “</a:t>
            </a:r>
            <a:r>
              <a:rPr lang="en-US" altLang="zh-TW" dirty="0" err="1" smtClean="0">
                <a:solidFill>
                  <a:schemeClr val="tx1"/>
                </a:solidFill>
              </a:rPr>
              <a:t>recv_time</a:t>
            </a:r>
            <a:r>
              <a:rPr lang="en-US" altLang="zh-TW" dirty="0" smtClean="0">
                <a:solidFill>
                  <a:schemeClr val="tx1"/>
                </a:solidFill>
              </a:rPr>
              <a:t>” of “</a:t>
            </a:r>
            <a:r>
              <a:rPr lang="en-US" altLang="zh-TW" dirty="0" err="1" smtClean="0">
                <a:solidFill>
                  <a:schemeClr val="tx1"/>
                </a:solidFill>
              </a:rPr>
              <a:t>getReportEvent</a:t>
            </a:r>
            <a:r>
              <a:rPr lang="en-US" altLang="zh-TW" dirty="0" smtClean="0">
                <a:solidFill>
                  <a:schemeClr val="tx1"/>
                </a:solidFill>
              </a:rPr>
              <a:t>”</a:t>
            </a:r>
            <a:br>
              <a:rPr lang="en-US" altLang="zh-TW" dirty="0" smtClean="0">
                <a:solidFill>
                  <a:schemeClr val="tx1"/>
                </a:solidFill>
              </a:rPr>
            </a:br>
            <a:r>
              <a:rPr lang="en-US" altLang="zh-TW" dirty="0" smtClean="0">
                <a:solidFill>
                  <a:schemeClr val="tx1"/>
                </a:solidFill>
              </a:rPr>
              <a:t>Group by </a:t>
            </a:r>
            <a:r>
              <a:rPr lang="en-US" dirty="0" smtClean="0">
                <a:solidFill>
                  <a:schemeClr val="tx1"/>
                </a:solidFill>
              </a:rPr>
              <a:t>“</a:t>
            </a:r>
            <a:r>
              <a:rPr lang="en-US" altLang="zh-TW" dirty="0" smtClean="0">
                <a:solidFill>
                  <a:schemeClr val="tx1"/>
                </a:solidFill>
              </a:rPr>
              <a:t>un, mac, id, </a:t>
            </a:r>
            <a:r>
              <a:rPr lang="en-US" altLang="zh-TW" dirty="0" err="1" smtClean="0">
                <a:solidFill>
                  <a:schemeClr val="tx1"/>
                </a:solidFill>
              </a:rPr>
              <a:t>recv_time</a:t>
            </a:r>
            <a:r>
              <a:rPr lang="en-US" altLang="zh-TW" dirty="0" smtClean="0">
                <a:solidFill>
                  <a:schemeClr val="tx1"/>
                </a:solidFill>
              </a:rPr>
              <a:t>” </a:t>
            </a:r>
            <a:br>
              <a:rPr lang="en-US" altLang="zh-TW" dirty="0" smtClean="0">
                <a:solidFill>
                  <a:schemeClr val="tx1"/>
                </a:solidFill>
              </a:rPr>
            </a:br>
            <a:r>
              <a:rPr lang="en-US" altLang="zh-TW" dirty="0" smtClean="0">
                <a:solidFill>
                  <a:schemeClr val="tx1"/>
                </a:solidFill>
              </a:rPr>
              <a:t/>
            </a:r>
            <a:br>
              <a:rPr lang="en-US" altLang="zh-TW" dirty="0" smtClean="0">
                <a:solidFill>
                  <a:schemeClr val="tx1"/>
                </a:solidFill>
              </a:rPr>
            </a:br>
            <a:r>
              <a:rPr lang="en-US" altLang="zh-TW" dirty="0" smtClean="0">
                <a:solidFill>
                  <a:schemeClr val="tx1"/>
                </a:solidFill>
              </a:rPr>
              <a:t>Since n</a:t>
            </a:r>
            <a:r>
              <a:rPr lang="en-US" dirty="0">
                <a:solidFill>
                  <a:schemeClr val="tx1"/>
                </a:solidFill>
              </a:rPr>
              <a:t>ot all device records have  “code384-</a:t>
            </a:r>
            <a:r>
              <a:rPr lang="zh-TW" altLang="en-US" dirty="0">
                <a:solidFill>
                  <a:schemeClr val="tx1"/>
                </a:solidFill>
              </a:rPr>
              <a:t>電池低電</a:t>
            </a:r>
            <a:r>
              <a:rPr lang="zh-TW" altLang="en-US" dirty="0" smtClean="0">
                <a:solidFill>
                  <a:schemeClr val="tx1"/>
                </a:solidFill>
              </a:rPr>
              <a:t>量</a:t>
            </a:r>
            <a:r>
              <a:rPr lang="en-US" altLang="zh-TW" dirty="0" smtClean="0">
                <a:solidFill>
                  <a:schemeClr val="tx1"/>
                </a:solidFill>
              </a:rPr>
              <a:t>, </a:t>
            </a:r>
            <a:br>
              <a:rPr lang="en-US" altLang="zh-TW" dirty="0" smtClean="0">
                <a:solidFill>
                  <a:schemeClr val="tx1"/>
                </a:solidFill>
              </a:rPr>
            </a:br>
            <a:r>
              <a:rPr lang="en-US" altLang="zh-TW" dirty="0" smtClean="0">
                <a:solidFill>
                  <a:schemeClr val="tx1"/>
                </a:solidFill>
              </a:rPr>
              <a:t>s</a:t>
            </a:r>
            <a:r>
              <a:rPr lang="en-US" dirty="0" smtClean="0">
                <a:solidFill>
                  <a:schemeClr val="tx1"/>
                </a:solidFill>
              </a:rPr>
              <a:t>o </a:t>
            </a:r>
            <a:r>
              <a:rPr lang="en-US" dirty="0">
                <a:solidFill>
                  <a:schemeClr val="tx1"/>
                </a:solidFill>
              </a:rPr>
              <a:t>there would be ‘0’ times </a:t>
            </a:r>
            <a:r>
              <a:rPr lang="en-US" dirty="0"/>
              <a:t>“</a:t>
            </a:r>
            <a:r>
              <a:rPr lang="en-US" i="1" dirty="0" err="1"/>
              <a:t>getReportEvent</a:t>
            </a:r>
            <a:r>
              <a:rPr lang="en-US" dirty="0"/>
              <a:t>” </a:t>
            </a:r>
            <a:r>
              <a:rPr lang="en-US" altLang="zh-TW" dirty="0" smtClean="0">
                <a:solidFill>
                  <a:schemeClr val="tx1"/>
                </a:solidFill>
              </a:rPr>
              <a:t>					</a:t>
            </a: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-*See Notes 3.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Notes: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Time value of “</a:t>
            </a:r>
            <a:r>
              <a:rPr lang="en-US" dirty="0" err="1">
                <a:solidFill>
                  <a:schemeClr val="tx1"/>
                </a:solidFill>
              </a:rPr>
              <a:t>status_time</a:t>
            </a:r>
            <a:r>
              <a:rPr lang="en-US" dirty="0">
                <a:solidFill>
                  <a:schemeClr val="tx1"/>
                </a:solidFill>
              </a:rPr>
              <a:t>” in XML is not correct in each record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Time value of “</a:t>
            </a:r>
            <a:r>
              <a:rPr lang="en-US" dirty="0" err="1">
                <a:solidFill>
                  <a:schemeClr val="tx1"/>
                </a:solidFill>
              </a:rPr>
              <a:t>recv_time</a:t>
            </a:r>
            <a:r>
              <a:rPr lang="en-US" dirty="0">
                <a:solidFill>
                  <a:schemeClr val="tx1"/>
                </a:solidFill>
              </a:rPr>
              <a:t>” in original “</a:t>
            </a:r>
            <a:r>
              <a:rPr lang="en-US" dirty="0" err="1">
                <a:solidFill>
                  <a:schemeClr val="tx1"/>
                </a:solidFill>
              </a:rPr>
              <a:t>log_receive</a:t>
            </a:r>
            <a:r>
              <a:rPr lang="en-US" dirty="0">
                <a:solidFill>
                  <a:schemeClr val="tx1"/>
                </a:solidFill>
              </a:rPr>
              <a:t>” Table is correct in total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So use “</a:t>
            </a:r>
            <a:r>
              <a:rPr lang="en-US" dirty="0" err="1">
                <a:solidFill>
                  <a:schemeClr val="tx1"/>
                </a:solidFill>
              </a:rPr>
              <a:t>recv_time</a:t>
            </a:r>
            <a:r>
              <a:rPr lang="en-US" dirty="0">
                <a:solidFill>
                  <a:schemeClr val="tx1"/>
                </a:solidFill>
              </a:rPr>
              <a:t>” to represent the record time instead of “</a:t>
            </a:r>
            <a:r>
              <a:rPr lang="en-US" dirty="0" err="1">
                <a:solidFill>
                  <a:schemeClr val="tx1"/>
                </a:solidFill>
              </a:rPr>
              <a:t>status_time</a:t>
            </a:r>
            <a:r>
              <a:rPr lang="en-US" dirty="0">
                <a:solidFill>
                  <a:schemeClr val="tx1"/>
                </a:solidFill>
              </a:rPr>
              <a:t> </a:t>
            </a:r>
            <a:endParaRPr lang="en-US" dirty="0" smtClean="0">
              <a:solidFill>
                <a:schemeClr val="tx1"/>
              </a:solidFill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The events above refer to its “</a:t>
            </a:r>
            <a:r>
              <a:rPr lang="en-US" dirty="0" err="1">
                <a:solidFill>
                  <a:schemeClr val="tx1"/>
                </a:solidFill>
              </a:rPr>
              <a:t>new_event</a:t>
            </a:r>
            <a:r>
              <a:rPr lang="en-US" dirty="0">
                <a:solidFill>
                  <a:schemeClr val="tx1"/>
                </a:solidFill>
              </a:rPr>
              <a:t> = 1</a:t>
            </a:r>
            <a:r>
              <a:rPr lang="en-US" dirty="0" smtClean="0">
                <a:solidFill>
                  <a:schemeClr val="tx1"/>
                </a:solidFill>
              </a:rPr>
              <a:t>”(</a:t>
            </a:r>
            <a:r>
              <a:rPr lang="zh-TW" altLang="en-US" dirty="0"/>
              <a:t>事</a:t>
            </a:r>
            <a:r>
              <a:rPr lang="zh-TW" altLang="en-US" dirty="0" smtClean="0"/>
              <a:t>件</a:t>
            </a:r>
            <a:r>
              <a:rPr lang="zh-TW" altLang="en-US" dirty="0"/>
              <a:t>發</a:t>
            </a:r>
            <a:r>
              <a:rPr lang="zh-TW" altLang="en-US" dirty="0" smtClean="0"/>
              <a:t>生</a:t>
            </a:r>
            <a:r>
              <a:rPr lang="en-US" altLang="zh-TW" dirty="0" smtClean="0">
                <a:solidFill>
                  <a:schemeClr val="tx1"/>
                </a:solidFill>
              </a:rPr>
              <a:t>) </a:t>
            </a:r>
            <a:r>
              <a:rPr lang="en-US" dirty="0">
                <a:solidFill>
                  <a:schemeClr val="tx1"/>
                </a:solidFill>
              </a:rPr>
              <a:t>rather than </a:t>
            </a:r>
            <a:r>
              <a:rPr lang="en-US" dirty="0" smtClean="0">
                <a:solidFill>
                  <a:schemeClr val="tx1"/>
                </a:solidFill>
              </a:rPr>
              <a:t>“</a:t>
            </a:r>
            <a:r>
              <a:rPr lang="en-US" dirty="0" err="1">
                <a:solidFill>
                  <a:schemeClr val="tx1"/>
                </a:solidFill>
              </a:rPr>
              <a:t>new_event</a:t>
            </a:r>
            <a:r>
              <a:rPr lang="en-US" dirty="0">
                <a:solidFill>
                  <a:schemeClr val="tx1"/>
                </a:solidFill>
              </a:rPr>
              <a:t> = 0” </a:t>
            </a:r>
            <a:r>
              <a:rPr lang="en-US" dirty="0" smtClean="0">
                <a:solidFill>
                  <a:schemeClr val="tx1"/>
                </a:solidFill>
              </a:rPr>
              <a:t>(</a:t>
            </a:r>
            <a:r>
              <a:rPr lang="zh-TW" altLang="en-US" dirty="0"/>
              <a:t>事</a:t>
            </a:r>
            <a:r>
              <a:rPr lang="zh-TW" altLang="en-US" dirty="0" smtClean="0"/>
              <a:t>件恢</a:t>
            </a:r>
            <a:r>
              <a:rPr lang="zh-TW" altLang="en-US" dirty="0"/>
              <a:t>復</a:t>
            </a:r>
            <a:r>
              <a:rPr lang="en-US" altLang="zh-TW" dirty="0" smtClean="0">
                <a:solidFill>
                  <a:schemeClr val="tx1"/>
                </a:solidFill>
              </a:rPr>
              <a:t>)</a:t>
            </a:r>
            <a:endParaRPr lang="en-US" dirty="0" smtClean="0">
              <a:solidFill>
                <a:schemeClr val="tx1"/>
              </a:solidFill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dirty="0" smtClean="0">
                <a:solidFill>
                  <a:schemeClr val="tx1"/>
                </a:solidFill>
              </a:rPr>
              <a:t>Not </a:t>
            </a:r>
            <a:r>
              <a:rPr lang="en-US" dirty="0">
                <a:solidFill>
                  <a:schemeClr val="tx1"/>
                </a:solidFill>
              </a:rPr>
              <a:t>all device </a:t>
            </a:r>
            <a:r>
              <a:rPr lang="en-US" dirty="0" smtClean="0">
                <a:solidFill>
                  <a:schemeClr val="tx1"/>
                </a:solidFill>
              </a:rPr>
              <a:t>records “un, mac, id” </a:t>
            </a:r>
            <a:r>
              <a:rPr lang="en-US" dirty="0">
                <a:solidFill>
                  <a:schemeClr val="tx1"/>
                </a:solidFill>
              </a:rPr>
              <a:t>(“</a:t>
            </a:r>
            <a:r>
              <a:rPr lang="en-US" dirty="0" err="1">
                <a:solidFill>
                  <a:schemeClr val="tx1"/>
                </a:solidFill>
              </a:rPr>
              <a:t>getDevices</a:t>
            </a:r>
            <a:r>
              <a:rPr lang="en-US" dirty="0" smtClean="0">
                <a:solidFill>
                  <a:schemeClr val="tx1"/>
                </a:solidFill>
              </a:rPr>
              <a:t>”)  </a:t>
            </a:r>
            <a:r>
              <a:rPr lang="en-US" dirty="0">
                <a:solidFill>
                  <a:schemeClr val="tx1"/>
                </a:solidFill>
              </a:rPr>
              <a:t>have “</a:t>
            </a:r>
            <a:r>
              <a:rPr lang="en-US" dirty="0" smtClean="0">
                <a:solidFill>
                  <a:schemeClr val="tx1"/>
                </a:solidFill>
              </a:rPr>
              <a:t>code384-</a:t>
            </a:r>
            <a:r>
              <a:rPr lang="zh-TW" altLang="en-US" dirty="0"/>
              <a:t>電池</a:t>
            </a:r>
            <a:r>
              <a:rPr lang="zh-TW" altLang="en-US" dirty="0">
                <a:solidFill>
                  <a:schemeClr val="tx1"/>
                </a:solidFill>
              </a:rPr>
              <a:t>低電量</a:t>
            </a:r>
            <a:r>
              <a:rPr lang="en-US" i="1" dirty="0" smtClean="0">
                <a:solidFill>
                  <a:schemeClr val="tx1"/>
                </a:solidFill>
              </a:rPr>
              <a:t>”,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so there would be ‘0’ times </a:t>
            </a:r>
            <a:r>
              <a:rPr lang="en-US" dirty="0"/>
              <a:t>“</a:t>
            </a:r>
            <a:r>
              <a:rPr lang="en-US" i="1" dirty="0" err="1"/>
              <a:t>getReportEvent</a:t>
            </a:r>
            <a:r>
              <a:rPr lang="en-US" dirty="0"/>
              <a:t>”</a:t>
            </a:r>
            <a:endParaRPr lang="en-US" dirty="0">
              <a:solidFill>
                <a:schemeClr val="tx1"/>
              </a:solidFill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altLang="zh-TW" dirty="0">
                <a:solidFill>
                  <a:schemeClr val="tx1"/>
                </a:solidFill>
              </a:rPr>
              <a:t>Exclude “</a:t>
            </a:r>
            <a:r>
              <a:rPr lang="en-US" dirty="0">
                <a:solidFill>
                  <a:schemeClr val="tx1"/>
                </a:solidFill>
              </a:rPr>
              <a:t>un” = 0</a:t>
            </a:r>
            <a:r>
              <a:rPr lang="zh-TW" altLang="en-US" dirty="0">
                <a:solidFill>
                  <a:schemeClr val="tx1"/>
                </a:solidFill>
              </a:rPr>
              <a:t> </a:t>
            </a:r>
            <a:r>
              <a:rPr lang="en-US" altLang="zh-TW" dirty="0">
                <a:solidFill>
                  <a:schemeClr val="tx1"/>
                </a:solidFill>
              </a:rPr>
              <a:t>records because it’s for test </a:t>
            </a:r>
            <a:r>
              <a:rPr lang="en-US" altLang="zh-TW" dirty="0" smtClean="0">
                <a:solidFill>
                  <a:schemeClr val="tx1"/>
                </a:solidFill>
              </a:rPr>
              <a:t>only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 smtClean="0">
                <a:solidFill>
                  <a:schemeClr val="tx1"/>
                </a:solidFill>
              </a:rPr>
              <a:t>“Code 147(</a:t>
            </a:r>
            <a:r>
              <a:rPr lang="zh-TW" altLang="en-US" dirty="0" smtClean="0"/>
              <a:t>設</a:t>
            </a:r>
            <a:r>
              <a:rPr lang="zh-TW" altLang="en-US" dirty="0"/>
              <a:t>備回報異</a:t>
            </a:r>
            <a:r>
              <a:rPr lang="zh-TW" altLang="en-US" dirty="0" smtClean="0"/>
              <a:t>常</a:t>
            </a:r>
            <a:r>
              <a:rPr lang="en-US" dirty="0" smtClean="0">
                <a:solidFill>
                  <a:schemeClr val="tx1"/>
                </a:solidFill>
              </a:rPr>
              <a:t>), 158(</a:t>
            </a:r>
            <a:r>
              <a:rPr lang="zh-TW" altLang="en-US" dirty="0"/>
              <a:t>高溫警</a:t>
            </a:r>
            <a:r>
              <a:rPr lang="zh-TW" altLang="en-US" dirty="0" smtClean="0"/>
              <a:t>報</a:t>
            </a:r>
            <a:r>
              <a:rPr lang="en-US" dirty="0" smtClean="0">
                <a:solidFill>
                  <a:schemeClr val="tx1"/>
                </a:solidFill>
              </a:rPr>
              <a:t>), 344(</a:t>
            </a:r>
            <a:r>
              <a:rPr lang="zh-TW" altLang="en-US" dirty="0"/>
              <a:t>干擾偵</a:t>
            </a:r>
            <a:r>
              <a:rPr lang="zh-TW" altLang="en-US" dirty="0" smtClean="0"/>
              <a:t>測</a:t>
            </a:r>
            <a:r>
              <a:rPr lang="en-US" dirty="0" smtClean="0">
                <a:solidFill>
                  <a:schemeClr val="tx1"/>
                </a:solidFill>
              </a:rPr>
              <a:t>), 354(</a:t>
            </a:r>
            <a:r>
              <a:rPr lang="zh-TW" altLang="en-US" dirty="0"/>
              <a:t>網路裝置錯</a:t>
            </a:r>
            <a:r>
              <a:rPr lang="zh-TW" altLang="en-US" dirty="0" smtClean="0"/>
              <a:t>誤</a:t>
            </a:r>
            <a:r>
              <a:rPr lang="en-US" dirty="0" smtClean="0">
                <a:solidFill>
                  <a:schemeClr val="tx1"/>
                </a:solidFill>
              </a:rPr>
              <a:t>)” are all considered potential factor; however, there are no records</a:t>
            </a:r>
            <a:r>
              <a:rPr lang="zh-TW" altLang="en-US" dirty="0" smtClean="0">
                <a:solidFill>
                  <a:schemeClr val="tx1"/>
                </a:solidFill>
              </a:rPr>
              <a:t> </a:t>
            </a:r>
            <a:r>
              <a:rPr lang="en-US" altLang="zh-TW" dirty="0" smtClean="0">
                <a:solidFill>
                  <a:schemeClr val="tx1"/>
                </a:solidFill>
              </a:rPr>
              <a:t>in these events</a:t>
            </a:r>
            <a:r>
              <a:rPr lang="en-US" dirty="0" smtClean="0">
                <a:solidFill>
                  <a:schemeClr val="tx1"/>
                </a:solidFill>
              </a:rPr>
              <a:t> except for “code147(</a:t>
            </a:r>
            <a:r>
              <a:rPr lang="zh-TW" altLang="en-US" dirty="0" smtClean="0"/>
              <a:t>設備回報異常</a:t>
            </a:r>
            <a:r>
              <a:rPr lang="en-US" dirty="0" smtClean="0">
                <a:solidFill>
                  <a:schemeClr val="tx1"/>
                </a:solidFill>
              </a:rPr>
              <a:t>); </a:t>
            </a:r>
            <a:br>
              <a:rPr lang="en-US" dirty="0" smtClean="0">
                <a:solidFill>
                  <a:schemeClr val="tx1"/>
                </a:solidFill>
              </a:rPr>
            </a:br>
            <a:r>
              <a:rPr lang="en-US" dirty="0" smtClean="0">
                <a:solidFill>
                  <a:schemeClr val="tx1"/>
                </a:solidFill>
              </a:rPr>
              <a:t>thus, we only aggregate </a:t>
            </a:r>
            <a:r>
              <a:rPr lang="en-US" dirty="0">
                <a:solidFill>
                  <a:schemeClr val="tx1"/>
                </a:solidFill>
              </a:rPr>
              <a:t>times of “</a:t>
            </a:r>
            <a:r>
              <a:rPr lang="en-US" dirty="0" smtClean="0">
                <a:solidFill>
                  <a:schemeClr val="tx1"/>
                </a:solidFill>
              </a:rPr>
              <a:t>code147</a:t>
            </a:r>
            <a:r>
              <a:rPr lang="zh-TW" altLang="en-US" dirty="0" smtClean="0">
                <a:solidFill>
                  <a:schemeClr val="tx1"/>
                </a:solidFill>
              </a:rPr>
              <a:t>”</a:t>
            </a:r>
            <a:r>
              <a:rPr lang="en-US" altLang="zh-TW" dirty="0" smtClean="0">
                <a:solidFill>
                  <a:schemeClr val="tx1"/>
                </a:solidFill>
              </a:rPr>
              <a:t>but not aggregate other report events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7440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9474372" cy="1320800"/>
          </a:xfrm>
        </p:spPr>
        <p:txBody>
          <a:bodyPr>
            <a:noAutofit/>
          </a:bodyPr>
          <a:lstStyle/>
          <a:p>
            <a:r>
              <a:rPr lang="en-US" altLang="zh-TW" sz="3200" dirty="0"/>
              <a:t>Phase </a:t>
            </a:r>
            <a:r>
              <a:rPr lang="en-US" altLang="zh-TW" sz="3200" dirty="0" smtClean="0"/>
              <a:t>I-F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>Aggregate </a:t>
            </a:r>
            <a:r>
              <a:rPr lang="en-US" sz="3200" dirty="0" smtClean="0"/>
              <a:t>times </a:t>
            </a:r>
            <a:r>
              <a:rPr lang="en-US" sz="3200" dirty="0" smtClean="0"/>
              <a:t>of “</a:t>
            </a:r>
            <a:r>
              <a:rPr lang="en-US" sz="3200" i="1" dirty="0" err="1" smtClean="0"/>
              <a:t>getDeviceStatus</a:t>
            </a:r>
            <a:r>
              <a:rPr lang="en-US" sz="3200" i="1" dirty="0" smtClean="0"/>
              <a:t>”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9474372" cy="4697411"/>
          </a:xfrm>
        </p:spPr>
        <p:txBody>
          <a:bodyPr>
            <a:normAutofit fontScale="85000" lnSpcReduction="20000"/>
          </a:bodyPr>
          <a:lstStyle/>
          <a:p>
            <a:r>
              <a:rPr lang="en-US" altLang="zh-TW" dirty="0">
                <a:solidFill>
                  <a:schemeClr val="tx1"/>
                </a:solidFill>
              </a:rPr>
              <a:t>Fetch “un, mac, </a:t>
            </a:r>
            <a:r>
              <a:rPr lang="en-US" altLang="zh-TW" dirty="0" err="1">
                <a:solidFill>
                  <a:schemeClr val="tx1"/>
                </a:solidFill>
              </a:rPr>
              <a:t>recv_time</a:t>
            </a:r>
            <a:r>
              <a:rPr lang="en-US" altLang="zh-TW" dirty="0">
                <a:solidFill>
                  <a:schemeClr val="tx1"/>
                </a:solidFill>
              </a:rPr>
              <a:t>, id </a:t>
            </a:r>
            <a:r>
              <a:rPr lang="en-US" altLang="zh-TW" sz="1200" dirty="0">
                <a:solidFill>
                  <a:schemeClr val="tx1"/>
                </a:solidFill>
              </a:rPr>
              <a:t>(in XML)</a:t>
            </a:r>
            <a:r>
              <a:rPr lang="en-US" altLang="zh-TW" dirty="0">
                <a:solidFill>
                  <a:schemeClr val="tx1"/>
                </a:solidFill>
              </a:rPr>
              <a:t>” of “</a:t>
            </a:r>
            <a:r>
              <a:rPr lang="en-US" altLang="zh-TW" dirty="0" err="1" smtClean="0">
                <a:solidFill>
                  <a:schemeClr val="tx1"/>
                </a:solidFill>
              </a:rPr>
              <a:t>getDeviceStatus</a:t>
            </a:r>
            <a:r>
              <a:rPr lang="en-US" altLang="zh-TW" dirty="0" smtClean="0">
                <a:solidFill>
                  <a:schemeClr val="tx1"/>
                </a:solidFill>
              </a:rPr>
              <a:t>”</a:t>
            </a:r>
            <a:r>
              <a:rPr lang="en-US" altLang="zh-TW" dirty="0">
                <a:solidFill>
                  <a:schemeClr val="tx1"/>
                </a:solidFill>
              </a:rPr>
              <a:t>			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-*See Notes 1</a:t>
            </a: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.</a:t>
            </a:r>
            <a:endParaRPr lang="en-US" altLang="zh-TW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Calculate ‘</a:t>
            </a:r>
            <a:r>
              <a:rPr lang="en-US" dirty="0" err="1">
                <a:solidFill>
                  <a:schemeClr val="tx1"/>
                </a:solidFill>
              </a:rPr>
              <a:t>RowNumber</a:t>
            </a:r>
            <a:r>
              <a:rPr lang="en-US" dirty="0">
                <a:solidFill>
                  <a:schemeClr val="tx1"/>
                </a:solidFill>
              </a:rPr>
              <a:t>’ as accumulated “</a:t>
            </a:r>
            <a:r>
              <a:rPr lang="en-US" i="1" dirty="0" err="1">
                <a:solidFill>
                  <a:schemeClr val="tx1"/>
                </a:solidFill>
              </a:rPr>
              <a:t>getReportEvent</a:t>
            </a:r>
            <a:r>
              <a:rPr lang="en-US" dirty="0">
                <a:solidFill>
                  <a:schemeClr val="tx1"/>
                </a:solidFill>
              </a:rPr>
              <a:t>” times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Partition by “un, mac, id” Order by “</a:t>
            </a:r>
            <a:r>
              <a:rPr lang="en-US" dirty="0" err="1">
                <a:solidFill>
                  <a:schemeClr val="tx1"/>
                </a:solidFill>
              </a:rPr>
              <a:t>recv_time</a:t>
            </a:r>
            <a:r>
              <a:rPr lang="en-US" dirty="0">
                <a:solidFill>
                  <a:schemeClr val="tx1"/>
                </a:solidFill>
              </a:rPr>
              <a:t>” </a:t>
            </a:r>
          </a:p>
          <a:p>
            <a:r>
              <a:rPr lang="en-US" dirty="0">
                <a:solidFill>
                  <a:schemeClr val="tx1"/>
                </a:solidFill>
              </a:rPr>
              <a:t>Join maximum ‘</a:t>
            </a:r>
            <a:r>
              <a:rPr lang="en-US" dirty="0" err="1">
                <a:solidFill>
                  <a:schemeClr val="tx1"/>
                </a:solidFill>
              </a:rPr>
              <a:t>RowNumber</a:t>
            </a:r>
            <a:r>
              <a:rPr lang="en-US" dirty="0">
                <a:solidFill>
                  <a:schemeClr val="tx1"/>
                </a:solidFill>
              </a:rPr>
              <a:t>’ to device records,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By “</a:t>
            </a:r>
            <a:r>
              <a:rPr lang="en-US" altLang="zh-TW" dirty="0">
                <a:solidFill>
                  <a:schemeClr val="tx1"/>
                </a:solidFill>
              </a:rPr>
              <a:t>un, mac, id”, </a:t>
            </a:r>
            <a:br>
              <a:rPr lang="en-US" altLang="zh-TW" dirty="0">
                <a:solidFill>
                  <a:schemeClr val="tx1"/>
                </a:solidFill>
              </a:rPr>
            </a:br>
            <a:r>
              <a:rPr lang="en-US" altLang="zh-TW" dirty="0">
                <a:solidFill>
                  <a:schemeClr val="tx1"/>
                </a:solidFill>
              </a:rPr>
              <a:t>On records time &gt;= “</a:t>
            </a:r>
            <a:r>
              <a:rPr lang="en-US" altLang="zh-TW" dirty="0" err="1">
                <a:solidFill>
                  <a:schemeClr val="tx1"/>
                </a:solidFill>
              </a:rPr>
              <a:t>recv_time</a:t>
            </a:r>
            <a:r>
              <a:rPr lang="en-US" altLang="zh-TW" dirty="0">
                <a:solidFill>
                  <a:schemeClr val="tx1"/>
                </a:solidFill>
              </a:rPr>
              <a:t>” of </a:t>
            </a:r>
            <a:r>
              <a:rPr lang="en-US" altLang="zh-TW" dirty="0" smtClean="0">
                <a:solidFill>
                  <a:schemeClr val="tx1"/>
                </a:solidFill>
              </a:rPr>
              <a:t>“</a:t>
            </a:r>
            <a:r>
              <a:rPr lang="en-US" altLang="zh-TW" dirty="0" err="1">
                <a:solidFill>
                  <a:schemeClr val="tx1"/>
                </a:solidFill>
              </a:rPr>
              <a:t>getDeviceStatus</a:t>
            </a:r>
            <a:r>
              <a:rPr lang="en-US" altLang="zh-TW" dirty="0" smtClean="0">
                <a:solidFill>
                  <a:schemeClr val="tx1"/>
                </a:solidFill>
              </a:rPr>
              <a:t>”</a:t>
            </a:r>
            <a:r>
              <a:rPr lang="en-US" altLang="zh-TW" dirty="0">
                <a:solidFill>
                  <a:schemeClr val="tx1"/>
                </a:solidFill>
              </a:rPr>
              <a:t/>
            </a:r>
            <a:br>
              <a:rPr lang="en-US" altLang="zh-TW" dirty="0">
                <a:solidFill>
                  <a:schemeClr val="tx1"/>
                </a:solidFill>
              </a:rPr>
            </a:br>
            <a:r>
              <a:rPr lang="en-US" altLang="zh-TW" dirty="0">
                <a:solidFill>
                  <a:schemeClr val="tx1"/>
                </a:solidFill>
              </a:rPr>
              <a:t>Group by </a:t>
            </a:r>
            <a:r>
              <a:rPr lang="en-US" dirty="0">
                <a:solidFill>
                  <a:schemeClr val="tx1"/>
                </a:solidFill>
              </a:rPr>
              <a:t>“</a:t>
            </a:r>
            <a:r>
              <a:rPr lang="en-US" altLang="zh-TW" dirty="0">
                <a:solidFill>
                  <a:schemeClr val="tx1"/>
                </a:solidFill>
              </a:rPr>
              <a:t>un, mac, id, </a:t>
            </a:r>
            <a:r>
              <a:rPr lang="en-US" altLang="zh-TW" dirty="0" err="1">
                <a:solidFill>
                  <a:schemeClr val="tx1"/>
                </a:solidFill>
              </a:rPr>
              <a:t>recv_time</a:t>
            </a:r>
            <a:r>
              <a:rPr lang="en-US" altLang="zh-TW" dirty="0">
                <a:solidFill>
                  <a:schemeClr val="tx1"/>
                </a:solidFill>
              </a:rPr>
              <a:t>” </a:t>
            </a:r>
            <a:br>
              <a:rPr lang="en-US" altLang="zh-TW" dirty="0">
                <a:solidFill>
                  <a:schemeClr val="tx1"/>
                </a:solidFill>
              </a:rPr>
            </a:br>
            <a:r>
              <a:rPr lang="en-US" altLang="zh-TW" dirty="0">
                <a:solidFill>
                  <a:schemeClr val="tx1"/>
                </a:solidFill>
              </a:rPr>
              <a:t/>
            </a:r>
            <a:br>
              <a:rPr lang="en-US" altLang="zh-TW" dirty="0">
                <a:solidFill>
                  <a:schemeClr val="tx1"/>
                </a:solidFill>
              </a:rPr>
            </a:br>
            <a:r>
              <a:rPr lang="en-US" altLang="zh-TW" dirty="0">
                <a:solidFill>
                  <a:schemeClr val="tx1"/>
                </a:solidFill>
              </a:rPr>
              <a:t>Since n</a:t>
            </a:r>
            <a:r>
              <a:rPr lang="en-US" dirty="0">
                <a:solidFill>
                  <a:schemeClr val="tx1"/>
                </a:solidFill>
              </a:rPr>
              <a:t>ot all device records have  “code384-</a:t>
            </a:r>
            <a:r>
              <a:rPr lang="zh-TW" altLang="en-US" dirty="0">
                <a:solidFill>
                  <a:schemeClr val="tx1"/>
                </a:solidFill>
              </a:rPr>
              <a:t>電池低電量</a:t>
            </a:r>
            <a:r>
              <a:rPr lang="en-US" altLang="zh-TW" dirty="0">
                <a:solidFill>
                  <a:schemeClr val="tx1"/>
                </a:solidFill>
              </a:rPr>
              <a:t>, </a:t>
            </a:r>
            <a:br>
              <a:rPr lang="en-US" altLang="zh-TW" dirty="0">
                <a:solidFill>
                  <a:schemeClr val="tx1"/>
                </a:solidFill>
              </a:rPr>
            </a:br>
            <a:r>
              <a:rPr lang="en-US" altLang="zh-TW" dirty="0">
                <a:solidFill>
                  <a:schemeClr val="tx1"/>
                </a:solidFill>
              </a:rPr>
              <a:t>s</a:t>
            </a:r>
            <a:r>
              <a:rPr lang="en-US" dirty="0">
                <a:solidFill>
                  <a:schemeClr val="tx1"/>
                </a:solidFill>
              </a:rPr>
              <a:t>o there would be ‘0’ times </a:t>
            </a:r>
            <a:r>
              <a:rPr lang="en-US" dirty="0"/>
              <a:t>“</a:t>
            </a:r>
            <a:r>
              <a:rPr lang="en-US" i="1" dirty="0" err="1"/>
              <a:t>getReportEvent</a:t>
            </a:r>
            <a:r>
              <a:rPr lang="en-US" dirty="0"/>
              <a:t>” </a:t>
            </a:r>
            <a:r>
              <a:rPr lang="en-US" altLang="zh-TW" dirty="0">
                <a:solidFill>
                  <a:schemeClr val="tx1"/>
                </a:solidFill>
              </a:rPr>
              <a:t>					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-*See Notes </a:t>
            </a: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2.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Notes: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Time value of “</a:t>
            </a:r>
            <a:r>
              <a:rPr lang="en-US" dirty="0" err="1">
                <a:solidFill>
                  <a:schemeClr val="tx1"/>
                </a:solidFill>
              </a:rPr>
              <a:t>status_time</a:t>
            </a:r>
            <a:r>
              <a:rPr lang="en-US" dirty="0">
                <a:solidFill>
                  <a:schemeClr val="tx1"/>
                </a:solidFill>
              </a:rPr>
              <a:t>” in XML is not correct in each record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Time value of “</a:t>
            </a:r>
            <a:r>
              <a:rPr lang="en-US" dirty="0" err="1">
                <a:solidFill>
                  <a:schemeClr val="tx1"/>
                </a:solidFill>
              </a:rPr>
              <a:t>recv_time</a:t>
            </a:r>
            <a:r>
              <a:rPr lang="en-US" dirty="0">
                <a:solidFill>
                  <a:schemeClr val="tx1"/>
                </a:solidFill>
              </a:rPr>
              <a:t>” in original “</a:t>
            </a:r>
            <a:r>
              <a:rPr lang="en-US" dirty="0" err="1">
                <a:solidFill>
                  <a:schemeClr val="tx1"/>
                </a:solidFill>
              </a:rPr>
              <a:t>log_receive</a:t>
            </a:r>
            <a:r>
              <a:rPr lang="en-US" dirty="0">
                <a:solidFill>
                  <a:schemeClr val="tx1"/>
                </a:solidFill>
              </a:rPr>
              <a:t>” Table is correct in total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So use “</a:t>
            </a:r>
            <a:r>
              <a:rPr lang="en-US" dirty="0" err="1">
                <a:solidFill>
                  <a:schemeClr val="tx1"/>
                </a:solidFill>
              </a:rPr>
              <a:t>recv_time</a:t>
            </a:r>
            <a:r>
              <a:rPr lang="en-US" dirty="0">
                <a:solidFill>
                  <a:schemeClr val="tx1"/>
                </a:solidFill>
              </a:rPr>
              <a:t>” to represent the record time instead of “</a:t>
            </a:r>
            <a:r>
              <a:rPr lang="en-US" dirty="0" err="1">
                <a:solidFill>
                  <a:schemeClr val="tx1"/>
                </a:solidFill>
              </a:rPr>
              <a:t>status_time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Not all device records “un, mac, id” (“</a:t>
            </a:r>
            <a:r>
              <a:rPr lang="en-US" dirty="0" err="1">
                <a:solidFill>
                  <a:schemeClr val="tx1"/>
                </a:solidFill>
              </a:rPr>
              <a:t>getDevices</a:t>
            </a:r>
            <a:r>
              <a:rPr lang="en-US" dirty="0">
                <a:solidFill>
                  <a:schemeClr val="tx1"/>
                </a:solidFill>
              </a:rPr>
              <a:t>”)  have “</a:t>
            </a:r>
            <a:r>
              <a:rPr lang="en-US" dirty="0" err="1">
                <a:solidFill>
                  <a:schemeClr val="tx1"/>
                </a:solidFill>
              </a:rPr>
              <a:t>getDeviceStatus</a:t>
            </a:r>
            <a:r>
              <a:rPr lang="en-US" dirty="0" smtClean="0">
                <a:solidFill>
                  <a:schemeClr val="tx1"/>
                </a:solidFill>
              </a:rPr>
              <a:t>”, </a:t>
            </a:r>
            <a:r>
              <a:rPr lang="en-US" dirty="0">
                <a:solidFill>
                  <a:schemeClr val="tx1"/>
                </a:solidFill>
              </a:rPr>
              <a:t>so there would be ‘0’ times </a:t>
            </a:r>
            <a:r>
              <a:rPr lang="en-US" dirty="0"/>
              <a:t>“</a:t>
            </a:r>
            <a:r>
              <a:rPr lang="en-US" i="1" dirty="0" err="1"/>
              <a:t>getDeviceStatus</a:t>
            </a:r>
            <a:r>
              <a:rPr lang="en-US" i="1" dirty="0" smtClean="0"/>
              <a:t>”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zh-TW" dirty="0" smtClean="0">
                <a:solidFill>
                  <a:schemeClr val="tx1"/>
                </a:solidFill>
              </a:rPr>
              <a:t>Some </a:t>
            </a:r>
            <a:r>
              <a:rPr lang="en-US" altLang="zh-TW" dirty="0">
                <a:solidFill>
                  <a:schemeClr val="tx1"/>
                </a:solidFill>
              </a:rPr>
              <a:t>of the “</a:t>
            </a:r>
            <a:r>
              <a:rPr lang="en-US" altLang="zh-TW" dirty="0" err="1">
                <a:solidFill>
                  <a:schemeClr val="tx1"/>
                </a:solidFill>
              </a:rPr>
              <a:t>getDeviceStatus</a:t>
            </a:r>
            <a:r>
              <a:rPr lang="en-US" altLang="zh-TW" dirty="0">
                <a:solidFill>
                  <a:schemeClr val="tx1"/>
                </a:solidFill>
              </a:rPr>
              <a:t>” XML have no “id” (</a:t>
            </a:r>
            <a:r>
              <a:rPr lang="zh-TW" altLang="en-US" dirty="0">
                <a:solidFill>
                  <a:schemeClr val="tx1"/>
                </a:solidFill>
              </a:rPr>
              <a:t>主機定時回報</a:t>
            </a:r>
            <a:r>
              <a:rPr lang="en-US" altLang="zh-TW" dirty="0" smtClean="0">
                <a:solidFill>
                  <a:schemeClr val="tx1"/>
                </a:solidFill>
              </a:rPr>
              <a:t>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zh-TW" dirty="0">
                <a:solidFill>
                  <a:schemeClr val="tx1"/>
                </a:solidFill>
              </a:rPr>
              <a:t>Exclude “</a:t>
            </a:r>
            <a:r>
              <a:rPr lang="en-US" dirty="0">
                <a:solidFill>
                  <a:schemeClr val="tx1"/>
                </a:solidFill>
              </a:rPr>
              <a:t>un” = 0</a:t>
            </a:r>
            <a:r>
              <a:rPr lang="zh-TW" altLang="en-US" dirty="0">
                <a:solidFill>
                  <a:schemeClr val="tx1"/>
                </a:solidFill>
              </a:rPr>
              <a:t> </a:t>
            </a:r>
            <a:r>
              <a:rPr lang="en-US" altLang="zh-TW" dirty="0">
                <a:solidFill>
                  <a:schemeClr val="tx1"/>
                </a:solidFill>
              </a:rPr>
              <a:t>records because it’s for test only</a:t>
            </a:r>
          </a:p>
          <a:p>
            <a:pPr marL="800100" lvl="1" indent="-342900">
              <a:buFont typeface="+mj-lt"/>
              <a:buAutoNum type="arabicPeriod"/>
            </a:pPr>
            <a:endParaRPr lang="en-US" altLang="zh-TW" dirty="0">
              <a:solidFill>
                <a:schemeClr val="tx1"/>
              </a:solidFill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8257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9474372" cy="1320800"/>
          </a:xfrm>
        </p:spPr>
        <p:txBody>
          <a:bodyPr>
            <a:noAutofit/>
          </a:bodyPr>
          <a:lstStyle/>
          <a:p>
            <a:r>
              <a:rPr lang="en-US" altLang="zh-TW" sz="3200" dirty="0"/>
              <a:t>Phase </a:t>
            </a:r>
            <a:r>
              <a:rPr lang="en-US" altLang="zh-TW" sz="3200" dirty="0" smtClean="0"/>
              <a:t>I-G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>Aggregate times of “</a:t>
            </a:r>
            <a:r>
              <a:rPr lang="en-US" sz="3200" i="1" dirty="0" err="1" smtClean="0"/>
              <a:t>getDevices</a:t>
            </a:r>
            <a:r>
              <a:rPr lang="en-US" sz="3200" i="1" dirty="0" smtClean="0"/>
              <a:t>”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2160589"/>
            <a:ext cx="9269099" cy="3880773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Calculate </a:t>
            </a:r>
            <a:r>
              <a:rPr lang="en-US" dirty="0">
                <a:solidFill>
                  <a:schemeClr val="tx1"/>
                </a:solidFill>
              </a:rPr>
              <a:t>‘</a:t>
            </a:r>
            <a:r>
              <a:rPr lang="en-US" dirty="0" err="1" smtClean="0">
                <a:solidFill>
                  <a:schemeClr val="tx1"/>
                </a:solidFill>
              </a:rPr>
              <a:t>RowNumber</a:t>
            </a:r>
            <a:r>
              <a:rPr lang="en-US" dirty="0" smtClean="0">
                <a:solidFill>
                  <a:schemeClr val="tx1"/>
                </a:solidFill>
              </a:rPr>
              <a:t>’ in </a:t>
            </a:r>
            <a:r>
              <a:rPr lang="en-US" b="1" dirty="0" smtClean="0">
                <a:solidFill>
                  <a:schemeClr val="tx1"/>
                </a:solidFill>
              </a:rPr>
              <a:t>Phase </a:t>
            </a:r>
            <a:r>
              <a:rPr lang="en-US" b="1" dirty="0">
                <a:solidFill>
                  <a:schemeClr val="tx1"/>
                </a:solidFill>
              </a:rPr>
              <a:t>I-B </a:t>
            </a:r>
            <a:r>
              <a:rPr lang="en-US" dirty="0" smtClean="0">
                <a:solidFill>
                  <a:schemeClr val="tx1"/>
                </a:solidFill>
              </a:rPr>
              <a:t>device records</a:t>
            </a:r>
            <a:br>
              <a:rPr lang="en-US" dirty="0" smtClean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Partition by “un, mac, id” Order by “</a:t>
            </a:r>
            <a:r>
              <a:rPr lang="en-US" dirty="0" err="1">
                <a:solidFill>
                  <a:schemeClr val="tx1"/>
                </a:solidFill>
              </a:rPr>
              <a:t>recv_time</a:t>
            </a:r>
            <a:r>
              <a:rPr lang="en-US" dirty="0">
                <a:solidFill>
                  <a:schemeClr val="tx1"/>
                </a:solidFill>
              </a:rPr>
              <a:t>” 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The </a:t>
            </a:r>
            <a:r>
              <a:rPr lang="en-US" dirty="0">
                <a:solidFill>
                  <a:schemeClr val="tx1"/>
                </a:solidFill>
              </a:rPr>
              <a:t>‘</a:t>
            </a:r>
            <a:r>
              <a:rPr lang="en-US" dirty="0" err="1">
                <a:solidFill>
                  <a:schemeClr val="tx1"/>
                </a:solidFill>
              </a:rPr>
              <a:t>RowNumber</a:t>
            </a:r>
            <a:r>
              <a:rPr lang="en-US" dirty="0">
                <a:solidFill>
                  <a:schemeClr val="tx1"/>
                </a:solidFill>
              </a:rPr>
              <a:t>’ </a:t>
            </a:r>
            <a:r>
              <a:rPr lang="en-US" dirty="0" smtClean="0">
                <a:solidFill>
                  <a:schemeClr val="tx1"/>
                </a:solidFill>
              </a:rPr>
              <a:t>represents accumulated </a:t>
            </a:r>
            <a:r>
              <a:rPr lang="en-US" dirty="0">
                <a:solidFill>
                  <a:schemeClr val="tx1"/>
                </a:solidFill>
              </a:rPr>
              <a:t>“</a:t>
            </a:r>
            <a:r>
              <a:rPr lang="en-US" i="1" dirty="0" err="1">
                <a:solidFill>
                  <a:schemeClr val="tx1"/>
                </a:solidFill>
              </a:rPr>
              <a:t>getDevices</a:t>
            </a:r>
            <a:r>
              <a:rPr lang="en-US" dirty="0">
                <a:solidFill>
                  <a:schemeClr val="tx1"/>
                </a:solidFill>
              </a:rPr>
              <a:t>” times </a:t>
            </a:r>
            <a:r>
              <a:rPr lang="en-US" dirty="0" smtClean="0">
                <a:solidFill>
                  <a:schemeClr val="tx1"/>
                </a:solidFill>
              </a:rPr>
              <a:t>for each record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3786" t="55544" r="19524" b="10660"/>
          <a:stretch/>
        </p:blipFill>
        <p:spPr>
          <a:xfrm>
            <a:off x="677333" y="3519715"/>
            <a:ext cx="8336038" cy="2987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5306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2160589"/>
            <a:ext cx="9816495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6000" dirty="0">
                <a:solidFill>
                  <a:schemeClr val="bg1"/>
                </a:solidFill>
              </a:rPr>
              <a:t>Phase II : </a:t>
            </a:r>
            <a:endParaRPr lang="en-US" altLang="zh-TW" sz="6000" dirty="0" smtClean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altLang="zh-TW" sz="6000" dirty="0" smtClean="0">
                <a:solidFill>
                  <a:schemeClr val="bg1"/>
                </a:solidFill>
              </a:rPr>
              <a:t>Machine </a:t>
            </a:r>
            <a:r>
              <a:rPr lang="en-US" altLang="zh-TW" sz="6000" dirty="0">
                <a:solidFill>
                  <a:schemeClr val="bg1"/>
                </a:solidFill>
              </a:rPr>
              <a:t>Learning </a:t>
            </a:r>
            <a:r>
              <a:rPr lang="en-US" altLang="zh-TW" sz="6000" dirty="0" smtClean="0">
                <a:solidFill>
                  <a:schemeClr val="bg1"/>
                </a:solidFill>
              </a:rPr>
              <a:t>Modeling</a:t>
            </a:r>
            <a:endParaRPr lang="en-US" altLang="zh-TW" sz="6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42934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4400" dirty="0"/>
              <a:t>Phase II : Machine Learning </a:t>
            </a:r>
            <a:r>
              <a:rPr lang="en-US" sz="4400" dirty="0" smtClean="0"/>
              <a:t>Modeling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2075582"/>
            <a:ext cx="5248275" cy="2743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5789" y="4010145"/>
            <a:ext cx="5414088" cy="2563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16279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13737</TotalTime>
  <Words>355</Words>
  <Application>Microsoft Office PowerPoint</Application>
  <PresentationFormat>Widescreen</PresentationFormat>
  <Paragraphs>96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微軟正黑體</vt:lpstr>
      <vt:lpstr>Arial</vt:lpstr>
      <vt:lpstr>Trebuchet MS</vt:lpstr>
      <vt:lpstr>Wingdings 3</vt:lpstr>
      <vt:lpstr>Facet</vt:lpstr>
      <vt:lpstr>中保無限家 資料概念驗證 技術說明 SIGMU My-Vita Data POC Technical Notes </vt:lpstr>
      <vt:lpstr>Abstract</vt:lpstr>
      <vt:lpstr>PowerPoint Presentation</vt:lpstr>
      <vt:lpstr>Data Description </vt:lpstr>
      <vt:lpstr>Data Description </vt:lpstr>
      <vt:lpstr>PowerPoint Presentation</vt:lpstr>
      <vt:lpstr>Phase I-A  Fetch sensor types which happened “getReportEvent” “code384-電池低電量”  </vt:lpstr>
      <vt:lpstr>Phase I-B Fetch all device records in Phase I-A sensor types  </vt:lpstr>
      <vt:lpstr>Phase I-C Append “getReportEvent” “code384-電池低電量”  time to Phase I-B Device Records</vt:lpstr>
      <vt:lpstr>Phase I-D Aggregate times of all “getReportEvent”</vt:lpstr>
      <vt:lpstr>Phase I-E Aggregate times of “getReportEvent”  “code147-設備回報異常” </vt:lpstr>
      <vt:lpstr>Phase I-F Aggregate times of “getDeviceStatus”</vt:lpstr>
      <vt:lpstr>Phase I-G Aggregate times of “getDevices”</vt:lpstr>
      <vt:lpstr>PowerPoint Presentation</vt:lpstr>
      <vt:lpstr>Phase II : Machine Learning Modeling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Jeff Lee (Manpower/Student)</dc:creator>
  <cp:lastModifiedBy>Jeff Lee (Manpower/Student)</cp:lastModifiedBy>
  <cp:revision>152</cp:revision>
  <dcterms:created xsi:type="dcterms:W3CDTF">2015-05-12T02:51:32Z</dcterms:created>
  <dcterms:modified xsi:type="dcterms:W3CDTF">2015-06-01T02:16:46Z</dcterms:modified>
</cp:coreProperties>
</file>